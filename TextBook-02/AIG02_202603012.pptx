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324" r:id="rId2"/>
    <p:sldId id="346" r:id="rId3"/>
    <p:sldId id="326" r:id="rId4"/>
    <p:sldId id="344" r:id="rId5"/>
    <p:sldId id="343" r:id="rId6"/>
    <p:sldId id="348" r:id="rId7"/>
    <p:sldId id="382" r:id="rId8"/>
    <p:sldId id="345" r:id="rId9"/>
    <p:sldId id="347" r:id="rId10"/>
    <p:sldId id="376" r:id="rId11"/>
    <p:sldId id="377" r:id="rId12"/>
    <p:sldId id="378" r:id="rId13"/>
    <p:sldId id="379" r:id="rId14"/>
    <p:sldId id="380" r:id="rId15"/>
    <p:sldId id="381" r:id="rId16"/>
    <p:sldId id="363" r:id="rId17"/>
    <p:sldId id="353" r:id="rId18"/>
    <p:sldId id="354" r:id="rId19"/>
    <p:sldId id="373" r:id="rId20"/>
    <p:sldId id="374" r:id="rId21"/>
    <p:sldId id="375" r:id="rId22"/>
    <p:sldId id="351" r:id="rId23"/>
    <p:sldId id="352" r:id="rId24"/>
    <p:sldId id="350" r:id="rId25"/>
    <p:sldId id="371" r:id="rId26"/>
    <p:sldId id="372" r:id="rId27"/>
    <p:sldId id="356" r:id="rId28"/>
    <p:sldId id="357" r:id="rId29"/>
    <p:sldId id="358" r:id="rId30"/>
    <p:sldId id="360" r:id="rId31"/>
    <p:sldId id="349" r:id="rId32"/>
    <p:sldId id="362" r:id="rId33"/>
    <p:sldId id="366" r:id="rId34"/>
    <p:sldId id="367" r:id="rId35"/>
    <p:sldId id="368" r:id="rId36"/>
    <p:sldId id="369" r:id="rId37"/>
    <p:sldId id="355" r:id="rId38"/>
    <p:sldId id="365" r:id="rId39"/>
    <p:sldId id="370" r:id="rId40"/>
    <p:sldId id="364" r:id="rId41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35" autoAdjust="0"/>
    <p:restoredTop sz="86437" autoAdjust="0"/>
  </p:normalViewPr>
  <p:slideViewPr>
    <p:cSldViewPr snapToGrid="0">
      <p:cViewPr varScale="1">
        <p:scale>
          <a:sx n="97" d="100"/>
          <a:sy n="97" d="100"/>
        </p:scale>
        <p:origin x="1048" y="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0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DA0A7-FD9F-4435-B1D5-7267E1A37088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F62DE-34EC-4057-822D-799CF81ECA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2214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000" dirty="0"/>
              <a:t>① 전략적 연계</a:t>
            </a:r>
            <a:r>
              <a:rPr lang="en-US" altLang="ko-KR" sz="1000" dirty="0"/>
              <a:t>(Strategic Alignment) : IT </a:t>
            </a:r>
            <a:r>
              <a:rPr lang="ko-KR" altLang="en-US" sz="1000" dirty="0"/>
              <a:t>목표를 조직 전체의 비전에 일치시키고 새로운 가치 창출에 필요한 역량을 구축하는 활동</a:t>
            </a:r>
          </a:p>
          <a:p>
            <a:r>
              <a:rPr lang="ko-KR" altLang="en-US" sz="1000" dirty="0"/>
              <a:t>② 가치 제공</a:t>
            </a:r>
            <a:r>
              <a:rPr lang="en-US" altLang="ko-KR" sz="1000" dirty="0"/>
              <a:t>(Value Delivery) : ‘</a:t>
            </a:r>
            <a:r>
              <a:rPr lang="ko-KR" altLang="en-US" sz="1000" dirty="0"/>
              <a:t>전략적 연계’ 활동을 통해 도출된 </a:t>
            </a:r>
            <a:r>
              <a:rPr lang="en-US" altLang="ko-KR" sz="1000" dirty="0"/>
              <a:t>IT </a:t>
            </a:r>
            <a:r>
              <a:rPr lang="ko-KR" altLang="en-US" sz="1000" dirty="0"/>
              <a:t>과제가 예산 범위내에서 당초 기대효과에 맞게 적시에 구축</a:t>
            </a:r>
            <a:r>
              <a:rPr lang="en-US" altLang="ko-KR" sz="1000" dirty="0"/>
              <a:t>·</a:t>
            </a:r>
            <a:r>
              <a:rPr lang="ko-KR" altLang="en-US" sz="1000" dirty="0"/>
              <a:t>운영되도록 통제 관리하는 활동</a:t>
            </a:r>
          </a:p>
          <a:p>
            <a:r>
              <a:rPr lang="ko-KR" altLang="en-US" sz="1000" dirty="0"/>
              <a:t>③ 위험관리</a:t>
            </a:r>
            <a:r>
              <a:rPr lang="en-US" altLang="ko-KR" sz="1000" dirty="0"/>
              <a:t>(Risk Management) : IT</a:t>
            </a:r>
            <a:r>
              <a:rPr lang="ko-KR" altLang="en-US" sz="1000" dirty="0"/>
              <a:t>위험을 체계적으로 관리하기 위한 활동이며 주요 관리 대상은 </a:t>
            </a:r>
            <a:r>
              <a:rPr lang="en-US" altLang="ko-KR" sz="1000" dirty="0"/>
              <a:t>IT</a:t>
            </a:r>
            <a:r>
              <a:rPr lang="ko-KR" altLang="en-US" sz="1000" dirty="0"/>
              <a:t>위험관리에 대한 경영층의 책임감 유도</a:t>
            </a:r>
            <a:r>
              <a:rPr lang="en-US" altLang="ko-KR" sz="1000" dirty="0"/>
              <a:t>, </a:t>
            </a:r>
            <a:r>
              <a:rPr lang="ko-KR" altLang="en-US" sz="1000" dirty="0"/>
              <a:t>사업연속성 관리</a:t>
            </a:r>
            <a:r>
              <a:rPr lang="en-US" altLang="ko-KR" sz="1000" dirty="0"/>
              <a:t>, </a:t>
            </a:r>
            <a:r>
              <a:rPr lang="ko-KR" altLang="en-US" sz="1000" dirty="0"/>
              <a:t>주기적인 진단</a:t>
            </a:r>
            <a:r>
              <a:rPr lang="en-US" altLang="ko-KR" sz="1000" dirty="0"/>
              <a:t>․</a:t>
            </a:r>
            <a:r>
              <a:rPr lang="ko-KR" altLang="en-US" sz="1000" dirty="0"/>
              <a:t>평가</a:t>
            </a:r>
            <a:r>
              <a:rPr lang="en-US" altLang="ko-KR" sz="1000" dirty="0"/>
              <a:t>․</a:t>
            </a:r>
            <a:r>
              <a:rPr lang="ko-KR" altLang="en-US" sz="1000" dirty="0"/>
              <a:t>개선이 가능한 위험관리체계 구축</a:t>
            </a:r>
            <a:r>
              <a:rPr lang="en-US" altLang="ko-KR" sz="1000" dirty="0"/>
              <a:t>․</a:t>
            </a:r>
            <a:r>
              <a:rPr lang="ko-KR" altLang="en-US" sz="1000" dirty="0"/>
              <a:t>운영하는 업무절차 구축 등이 주요 활동</a:t>
            </a:r>
          </a:p>
          <a:p>
            <a:r>
              <a:rPr lang="ko-KR" altLang="en-US" sz="1000" dirty="0"/>
              <a:t>④ 자원관리</a:t>
            </a:r>
            <a:r>
              <a:rPr lang="en-US" altLang="ko-KR" sz="1000" dirty="0"/>
              <a:t>(Resource Management) : IT</a:t>
            </a:r>
            <a:r>
              <a:rPr lang="ko-KR" altLang="en-US" sz="1000" dirty="0"/>
              <a:t>서비스 제공에 소요되는 </a:t>
            </a:r>
            <a:r>
              <a:rPr lang="en-US" altLang="ko-KR" sz="1000" dirty="0"/>
              <a:t>IT</a:t>
            </a:r>
            <a:r>
              <a:rPr lang="ko-KR" altLang="en-US" sz="1000" dirty="0"/>
              <a:t>자원을 비용 효과적으로 조달 관리하기 위한 활동으로 인적자원을 포함한 전</a:t>
            </a:r>
            <a:r>
              <a:rPr lang="en-US" altLang="ko-KR" sz="1000" dirty="0"/>
              <a:t>(</a:t>
            </a:r>
            <a:r>
              <a:rPr lang="ko-KR" altLang="en-US" sz="1000" dirty="0"/>
              <a:t>全</a:t>
            </a:r>
            <a:r>
              <a:rPr lang="en-US" altLang="ko-KR" sz="1000" dirty="0"/>
              <a:t>) </a:t>
            </a:r>
            <a:r>
              <a:rPr lang="ko-KR" altLang="en-US" sz="1000" dirty="0"/>
              <a:t>조직 차원의 통합 자원관리가 핵심 관리사항</a:t>
            </a:r>
          </a:p>
          <a:p>
            <a:r>
              <a:rPr lang="ko-KR" altLang="en-US" sz="1000" dirty="0"/>
              <a:t>⑤ 성과측정</a:t>
            </a:r>
            <a:r>
              <a:rPr lang="en-US" altLang="ko-KR" sz="1000" dirty="0"/>
              <a:t>(Performance Measurement) : </a:t>
            </a:r>
            <a:r>
              <a:rPr lang="ko-KR" altLang="en-US" sz="1000" dirty="0"/>
              <a:t>투자 결정된 </a:t>
            </a:r>
            <a:r>
              <a:rPr lang="en-US" altLang="ko-KR" sz="1000" dirty="0"/>
              <a:t>IT </a:t>
            </a:r>
            <a:r>
              <a:rPr lang="ko-KR" altLang="en-US" sz="1000" dirty="0"/>
              <a:t>과제가 당초 목표에 부합하는 성과를 달성하였는지 여부를 측정</a:t>
            </a:r>
            <a:r>
              <a:rPr lang="en-US" altLang="ko-KR" sz="1000" dirty="0"/>
              <a:t>․</a:t>
            </a:r>
            <a:r>
              <a:rPr lang="ko-KR" altLang="en-US" sz="1000" dirty="0"/>
              <a:t>평가하고 향후 </a:t>
            </a:r>
            <a:r>
              <a:rPr lang="en-US" altLang="ko-KR" sz="1000" dirty="0"/>
              <a:t>IT </a:t>
            </a:r>
            <a:r>
              <a:rPr lang="ko-KR" altLang="en-US" sz="1000" dirty="0"/>
              <a:t>의사결정에 참고하기 위한 활동으로</a:t>
            </a:r>
            <a:r>
              <a:rPr lang="en-US" altLang="ko-KR" sz="1000" dirty="0"/>
              <a:t>, </a:t>
            </a:r>
            <a:r>
              <a:rPr lang="ko-KR" altLang="en-US" sz="1000" dirty="0"/>
              <a:t>객관적이고 정교한 성과평가 방법 구현 및 적용이 핵심 관리사항이며 일반적으로 </a:t>
            </a:r>
            <a:r>
              <a:rPr lang="en-US" altLang="ko-KR" sz="1000" dirty="0"/>
              <a:t>IT-ROI </a:t>
            </a:r>
            <a:r>
              <a:rPr lang="ko-KR" altLang="en-US" sz="1000" dirty="0"/>
              <a:t>또는 </a:t>
            </a:r>
            <a:r>
              <a:rPr lang="en-US" altLang="ko-KR" sz="1000" dirty="0"/>
              <a:t>BSC(Balanced Score Card)* </a:t>
            </a:r>
            <a:r>
              <a:rPr lang="ko-KR" altLang="en-US" sz="1000" dirty="0"/>
              <a:t>등을 통해 구현</a:t>
            </a:r>
          </a:p>
          <a:p>
            <a:r>
              <a:rPr lang="ko-KR" altLang="en-US" sz="1000" dirty="0"/>
              <a:t>* </a:t>
            </a:r>
            <a:r>
              <a:rPr lang="en-US" altLang="ko-KR" sz="1000" dirty="0"/>
              <a:t>BSC</a:t>
            </a:r>
            <a:r>
              <a:rPr lang="ko-KR" altLang="en-US" sz="1000" dirty="0"/>
              <a:t>는 조직의 비전과전략 및 이를 구현하기 위한 모든 요소를 재무적 관점</a:t>
            </a:r>
            <a:r>
              <a:rPr lang="en-US" altLang="ko-KR" sz="1000" dirty="0"/>
              <a:t>, </a:t>
            </a:r>
            <a:r>
              <a:rPr lang="ko-KR" altLang="en-US" sz="1000" dirty="0"/>
              <a:t>고객 관점</a:t>
            </a:r>
            <a:r>
              <a:rPr lang="en-US" altLang="ko-KR" sz="1000" dirty="0"/>
              <a:t>, </a:t>
            </a:r>
            <a:r>
              <a:rPr lang="ko-KR" altLang="en-US" sz="1000" dirty="0"/>
              <a:t>내부 프로세스 관점</a:t>
            </a:r>
            <a:r>
              <a:rPr lang="en-US" altLang="ko-KR" sz="1000" dirty="0"/>
              <a:t>, </a:t>
            </a:r>
            <a:r>
              <a:rPr lang="ko-KR" altLang="en-US" sz="1000" dirty="0"/>
              <a:t>학습 및 성장 관점에서 균형 있게 평가하는 새로운 전략적 성과평가 시스템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9423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8E23B-F0E9-4B10-94D7-7B62E5D5A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3AE85C-2281-4817-BE9E-E6379D56E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44FFC9-8220-4157-8FB9-B25881CE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AEC6EB-1CAC-407E-A433-9F1281F3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A763EE-8B06-49EF-BA75-35242781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3365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5E23A-E0A9-405C-BF0A-72BB9BC2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5C189B-AC77-4437-A885-00263F09D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1F04B-0F89-4984-9B60-50DD8A1D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816CC-AD95-4546-836F-99AE91EB7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98C12F-B0EA-454A-9466-FB5385C4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92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CB79D1-AC4B-4787-927B-7EF46AEC5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FE35A6-ADA7-460C-AD7C-E673C1AB6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5B3825-AED0-4BEC-8D29-A59AAF0A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25B07A-C113-4D8C-AAD6-1F78E6203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2BFBAE-DB5F-4B83-8E75-53207E96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269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C1C0A-A78B-45D5-9F40-6304D25C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295CC-148A-49C5-BA79-715ED4E99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B625EC-A024-4315-8018-96A5CB50E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00DF5A-7454-4574-9FCF-BBC4B35A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57DC97-CB44-47BC-8498-13D5714AD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BA68A6-A6A4-4AA7-9B5F-AD1C2BE99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099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4293F2-83B6-4772-815A-482DFE6D6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216F97-1748-4816-93E4-789F4F1DA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7BC754-21C2-4480-B8F5-2140DB2F8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553287-7BF8-49FB-BBC0-3047D7B46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52FC25-6EEE-4A5C-9987-C04EE2E3A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BDE308-CFCC-483A-9595-29641FDE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4ADEA9-B683-4228-9FF6-75C7425C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9DCC2C-3148-46EA-B7FA-F74F95D2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81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46B0E-E1A6-4B9C-BA80-B584DABC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03AF5E-E832-4276-AE70-9E3E7AB0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3FCB58-064A-4A54-BC72-316F290E5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13771E-66FF-4CA8-834B-1D35A3F8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424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35B767-EE4D-42B6-BBC9-74C9E2F1C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73DE23-3160-4BA4-BDC1-ACAD5B7A6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EC72F6-E106-4BD4-A7F1-BC1902A6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9362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6D8B5-8345-435E-AFEB-C09E0979A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9E06DC-C929-478D-AAF2-410E633B0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1758E4-78E1-499E-8896-E37973A78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FCE34F-58CF-45FD-9F50-7B9FDC91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65251D-ABF8-4225-9230-1693511B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1C334E-FAAE-47A5-B5C9-161A817A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0626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02F8B-0C86-4553-A00F-6F778D101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742D9B-53A2-45A2-A5C8-A11B564B7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0507A6-9901-4336-A6F6-09232163D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D2DAA8-0379-4F60-8838-3E74EF8D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E97A47-FDF3-42CD-B879-95FD6CC58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62C005-1AAF-47C9-BE8B-09888906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919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8819-EE1A-40B9-B541-4A40C2F8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2FB293-A2FD-462C-9283-CE0131E4D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C85D8E-73F1-4886-87EF-0DBE95FF7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38E4AA-6BDD-4A8E-952E-88E4A229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D0FCA-0A1B-471D-8171-8B29E57E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735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9D0B9C-E5E5-4E95-A480-EFEF19BDF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66BA4C-4BE6-4FC2-8155-FC9E164D0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CBCAB0-916F-41EE-8276-8909FF58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4E6C37-A87A-49FE-B81E-BF7C19008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10F43-0418-4CDD-8426-7D12DC36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767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9B92D0-C80B-40BB-8085-14F763244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08BACE-8542-441D-BA7E-B549B97A9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CADE8F-D911-4205-BE5B-EC32974BE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043F6-4F4D-4CB6-B54F-64438BCF3E22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36DF68-EC07-408B-851E-4B231E488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AB029D-F13F-4D80-83D8-1332C6361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424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yangguibee/AIG" TargetMode="External"/><Relationship Id="rId5" Type="http://schemas.openxmlformats.org/officeDocument/2006/relationships/hyperlink" Target="mailto:heejung.yang@bok.or.kr" TargetMode="External"/><Relationship Id="rId4" Type="http://schemas.openxmlformats.org/officeDocument/2006/relationships/hyperlink" Target="mailto:guibee@konkuk.ac.kr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hyperlink" Target="https://github.com/yangguibee/AI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hyperlink" Target="https://ecampus.konkuk.ac.kr/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campus.konkuk.ac.kr/ilos/pf/course/lecture_material_view_form.acl?ARTL_NUM=13440986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5AF8E-A806-1C68-09C1-6F93D2D8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48F682-6301-4D68-A1E2-FD20DE47E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720" y="2721452"/>
            <a:ext cx="3703258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F3E0DE-7586-70A7-661C-B8451F1B477E}"/>
              </a:ext>
            </a:extLst>
          </p:cNvPr>
          <p:cNvSpPr txBox="1"/>
          <p:nvPr/>
        </p:nvSpPr>
        <p:spPr>
          <a:xfrm>
            <a:off x="1268935" y="131389"/>
            <a:ext cx="37032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건국대학교 공학대학원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AI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전공</a:t>
            </a:r>
            <a:endParaRPr lang="en-US" altLang="ko-K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그림 4" descr="텍스트, 폰트, 디자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0CAF15-BF6C-89C1-7946-F972B78DA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15" y="131389"/>
            <a:ext cx="1150720" cy="381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EC39D6-0EF0-B229-5081-12D7CBCE4A69}"/>
              </a:ext>
            </a:extLst>
          </p:cNvPr>
          <p:cNvSpPr txBox="1"/>
          <p:nvPr/>
        </p:nvSpPr>
        <p:spPr>
          <a:xfrm>
            <a:off x="1684789" y="2753771"/>
            <a:ext cx="86693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/>
              <a:t>AI </a:t>
            </a:r>
            <a:r>
              <a:rPr lang="ko-KR" altLang="en-US" sz="4400" b="1" dirty="0"/>
              <a:t>거버넌스 </a:t>
            </a:r>
            <a:r>
              <a:rPr lang="en-US" altLang="ko-KR" sz="4400" b="1" dirty="0"/>
              <a:t>: </a:t>
            </a:r>
            <a:r>
              <a:rPr lang="ko-KR" altLang="en-US" sz="4400" b="1" dirty="0"/>
              <a:t>관련 법과 국제표준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60427-D4E6-EABB-B166-EA68CCD6E4B4}"/>
              </a:ext>
            </a:extLst>
          </p:cNvPr>
          <p:cNvSpPr txBox="1"/>
          <p:nvPr/>
        </p:nvSpPr>
        <p:spPr>
          <a:xfrm>
            <a:off x="7122243" y="5283819"/>
            <a:ext cx="3139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2026</a:t>
            </a:r>
            <a:r>
              <a:rPr lang="ko-KR" altLang="en-US" sz="2400" b="1" dirty="0"/>
              <a:t>년 </a:t>
            </a:r>
            <a:r>
              <a:rPr lang="en-US" altLang="ko-KR" sz="2400" b="1" dirty="0"/>
              <a:t>1</a:t>
            </a:r>
            <a:r>
              <a:rPr lang="ko-KR" altLang="en-US" sz="2400" b="1" dirty="0"/>
              <a:t>학기 양희정</a:t>
            </a:r>
            <a:endParaRPr lang="en-US" altLang="ko-KR" sz="2400" b="1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7396F36-C076-0E42-DE70-544C319D2214}"/>
              </a:ext>
            </a:extLst>
          </p:cNvPr>
          <p:cNvCxnSpPr>
            <a:cxnSpLocks/>
          </p:cNvCxnSpPr>
          <p:nvPr/>
        </p:nvCxnSpPr>
        <p:spPr>
          <a:xfrm>
            <a:off x="1768651" y="3523212"/>
            <a:ext cx="839675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9582E5-F7B8-A99B-63B2-DDFA65998CB5}"/>
              </a:ext>
            </a:extLst>
          </p:cNvPr>
          <p:cNvSpPr txBox="1"/>
          <p:nvPr/>
        </p:nvSpPr>
        <p:spPr>
          <a:xfrm>
            <a:off x="8105205" y="5653151"/>
            <a:ext cx="2156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hlinkClick r:id="rId4"/>
              </a:rPr>
              <a:t>guibee@konkuk.ac.kr</a:t>
            </a:r>
            <a:endParaRPr lang="en-US" altLang="ko-KR" sz="1400" dirty="0"/>
          </a:p>
          <a:p>
            <a:pPr algn="r"/>
            <a:r>
              <a:rPr lang="en-US" altLang="ko-KR" sz="1400" dirty="0">
                <a:hlinkClick r:id="rId5"/>
              </a:rPr>
              <a:t>heejung.yang@bok.or.kr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EAD115-078E-E2E8-1F41-902AD1D1CA4F}"/>
              </a:ext>
            </a:extLst>
          </p:cNvPr>
          <p:cNvSpPr txBox="1"/>
          <p:nvPr/>
        </p:nvSpPr>
        <p:spPr>
          <a:xfrm>
            <a:off x="5673129" y="3523212"/>
            <a:ext cx="45881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6"/>
              </a:rPr>
              <a:t>https://github.com/yangguibee/AIG</a:t>
            </a:r>
            <a:endParaRPr lang="en-US" altLang="ko-KR" sz="2000" b="1" dirty="0"/>
          </a:p>
          <a:p>
            <a:endParaRPr lang="en-US" altLang="ko-KR" sz="2000" b="1" dirty="0"/>
          </a:p>
          <a:p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9B286-40D1-466A-8738-FC70802ED0E7}"/>
              </a:ext>
            </a:extLst>
          </p:cNvPr>
          <p:cNvSpPr txBox="1"/>
          <p:nvPr/>
        </p:nvSpPr>
        <p:spPr>
          <a:xfrm>
            <a:off x="10424869" y="2846103"/>
            <a:ext cx="12426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rgbClr val="C00000"/>
                </a:solidFill>
              </a:rPr>
              <a:t>제</a:t>
            </a:r>
            <a:r>
              <a:rPr lang="en-US" altLang="ko-KR" sz="3200" b="1" dirty="0">
                <a:solidFill>
                  <a:srgbClr val="C00000"/>
                </a:solidFill>
              </a:rPr>
              <a:t>2</a:t>
            </a:r>
            <a:r>
              <a:rPr lang="ko-KR" altLang="en-US" sz="3200" b="1" dirty="0">
                <a:solidFill>
                  <a:srgbClr val="C00000"/>
                </a:solidFill>
              </a:rPr>
              <a:t>강</a:t>
            </a:r>
          </a:p>
        </p:txBody>
      </p:sp>
    </p:spTree>
    <p:extLst>
      <p:ext uri="{BB962C8B-B14F-4D97-AF65-F5344CB8AC3E}">
        <p14:creationId xmlns:p14="http://schemas.microsoft.com/office/powerpoint/2010/main" val="106007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5C41E-79DD-F3B4-0264-7C5AF0BB9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E6D805-4D1C-C2BB-6A76-85C802356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1" y="711799"/>
            <a:ext cx="2990973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00DFB7-7457-C0AE-1001-CF591D400B28}"/>
              </a:ext>
            </a:extLst>
          </p:cNvPr>
          <p:cNvSpPr txBox="1"/>
          <p:nvPr/>
        </p:nvSpPr>
        <p:spPr>
          <a:xfrm>
            <a:off x="4789312" y="2205106"/>
            <a:ext cx="24336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긴급 안내</a:t>
            </a:r>
            <a:r>
              <a:rPr lang="en-US" altLang="ko-KR" sz="2400" b="1" dirty="0"/>
              <a:t>, Q&amp;A</a:t>
            </a:r>
            <a:endParaRPr lang="ko-KR" altLang="en-US" sz="2400" b="1" dirty="0"/>
          </a:p>
        </p:txBody>
      </p:sp>
      <p:pic>
        <p:nvPicPr>
          <p:cNvPr id="5" name="그림 4" descr="로고, 그래픽, 폰트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9FFD93-24BD-B459-499E-82C5A5981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972" y="3111017"/>
            <a:ext cx="1196444" cy="1120237"/>
          </a:xfrm>
          <a:prstGeom prst="rect">
            <a:avLst/>
          </a:prstGeom>
        </p:spPr>
      </p:pic>
      <p:pic>
        <p:nvPicPr>
          <p:cNvPr id="7" name="그림 6" descr="텍스트, 폰트, 로고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8A9C3C-9A12-1F7E-B822-7C0E8338E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6587" y="3111017"/>
            <a:ext cx="1442597" cy="1500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AAA160-5C6D-04BE-51E0-50E5763163D8}"/>
              </a:ext>
            </a:extLst>
          </p:cNvPr>
          <p:cNvSpPr txBox="1"/>
          <p:nvPr/>
        </p:nvSpPr>
        <p:spPr>
          <a:xfrm>
            <a:off x="683081" y="4611317"/>
            <a:ext cx="33091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5"/>
              </a:rPr>
              <a:t>https://ecampus.konkuk.ac.kr/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13" name="그림 12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069E51-AC6A-DBE1-7464-F3979070B0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282" y="3111017"/>
            <a:ext cx="1369221" cy="136922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63EAFC0-2C38-9874-1CD5-892503E20A87}"/>
              </a:ext>
            </a:extLst>
          </p:cNvPr>
          <p:cNvSpPr txBox="1"/>
          <p:nvPr/>
        </p:nvSpPr>
        <p:spPr>
          <a:xfrm>
            <a:off x="7820310" y="4637206"/>
            <a:ext cx="3910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7"/>
              </a:rPr>
              <a:t>https://github.com/yangguibee/AIG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D277CA-446C-B200-F7E2-9F697BC4D62D}"/>
              </a:ext>
            </a:extLst>
          </p:cNvPr>
          <p:cNvSpPr txBox="1"/>
          <p:nvPr/>
        </p:nvSpPr>
        <p:spPr>
          <a:xfrm>
            <a:off x="4974460" y="4606409"/>
            <a:ext cx="2063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AIG2026-1 </a:t>
            </a:r>
            <a:r>
              <a:rPr lang="ko-KR" altLang="en-US" dirty="0"/>
              <a:t>단톡방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835E69-2088-E1D1-DB87-A5ECB8458A8C}"/>
              </a:ext>
            </a:extLst>
          </p:cNvPr>
          <p:cNvSpPr txBox="1"/>
          <p:nvPr/>
        </p:nvSpPr>
        <p:spPr>
          <a:xfrm>
            <a:off x="8627342" y="2227250"/>
            <a:ext cx="22204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/>
              <a:t>교안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참고자료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B71BAC-7DA2-2C5B-9977-76D2B794B466}"/>
              </a:ext>
            </a:extLst>
          </p:cNvPr>
          <p:cNvSpPr txBox="1"/>
          <p:nvPr/>
        </p:nvSpPr>
        <p:spPr>
          <a:xfrm>
            <a:off x="490279" y="2238761"/>
            <a:ext cx="36238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출석체크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공지사항</a:t>
            </a:r>
            <a:r>
              <a:rPr lang="en-US" altLang="ko-KR" sz="2400" b="1" dirty="0"/>
              <a:t>, FAQ</a:t>
            </a:r>
            <a:endParaRPr lang="ko-KR" altLang="en-US" sz="2400" b="1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2C14E92-5F23-EF5A-6455-17C5D56F144F}"/>
              </a:ext>
            </a:extLst>
          </p:cNvPr>
          <p:cNvSpPr/>
          <p:nvPr/>
        </p:nvSpPr>
        <p:spPr>
          <a:xfrm>
            <a:off x="4592116" y="2082037"/>
            <a:ext cx="2830749" cy="3170703"/>
          </a:xfrm>
          <a:prstGeom prst="round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6129399-2A6D-F5EC-28D6-402D2D0E6D91}"/>
              </a:ext>
            </a:extLst>
          </p:cNvPr>
          <p:cNvSpPr/>
          <p:nvPr/>
        </p:nvSpPr>
        <p:spPr>
          <a:xfrm>
            <a:off x="7673432" y="2082037"/>
            <a:ext cx="4254119" cy="3170703"/>
          </a:xfrm>
          <a:prstGeom prst="roundRect">
            <a:avLst/>
          </a:prstGeom>
          <a:noFill/>
          <a:ln w="1270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F901204-FF0D-835C-3E4A-CC459A124D08}"/>
              </a:ext>
            </a:extLst>
          </p:cNvPr>
          <p:cNvSpPr/>
          <p:nvPr/>
        </p:nvSpPr>
        <p:spPr>
          <a:xfrm>
            <a:off x="248598" y="2082037"/>
            <a:ext cx="4107241" cy="3170703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2F216D-EC25-5080-0350-1C3DE48176F1}"/>
              </a:ext>
            </a:extLst>
          </p:cNvPr>
          <p:cNvSpPr txBox="1"/>
          <p:nvPr/>
        </p:nvSpPr>
        <p:spPr>
          <a:xfrm>
            <a:off x="450115" y="907062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진행</a:t>
            </a:r>
          </a:p>
        </p:txBody>
      </p:sp>
      <p:pic>
        <p:nvPicPr>
          <p:cNvPr id="23" name="그림 22" descr="텍스트, 스케치, 폰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F7310F-C6CE-5FC9-60E2-069A4564F1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22503" y="3678987"/>
            <a:ext cx="1486793" cy="53123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B74416A-9581-8779-9B78-17AD4FC90F5E}"/>
              </a:ext>
            </a:extLst>
          </p:cNvPr>
          <p:cNvSpPr txBox="1"/>
          <p:nvPr/>
        </p:nvSpPr>
        <p:spPr>
          <a:xfrm>
            <a:off x="1491738" y="5478665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</a:rPr>
              <a:t>~ 2026.1</a:t>
            </a:r>
            <a:r>
              <a:rPr lang="ko-KR" altLang="en-US" b="1" dirty="0">
                <a:solidFill>
                  <a:srgbClr val="0070C0"/>
                </a:solidFill>
              </a:rPr>
              <a:t>학기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B17C65-A30D-2D55-6ABC-45479D1E439E}"/>
              </a:ext>
            </a:extLst>
          </p:cNvPr>
          <p:cNvSpPr txBox="1"/>
          <p:nvPr/>
        </p:nvSpPr>
        <p:spPr>
          <a:xfrm>
            <a:off x="5375274" y="5478665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</a:rPr>
              <a:t>~ </a:t>
            </a:r>
            <a:r>
              <a:rPr lang="ko-KR" altLang="en-US" b="1" dirty="0">
                <a:solidFill>
                  <a:srgbClr val="0070C0"/>
                </a:solidFill>
              </a:rPr>
              <a:t>나가기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3D88FC-2DDE-8801-ED80-FC73177E831B}"/>
              </a:ext>
            </a:extLst>
          </p:cNvPr>
          <p:cNvSpPr txBox="1"/>
          <p:nvPr/>
        </p:nvSpPr>
        <p:spPr>
          <a:xfrm>
            <a:off x="8940319" y="5478665"/>
            <a:ext cx="1720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</a:rPr>
              <a:t>~ Github </a:t>
            </a:r>
            <a:r>
              <a:rPr lang="ko-KR" altLang="en-US" b="1" dirty="0">
                <a:solidFill>
                  <a:srgbClr val="0070C0"/>
                </a:solidFill>
              </a:rPr>
              <a:t>정책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1E4CEF2-5FC6-2881-2F28-4173CACDC3A0}"/>
              </a:ext>
            </a:extLst>
          </p:cNvPr>
          <p:cNvGrpSpPr/>
          <p:nvPr/>
        </p:nvGrpSpPr>
        <p:grpSpPr>
          <a:xfrm>
            <a:off x="6007491" y="555304"/>
            <a:ext cx="3458056" cy="1526734"/>
            <a:chOff x="6007491" y="555304"/>
            <a:chExt cx="3458056" cy="152673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7AD5CD2-AED9-EC4C-002B-966C265FEDC6}"/>
                </a:ext>
              </a:extLst>
            </p:cNvPr>
            <p:cNvSpPr/>
            <p:nvPr/>
          </p:nvSpPr>
          <p:spPr>
            <a:xfrm>
              <a:off x="7876360" y="583896"/>
              <a:ext cx="1589187" cy="646331"/>
            </a:xfrm>
            <a:custGeom>
              <a:avLst/>
              <a:gdLst>
                <a:gd name="connsiteX0" fmla="*/ 0 w 1589187"/>
                <a:gd name="connsiteY0" fmla="*/ 0 h 646331"/>
                <a:gd name="connsiteX1" fmla="*/ 513837 w 1589187"/>
                <a:gd name="connsiteY1" fmla="*/ 0 h 646331"/>
                <a:gd name="connsiteX2" fmla="*/ 995891 w 1589187"/>
                <a:gd name="connsiteY2" fmla="*/ 0 h 646331"/>
                <a:gd name="connsiteX3" fmla="*/ 1589187 w 1589187"/>
                <a:gd name="connsiteY3" fmla="*/ 0 h 646331"/>
                <a:gd name="connsiteX4" fmla="*/ 1589187 w 1589187"/>
                <a:gd name="connsiteY4" fmla="*/ 316702 h 646331"/>
                <a:gd name="connsiteX5" fmla="*/ 1589187 w 1589187"/>
                <a:gd name="connsiteY5" fmla="*/ 646331 h 646331"/>
                <a:gd name="connsiteX6" fmla="*/ 1091242 w 1589187"/>
                <a:gd name="connsiteY6" fmla="*/ 646331 h 646331"/>
                <a:gd name="connsiteX7" fmla="*/ 593296 w 1589187"/>
                <a:gd name="connsiteY7" fmla="*/ 646331 h 646331"/>
                <a:gd name="connsiteX8" fmla="*/ 0 w 1589187"/>
                <a:gd name="connsiteY8" fmla="*/ 646331 h 646331"/>
                <a:gd name="connsiteX9" fmla="*/ 0 w 1589187"/>
                <a:gd name="connsiteY9" fmla="*/ 342555 h 646331"/>
                <a:gd name="connsiteX10" fmla="*/ 0 w 1589187"/>
                <a:gd name="connsiteY10" fmla="*/ 0 h 646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89187" h="646331" extrusionOk="0">
                  <a:moveTo>
                    <a:pt x="0" y="0"/>
                  </a:moveTo>
                  <a:cubicBezTo>
                    <a:pt x="144315" y="-56466"/>
                    <a:pt x="314185" y="59477"/>
                    <a:pt x="513837" y="0"/>
                  </a:cubicBezTo>
                  <a:cubicBezTo>
                    <a:pt x="713489" y="-59477"/>
                    <a:pt x="805919" y="31433"/>
                    <a:pt x="995891" y="0"/>
                  </a:cubicBezTo>
                  <a:cubicBezTo>
                    <a:pt x="1185863" y="-31433"/>
                    <a:pt x="1295659" y="2050"/>
                    <a:pt x="1589187" y="0"/>
                  </a:cubicBezTo>
                  <a:cubicBezTo>
                    <a:pt x="1616570" y="121065"/>
                    <a:pt x="1575617" y="238935"/>
                    <a:pt x="1589187" y="316702"/>
                  </a:cubicBezTo>
                  <a:cubicBezTo>
                    <a:pt x="1602757" y="394469"/>
                    <a:pt x="1582330" y="514100"/>
                    <a:pt x="1589187" y="646331"/>
                  </a:cubicBezTo>
                  <a:cubicBezTo>
                    <a:pt x="1393738" y="665150"/>
                    <a:pt x="1216777" y="613474"/>
                    <a:pt x="1091242" y="646331"/>
                  </a:cubicBezTo>
                  <a:cubicBezTo>
                    <a:pt x="965708" y="679188"/>
                    <a:pt x="760853" y="602916"/>
                    <a:pt x="593296" y="646331"/>
                  </a:cubicBezTo>
                  <a:cubicBezTo>
                    <a:pt x="425739" y="689746"/>
                    <a:pt x="181260" y="618562"/>
                    <a:pt x="0" y="646331"/>
                  </a:cubicBezTo>
                  <a:cubicBezTo>
                    <a:pt x="-26174" y="508757"/>
                    <a:pt x="23894" y="459392"/>
                    <a:pt x="0" y="342555"/>
                  </a:cubicBezTo>
                  <a:cubicBezTo>
                    <a:pt x="-23894" y="225718"/>
                    <a:pt x="27255" y="138134"/>
                    <a:pt x="0" y="0"/>
                  </a:cubicBezTo>
                  <a:close/>
                </a:path>
              </a:pathLst>
            </a:custGeom>
            <a:noFill/>
            <a:ln w="63500">
              <a:solidFill>
                <a:srgbClr val="C0000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4" name="연결선: 구부러짐 3">
              <a:extLst>
                <a:ext uri="{FF2B5EF4-FFF2-40B4-BE49-F238E27FC236}">
                  <a16:creationId xmlns:a16="http://schemas.microsoft.com/office/drawing/2014/main" id="{0B9184C5-9F2B-1630-53A8-FB917261A212}"/>
                </a:ext>
              </a:extLst>
            </p:cNvPr>
            <p:cNvCxnSpPr>
              <a:cxnSpLocks/>
              <a:stCxn id="19" idx="0"/>
              <a:endCxn id="3" idx="1"/>
            </p:cNvCxnSpPr>
            <p:nvPr/>
          </p:nvCxnSpPr>
          <p:spPr>
            <a:xfrm rot="5400000" flipH="1" flipV="1">
              <a:off x="6354438" y="560116"/>
              <a:ext cx="1174975" cy="1868869"/>
            </a:xfrm>
            <a:prstGeom prst="curvedConnector2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2F9FBE3-797B-08C3-7957-12D8092F759D}"/>
                </a:ext>
              </a:extLst>
            </p:cNvPr>
            <p:cNvSpPr txBox="1"/>
            <p:nvPr/>
          </p:nvSpPr>
          <p:spPr>
            <a:xfrm>
              <a:off x="8030063" y="555304"/>
              <a:ext cx="128913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rgbClr val="C00000"/>
                  </a:solidFill>
                </a:rPr>
                <a:t>AIG2026-1</a:t>
              </a:r>
            </a:p>
            <a:p>
              <a:pPr algn="ctr"/>
              <a:r>
                <a:rPr lang="en-US" altLang="ko-KR" dirty="0">
                  <a:solidFill>
                    <a:srgbClr val="C00000"/>
                  </a:solidFill>
                </a:rPr>
                <a:t>20260301</a:t>
              </a:r>
              <a:endParaRPr lang="ko-KR" altLang="en-US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069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6F453-B458-CA3C-258E-CC1732EC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9F8CE8-020B-44F0-B6A5-83F5C7558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83E127-B4EB-1785-F44E-CAC209D0C03F}"/>
              </a:ext>
            </a:extLst>
          </p:cNvPr>
          <p:cNvSpPr txBox="1"/>
          <p:nvPr/>
        </p:nvSpPr>
        <p:spPr>
          <a:xfrm>
            <a:off x="600930" y="194519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계획</a:t>
            </a:r>
          </a:p>
        </p:txBody>
      </p:sp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0D3306-80B9-3F00-5A7F-FFAF1E98C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36" y="1003025"/>
            <a:ext cx="10749064" cy="5313615"/>
          </a:xfrm>
          <a:prstGeom prst="rect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29B1CE6A-827F-C148-5646-CBDB1EFA23BD}"/>
              </a:ext>
            </a:extLst>
          </p:cNvPr>
          <p:cNvSpPr/>
          <p:nvPr/>
        </p:nvSpPr>
        <p:spPr>
          <a:xfrm>
            <a:off x="640404" y="1623245"/>
            <a:ext cx="10830128" cy="345232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346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D493D-3350-8DDE-9921-7DC7DEBA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3B05EE-8576-BC2F-94A2-F8804A365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B56943-0E4D-9022-D1CC-22CF01198F39}"/>
              </a:ext>
            </a:extLst>
          </p:cNvPr>
          <p:cNvSpPr txBox="1"/>
          <p:nvPr/>
        </p:nvSpPr>
        <p:spPr>
          <a:xfrm>
            <a:off x="2589985" y="1285355"/>
            <a:ext cx="2452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거버넌스①②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14B07-F78D-0253-5252-0DFBA57F37BC}"/>
              </a:ext>
            </a:extLst>
          </p:cNvPr>
          <p:cNvSpPr txBox="1"/>
          <p:nvPr/>
        </p:nvSpPr>
        <p:spPr>
          <a:xfrm>
            <a:off x="2589985" y="1834596"/>
            <a:ext cx="22060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EU AI Act③④</a:t>
            </a:r>
            <a:endParaRPr lang="ko-KR" alt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E2030-66AE-D504-0C65-BBC0BE35E5EF}"/>
              </a:ext>
            </a:extLst>
          </p:cNvPr>
          <p:cNvSpPr txBox="1"/>
          <p:nvPr/>
        </p:nvSpPr>
        <p:spPr>
          <a:xfrm>
            <a:off x="2589985" y="2383837"/>
            <a:ext cx="2883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KOR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AI</a:t>
            </a:r>
            <a:r>
              <a:rPr lang="ko-KR" altLang="en-US" sz="2400" b="1" dirty="0"/>
              <a:t>기본법⑤⑥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12DCF-DFDE-0291-3FB5-C8CA55401C3B}"/>
              </a:ext>
            </a:extLst>
          </p:cNvPr>
          <p:cNvSpPr txBox="1"/>
          <p:nvPr/>
        </p:nvSpPr>
        <p:spPr>
          <a:xfrm>
            <a:off x="2589985" y="2933079"/>
            <a:ext cx="2415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Study⑦⑧</a:t>
            </a:r>
            <a:endParaRPr lang="ko-KR" altLang="en-US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EC03C-0090-F7A6-E089-5960FD9FB209}"/>
              </a:ext>
            </a:extLst>
          </p:cNvPr>
          <p:cNvSpPr txBox="1"/>
          <p:nvPr/>
        </p:nvSpPr>
        <p:spPr>
          <a:xfrm>
            <a:off x="1053612" y="2106392"/>
            <a:ext cx="914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67046E-560F-CFFA-113F-1D9A9FF25D8E}"/>
              </a:ext>
            </a:extLst>
          </p:cNvPr>
          <p:cNvSpPr txBox="1"/>
          <p:nvPr/>
        </p:nvSpPr>
        <p:spPr>
          <a:xfrm>
            <a:off x="441453" y="4713549"/>
            <a:ext cx="1837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국제표준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7BF7-62FA-7818-FD34-C3885784B2AB}"/>
              </a:ext>
            </a:extLst>
          </p:cNvPr>
          <p:cNvSpPr txBox="1"/>
          <p:nvPr/>
        </p:nvSpPr>
        <p:spPr>
          <a:xfrm>
            <a:off x="3236720" y="6156339"/>
            <a:ext cx="2415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Study</a:t>
            </a:r>
            <a:r>
              <a:rPr lang="ko-KR" altLang="en-US" sz="2400" b="1" dirty="0"/>
              <a:t>⑦⑧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FDC6D-EA54-113D-3A24-038A0C0C1BA8}"/>
              </a:ext>
            </a:extLst>
          </p:cNvPr>
          <p:cNvSpPr txBox="1"/>
          <p:nvPr/>
        </p:nvSpPr>
        <p:spPr>
          <a:xfrm>
            <a:off x="3236720" y="372113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개인정보보호①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4E79F-F8F3-0DB1-E253-014B979025FD}"/>
              </a:ext>
            </a:extLst>
          </p:cNvPr>
          <p:cNvSpPr txBox="1"/>
          <p:nvPr/>
        </p:nvSpPr>
        <p:spPr>
          <a:xfrm>
            <a:off x="3236720" y="420817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지식재산권②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5A458-BC48-C20A-4C93-4EE293F7C525}"/>
              </a:ext>
            </a:extLst>
          </p:cNvPr>
          <p:cNvSpPr txBox="1"/>
          <p:nvPr/>
        </p:nvSpPr>
        <p:spPr>
          <a:xfrm>
            <a:off x="3236720" y="469521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책임법③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6A502-651B-15E7-1EB5-47B5BCCB6DE6}"/>
              </a:ext>
            </a:extLst>
          </p:cNvPr>
          <p:cNvSpPr txBox="1"/>
          <p:nvPr/>
        </p:nvSpPr>
        <p:spPr>
          <a:xfrm>
            <a:off x="3236720" y="5669300"/>
            <a:ext cx="19030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ISO/IEC</a:t>
            </a:r>
            <a:r>
              <a:rPr lang="ko-KR" altLang="en-US" sz="2400" b="1" dirty="0"/>
              <a:t>⑤⑥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B455BD-4EB9-0CCE-AC73-84333274AF50}"/>
              </a:ext>
            </a:extLst>
          </p:cNvPr>
          <p:cNvSpPr txBox="1"/>
          <p:nvPr/>
        </p:nvSpPr>
        <p:spPr>
          <a:xfrm>
            <a:off x="3236720" y="5182259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글로벌 규제④</a:t>
            </a:r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DF42A3C2-6FBF-D99C-96EC-443655ED5F14}"/>
              </a:ext>
            </a:extLst>
          </p:cNvPr>
          <p:cNvCxnSpPr>
            <a:stCxn id="8" idx="3"/>
            <a:endCxn id="4" idx="1"/>
          </p:cNvCxnSpPr>
          <p:nvPr/>
        </p:nvCxnSpPr>
        <p:spPr>
          <a:xfrm flipV="1">
            <a:off x="1967645" y="1516188"/>
            <a:ext cx="622340" cy="821037"/>
          </a:xfrm>
          <a:prstGeom prst="curvedConnector3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0F2827C1-CAE3-03FF-0782-5B66445A34CB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 flipV="1">
            <a:off x="1967645" y="2065429"/>
            <a:ext cx="622340" cy="271796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2F819FC1-7DBC-FE37-E7E6-1EF96C9D912D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1967645" y="2337225"/>
            <a:ext cx="622340" cy="277445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AF1AFCF4-06C3-695A-0E0E-CDAA3109938F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1967645" y="2337225"/>
            <a:ext cx="622340" cy="826687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9061310C-BE42-E67C-4051-2A1D77C843D1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2278815" y="3951969"/>
            <a:ext cx="957905" cy="992413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2FD31F0C-2CFD-E2A3-C798-8DC417C4A8A7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2278815" y="4439010"/>
            <a:ext cx="957905" cy="505372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CD2B2603-D6FA-0E20-7730-3CE7F2CED473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2278815" y="4926051"/>
            <a:ext cx="957905" cy="1833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FEC31CBA-191D-02B0-1EB4-C53DE70165EE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2278815" y="4944382"/>
            <a:ext cx="957905" cy="46871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FD9CB859-D481-16B9-B1DA-433B4C19442E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2278815" y="4944382"/>
            <a:ext cx="957905" cy="95575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구부러짐 41">
            <a:extLst>
              <a:ext uri="{FF2B5EF4-FFF2-40B4-BE49-F238E27FC236}">
                <a16:creationId xmlns:a16="http://schemas.microsoft.com/office/drawing/2014/main" id="{ED0FF77A-460F-EA59-8413-BA5794B460F1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278815" y="4944382"/>
            <a:ext cx="957905" cy="144279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D8C4D769-7FCC-61CE-8C54-099B4CAF9FDF}"/>
              </a:ext>
            </a:extLst>
          </p:cNvPr>
          <p:cNvGrpSpPr/>
          <p:nvPr/>
        </p:nvGrpSpPr>
        <p:grpSpPr>
          <a:xfrm>
            <a:off x="5473660" y="962892"/>
            <a:ext cx="4609329" cy="1748072"/>
            <a:chOff x="5473660" y="962892"/>
            <a:chExt cx="4609329" cy="1748072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46258CA8-9C12-ED22-9CAD-9C5481B1AF22}"/>
                </a:ext>
              </a:extLst>
            </p:cNvPr>
            <p:cNvGrpSpPr/>
            <p:nvPr/>
          </p:nvGrpSpPr>
          <p:grpSpPr>
            <a:xfrm>
              <a:off x="6096000" y="962892"/>
              <a:ext cx="3986989" cy="1748072"/>
              <a:chOff x="6096000" y="962892"/>
              <a:chExt cx="3986989" cy="1748072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56140AF-916D-7E2D-A518-5FC225909E40}"/>
                  </a:ext>
                </a:extLst>
              </p:cNvPr>
              <p:cNvSpPr txBox="1"/>
              <p:nvPr/>
            </p:nvSpPr>
            <p:spPr>
              <a:xfrm>
                <a:off x="6096000" y="962892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1. AI</a:t>
                </a:r>
                <a:r>
                  <a:rPr lang="ko-KR" altLang="en-US" dirty="0"/>
                  <a:t> 투명성 확보 가이드라인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BACBBB3-C8E5-9151-E750-E13C37C39937}"/>
                  </a:ext>
                </a:extLst>
              </p:cNvPr>
              <p:cNvSpPr txBox="1"/>
              <p:nvPr/>
            </p:nvSpPr>
            <p:spPr>
              <a:xfrm>
                <a:off x="6096000" y="1996947"/>
                <a:ext cx="39869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4. </a:t>
                </a:r>
                <a:r>
                  <a:rPr lang="ko-KR" altLang="en-US" dirty="0"/>
                  <a:t>고영향 </a:t>
                </a:r>
                <a:r>
                  <a:rPr lang="en-US" altLang="ko-KR" dirty="0"/>
                  <a:t>AI</a:t>
                </a:r>
                <a:r>
                  <a:rPr lang="ko-KR" altLang="en-US" dirty="0"/>
                  <a:t> 사업자 책무 가이드라인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3A30C5C-44BC-A9DB-E8B8-BB4167D3C24D}"/>
                  </a:ext>
                </a:extLst>
              </p:cNvPr>
              <p:cNvSpPr txBox="1"/>
              <p:nvPr/>
            </p:nvSpPr>
            <p:spPr>
              <a:xfrm>
                <a:off x="6096000" y="1307577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2. AI</a:t>
                </a:r>
                <a:r>
                  <a:rPr lang="ko-KR" altLang="en-US" dirty="0"/>
                  <a:t> 안전성 확보 가이드라인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954E14E-DBD0-FAB8-C9F5-DC6258AF3079}"/>
                  </a:ext>
                </a:extLst>
              </p:cNvPr>
              <p:cNvSpPr txBox="1"/>
              <p:nvPr/>
            </p:nvSpPr>
            <p:spPr>
              <a:xfrm>
                <a:off x="6096000" y="1652262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3. </a:t>
                </a:r>
                <a:r>
                  <a:rPr lang="ko-KR" altLang="en-US" dirty="0"/>
                  <a:t>고영향 </a:t>
                </a:r>
                <a:r>
                  <a:rPr lang="en-US" altLang="ko-KR" dirty="0"/>
                  <a:t>AI</a:t>
                </a:r>
                <a:r>
                  <a:rPr lang="ko-KR" altLang="en-US" dirty="0"/>
                  <a:t> 판단 가이드라인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AF4CFB8-3662-66DC-CD5C-15D4581747CC}"/>
                  </a:ext>
                </a:extLst>
              </p:cNvPr>
              <p:cNvSpPr txBox="1"/>
              <p:nvPr/>
            </p:nvSpPr>
            <p:spPr>
              <a:xfrm>
                <a:off x="6096000" y="2341632"/>
                <a:ext cx="29001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5. AI</a:t>
                </a:r>
                <a:r>
                  <a:rPr lang="ko-KR" altLang="en-US" dirty="0"/>
                  <a:t> 영향평가 가이드라인</a:t>
                </a:r>
              </a:p>
            </p:txBody>
          </p:sp>
        </p:grpSp>
        <p:sp>
          <p:nvSpPr>
            <p:cNvPr id="66" name="왼쪽 중괄호 65">
              <a:extLst>
                <a:ext uri="{FF2B5EF4-FFF2-40B4-BE49-F238E27FC236}">
                  <a16:creationId xmlns:a16="http://schemas.microsoft.com/office/drawing/2014/main" id="{09BD34B1-BC01-00EB-71CF-4CA3A16484EE}"/>
                </a:ext>
              </a:extLst>
            </p:cNvPr>
            <p:cNvSpPr/>
            <p:nvPr/>
          </p:nvSpPr>
          <p:spPr>
            <a:xfrm>
              <a:off x="5862537" y="1147558"/>
              <a:ext cx="233463" cy="1375681"/>
            </a:xfrm>
            <a:prstGeom prst="lef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67" name="연결선: 구부러짐 66">
              <a:extLst>
                <a:ext uri="{FF2B5EF4-FFF2-40B4-BE49-F238E27FC236}">
                  <a16:creationId xmlns:a16="http://schemas.microsoft.com/office/drawing/2014/main" id="{9552A930-E597-31F9-4DDA-4AACC0B63222}"/>
                </a:ext>
              </a:extLst>
            </p:cNvPr>
            <p:cNvCxnSpPr>
              <a:cxnSpLocks/>
              <a:stCxn id="6" idx="3"/>
              <a:endCxn id="66" idx="1"/>
            </p:cNvCxnSpPr>
            <p:nvPr/>
          </p:nvCxnSpPr>
          <p:spPr>
            <a:xfrm flipV="1">
              <a:off x="5473660" y="1835399"/>
              <a:ext cx="388877" cy="779271"/>
            </a:xfrm>
            <a:prstGeom prst="curvedConnector3">
              <a:avLst>
                <a:gd name="adj1" fmla="val 50000"/>
              </a:avLst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6E08F9BE-2115-1C74-49A8-FFCA1B201611}"/>
              </a:ext>
            </a:extLst>
          </p:cNvPr>
          <p:cNvSpPr txBox="1"/>
          <p:nvPr/>
        </p:nvSpPr>
        <p:spPr>
          <a:xfrm>
            <a:off x="486799" y="187001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구성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223F18F-B407-0E7F-FB9F-CC1A54CB8AC0}"/>
              </a:ext>
            </a:extLst>
          </p:cNvPr>
          <p:cNvGrpSpPr/>
          <p:nvPr/>
        </p:nvGrpSpPr>
        <p:grpSpPr>
          <a:xfrm>
            <a:off x="5139805" y="3268237"/>
            <a:ext cx="6655191" cy="2862322"/>
            <a:chOff x="5139805" y="3268237"/>
            <a:chExt cx="6655191" cy="286232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17B5F04-8CA4-3BA8-586E-EC3CFCB9287F}"/>
                </a:ext>
              </a:extLst>
            </p:cNvPr>
            <p:cNvSpPr txBox="1"/>
            <p:nvPr/>
          </p:nvSpPr>
          <p:spPr>
            <a:xfrm>
              <a:off x="6096000" y="3268237"/>
              <a:ext cx="5698996" cy="28623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1. </a:t>
              </a:r>
              <a:r>
                <a:rPr lang="ko-KR" altLang="en-US" dirty="0"/>
                <a:t>준비 단계 </a:t>
              </a:r>
              <a:r>
                <a:rPr lang="en-US" altLang="ko-KR" dirty="0"/>
                <a:t>: ISO/IEC 22989 (</a:t>
              </a:r>
              <a:r>
                <a:rPr lang="ko-KR" altLang="en-US" dirty="0"/>
                <a:t>개념 및 용어</a:t>
              </a:r>
              <a:r>
                <a:rPr lang="en-US" altLang="ko-KR" dirty="0"/>
                <a:t>) </a:t>
              </a:r>
            </a:p>
            <a:p>
              <a:r>
                <a:rPr lang="en-US" altLang="ko-KR" dirty="0"/>
                <a:t>                  ISO/IEC 23053 (ML </a:t>
              </a:r>
              <a:r>
                <a:rPr lang="ko-KR" altLang="en-US" dirty="0"/>
                <a:t>프레임워크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2. </a:t>
              </a:r>
              <a:r>
                <a:rPr lang="ko-KR" altLang="en-US" dirty="0"/>
                <a:t>방향 설정 </a:t>
              </a:r>
              <a:r>
                <a:rPr lang="en-US" altLang="ko-KR" dirty="0"/>
                <a:t>: ISO/IEC 38507 (AI </a:t>
              </a:r>
              <a:r>
                <a:rPr lang="ko-KR" altLang="en-US" dirty="0"/>
                <a:t>거버넌스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3. </a:t>
              </a:r>
              <a:r>
                <a:rPr lang="ko-KR" altLang="en-US" dirty="0"/>
                <a:t>시스템 구축 </a:t>
              </a:r>
              <a:r>
                <a:rPr lang="en-US" altLang="ko-KR" dirty="0"/>
                <a:t>: ISO/IEC 42001 (AI </a:t>
              </a:r>
              <a:r>
                <a:rPr lang="ko-KR" altLang="en-US" dirty="0"/>
                <a:t>경영시스템</a:t>
              </a:r>
              <a:r>
                <a:rPr lang="en-US" altLang="ko-KR" dirty="0"/>
                <a:t>) </a:t>
              </a:r>
            </a:p>
            <a:p>
              <a:r>
                <a:rPr lang="en-US" altLang="ko-KR" dirty="0"/>
                <a:t>                     ISO/IEC 25059 (AI </a:t>
              </a:r>
              <a:r>
                <a:rPr lang="ko-KR" altLang="en-US" dirty="0"/>
                <a:t>시스템 품질 모델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4. </a:t>
              </a:r>
              <a:r>
                <a:rPr lang="ko-KR" altLang="en-US" dirty="0"/>
                <a:t>실행 및 관리 </a:t>
              </a:r>
              <a:r>
                <a:rPr lang="en-US" altLang="ko-KR" dirty="0"/>
                <a:t>: ISO/IEC 5259 (</a:t>
              </a:r>
              <a:r>
                <a:rPr lang="ko-KR" altLang="en-US" dirty="0"/>
                <a:t>데이터 품질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23894 (</a:t>
              </a:r>
              <a:r>
                <a:rPr lang="ko-KR" altLang="en-US" dirty="0"/>
                <a:t>리스크 관리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27090/27091 (</a:t>
              </a:r>
              <a:r>
                <a:rPr lang="ko-KR" altLang="en-US" dirty="0"/>
                <a:t>정보 보호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5. </a:t>
              </a:r>
              <a:r>
                <a:rPr lang="ko-KR" altLang="en-US" dirty="0"/>
                <a:t>검증 및 개선 </a:t>
              </a:r>
              <a:r>
                <a:rPr lang="en-US" altLang="ko-KR" dirty="0"/>
                <a:t>: ISO/IEC 24029 (</a:t>
              </a:r>
              <a:r>
                <a:rPr lang="ko-KR" altLang="en-US" dirty="0"/>
                <a:t>분석적 평가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24028 (</a:t>
              </a:r>
              <a:r>
                <a:rPr lang="ko-KR" altLang="en-US" dirty="0"/>
                <a:t>신뢰성 편향</a:t>
              </a:r>
              <a:r>
                <a:rPr lang="en-US" altLang="ko-KR" dirty="0"/>
                <a:t>)</a:t>
              </a:r>
            </a:p>
          </p:txBody>
        </p:sp>
        <p:sp>
          <p:nvSpPr>
            <p:cNvPr id="19" name="왼쪽 중괄호 18">
              <a:extLst>
                <a:ext uri="{FF2B5EF4-FFF2-40B4-BE49-F238E27FC236}">
                  <a16:creationId xmlns:a16="http://schemas.microsoft.com/office/drawing/2014/main" id="{E43CB37F-61B0-1B45-6B28-FCA0EEC00999}"/>
                </a:ext>
              </a:extLst>
            </p:cNvPr>
            <p:cNvSpPr/>
            <p:nvPr/>
          </p:nvSpPr>
          <p:spPr>
            <a:xfrm>
              <a:off x="5862537" y="3449844"/>
              <a:ext cx="233463" cy="2206499"/>
            </a:xfrm>
            <a:prstGeom prst="lef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0" name="연결선: 구부러짐 19">
              <a:extLst>
                <a:ext uri="{FF2B5EF4-FFF2-40B4-BE49-F238E27FC236}">
                  <a16:creationId xmlns:a16="http://schemas.microsoft.com/office/drawing/2014/main" id="{9BE293F5-BB91-8FB0-9BBC-9680A78EB124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 flipV="1">
              <a:off x="5139805" y="4553094"/>
              <a:ext cx="722732" cy="1347039"/>
            </a:xfrm>
            <a:prstGeom prst="curvedConnector3">
              <a:avLst>
                <a:gd name="adj1" fmla="val 50000"/>
              </a:avLst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4106597-5500-FEA9-7554-53512EECAC2A}"/>
              </a:ext>
            </a:extLst>
          </p:cNvPr>
          <p:cNvSpPr/>
          <p:nvPr/>
        </p:nvSpPr>
        <p:spPr>
          <a:xfrm>
            <a:off x="2623523" y="1235090"/>
            <a:ext cx="2445632" cy="553559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843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C69E4-758A-C78E-A53D-3910B909E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5A76F52-7E58-453D-EF02-1043B80A3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56" y="116149"/>
            <a:ext cx="2806070" cy="2990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162636-D8A9-8842-AD3F-C0ABC4B93B15}"/>
              </a:ext>
            </a:extLst>
          </p:cNvPr>
          <p:cNvSpPr txBox="1"/>
          <p:nvPr/>
        </p:nvSpPr>
        <p:spPr>
          <a:xfrm>
            <a:off x="602131" y="1103181"/>
            <a:ext cx="256192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/>
              <a:t>1</a:t>
            </a:r>
            <a:r>
              <a:rPr lang="ko-KR" altLang="en-US" sz="2400" b="1" dirty="0"/>
              <a:t>강</a:t>
            </a:r>
            <a:r>
              <a:rPr lang="en-US" altLang="ko-KR" sz="2400" b="1" dirty="0"/>
              <a:t>.</a:t>
            </a:r>
          </a:p>
          <a:p>
            <a:pPr algn="ctr"/>
            <a:endParaRPr lang="en-US" altLang="ko-KR" sz="1200" b="1" dirty="0"/>
          </a:p>
          <a:p>
            <a:pPr algn="ctr"/>
            <a:r>
              <a:rPr lang="en-US" altLang="ko-KR" sz="2400" b="1" dirty="0"/>
              <a:t>AI </a:t>
            </a:r>
            <a:r>
              <a:rPr lang="ko-KR" altLang="en-US" sz="2400" b="1" dirty="0"/>
              <a:t>거버넌스 개론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775B1F-08F4-5FDF-C262-90F15FD218DD}"/>
              </a:ext>
            </a:extLst>
          </p:cNvPr>
          <p:cNvSpPr txBox="1"/>
          <p:nvPr/>
        </p:nvSpPr>
        <p:spPr>
          <a:xfrm>
            <a:off x="3522310" y="2147517"/>
            <a:ext cx="55322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[2] </a:t>
            </a:r>
            <a:r>
              <a:rPr lang="ko-KR" altLang="en-US" sz="2800" b="1" dirty="0"/>
              <a:t>대한민국 </a:t>
            </a:r>
            <a:r>
              <a:rPr lang="en-US" altLang="ko-KR" sz="2800" b="1" dirty="0"/>
              <a:t>AI</a:t>
            </a:r>
            <a:r>
              <a:rPr lang="ko-KR" altLang="en-US" sz="2800" b="1" dirty="0"/>
              <a:t>액션플랜</a:t>
            </a:r>
            <a:r>
              <a:rPr lang="en-US" altLang="ko-KR" sz="2800" b="1" dirty="0">
                <a:solidFill>
                  <a:srgbClr val="FF0000"/>
                </a:solidFill>
              </a:rPr>
              <a:t>(2025.9)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14BB30-BCCB-8EE5-CA89-E7BC23A9C720}"/>
              </a:ext>
            </a:extLst>
          </p:cNvPr>
          <p:cNvSpPr txBox="1"/>
          <p:nvPr/>
        </p:nvSpPr>
        <p:spPr>
          <a:xfrm>
            <a:off x="3522310" y="2727887"/>
            <a:ext cx="741420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[3] </a:t>
            </a:r>
            <a:r>
              <a:rPr lang="ko-KR" altLang="en-US" sz="2800" b="1" dirty="0"/>
              <a:t>대한민국 인공지능행동계획</a:t>
            </a:r>
            <a:endParaRPr lang="en-US" altLang="ko-KR" sz="2800" b="1" dirty="0"/>
          </a:p>
          <a:p>
            <a:r>
              <a:rPr lang="ko-KR" altLang="en-US" sz="2800" b="1" dirty="0"/>
              <a:t>   </a:t>
            </a:r>
            <a:r>
              <a:rPr lang="en-US" altLang="ko-KR" sz="2800" b="1" dirty="0"/>
              <a:t>- </a:t>
            </a:r>
            <a:r>
              <a:rPr lang="ko-KR" altLang="en-US" sz="2800" b="1" dirty="0"/>
              <a:t>인공지능 기본계획</a:t>
            </a:r>
            <a:r>
              <a:rPr lang="en-US" altLang="ko-KR" sz="2800" b="1" dirty="0"/>
              <a:t>(2026~2028)</a:t>
            </a:r>
            <a:r>
              <a:rPr lang="en-US" altLang="ko-KR" sz="2800" b="1" dirty="0">
                <a:solidFill>
                  <a:srgbClr val="FF0000"/>
                </a:solidFill>
              </a:rPr>
              <a:t>(2026.2)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AA69D4-A1FE-E71D-908D-EC4F87100043}"/>
              </a:ext>
            </a:extLst>
          </p:cNvPr>
          <p:cNvSpPr txBox="1"/>
          <p:nvPr/>
        </p:nvSpPr>
        <p:spPr>
          <a:xfrm>
            <a:off x="3522310" y="518630"/>
            <a:ext cx="27029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[1] AI </a:t>
            </a:r>
            <a:r>
              <a:rPr lang="ko-KR" altLang="en-US" sz="2800" b="1" dirty="0"/>
              <a:t>거버넌스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CBE380-68B7-BF28-1547-C592067DFD17}"/>
              </a:ext>
            </a:extLst>
          </p:cNvPr>
          <p:cNvSpPr txBox="1"/>
          <p:nvPr/>
        </p:nvSpPr>
        <p:spPr>
          <a:xfrm>
            <a:off x="4191000" y="923619"/>
            <a:ext cx="770403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AI Governance </a:t>
            </a:r>
            <a:r>
              <a:rPr lang="ko-KR" altLang="en-US" dirty="0"/>
              <a:t>정의</a:t>
            </a:r>
            <a:r>
              <a:rPr lang="en-US" altLang="ko-KR" dirty="0"/>
              <a:t>, </a:t>
            </a:r>
            <a:r>
              <a:rPr lang="ko-KR" altLang="en-US" dirty="0"/>
              <a:t>목표</a:t>
            </a:r>
            <a:r>
              <a:rPr lang="en-US" altLang="ko-KR" dirty="0"/>
              <a:t>, </a:t>
            </a:r>
            <a:r>
              <a:rPr lang="ko-KR" altLang="en-US" dirty="0"/>
              <a:t>정책</a:t>
            </a:r>
            <a:r>
              <a:rPr lang="en-US" altLang="ko-KR" dirty="0"/>
              <a:t>, </a:t>
            </a:r>
            <a:r>
              <a:rPr lang="ko-KR" altLang="en-US" dirty="0"/>
              <a:t>핵심</a:t>
            </a:r>
            <a:r>
              <a:rPr lang="en-US" altLang="ko-KR" dirty="0"/>
              <a:t>, </a:t>
            </a:r>
            <a:r>
              <a:rPr lang="ko-KR" altLang="en-US" dirty="0"/>
              <a:t>미래</a:t>
            </a:r>
          </a:p>
          <a:p>
            <a:r>
              <a:rPr lang="en-US" altLang="ko-KR" dirty="0"/>
              <a:t>AI Governance </a:t>
            </a:r>
            <a:r>
              <a:rPr lang="ko-KR" altLang="en-US" dirty="0"/>
              <a:t>설문조사 </a:t>
            </a:r>
            <a:r>
              <a:rPr lang="en-US" altLang="ko-KR" dirty="0"/>
              <a:t>: </a:t>
            </a:r>
            <a:r>
              <a:rPr lang="ko-KR" altLang="en-US" dirty="0"/>
              <a:t>필요</a:t>
            </a:r>
            <a:r>
              <a:rPr lang="en-US" altLang="ko-KR" dirty="0"/>
              <a:t>, </a:t>
            </a:r>
            <a:r>
              <a:rPr lang="ko-KR" altLang="en-US" dirty="0"/>
              <a:t>리더의 고민</a:t>
            </a:r>
            <a:r>
              <a:rPr lang="en-US" altLang="ko-KR" dirty="0"/>
              <a:t>, </a:t>
            </a:r>
            <a:r>
              <a:rPr lang="ko-KR" altLang="en-US" dirty="0"/>
              <a:t>리스크</a:t>
            </a:r>
            <a:r>
              <a:rPr lang="en-US" altLang="ko-KR" dirty="0"/>
              <a:t>, </a:t>
            </a:r>
            <a:r>
              <a:rPr lang="ko-KR" altLang="en-US" dirty="0"/>
              <a:t>관리방안</a:t>
            </a:r>
            <a:r>
              <a:rPr lang="en-US" altLang="ko-KR" dirty="0"/>
              <a:t>, </a:t>
            </a:r>
            <a:r>
              <a:rPr lang="ko-KR" altLang="en-US" dirty="0"/>
              <a:t>대응사례</a:t>
            </a:r>
          </a:p>
          <a:p>
            <a:r>
              <a:rPr lang="en-US" altLang="ko-KR" dirty="0"/>
              <a:t>AI Governance </a:t>
            </a:r>
            <a:r>
              <a:rPr lang="ko-KR" altLang="en-US" dirty="0"/>
              <a:t>조직</a:t>
            </a:r>
            <a:r>
              <a:rPr lang="en-US" altLang="ko-KR" dirty="0"/>
              <a:t>(</a:t>
            </a:r>
            <a:r>
              <a:rPr lang="ko-KR" altLang="en-US" dirty="0"/>
              <a:t>정부</a:t>
            </a:r>
            <a:r>
              <a:rPr lang="en-US" altLang="ko-KR" dirty="0"/>
              <a:t>, </a:t>
            </a:r>
            <a:r>
              <a:rPr lang="ko-KR" altLang="en-US" dirty="0"/>
              <a:t>민간</a:t>
            </a:r>
            <a:r>
              <a:rPr lang="en-US" altLang="ko-KR" dirty="0"/>
              <a:t>)</a:t>
            </a:r>
          </a:p>
          <a:p>
            <a:r>
              <a:rPr lang="en-US" altLang="ko-KR" sz="1200" dirty="0">
                <a:hlinkClick r:id="rId3"/>
              </a:rPr>
              <a:t>https://ecampus.konkuk.ac.kr/ilos/pf/course/lecture_material_view_form.acl?ARTL_NUM=13440986</a:t>
            </a:r>
            <a:endParaRPr lang="en-US" altLang="ko-KR" sz="1200" dirty="0"/>
          </a:p>
          <a:p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2C3B7B-F12D-3F1F-B2A4-588ABB051183}"/>
              </a:ext>
            </a:extLst>
          </p:cNvPr>
          <p:cNvSpPr txBox="1"/>
          <p:nvPr/>
        </p:nvSpPr>
        <p:spPr>
          <a:xfrm>
            <a:off x="1507088" y="3717177"/>
            <a:ext cx="1010725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운영방향 </a:t>
            </a:r>
            <a:r>
              <a:rPr lang="en-US" altLang="ko-KR" dirty="0"/>
              <a:t>: </a:t>
            </a:r>
            <a:r>
              <a:rPr lang="ko-KR" altLang="en-US" dirty="0"/>
              <a:t>일하는 방식의 혁신</a:t>
            </a:r>
            <a:r>
              <a:rPr lang="en-US" altLang="ko-KR" dirty="0"/>
              <a:t>, </a:t>
            </a:r>
            <a:r>
              <a:rPr lang="ko-KR" altLang="en-US" dirty="0"/>
              <a:t>집단지성을 활용한 문제해결</a:t>
            </a:r>
            <a:r>
              <a:rPr lang="en-US" altLang="ko-KR" dirty="0"/>
              <a:t>, </a:t>
            </a:r>
            <a:r>
              <a:rPr lang="ko-KR" altLang="en-US" dirty="0"/>
              <a:t>정책정합성과 이행력 확보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추진배경 </a:t>
            </a:r>
            <a:r>
              <a:rPr lang="en-US" altLang="ko-KR" dirty="0"/>
              <a:t>: AI</a:t>
            </a:r>
            <a:r>
              <a:rPr lang="ko-KR" altLang="en-US" dirty="0"/>
              <a:t>가 경제민생위기 속에서 재도약을 이끌 핵심수단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                 </a:t>
            </a:r>
            <a:r>
              <a:rPr lang="ko-KR" altLang="en-US" dirty="0"/>
              <a:t>미중 폐권경쟁속 </a:t>
            </a:r>
            <a:r>
              <a:rPr lang="en-US" altLang="ko-KR" dirty="0"/>
              <a:t>AI</a:t>
            </a:r>
            <a:r>
              <a:rPr lang="ko-KR" altLang="en-US" dirty="0"/>
              <a:t>강국 도약의 저력 보유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정부 </a:t>
            </a:r>
            <a:r>
              <a:rPr lang="en-US" altLang="ko-KR" dirty="0"/>
              <a:t>AI</a:t>
            </a:r>
            <a:r>
              <a:rPr lang="ko-KR" altLang="en-US" dirty="0"/>
              <a:t>전략 </a:t>
            </a:r>
            <a:r>
              <a:rPr lang="en-US" altLang="ko-KR" dirty="0"/>
              <a:t>: </a:t>
            </a:r>
            <a:r>
              <a:rPr lang="ko-KR" altLang="en-US" dirty="0"/>
              <a:t>글로벌 </a:t>
            </a:r>
            <a:r>
              <a:rPr lang="en-US" altLang="ko-KR" dirty="0"/>
              <a:t>AI 3</a:t>
            </a:r>
            <a:r>
              <a:rPr lang="ko-KR" altLang="en-US" dirty="0"/>
              <a:t>대 강국</a:t>
            </a:r>
            <a:r>
              <a:rPr lang="en-US" altLang="ko-KR" dirty="0"/>
              <a:t>(G3) </a:t>
            </a:r>
            <a:r>
              <a:rPr lang="ko-KR" altLang="en-US" dirty="0"/>
              <a:t>도약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(1) AI</a:t>
            </a:r>
            <a:r>
              <a:rPr lang="ko-KR" altLang="en-US" dirty="0"/>
              <a:t>혁신 생태계 조성</a:t>
            </a:r>
          </a:p>
          <a:p>
            <a:r>
              <a:rPr lang="ko-KR" altLang="en-US" dirty="0"/>
              <a:t>    ①</a:t>
            </a:r>
            <a:r>
              <a:rPr lang="en-US" altLang="ko-KR" dirty="0"/>
              <a:t>AI </a:t>
            </a:r>
            <a:r>
              <a:rPr lang="ko-KR" altLang="en-US" dirty="0"/>
              <a:t>고속도로 구축</a:t>
            </a:r>
            <a:r>
              <a:rPr lang="en-US" altLang="ko-KR" dirty="0"/>
              <a:t>, ②</a:t>
            </a:r>
            <a:r>
              <a:rPr lang="ko-KR" altLang="en-US" dirty="0"/>
              <a:t>차세대 </a:t>
            </a:r>
            <a:r>
              <a:rPr lang="en-US" altLang="ko-KR" dirty="0"/>
              <a:t>AI </a:t>
            </a:r>
            <a:r>
              <a:rPr lang="ko-KR" altLang="en-US" dirty="0"/>
              <a:t>기술 선점</a:t>
            </a:r>
            <a:r>
              <a:rPr lang="en-US" altLang="ko-KR" dirty="0"/>
              <a:t>, ③AI </a:t>
            </a:r>
            <a:r>
              <a:rPr lang="ko-KR" altLang="en-US" dirty="0"/>
              <a:t>핵심인재 확보</a:t>
            </a:r>
            <a:r>
              <a:rPr lang="en-US" altLang="ko-KR" dirty="0"/>
              <a:t>, ④AI </a:t>
            </a:r>
            <a:r>
              <a:rPr lang="ko-KR" altLang="en-US" dirty="0"/>
              <a:t>모델 확보⑤</a:t>
            </a:r>
            <a:r>
              <a:rPr lang="en-US" altLang="ko-KR" dirty="0"/>
              <a:t>AI </a:t>
            </a:r>
            <a:r>
              <a:rPr lang="ko-KR" altLang="en-US" dirty="0"/>
              <a:t>규제혁신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(2) </a:t>
            </a:r>
            <a:r>
              <a:rPr lang="ko-KR" altLang="en-US" dirty="0"/>
              <a:t>범국가 </a:t>
            </a:r>
            <a:r>
              <a:rPr lang="en-US" altLang="ko-KR" dirty="0"/>
              <a:t>AI</a:t>
            </a:r>
            <a:r>
              <a:rPr lang="ko-KR" altLang="en-US" dirty="0"/>
              <a:t>기반 大전환</a:t>
            </a:r>
          </a:p>
          <a:p>
            <a:r>
              <a:rPr lang="ko-KR" altLang="en-US" dirty="0"/>
              <a:t>    ⑥산업 </a:t>
            </a:r>
            <a:r>
              <a:rPr lang="en-US" altLang="ko-KR" dirty="0"/>
              <a:t>AX, ⑦</a:t>
            </a:r>
            <a:r>
              <a:rPr lang="ko-KR" altLang="en-US" dirty="0"/>
              <a:t>공공 </a:t>
            </a:r>
            <a:r>
              <a:rPr lang="en-US" altLang="ko-KR" dirty="0"/>
              <a:t>AX, ⑧</a:t>
            </a:r>
            <a:r>
              <a:rPr lang="ko-KR" altLang="en-US" dirty="0"/>
              <a:t>지역 </a:t>
            </a:r>
            <a:r>
              <a:rPr lang="en-US" altLang="ko-KR" dirty="0"/>
              <a:t>AX, ⑨AI</a:t>
            </a:r>
            <a:r>
              <a:rPr lang="ko-KR" altLang="en-US" dirty="0"/>
              <a:t>기반 문화강국</a:t>
            </a:r>
            <a:r>
              <a:rPr lang="en-US" altLang="ko-KR" dirty="0"/>
              <a:t>, ⑩AI</a:t>
            </a:r>
            <a:r>
              <a:rPr lang="ko-KR" altLang="en-US" dirty="0"/>
              <a:t>기반 국방강국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(3) </a:t>
            </a:r>
            <a:r>
              <a:rPr lang="ko-KR" altLang="en-US" dirty="0"/>
              <a:t>글로벌 </a:t>
            </a:r>
            <a:r>
              <a:rPr lang="en-US" altLang="ko-KR" dirty="0"/>
              <a:t>AI</a:t>
            </a:r>
            <a:r>
              <a:rPr lang="ko-KR" altLang="en-US" dirty="0"/>
              <a:t>기본사회 기여</a:t>
            </a:r>
          </a:p>
          <a:p>
            <a:r>
              <a:rPr lang="ko-KR" altLang="en-US" dirty="0"/>
              <a:t>    ⑪</a:t>
            </a:r>
            <a:r>
              <a:rPr lang="en-US" altLang="ko-KR" dirty="0"/>
              <a:t>AI </a:t>
            </a:r>
            <a:r>
              <a:rPr lang="ko-KR" altLang="en-US" dirty="0"/>
              <a:t>기본사회</a:t>
            </a:r>
            <a:r>
              <a:rPr lang="en-US" altLang="ko-KR" dirty="0"/>
              <a:t>, ⑫</a:t>
            </a:r>
            <a:r>
              <a:rPr lang="ko-KR" altLang="en-US" dirty="0"/>
              <a:t>글로벌 </a:t>
            </a:r>
            <a:r>
              <a:rPr lang="en-US" altLang="ko-KR" dirty="0"/>
              <a:t>AI </a:t>
            </a:r>
            <a:r>
              <a:rPr lang="ko-KR" altLang="en-US" dirty="0"/>
              <a:t>이니셔티브</a:t>
            </a:r>
          </a:p>
        </p:txBody>
      </p:sp>
    </p:spTree>
    <p:extLst>
      <p:ext uri="{BB962C8B-B14F-4D97-AF65-F5344CB8AC3E}">
        <p14:creationId xmlns:p14="http://schemas.microsoft.com/office/powerpoint/2010/main" val="1775549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4F11-B237-423B-05F6-1C36E76DE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C3A7C3-DA7C-357F-E67C-AB10A5ABC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066"/>
            <a:ext cx="3743119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3B1EC8-7873-CD02-58F7-916B10A57E47}"/>
              </a:ext>
            </a:extLst>
          </p:cNvPr>
          <p:cNvSpPr txBox="1"/>
          <p:nvPr/>
        </p:nvSpPr>
        <p:spPr>
          <a:xfrm>
            <a:off x="486799" y="187001"/>
            <a:ext cx="30476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IT </a:t>
            </a:r>
            <a:r>
              <a:rPr lang="ko-KR" altLang="en-US" sz="3200" b="1" dirty="0"/>
              <a:t>거버넌스</a:t>
            </a:r>
            <a:r>
              <a:rPr lang="en-US" altLang="ko-KR" sz="2400" b="1" dirty="0"/>
              <a:t>(1/2)</a:t>
            </a:r>
            <a:endParaRPr lang="ko-KR" alt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6379F7-CA81-4D5B-8A9E-F85151079FB7}"/>
              </a:ext>
            </a:extLst>
          </p:cNvPr>
          <p:cNvSpPr txBox="1"/>
          <p:nvPr/>
        </p:nvSpPr>
        <p:spPr>
          <a:xfrm>
            <a:off x="599356" y="1489190"/>
            <a:ext cx="919995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IT Governance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ko-KR" altLang="en-US" b="1" dirty="0"/>
              <a:t> </a:t>
            </a:r>
            <a:endParaRPr lang="en-US" altLang="ko-KR" b="1" dirty="0"/>
          </a:p>
          <a:p>
            <a:r>
              <a:rPr lang="ko-KR" altLang="en-US" dirty="0"/>
              <a:t>조직의 경영에 있어 </a:t>
            </a:r>
            <a:r>
              <a:rPr lang="en-US" altLang="ko-KR" dirty="0"/>
              <a:t>IT </a:t>
            </a:r>
            <a:r>
              <a:rPr lang="ko-KR" altLang="en-US" dirty="0"/>
              <a:t>활용의 최적화를 위한 </a:t>
            </a:r>
            <a:endParaRPr lang="en-US" altLang="ko-KR" dirty="0"/>
          </a:p>
          <a:p>
            <a:r>
              <a:rPr lang="ko-KR" altLang="en-US" dirty="0"/>
              <a:t>의사결정 체계 및 이에 근거한 제반 </a:t>
            </a:r>
            <a:r>
              <a:rPr lang="en-US" altLang="ko-KR" dirty="0"/>
              <a:t>IT </a:t>
            </a:r>
            <a:r>
              <a:rPr lang="ko-KR" altLang="en-US" dirty="0"/>
              <a:t>통제</a:t>
            </a:r>
            <a:endParaRPr lang="en-US" altLang="ko-KR" dirty="0"/>
          </a:p>
          <a:p>
            <a:r>
              <a:rPr lang="ko-KR" altLang="en-US" dirty="0"/>
              <a:t>조직의 거버넌스 중에 </a:t>
            </a:r>
            <a:r>
              <a:rPr lang="en-US" altLang="ko-KR" dirty="0"/>
              <a:t>IT</a:t>
            </a:r>
            <a:r>
              <a:rPr lang="ko-KR" altLang="en-US" dirty="0"/>
              <a:t>를 통해 조직의 전략과 목표를 유지 발전시키기 위한 모든 활동</a:t>
            </a:r>
            <a:endParaRPr lang="en-US" altLang="ko-KR" dirty="0"/>
          </a:p>
          <a:p>
            <a:r>
              <a:rPr lang="ko-KR" altLang="en-US" dirty="0"/>
              <a:t>리더쉽</a:t>
            </a:r>
            <a:r>
              <a:rPr lang="en-US" altLang="ko-KR" dirty="0"/>
              <a:t>, </a:t>
            </a:r>
            <a:r>
              <a:rPr lang="ko-KR" altLang="en-US" dirty="0"/>
              <a:t>조직구조 및 프로세스로 구성됨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293D82D-6769-4D06-B6ED-8A81DFCE9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1924" y="2966518"/>
            <a:ext cx="7807860" cy="363193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CCDAD47-C900-43D4-8092-6286DDF1B5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04996"/>
            <a:ext cx="5875230" cy="213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10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4F11-B237-423B-05F6-1C36E76DE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C3A7C3-DA7C-357F-E67C-AB10A5ABC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3597269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3B1EC8-7873-CD02-58F7-916B10A57E47}"/>
              </a:ext>
            </a:extLst>
          </p:cNvPr>
          <p:cNvSpPr txBox="1"/>
          <p:nvPr/>
        </p:nvSpPr>
        <p:spPr>
          <a:xfrm>
            <a:off x="486799" y="187001"/>
            <a:ext cx="32848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IT </a:t>
            </a:r>
            <a:r>
              <a:rPr lang="ko-KR" altLang="en-US" sz="3200" b="1" dirty="0"/>
              <a:t>거버넌스</a:t>
            </a:r>
            <a:r>
              <a:rPr lang="en-US" altLang="ko-KR" sz="3200" b="1" dirty="0"/>
              <a:t>(2/2)</a:t>
            </a:r>
            <a:endParaRPr lang="ko-KR" alt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9D41E-4C27-4B87-9597-A956842EDD16}"/>
              </a:ext>
            </a:extLst>
          </p:cNvPr>
          <p:cNvSpPr txBox="1"/>
          <p:nvPr/>
        </p:nvSpPr>
        <p:spPr>
          <a:xfrm>
            <a:off x="486799" y="3429000"/>
            <a:ext cx="439575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kern="0" spc="-60" dirty="0">
                <a:solidFill>
                  <a:srgbClr val="000000"/>
                </a:solidFill>
                <a:effectLst/>
                <a:latin typeface="+mn-ea"/>
              </a:rPr>
              <a:t>IT Governance</a:t>
            </a:r>
            <a:r>
              <a:rPr lang="ko-KR" altLang="en-US" sz="1800" b="1" kern="0" spc="-60" dirty="0">
                <a:solidFill>
                  <a:srgbClr val="000000"/>
                </a:solidFill>
                <a:effectLst/>
                <a:latin typeface="+mn-ea"/>
              </a:rPr>
              <a:t>의 </a:t>
            </a:r>
            <a:r>
              <a:rPr lang="en-US" altLang="ko-KR" sz="1800" b="1" kern="0" spc="-40" dirty="0">
                <a:solidFill>
                  <a:srgbClr val="000000"/>
                </a:solidFill>
                <a:effectLst/>
                <a:latin typeface="+mn-ea"/>
              </a:rPr>
              <a:t>5</a:t>
            </a:r>
            <a:r>
              <a:rPr lang="ko-KR" altLang="en-US" sz="1800" b="1" kern="0" spc="-40" dirty="0">
                <a:solidFill>
                  <a:srgbClr val="000000"/>
                </a:solidFill>
                <a:effectLst/>
                <a:latin typeface="+mn-ea"/>
              </a:rPr>
              <a:t>개 </a:t>
            </a:r>
            <a:r>
              <a:rPr lang="ko-KR" altLang="en-US" sz="1800" b="1" kern="0" spc="-50" dirty="0">
                <a:solidFill>
                  <a:srgbClr val="000000"/>
                </a:solidFill>
                <a:effectLst/>
                <a:latin typeface="+mn-ea"/>
              </a:rPr>
              <a:t>영역</a:t>
            </a:r>
            <a:endParaRPr lang="en-US" altLang="ko-KR" sz="1800" b="1" kern="0" spc="-50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① 전략적 연계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(Strategic Alignment) </a:t>
            </a:r>
          </a:p>
          <a:p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②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가치 제공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(Value Delivery) </a:t>
            </a:r>
          </a:p>
          <a:p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③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위험관리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(Risk Management) </a:t>
            </a:r>
          </a:p>
          <a:p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④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자원관리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(Resource Management)</a:t>
            </a:r>
          </a:p>
          <a:p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⑤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성과측정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(Performance Measurement)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+mn-ea"/>
            </a:endParaRPr>
          </a:p>
          <a:p>
            <a:endParaRPr lang="ko-KR" altLang="en-US" dirty="0">
              <a:latin typeface="+mn-ea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FF94D868-A3EA-4A43-8868-B23B99E40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435" y="2873585"/>
            <a:ext cx="7112765" cy="3357881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F0A4003-F607-4BC9-A936-537EDB40B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0086" y="486905"/>
            <a:ext cx="3597269" cy="18785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31FCB0-337C-4E0C-9F22-3C9DB6C9C210}"/>
              </a:ext>
            </a:extLst>
          </p:cNvPr>
          <p:cNvSpPr txBox="1"/>
          <p:nvPr/>
        </p:nvSpPr>
        <p:spPr>
          <a:xfrm>
            <a:off x="2012897" y="1168501"/>
            <a:ext cx="24891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kern="0" spc="-60" dirty="0">
                <a:solidFill>
                  <a:srgbClr val="000000"/>
                </a:solidFill>
                <a:effectLst/>
                <a:latin typeface="+mn-ea"/>
              </a:rPr>
              <a:t>IT Governance</a:t>
            </a:r>
            <a:r>
              <a:rPr lang="ko-KR" altLang="en-US" sz="1800" b="1" kern="0" spc="-60" dirty="0">
                <a:solidFill>
                  <a:srgbClr val="000000"/>
                </a:solidFill>
                <a:effectLst/>
                <a:latin typeface="+mn-ea"/>
              </a:rPr>
              <a:t>의 </a:t>
            </a:r>
            <a:r>
              <a:rPr lang="ko-KR" altLang="en-US" b="1" kern="0" spc="-40" dirty="0">
                <a:solidFill>
                  <a:srgbClr val="000000"/>
                </a:solidFill>
                <a:latin typeface="+mn-ea"/>
              </a:rPr>
              <a:t>목표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+mn-ea"/>
            </a:endParaRPr>
          </a:p>
          <a:p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43529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644D-339B-C914-72D4-B1854E220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5E1C1AA-1915-C11D-451D-0C10294A9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914" y="1203649"/>
            <a:ext cx="4450702" cy="4301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D2571C-DEB5-B5F3-A192-00E50638052D}"/>
              </a:ext>
            </a:extLst>
          </p:cNvPr>
          <p:cNvSpPr txBox="1"/>
          <p:nvPr/>
        </p:nvSpPr>
        <p:spPr>
          <a:xfrm>
            <a:off x="3995649" y="2767280"/>
            <a:ext cx="39052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/>
              <a:t>2</a:t>
            </a:r>
            <a:r>
              <a:rPr lang="ko-KR" altLang="en-US" sz="3200" b="1" dirty="0"/>
              <a:t>강</a:t>
            </a:r>
            <a:r>
              <a:rPr lang="en-US" altLang="ko-KR" sz="3200" b="1" dirty="0"/>
              <a:t>.</a:t>
            </a:r>
          </a:p>
          <a:p>
            <a:pPr algn="ctr"/>
            <a:endParaRPr lang="en-US" altLang="ko-KR" sz="1600" b="1" dirty="0"/>
          </a:p>
          <a:p>
            <a:pPr algn="ctr"/>
            <a:r>
              <a:rPr lang="en-US" altLang="ko-KR" sz="3200" b="1" dirty="0"/>
              <a:t>AI </a:t>
            </a:r>
            <a:r>
              <a:rPr lang="ko-KR" altLang="en-US" sz="3200" b="1" dirty="0"/>
              <a:t>법규제 기초 이론</a:t>
            </a:r>
          </a:p>
        </p:txBody>
      </p:sp>
    </p:spTree>
    <p:extLst>
      <p:ext uri="{BB962C8B-B14F-4D97-AF65-F5344CB8AC3E}">
        <p14:creationId xmlns:p14="http://schemas.microsoft.com/office/powerpoint/2010/main" val="644475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162D-A79E-E8BA-4895-166EF2C3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64CCEF-838A-6FBE-8180-FD544D4A808B}"/>
              </a:ext>
            </a:extLst>
          </p:cNvPr>
          <p:cNvSpPr txBox="1"/>
          <p:nvPr/>
        </p:nvSpPr>
        <p:spPr>
          <a:xfrm>
            <a:off x="716161" y="212735"/>
            <a:ext cx="11280652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발전과 신뢰 기반 조성 등에 관한 기본법안 </a:t>
            </a:r>
            <a:r>
              <a:rPr lang="ko-KR" altLang="en-US" dirty="0"/>
              <a:t>국회 본회의 의결</a:t>
            </a:r>
            <a:r>
              <a:rPr lang="en-US" altLang="ko-KR" dirty="0"/>
              <a:t>(2024.12.26), </a:t>
            </a:r>
            <a:r>
              <a:rPr lang="ko-KR" altLang="en-US" dirty="0"/>
              <a:t>시행</a:t>
            </a:r>
            <a:r>
              <a:rPr lang="en-US" altLang="ko-KR" dirty="0"/>
              <a:t>(2026.1.22)</a:t>
            </a:r>
          </a:p>
          <a:p>
            <a:endParaRPr lang="en-US" altLang="ko-KR" dirty="0"/>
          </a:p>
          <a:p>
            <a:r>
              <a:rPr lang="ko-KR" altLang="en-US" dirty="0"/>
              <a:t>여야 의원이 발의한 총 </a:t>
            </a:r>
            <a:r>
              <a:rPr lang="en-US" altLang="ko-KR" dirty="0"/>
              <a:t>19</a:t>
            </a:r>
            <a:r>
              <a:rPr lang="ko-KR" altLang="en-US" dirty="0"/>
              <a:t>건의 </a:t>
            </a:r>
            <a:r>
              <a:rPr lang="en-US" altLang="ko-KR" dirty="0"/>
              <a:t>AI </a:t>
            </a:r>
            <a:r>
              <a:rPr lang="ko-KR" altLang="en-US" dirty="0"/>
              <a:t>관련 법안을 병합</a:t>
            </a:r>
            <a:endParaRPr lang="en-US" altLang="ko-KR" dirty="0"/>
          </a:p>
          <a:p>
            <a:r>
              <a:rPr lang="ko-KR" altLang="en-US" dirty="0"/>
              <a:t> </a:t>
            </a:r>
            <a:r>
              <a:rPr lang="en-US" altLang="ko-KR" dirty="0"/>
              <a:t>: AI </a:t>
            </a:r>
            <a:r>
              <a:rPr lang="ko-KR" altLang="en-US" dirty="0"/>
              <a:t>기술 및 산업 발전을 위한 지원 근거와 동시에 </a:t>
            </a:r>
            <a:r>
              <a:rPr lang="en-US" altLang="ko-KR" dirty="0"/>
              <a:t>AI </a:t>
            </a:r>
            <a:r>
              <a:rPr lang="ko-KR" altLang="en-US" dirty="0"/>
              <a:t>서비스의 책임소재 등 안정성 강화 기준을 규정 </a:t>
            </a:r>
          </a:p>
          <a:p>
            <a:endParaRPr lang="ko-KR" altLang="en-US" dirty="0"/>
          </a:p>
          <a:p>
            <a:r>
              <a:rPr lang="ko-KR" altLang="en-US" sz="1600" dirty="0"/>
              <a:t>인공지능 산업 육성 및 </a:t>
            </a:r>
            <a:r>
              <a:rPr lang="ko-KR" altLang="en-US" sz="1600" b="1" dirty="0">
                <a:solidFill>
                  <a:srgbClr val="FF0000"/>
                </a:solidFill>
              </a:rPr>
              <a:t>신뢰</a:t>
            </a:r>
            <a:r>
              <a:rPr lang="ko-KR" altLang="en-US" sz="1600" dirty="0"/>
              <a:t> 확보에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안철수</a:t>
            </a:r>
            <a:r>
              <a:rPr lang="en-US" altLang="ko-KR" sz="1600" dirty="0"/>
              <a:t>(</a:t>
            </a:r>
            <a:r>
              <a:rPr lang="ko-KR" altLang="en-US" sz="1600" dirty="0"/>
              <a:t>국민의힘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발전과 </a:t>
            </a:r>
            <a:r>
              <a:rPr lang="ko-KR" altLang="en-US" sz="1600" b="1" dirty="0">
                <a:solidFill>
                  <a:srgbClr val="FF0000"/>
                </a:solidFill>
              </a:rPr>
              <a:t>신뢰</a:t>
            </a:r>
            <a:r>
              <a:rPr lang="ko-KR" altLang="en-US" sz="1600" dirty="0"/>
              <a:t> 기반 조성 등에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정점식</a:t>
            </a:r>
            <a:r>
              <a:rPr lang="en-US" altLang="ko-KR" sz="1600" dirty="0"/>
              <a:t>(</a:t>
            </a:r>
            <a:r>
              <a:rPr lang="ko-KR" altLang="en-US" sz="1600" dirty="0"/>
              <a:t>국민의힘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산업 육성 및 </a:t>
            </a:r>
            <a:r>
              <a:rPr lang="ko-KR" altLang="en-US" sz="1600" b="1" dirty="0">
                <a:solidFill>
                  <a:srgbClr val="FF0000"/>
                </a:solidFill>
              </a:rPr>
              <a:t>신뢰</a:t>
            </a:r>
            <a:r>
              <a:rPr lang="ko-KR" altLang="en-US" sz="1600" dirty="0"/>
              <a:t> 확보에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조인철</a:t>
            </a:r>
            <a:r>
              <a:rPr lang="en-US" altLang="ko-KR" sz="1600" dirty="0"/>
              <a:t>(</a:t>
            </a:r>
            <a:r>
              <a:rPr lang="ko-KR" altLang="en-US" sz="1600" dirty="0"/>
              <a:t>민주당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산업 육성 및 </a:t>
            </a:r>
            <a:r>
              <a:rPr lang="ko-KR" altLang="en-US" sz="1600" b="1" dirty="0">
                <a:solidFill>
                  <a:srgbClr val="FF0000"/>
                </a:solidFill>
              </a:rPr>
              <a:t>신뢰</a:t>
            </a:r>
            <a:r>
              <a:rPr lang="ko-KR" altLang="en-US" sz="1600" dirty="0"/>
              <a:t> 확보에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김성원</a:t>
            </a:r>
            <a:r>
              <a:rPr lang="en-US" altLang="ko-KR" sz="1600" dirty="0"/>
              <a:t>(</a:t>
            </a:r>
            <a:r>
              <a:rPr lang="ko-KR" altLang="en-US" sz="1600" dirty="0"/>
              <a:t>국민의힘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기술 기본법안</a:t>
            </a:r>
            <a:r>
              <a:rPr lang="en-US" altLang="ko-KR" sz="1600" dirty="0"/>
              <a:t>, </a:t>
            </a:r>
            <a:r>
              <a:rPr lang="ko-KR" altLang="en-US" sz="1600" dirty="0"/>
              <a:t>민형배</a:t>
            </a:r>
            <a:r>
              <a:rPr lang="en-US" altLang="ko-KR" sz="1600" dirty="0"/>
              <a:t>(</a:t>
            </a:r>
            <a:r>
              <a:rPr lang="ko-KR" altLang="en-US" sz="1600" dirty="0"/>
              <a:t>민주당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개발 및 이용 등에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권칠승</a:t>
            </a:r>
            <a:r>
              <a:rPr lang="en-US" altLang="ko-KR" sz="1600" dirty="0"/>
              <a:t>(</a:t>
            </a:r>
            <a:r>
              <a:rPr lang="ko-KR" altLang="en-US" sz="1600" dirty="0"/>
              <a:t>민주당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기본법안</a:t>
            </a:r>
            <a:r>
              <a:rPr lang="en-US" altLang="ko-KR" sz="1600" dirty="0"/>
              <a:t>, </a:t>
            </a:r>
            <a:r>
              <a:rPr lang="ko-KR" altLang="en-US" sz="1600" dirty="0"/>
              <a:t>한민수</a:t>
            </a:r>
            <a:r>
              <a:rPr lang="en-US" altLang="ko-KR" sz="1600" dirty="0"/>
              <a:t>(</a:t>
            </a:r>
            <a:r>
              <a:rPr lang="ko-KR" altLang="en-US" sz="1600" dirty="0"/>
              <a:t>민주당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</a:t>
            </a:r>
            <a:r>
              <a:rPr lang="ko-KR" altLang="en-US" sz="1600" b="1" dirty="0">
                <a:solidFill>
                  <a:srgbClr val="0000FF"/>
                </a:solidFill>
              </a:rPr>
              <a:t>책임</a:t>
            </a:r>
            <a:r>
              <a:rPr lang="ko-KR" altLang="en-US" sz="1600" dirty="0"/>
              <a:t>법안</a:t>
            </a:r>
            <a:r>
              <a:rPr lang="en-US" altLang="ko-KR" sz="1600" dirty="0"/>
              <a:t>, </a:t>
            </a:r>
            <a:r>
              <a:rPr lang="ko-KR" altLang="en-US" sz="1600" dirty="0"/>
              <a:t>황희</a:t>
            </a:r>
            <a:r>
              <a:rPr lang="en-US" altLang="ko-KR" sz="1600" dirty="0"/>
              <a:t>(</a:t>
            </a:r>
            <a:r>
              <a:rPr lang="ko-KR" altLang="en-US" sz="1600" dirty="0"/>
              <a:t>민주당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발전 진흥과 </a:t>
            </a:r>
            <a:r>
              <a:rPr lang="ko-KR" altLang="en-US" sz="1600" b="1" dirty="0">
                <a:solidFill>
                  <a:srgbClr val="0000FF"/>
                </a:solidFill>
              </a:rPr>
              <a:t>사회적 책임</a:t>
            </a:r>
            <a:r>
              <a:rPr lang="ko-KR" altLang="en-US" sz="1600" dirty="0"/>
              <a:t>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배준영</a:t>
            </a:r>
            <a:r>
              <a:rPr lang="en-US" altLang="ko-KR" sz="1600" dirty="0"/>
              <a:t>(</a:t>
            </a:r>
            <a:r>
              <a:rPr lang="ko-KR" altLang="en-US" sz="1600" dirty="0"/>
              <a:t>국민의힘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인공지능의 발전과 </a:t>
            </a:r>
            <a:r>
              <a:rPr lang="ko-KR" altLang="en-US" sz="1600" b="1" dirty="0">
                <a:solidFill>
                  <a:srgbClr val="0000FF"/>
                </a:solidFill>
              </a:rPr>
              <a:t>안전성 확보 </a:t>
            </a:r>
            <a:r>
              <a:rPr lang="ko-KR" altLang="en-US" sz="1600" dirty="0"/>
              <a:t>등에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이훈기</a:t>
            </a:r>
            <a:r>
              <a:rPr lang="en-US" altLang="ko-KR" sz="1600" dirty="0"/>
              <a:t>(</a:t>
            </a:r>
            <a:r>
              <a:rPr lang="ko-KR" altLang="en-US" sz="1600" dirty="0"/>
              <a:t>민주당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산업 진흥 및 </a:t>
            </a:r>
            <a:r>
              <a:rPr lang="ko-KR" altLang="en-US" sz="1600" b="1" dirty="0">
                <a:solidFill>
                  <a:srgbClr val="FF0000"/>
                </a:solidFill>
              </a:rPr>
              <a:t>신뢰</a:t>
            </a:r>
            <a:r>
              <a:rPr lang="ko-KR" altLang="en-US" sz="1600" dirty="0"/>
              <a:t> 확보 등에 관한 특별법안</a:t>
            </a:r>
            <a:r>
              <a:rPr lang="en-US" altLang="ko-KR" sz="1600" dirty="0"/>
              <a:t>, </a:t>
            </a:r>
            <a:r>
              <a:rPr lang="ko-KR" altLang="en-US" sz="1600" dirty="0"/>
              <a:t>김우영</a:t>
            </a:r>
            <a:r>
              <a:rPr lang="en-US" altLang="ko-KR" sz="1600" dirty="0"/>
              <a:t>(</a:t>
            </a:r>
            <a:r>
              <a:rPr lang="ko-KR" altLang="en-US" sz="1600" dirty="0"/>
              <a:t>민주당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산업 육성 및 </a:t>
            </a:r>
            <a:r>
              <a:rPr lang="ko-KR" altLang="en-US" sz="1600" b="1" dirty="0">
                <a:solidFill>
                  <a:srgbClr val="FF0000"/>
                </a:solidFill>
              </a:rPr>
              <a:t>신뢰</a:t>
            </a:r>
            <a:r>
              <a:rPr lang="ko-KR" altLang="en-US" sz="1600" dirty="0"/>
              <a:t> 기반 조성 등에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이정헌</a:t>
            </a:r>
            <a:r>
              <a:rPr lang="en-US" altLang="ko-KR" sz="1600" dirty="0"/>
              <a:t>(</a:t>
            </a:r>
            <a:r>
              <a:rPr lang="ko-KR" altLang="en-US" sz="1600" dirty="0"/>
              <a:t>민주당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발전 및 </a:t>
            </a:r>
            <a:r>
              <a:rPr lang="ko-KR" altLang="en-US" sz="1600" b="1" dirty="0">
                <a:solidFill>
                  <a:srgbClr val="FF0000"/>
                </a:solidFill>
              </a:rPr>
              <a:t>신뢰성</a:t>
            </a:r>
            <a:r>
              <a:rPr lang="ko-KR" altLang="en-US" sz="1600" dirty="0"/>
              <a:t> 보장을 위한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황정아</a:t>
            </a:r>
            <a:r>
              <a:rPr lang="en-US" altLang="ko-KR" sz="1600" dirty="0"/>
              <a:t>(</a:t>
            </a:r>
            <a:r>
              <a:rPr lang="ko-KR" altLang="en-US" sz="1600" dirty="0"/>
              <a:t>민주당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산업 진흥 및 인공지능 이용 등에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이해민</a:t>
            </a:r>
            <a:r>
              <a:rPr lang="en-US" altLang="ko-KR" sz="1600" dirty="0"/>
              <a:t>(</a:t>
            </a:r>
            <a:r>
              <a:rPr lang="ko-KR" altLang="en-US" sz="1600" dirty="0"/>
              <a:t>조국혁신당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산업 진흥에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정동영</a:t>
            </a:r>
            <a:r>
              <a:rPr lang="en-US" altLang="ko-KR" sz="1600" dirty="0"/>
              <a:t>(</a:t>
            </a:r>
            <a:r>
              <a:rPr lang="ko-KR" altLang="en-US" sz="1600" dirty="0"/>
              <a:t>민주당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산업 육성 및 </a:t>
            </a:r>
            <a:r>
              <a:rPr lang="ko-KR" altLang="en-US" sz="1600" b="1" dirty="0">
                <a:solidFill>
                  <a:srgbClr val="FF0000"/>
                </a:solidFill>
              </a:rPr>
              <a:t>신뢰</a:t>
            </a:r>
            <a:r>
              <a:rPr lang="ko-KR" altLang="en-US" sz="1600" dirty="0"/>
              <a:t> 기반 조성 등에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최민희</a:t>
            </a:r>
            <a:r>
              <a:rPr lang="en-US" altLang="ko-KR" sz="1600" dirty="0"/>
              <a:t>(</a:t>
            </a:r>
            <a:r>
              <a:rPr lang="ko-KR" altLang="en-US" sz="1600" dirty="0"/>
              <a:t>민주당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산업 육성 및 발전 등에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정희용</a:t>
            </a:r>
            <a:r>
              <a:rPr lang="en-US" altLang="ko-KR" sz="1600" dirty="0"/>
              <a:t>(</a:t>
            </a:r>
            <a:r>
              <a:rPr lang="ko-KR" altLang="en-US" sz="1600" dirty="0"/>
              <a:t>국민의힘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진흥에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조승래</a:t>
            </a:r>
            <a:r>
              <a:rPr lang="en-US" altLang="ko-KR" sz="1600" dirty="0"/>
              <a:t>·</a:t>
            </a:r>
            <a:r>
              <a:rPr lang="ko-KR" altLang="en-US" sz="1600" dirty="0"/>
              <a:t>이인선</a:t>
            </a:r>
            <a:r>
              <a:rPr lang="en-US" altLang="ko-KR" sz="1600" dirty="0"/>
              <a:t>(</a:t>
            </a:r>
            <a:r>
              <a:rPr lang="ko-KR" altLang="en-US" sz="1600" dirty="0"/>
              <a:t>민주당</a:t>
            </a:r>
            <a:r>
              <a:rPr lang="en-US" altLang="ko-KR" sz="1600" dirty="0"/>
              <a:t>·</a:t>
            </a:r>
            <a:r>
              <a:rPr lang="ko-KR" altLang="en-US" sz="1600" dirty="0"/>
              <a:t>국민의힘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인공지능의 </a:t>
            </a:r>
            <a:r>
              <a:rPr lang="ko-KR" altLang="en-US" sz="1600" b="1" dirty="0">
                <a:solidFill>
                  <a:srgbClr val="0000FF"/>
                </a:solidFill>
              </a:rPr>
              <a:t>안전</a:t>
            </a:r>
            <a:r>
              <a:rPr lang="ko-KR" altLang="en-US" sz="1600" dirty="0"/>
              <a:t> 및 </a:t>
            </a:r>
            <a:r>
              <a:rPr lang="ko-KR" altLang="en-US" sz="1600" b="1" dirty="0">
                <a:solidFill>
                  <a:srgbClr val="FF0000"/>
                </a:solidFill>
              </a:rPr>
              <a:t>신뢰</a:t>
            </a:r>
            <a:r>
              <a:rPr lang="ko-KR" altLang="en-US" sz="1600" dirty="0"/>
              <a:t> 기반 조성에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조승래</a:t>
            </a:r>
            <a:r>
              <a:rPr lang="en-US" altLang="ko-KR" sz="1600" dirty="0"/>
              <a:t>·</a:t>
            </a:r>
            <a:r>
              <a:rPr lang="ko-KR" altLang="en-US" sz="1600" dirty="0"/>
              <a:t>이인선</a:t>
            </a:r>
            <a:r>
              <a:rPr lang="en-US" altLang="ko-KR" sz="1600" dirty="0"/>
              <a:t>(</a:t>
            </a:r>
            <a:r>
              <a:rPr lang="ko-KR" altLang="en-US" sz="1600" dirty="0"/>
              <a:t>민주당</a:t>
            </a:r>
            <a:r>
              <a:rPr lang="en-US" altLang="ko-KR" sz="1600" dirty="0"/>
              <a:t>·</a:t>
            </a:r>
            <a:r>
              <a:rPr lang="ko-KR" altLang="en-US" sz="1600" dirty="0"/>
              <a:t>국민의힘</a:t>
            </a:r>
            <a:r>
              <a:rPr lang="en-US" altLang="ko-KR" sz="1600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783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162D-A79E-E8BA-4895-166EF2C3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BC6EB1-AEA3-4BC3-8991-F658F9228FB1}"/>
              </a:ext>
            </a:extLst>
          </p:cNvPr>
          <p:cNvSpPr txBox="1"/>
          <p:nvPr/>
        </p:nvSpPr>
        <p:spPr>
          <a:xfrm>
            <a:off x="2275839" y="1964267"/>
            <a:ext cx="7760458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국민 보호 관점 </a:t>
            </a:r>
            <a:r>
              <a:rPr lang="en-US" altLang="ko-KR" dirty="0"/>
              <a:t>: AI </a:t>
            </a:r>
            <a:r>
              <a:rPr lang="ko-KR" altLang="en-US" dirty="0"/>
              <a:t>불확실성으로 인한 공포 감소 → 신뢰 확보 필요</a:t>
            </a:r>
          </a:p>
          <a:p>
            <a:endParaRPr lang="ko-KR" altLang="en-US" dirty="0"/>
          </a:p>
          <a:p>
            <a:r>
              <a:rPr lang="en-US" altLang="ko-KR" b="1" dirty="0"/>
              <a:t>2. </a:t>
            </a:r>
            <a:r>
              <a:rPr lang="ko-KR" altLang="en-US" b="1" dirty="0"/>
              <a:t>산업 육성 관점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신뢰를 얻지 못한 기술은 규제가 강화됨 → 성장 저해</a:t>
            </a:r>
          </a:p>
          <a:p>
            <a:r>
              <a:rPr lang="ko-KR" altLang="en-US" dirty="0"/>
              <a:t>                         신뢰 확보는</a:t>
            </a:r>
            <a:r>
              <a:rPr lang="en-US" altLang="ko-KR" dirty="0"/>
              <a:t> </a:t>
            </a:r>
            <a:r>
              <a:rPr lang="ko-KR" altLang="en-US" dirty="0"/>
              <a:t>시장 활성화의 필수</a:t>
            </a:r>
          </a:p>
          <a:p>
            <a:endParaRPr lang="ko-KR" altLang="en-US" dirty="0"/>
          </a:p>
          <a:p>
            <a:r>
              <a:rPr lang="en-US" altLang="ko-KR" b="1" dirty="0"/>
              <a:t>3. </a:t>
            </a:r>
            <a:r>
              <a:rPr lang="ko-KR" altLang="en-US" b="1" dirty="0"/>
              <a:t>국제 경쟁력 관점</a:t>
            </a:r>
            <a:r>
              <a:rPr lang="ko-KR" altLang="en-US" dirty="0"/>
              <a:t> </a:t>
            </a:r>
            <a:r>
              <a:rPr lang="en-US" altLang="ko-KR" dirty="0"/>
              <a:t>: EU AI Act, OECD, UNESCO AI </a:t>
            </a:r>
            <a:r>
              <a:rPr lang="ko-KR" altLang="en-US" dirty="0"/>
              <a:t>윤리권고 등 </a:t>
            </a:r>
            <a:endParaRPr lang="en-US" altLang="ko-KR" dirty="0"/>
          </a:p>
          <a:p>
            <a:r>
              <a:rPr lang="en-US" altLang="ko-KR" dirty="0"/>
              <a:t>                            </a:t>
            </a:r>
            <a:r>
              <a:rPr lang="ko-KR" altLang="en-US" dirty="0"/>
              <a:t>국제규범의 핵심단어가 모두 </a:t>
            </a:r>
            <a:r>
              <a:rPr lang="en-US" altLang="ko-KR" dirty="0"/>
              <a:t>Trustworthy AI</a:t>
            </a:r>
          </a:p>
          <a:p>
            <a:endParaRPr lang="en-US" altLang="ko-KR" dirty="0"/>
          </a:p>
          <a:p>
            <a:r>
              <a:rPr lang="en-US" altLang="ko-KR" b="1" dirty="0"/>
              <a:t>4. </a:t>
            </a:r>
            <a:r>
              <a:rPr lang="ko-KR" altLang="en-US" b="1" dirty="0"/>
              <a:t>사회적 합의 관점 </a:t>
            </a:r>
            <a:r>
              <a:rPr lang="en-US" altLang="ko-KR" dirty="0"/>
              <a:t>: AI </a:t>
            </a:r>
            <a:r>
              <a:rPr lang="ko-KR" altLang="en-US" dirty="0"/>
              <a:t>오</a:t>
            </a:r>
            <a:r>
              <a:rPr lang="en-US" altLang="ko-KR" dirty="0"/>
              <a:t>·</a:t>
            </a:r>
            <a:r>
              <a:rPr lang="ko-KR" altLang="en-US" dirty="0"/>
              <a:t>남용 가능성에 대한 사회적 우려 완화 필요</a:t>
            </a:r>
          </a:p>
          <a:p>
            <a:endParaRPr lang="ko-KR" altLang="en-US" dirty="0"/>
          </a:p>
          <a:p>
            <a:r>
              <a:rPr lang="en-US" altLang="ko-KR" b="1" dirty="0"/>
              <a:t>5. </a:t>
            </a:r>
            <a:r>
              <a:rPr lang="ko-KR" altLang="en-US" b="1" dirty="0"/>
              <a:t>정치적 관점 </a:t>
            </a:r>
            <a:r>
              <a:rPr lang="en-US" altLang="ko-KR" dirty="0"/>
              <a:t>: </a:t>
            </a:r>
            <a:r>
              <a:rPr lang="ko-KR" altLang="en-US" dirty="0"/>
              <a:t>여야 모두 경쟁적으로 </a:t>
            </a:r>
            <a:r>
              <a:rPr lang="en-US" altLang="ko-KR" dirty="0"/>
              <a:t>AI </a:t>
            </a:r>
            <a:r>
              <a:rPr lang="ko-KR" altLang="en-US" dirty="0"/>
              <a:t>규범 정비 필요성을 강조</a:t>
            </a:r>
          </a:p>
          <a:p>
            <a:r>
              <a:rPr lang="ko-KR" altLang="en-US" dirty="0"/>
              <a:t>                     ‘신뢰’라는 표현을 공동 키워드로 선택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8C1349-8AF9-4DA0-958A-74FAE389A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675306"/>
            <a:ext cx="3176693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670A96-1BC7-4A28-A07E-C664DA439FD8}"/>
              </a:ext>
            </a:extLst>
          </p:cNvPr>
          <p:cNvSpPr txBox="1"/>
          <p:nvPr/>
        </p:nvSpPr>
        <p:spPr>
          <a:xfrm>
            <a:off x="773148" y="844757"/>
            <a:ext cx="26525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“</a:t>
            </a:r>
            <a:r>
              <a:rPr lang="ko-KR" altLang="en-US" sz="3200" b="1" dirty="0"/>
              <a:t>신뢰</a:t>
            </a:r>
            <a:r>
              <a:rPr lang="en-US" altLang="ko-KR" sz="3200" b="1" dirty="0"/>
              <a:t>(Trust)”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289456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162D-A79E-E8BA-4895-166EF2C3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BC6EB1-AEA3-4BC3-8991-F658F9228FB1}"/>
              </a:ext>
            </a:extLst>
          </p:cNvPr>
          <p:cNvSpPr txBox="1"/>
          <p:nvPr/>
        </p:nvSpPr>
        <p:spPr>
          <a:xfrm>
            <a:off x="711198" y="1497502"/>
            <a:ext cx="1061380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1. AI </a:t>
            </a:r>
            <a:r>
              <a:rPr lang="ko-KR" altLang="en-US" b="1" dirty="0"/>
              <a:t>신뢰의 구성요소 법제화</a:t>
            </a:r>
          </a:p>
          <a:p>
            <a:r>
              <a:rPr lang="ko-KR" altLang="en-US" dirty="0"/>
              <a:t>국제표준</a:t>
            </a:r>
            <a:r>
              <a:rPr lang="en-US" altLang="ko-KR" dirty="0"/>
              <a:t>(ISO/IEC 42001, OECD AI Principles, EU AI Act)</a:t>
            </a:r>
            <a:r>
              <a:rPr lang="ko-KR" altLang="en-US" dirty="0"/>
              <a:t>과 동일하게 </a:t>
            </a:r>
            <a:r>
              <a:rPr lang="en-US" altLang="ko-KR" dirty="0"/>
              <a:t>AI</a:t>
            </a:r>
            <a:r>
              <a:rPr lang="ko-KR" altLang="en-US" dirty="0"/>
              <a:t>에 대한 사회적 수용성을 확보</a:t>
            </a:r>
          </a:p>
          <a:p>
            <a:r>
              <a:rPr lang="ko-KR" altLang="en-US" dirty="0"/>
              <a:t>신뢰 구성요소 </a:t>
            </a:r>
            <a:r>
              <a:rPr lang="en-US" altLang="ko-KR" dirty="0"/>
              <a:t>6</a:t>
            </a:r>
            <a:r>
              <a:rPr lang="ko-KR" altLang="en-US" dirty="0"/>
              <a:t>대 원칙</a:t>
            </a:r>
            <a:r>
              <a:rPr lang="en-US" altLang="ko-KR" dirty="0"/>
              <a:t>(</a:t>
            </a:r>
            <a:r>
              <a:rPr lang="ko-KR" altLang="en-US" dirty="0"/>
              <a:t>국제표준 기반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(1) </a:t>
            </a:r>
            <a:r>
              <a:rPr lang="ko-KR" altLang="en-US" dirty="0"/>
              <a:t>안전성</a:t>
            </a:r>
            <a:r>
              <a:rPr lang="en-US" altLang="ko-KR" dirty="0"/>
              <a:t>(Safety): </a:t>
            </a:r>
            <a:r>
              <a:rPr lang="ko-KR" altLang="en-US" dirty="0"/>
              <a:t>예측 가능한 방식으로 동작하며 위해를 야기하지 않아야 함</a:t>
            </a:r>
          </a:p>
          <a:p>
            <a:r>
              <a:rPr lang="en-US" altLang="ko-KR" dirty="0"/>
              <a:t>(2) </a:t>
            </a:r>
            <a:r>
              <a:rPr lang="ko-KR" altLang="en-US" dirty="0"/>
              <a:t>투명성</a:t>
            </a:r>
            <a:r>
              <a:rPr lang="en-US" altLang="ko-KR" dirty="0"/>
              <a:t>(Transparency): AI </a:t>
            </a:r>
            <a:r>
              <a:rPr lang="ko-KR" altLang="en-US" dirty="0"/>
              <a:t>시스템 작동 정보 및 위험 수준 공개</a:t>
            </a:r>
          </a:p>
          <a:p>
            <a:r>
              <a:rPr lang="en-US" altLang="ko-KR" dirty="0"/>
              <a:t>(3) </a:t>
            </a:r>
            <a:r>
              <a:rPr lang="ko-KR" altLang="en-US" dirty="0"/>
              <a:t>책임성</a:t>
            </a:r>
            <a:r>
              <a:rPr lang="en-US" altLang="ko-KR" dirty="0"/>
              <a:t>(Accountability): </a:t>
            </a:r>
            <a:r>
              <a:rPr lang="ko-KR" altLang="en-US" dirty="0"/>
              <a:t>개발자</a:t>
            </a:r>
            <a:r>
              <a:rPr lang="en-US" altLang="ko-KR" dirty="0"/>
              <a:t>·</a:t>
            </a:r>
            <a:r>
              <a:rPr lang="ko-KR" altLang="en-US" dirty="0"/>
              <a:t>제공자</a:t>
            </a:r>
            <a:r>
              <a:rPr lang="en-US" altLang="ko-KR" dirty="0"/>
              <a:t>·</a:t>
            </a:r>
            <a:r>
              <a:rPr lang="ko-KR" altLang="en-US" dirty="0"/>
              <a:t>이용자 간 법적 책임 분담</a:t>
            </a:r>
          </a:p>
          <a:p>
            <a:r>
              <a:rPr lang="en-US" altLang="ko-KR" dirty="0"/>
              <a:t>(4) </a:t>
            </a:r>
            <a:r>
              <a:rPr lang="ko-KR" altLang="en-US" dirty="0"/>
              <a:t>공정성</a:t>
            </a:r>
            <a:r>
              <a:rPr lang="en-US" altLang="ko-KR" dirty="0"/>
              <a:t>(Fairness): </a:t>
            </a:r>
            <a:r>
              <a:rPr lang="ko-KR" altLang="en-US" dirty="0"/>
              <a:t>차별 방지 및 데이터 편향 관리</a:t>
            </a:r>
          </a:p>
          <a:p>
            <a:r>
              <a:rPr lang="en-US" altLang="ko-KR" dirty="0"/>
              <a:t>(5) </a:t>
            </a:r>
            <a:r>
              <a:rPr lang="ko-KR" altLang="en-US" dirty="0"/>
              <a:t>보안성</a:t>
            </a:r>
            <a:r>
              <a:rPr lang="en-US" altLang="ko-KR" dirty="0"/>
              <a:t>(Security): </a:t>
            </a:r>
            <a:r>
              <a:rPr lang="ko-KR" altLang="en-US" dirty="0"/>
              <a:t>악의적 이용 및 공격 가능성에 대한 방어</a:t>
            </a:r>
          </a:p>
          <a:p>
            <a:r>
              <a:rPr lang="en-US" altLang="ko-KR" dirty="0"/>
              <a:t>(6) </a:t>
            </a:r>
            <a:r>
              <a:rPr lang="ko-KR" altLang="en-US" dirty="0"/>
              <a:t>인간 중심성</a:t>
            </a:r>
            <a:r>
              <a:rPr lang="en-US" altLang="ko-KR" dirty="0"/>
              <a:t>(Human agency): </a:t>
            </a:r>
            <a:r>
              <a:rPr lang="ko-KR" altLang="en-US" dirty="0"/>
              <a:t>인간이 최종 통제권을 가짐</a:t>
            </a:r>
          </a:p>
          <a:p>
            <a:endParaRPr lang="ko-KR" altLang="en-US" dirty="0"/>
          </a:p>
          <a:p>
            <a:r>
              <a:rPr lang="en-US" altLang="ko-KR" b="1" dirty="0"/>
              <a:t>2. </a:t>
            </a:r>
            <a:r>
              <a:rPr lang="ko-KR" altLang="en-US" b="1" dirty="0"/>
              <a:t>고위험 </a:t>
            </a:r>
            <a:r>
              <a:rPr lang="en-US" altLang="ko-KR" b="1" dirty="0"/>
              <a:t>AI</a:t>
            </a:r>
            <a:r>
              <a:rPr lang="ko-KR" altLang="en-US" b="1" dirty="0"/>
              <a:t>에 대한 등급별 위험기반 규제</a:t>
            </a:r>
          </a:p>
          <a:p>
            <a:r>
              <a:rPr lang="ko-KR" altLang="en-US" dirty="0"/>
              <a:t>고위험 이상에 대해서만 사전 인증</a:t>
            </a:r>
            <a:r>
              <a:rPr lang="en-US" altLang="ko-KR" dirty="0"/>
              <a:t>, </a:t>
            </a:r>
            <a:r>
              <a:rPr lang="ko-KR" altLang="en-US" dirty="0"/>
              <a:t>품질관리</a:t>
            </a:r>
            <a:r>
              <a:rPr lang="en-US" altLang="ko-KR" dirty="0"/>
              <a:t>, </a:t>
            </a:r>
            <a:r>
              <a:rPr lang="ko-KR" altLang="en-US" dirty="0"/>
              <a:t>데이터 검증</a:t>
            </a:r>
            <a:r>
              <a:rPr lang="en-US" altLang="ko-KR" dirty="0"/>
              <a:t>, </a:t>
            </a:r>
            <a:r>
              <a:rPr lang="ko-KR" altLang="en-US" dirty="0"/>
              <a:t>로그 의무화 등을 강제</a:t>
            </a:r>
          </a:p>
          <a:p>
            <a:r>
              <a:rPr lang="en-US" altLang="ko-KR" dirty="0"/>
              <a:t>(1) </a:t>
            </a:r>
            <a:r>
              <a:rPr lang="ko-KR" altLang="en-US" dirty="0"/>
              <a:t>금지 </a:t>
            </a:r>
            <a:r>
              <a:rPr lang="en-US" altLang="ko-KR" dirty="0"/>
              <a:t>AI : </a:t>
            </a:r>
            <a:r>
              <a:rPr lang="ko-KR" altLang="en-US" dirty="0"/>
              <a:t>생체인식 실시간 감시</a:t>
            </a:r>
            <a:r>
              <a:rPr lang="en-US" altLang="ko-KR" dirty="0"/>
              <a:t>, </a:t>
            </a:r>
            <a:r>
              <a:rPr lang="ko-KR" altLang="en-US" dirty="0"/>
              <a:t>사회적 신용 점수화 등</a:t>
            </a:r>
          </a:p>
          <a:p>
            <a:r>
              <a:rPr lang="en-US" altLang="ko-KR" dirty="0"/>
              <a:t>(2) </a:t>
            </a:r>
            <a:r>
              <a:rPr lang="ko-KR" altLang="en-US" dirty="0"/>
              <a:t>고위험 </a:t>
            </a:r>
            <a:r>
              <a:rPr lang="en-US" altLang="ko-KR" dirty="0"/>
              <a:t>AI : </a:t>
            </a:r>
            <a:r>
              <a:rPr lang="ko-KR" altLang="en-US" dirty="0"/>
              <a:t>의료</a:t>
            </a:r>
            <a:r>
              <a:rPr lang="en-US" altLang="ko-KR" dirty="0"/>
              <a:t>·</a:t>
            </a:r>
            <a:r>
              <a:rPr lang="ko-KR" altLang="en-US" dirty="0"/>
              <a:t>교통</a:t>
            </a:r>
            <a:r>
              <a:rPr lang="en-US" altLang="ko-KR" dirty="0"/>
              <a:t>·</a:t>
            </a:r>
            <a:r>
              <a:rPr lang="ko-KR" altLang="en-US" dirty="0"/>
              <a:t>고용</a:t>
            </a:r>
            <a:r>
              <a:rPr lang="en-US" altLang="ko-KR" dirty="0"/>
              <a:t>·</a:t>
            </a:r>
            <a:r>
              <a:rPr lang="ko-KR" altLang="en-US" dirty="0"/>
              <a:t>교육</a:t>
            </a:r>
            <a:r>
              <a:rPr lang="en-US" altLang="ko-KR" dirty="0"/>
              <a:t>·</a:t>
            </a:r>
            <a:r>
              <a:rPr lang="ko-KR" altLang="en-US" dirty="0"/>
              <a:t>금융 등에서의 결정 지원</a:t>
            </a:r>
          </a:p>
          <a:p>
            <a:r>
              <a:rPr lang="en-US" altLang="ko-KR" dirty="0"/>
              <a:t>(3) </a:t>
            </a:r>
            <a:r>
              <a:rPr lang="ko-KR" altLang="en-US" dirty="0"/>
              <a:t>중위험 </a:t>
            </a:r>
            <a:r>
              <a:rPr lang="en-US" altLang="ko-KR" dirty="0"/>
              <a:t>AI : </a:t>
            </a:r>
            <a:r>
              <a:rPr lang="ko-KR" altLang="en-US" dirty="0"/>
              <a:t>챗봇</a:t>
            </a:r>
            <a:r>
              <a:rPr lang="en-US" altLang="ko-KR" dirty="0"/>
              <a:t>, 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서비스</a:t>
            </a:r>
          </a:p>
          <a:p>
            <a:r>
              <a:rPr lang="en-US" altLang="ko-KR" dirty="0"/>
              <a:t>(4) </a:t>
            </a:r>
            <a:r>
              <a:rPr lang="ko-KR" altLang="en-US" dirty="0"/>
              <a:t>저위험 </a:t>
            </a:r>
            <a:r>
              <a:rPr lang="en-US" altLang="ko-KR" dirty="0"/>
              <a:t>AI : </a:t>
            </a:r>
            <a:r>
              <a:rPr lang="ko-KR" altLang="en-US" dirty="0"/>
              <a:t>단순 자동화 시스템</a:t>
            </a:r>
            <a:endParaRPr lang="en-US" altLang="ko-KR" dirty="0"/>
          </a:p>
        </p:txBody>
      </p:sp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8C1349-8AF9-4DA0-958A-74FAE389A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7" y="92799"/>
            <a:ext cx="6468533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670A96-1BC7-4A28-A07E-C664DA439FD8}"/>
              </a:ext>
            </a:extLst>
          </p:cNvPr>
          <p:cNvSpPr txBox="1"/>
          <p:nvPr/>
        </p:nvSpPr>
        <p:spPr>
          <a:xfrm>
            <a:off x="359975" y="262250"/>
            <a:ext cx="59987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“</a:t>
            </a:r>
            <a:r>
              <a:rPr lang="ko-KR" altLang="en-US" sz="3200" b="1" dirty="0"/>
              <a:t>신뢰</a:t>
            </a:r>
            <a:r>
              <a:rPr lang="en-US" altLang="ko-KR" sz="3200" b="1" dirty="0"/>
              <a:t>”</a:t>
            </a:r>
            <a:r>
              <a:rPr lang="ko-KR" altLang="en-US" sz="3200" b="1" dirty="0"/>
              <a:t>의 법률적 구현 방법</a:t>
            </a:r>
            <a:r>
              <a:rPr lang="en-US" altLang="ko-KR" sz="2400" b="1" dirty="0"/>
              <a:t>(1/3)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78276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162D-A79E-E8BA-4895-166EF2C3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BC6EB1-AEA3-4BC3-8991-F658F9228FB1}"/>
              </a:ext>
            </a:extLst>
          </p:cNvPr>
          <p:cNvSpPr txBox="1"/>
          <p:nvPr/>
        </p:nvSpPr>
        <p:spPr>
          <a:xfrm>
            <a:off x="1510452" y="1381760"/>
            <a:ext cx="7231467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3. AI </a:t>
            </a:r>
            <a:r>
              <a:rPr lang="ko-KR" altLang="en-US" b="1" dirty="0"/>
              <a:t>개발자</a:t>
            </a:r>
            <a:r>
              <a:rPr lang="en-US" altLang="ko-KR" b="1" dirty="0"/>
              <a:t>·</a:t>
            </a:r>
            <a:r>
              <a:rPr lang="ko-KR" altLang="en-US" b="1" dirty="0"/>
              <a:t>제공자</a:t>
            </a:r>
            <a:r>
              <a:rPr lang="en-US" altLang="ko-KR" b="1" dirty="0"/>
              <a:t>·</a:t>
            </a:r>
            <a:r>
              <a:rPr lang="ko-KR" altLang="en-US" b="1" dirty="0"/>
              <a:t>이용자 </a:t>
            </a:r>
            <a:r>
              <a:rPr lang="en-US" altLang="ko-KR" b="1" dirty="0"/>
              <a:t>3</a:t>
            </a:r>
            <a:r>
              <a:rPr lang="ko-KR" altLang="en-US" b="1" dirty="0"/>
              <a:t>자 간 책임구조를 명확하게 설계 표준화</a:t>
            </a:r>
          </a:p>
          <a:p>
            <a:r>
              <a:rPr lang="en-US" altLang="ko-KR" dirty="0"/>
              <a:t>(1) </a:t>
            </a:r>
            <a:r>
              <a:rPr lang="ko-KR" altLang="en-US" dirty="0"/>
              <a:t>개발자 </a:t>
            </a:r>
            <a:r>
              <a:rPr lang="en-US" altLang="ko-KR" dirty="0"/>
              <a:t>: </a:t>
            </a:r>
            <a:r>
              <a:rPr lang="ko-KR" altLang="en-US" dirty="0"/>
              <a:t>데이터 편향</a:t>
            </a:r>
            <a:r>
              <a:rPr lang="en-US" altLang="ko-KR" dirty="0"/>
              <a:t>·</a:t>
            </a:r>
            <a:r>
              <a:rPr lang="ko-KR" altLang="en-US" dirty="0"/>
              <a:t>모델 오류 관리</a:t>
            </a:r>
            <a:r>
              <a:rPr lang="en-US" altLang="ko-KR" dirty="0"/>
              <a:t>, </a:t>
            </a:r>
            <a:r>
              <a:rPr lang="ko-KR" altLang="en-US" dirty="0"/>
              <a:t>고위험 시스템 품질 보증</a:t>
            </a:r>
          </a:p>
          <a:p>
            <a:r>
              <a:rPr lang="en-US" altLang="ko-KR" dirty="0"/>
              <a:t>(2) </a:t>
            </a:r>
            <a:r>
              <a:rPr lang="ko-KR" altLang="en-US" dirty="0"/>
              <a:t>제공자 </a:t>
            </a:r>
            <a:r>
              <a:rPr lang="en-US" altLang="ko-KR" dirty="0"/>
              <a:t>: </a:t>
            </a:r>
            <a:r>
              <a:rPr lang="ko-KR" altLang="en-US" dirty="0"/>
              <a:t>서비스 단계의 안정성 확보</a:t>
            </a:r>
            <a:r>
              <a:rPr lang="en-US" altLang="ko-KR" dirty="0"/>
              <a:t>, </a:t>
            </a:r>
            <a:r>
              <a:rPr lang="ko-KR" altLang="en-US" dirty="0"/>
              <a:t>보안 유지</a:t>
            </a:r>
          </a:p>
          <a:p>
            <a:r>
              <a:rPr lang="en-US" altLang="ko-KR" dirty="0"/>
              <a:t>(3) </a:t>
            </a:r>
            <a:r>
              <a:rPr lang="ko-KR" altLang="en-US" dirty="0"/>
              <a:t>이용자 </a:t>
            </a:r>
            <a:r>
              <a:rPr lang="en-US" altLang="ko-KR" dirty="0"/>
              <a:t>: </a:t>
            </a:r>
            <a:r>
              <a:rPr lang="ko-KR" altLang="en-US" dirty="0"/>
              <a:t>오용 금지</a:t>
            </a:r>
            <a:r>
              <a:rPr lang="en-US" altLang="ko-KR" dirty="0"/>
              <a:t>, </a:t>
            </a:r>
            <a:r>
              <a:rPr lang="ko-KR" altLang="en-US" dirty="0"/>
              <a:t>허위 데이터 입력 금지</a:t>
            </a:r>
          </a:p>
          <a:p>
            <a:r>
              <a:rPr lang="en-US" altLang="ko-KR" dirty="0"/>
              <a:t>(4) </a:t>
            </a:r>
            <a:r>
              <a:rPr lang="ko-KR" altLang="en-US" dirty="0"/>
              <a:t>정부 </a:t>
            </a:r>
            <a:r>
              <a:rPr lang="en-US" altLang="ko-KR" dirty="0"/>
              <a:t>: </a:t>
            </a:r>
            <a:r>
              <a:rPr lang="ko-KR" altLang="en-US" dirty="0"/>
              <a:t>표준 제정</a:t>
            </a:r>
            <a:r>
              <a:rPr lang="en-US" altLang="ko-KR" dirty="0"/>
              <a:t>, </a:t>
            </a:r>
            <a:r>
              <a:rPr lang="ko-KR" altLang="en-US" dirty="0"/>
              <a:t>사고 조사</a:t>
            </a:r>
            <a:r>
              <a:rPr lang="en-US" altLang="ko-KR" dirty="0"/>
              <a:t>, </a:t>
            </a:r>
            <a:r>
              <a:rPr lang="ko-KR" altLang="en-US" dirty="0"/>
              <a:t>제재 집행</a:t>
            </a:r>
          </a:p>
          <a:p>
            <a:endParaRPr lang="ko-KR" altLang="en-US" dirty="0"/>
          </a:p>
          <a:p>
            <a:r>
              <a:rPr lang="en-US" altLang="ko-KR" b="1" dirty="0"/>
              <a:t>4. AI </a:t>
            </a:r>
            <a:r>
              <a:rPr lang="ko-KR" altLang="en-US" b="1" dirty="0"/>
              <a:t>투명성 의무 강화</a:t>
            </a:r>
            <a:r>
              <a:rPr lang="en-US" altLang="ko-KR" b="1" dirty="0"/>
              <a:t>(Explainability + Disclosure)</a:t>
            </a:r>
          </a:p>
          <a:p>
            <a:r>
              <a:rPr lang="en-US" altLang="ko-KR" dirty="0"/>
              <a:t>(1) AI </a:t>
            </a:r>
            <a:r>
              <a:rPr lang="ko-KR" altLang="en-US" dirty="0"/>
              <a:t>사용 고지 의무</a:t>
            </a:r>
            <a:r>
              <a:rPr lang="en-US" altLang="ko-KR" dirty="0"/>
              <a:t>(AI used notice)</a:t>
            </a:r>
          </a:p>
          <a:p>
            <a:r>
              <a:rPr lang="en-US" altLang="ko-KR" dirty="0"/>
              <a:t>(2) AI </a:t>
            </a:r>
            <a:r>
              <a:rPr lang="ko-KR" altLang="en-US" dirty="0"/>
              <a:t>결정 설명 요구권</a:t>
            </a:r>
            <a:r>
              <a:rPr lang="en-US" altLang="ko-KR" dirty="0"/>
              <a:t>(Right to explanation)</a:t>
            </a:r>
          </a:p>
          <a:p>
            <a:r>
              <a:rPr lang="en-US" altLang="ko-KR" dirty="0"/>
              <a:t>(3) </a:t>
            </a:r>
            <a:r>
              <a:rPr lang="ko-KR" altLang="en-US" dirty="0"/>
              <a:t>데이터 출처 공개</a:t>
            </a:r>
            <a:r>
              <a:rPr lang="en-US" altLang="ko-KR" dirty="0"/>
              <a:t>(Training data provenance)</a:t>
            </a:r>
          </a:p>
          <a:p>
            <a:r>
              <a:rPr lang="en-US" altLang="ko-KR" dirty="0"/>
              <a:t>(4) AI </a:t>
            </a:r>
            <a:r>
              <a:rPr lang="ko-KR" altLang="en-US" dirty="0"/>
              <a:t>생성물 표시</a:t>
            </a:r>
            <a:r>
              <a:rPr lang="en-US" altLang="ko-KR" dirty="0"/>
              <a:t>(Display of AI-generated content)</a:t>
            </a:r>
          </a:p>
          <a:p>
            <a:endParaRPr lang="en-US" altLang="ko-KR" dirty="0"/>
          </a:p>
          <a:p>
            <a:r>
              <a:rPr lang="en-US" altLang="ko-KR" b="1" dirty="0"/>
              <a:t>5. AI </a:t>
            </a:r>
            <a:r>
              <a:rPr lang="ko-KR" altLang="en-US" b="1" dirty="0"/>
              <a:t>테스트</a:t>
            </a:r>
            <a:r>
              <a:rPr lang="en-US" altLang="ko-KR" b="1" dirty="0"/>
              <a:t>·</a:t>
            </a:r>
            <a:r>
              <a:rPr lang="ko-KR" altLang="en-US" b="1" dirty="0"/>
              <a:t>인증</a:t>
            </a:r>
            <a:r>
              <a:rPr lang="en-US" altLang="ko-KR" b="1" dirty="0"/>
              <a:t>(K-</a:t>
            </a:r>
            <a:r>
              <a:rPr lang="ko-KR" altLang="en-US" b="1" dirty="0"/>
              <a:t>인증</a:t>
            </a:r>
            <a:r>
              <a:rPr lang="en-US" altLang="ko-KR" b="1" dirty="0"/>
              <a:t>) </a:t>
            </a:r>
            <a:r>
              <a:rPr lang="ko-KR" altLang="en-US" b="1" dirty="0"/>
              <a:t>체계 구축</a:t>
            </a:r>
          </a:p>
          <a:p>
            <a:r>
              <a:rPr lang="ko-KR" altLang="en-US" dirty="0"/>
              <a:t>품질</a:t>
            </a:r>
            <a:r>
              <a:rPr lang="en-US" altLang="ko-KR" dirty="0"/>
              <a:t>·</a:t>
            </a:r>
            <a:r>
              <a:rPr lang="ko-KR" altLang="en-US" dirty="0"/>
              <a:t>안전</a:t>
            </a:r>
            <a:r>
              <a:rPr lang="en-US" altLang="ko-KR" dirty="0"/>
              <a:t>·</a:t>
            </a:r>
            <a:r>
              <a:rPr lang="ko-KR" altLang="en-US" dirty="0"/>
              <a:t>보안</a:t>
            </a:r>
            <a:r>
              <a:rPr lang="en-US" altLang="ko-KR" dirty="0"/>
              <a:t>·</a:t>
            </a:r>
            <a:r>
              <a:rPr lang="ko-KR" altLang="en-US" dirty="0"/>
              <a:t>편향 등 주요 요소를 신뢰 인증으로 제도화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(1) ISO/IEC 42001(2023) </a:t>
            </a:r>
            <a:r>
              <a:rPr lang="ko-KR" altLang="en-US" dirty="0"/>
              <a:t>기반 </a:t>
            </a:r>
            <a:r>
              <a:rPr lang="en-US" altLang="ko-KR" dirty="0"/>
              <a:t>AI </a:t>
            </a:r>
            <a:r>
              <a:rPr lang="ko-KR" altLang="en-US" dirty="0"/>
              <a:t>경영시스템 인증</a:t>
            </a:r>
          </a:p>
          <a:p>
            <a:r>
              <a:rPr lang="en-US" altLang="ko-KR" dirty="0"/>
              <a:t>(2) AI </a:t>
            </a:r>
            <a:r>
              <a:rPr lang="ko-KR" altLang="en-US" dirty="0"/>
              <a:t>제품 단위의 ‘안전 적합성 평가’</a:t>
            </a:r>
            <a:r>
              <a:rPr lang="en-US" altLang="ko-KR" dirty="0"/>
              <a:t>(Conformity Assessment)</a:t>
            </a:r>
          </a:p>
          <a:p>
            <a:r>
              <a:rPr lang="en-US" altLang="ko-KR" dirty="0"/>
              <a:t>(3) </a:t>
            </a:r>
            <a:r>
              <a:rPr lang="ko-KR" altLang="en-US" dirty="0"/>
              <a:t>의료용 </a:t>
            </a:r>
            <a:r>
              <a:rPr lang="en-US" altLang="ko-KR" dirty="0"/>
              <a:t>AI</a:t>
            </a:r>
            <a:r>
              <a:rPr lang="ko-KR" altLang="en-US" dirty="0"/>
              <a:t>처럼 분야별 특수 인증 제도화</a:t>
            </a:r>
          </a:p>
          <a:p>
            <a:r>
              <a:rPr lang="en-US" altLang="ko-KR" dirty="0"/>
              <a:t>(4) </a:t>
            </a:r>
            <a:r>
              <a:rPr lang="ko-KR" altLang="en-US" dirty="0"/>
              <a:t>공공조달 시 신뢰 인증제품 우선 구매</a:t>
            </a:r>
          </a:p>
        </p:txBody>
      </p:sp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8C1349-8AF9-4DA0-958A-74FAE389A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7" y="92799"/>
            <a:ext cx="6468533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670A96-1BC7-4A28-A07E-C664DA439FD8}"/>
              </a:ext>
            </a:extLst>
          </p:cNvPr>
          <p:cNvSpPr txBox="1"/>
          <p:nvPr/>
        </p:nvSpPr>
        <p:spPr>
          <a:xfrm>
            <a:off x="359975" y="262250"/>
            <a:ext cx="59987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“</a:t>
            </a:r>
            <a:r>
              <a:rPr lang="ko-KR" altLang="en-US" sz="3200" b="1" dirty="0"/>
              <a:t>신뢰</a:t>
            </a:r>
            <a:r>
              <a:rPr lang="en-US" altLang="ko-KR" sz="3200" b="1" dirty="0"/>
              <a:t>”</a:t>
            </a:r>
            <a:r>
              <a:rPr lang="ko-KR" altLang="en-US" sz="3200" b="1" dirty="0"/>
              <a:t>의 법률적 구현 방법</a:t>
            </a:r>
            <a:r>
              <a:rPr lang="en-US" altLang="ko-KR" sz="2400" b="1" dirty="0"/>
              <a:t>(2/3)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156321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162D-A79E-E8BA-4895-166EF2C3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BC6EB1-AEA3-4BC3-8991-F658F9228FB1}"/>
              </a:ext>
            </a:extLst>
          </p:cNvPr>
          <p:cNvSpPr txBox="1"/>
          <p:nvPr/>
        </p:nvSpPr>
        <p:spPr>
          <a:xfrm>
            <a:off x="2255519" y="1537547"/>
            <a:ext cx="559961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6. AI </a:t>
            </a:r>
            <a:r>
              <a:rPr lang="ko-KR" altLang="en-US" b="1" dirty="0"/>
              <a:t>데이터 품질</a:t>
            </a:r>
            <a:r>
              <a:rPr lang="en-US" altLang="ko-KR" b="1" dirty="0"/>
              <a:t>·</a:t>
            </a:r>
            <a:r>
              <a:rPr lang="ko-KR" altLang="en-US" b="1" dirty="0"/>
              <a:t>편향 관리 의무화</a:t>
            </a:r>
          </a:p>
          <a:p>
            <a:r>
              <a:rPr lang="en-US" altLang="ko-KR" dirty="0"/>
              <a:t>(1) </a:t>
            </a:r>
            <a:r>
              <a:rPr lang="ko-KR" altLang="en-US" dirty="0"/>
              <a:t>정지적</a:t>
            </a:r>
            <a:r>
              <a:rPr lang="en-US" altLang="ko-KR" dirty="0"/>
              <a:t>·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모두에 대한 데이터 관리 기준</a:t>
            </a:r>
          </a:p>
          <a:p>
            <a:r>
              <a:rPr lang="en-US" altLang="ko-KR" dirty="0"/>
              <a:t>(2) </a:t>
            </a:r>
            <a:r>
              <a:rPr lang="ko-KR" altLang="en-US" dirty="0"/>
              <a:t>편향</a:t>
            </a:r>
            <a:r>
              <a:rPr lang="en-US" altLang="ko-KR" dirty="0"/>
              <a:t>(Bias) </a:t>
            </a:r>
            <a:r>
              <a:rPr lang="ko-KR" altLang="en-US" dirty="0"/>
              <a:t>평가 및 개선 절차 의무</a:t>
            </a:r>
          </a:p>
          <a:p>
            <a:r>
              <a:rPr lang="en-US" altLang="ko-KR" dirty="0"/>
              <a:t>(3) </a:t>
            </a:r>
            <a:r>
              <a:rPr lang="ko-KR" altLang="en-US" dirty="0"/>
              <a:t>개인정보 보호와 </a:t>
            </a:r>
            <a:r>
              <a:rPr lang="en-US" altLang="ko-KR" dirty="0"/>
              <a:t>AI </a:t>
            </a:r>
            <a:r>
              <a:rPr lang="ko-KR" altLang="en-US" dirty="0"/>
              <a:t>학습의 조화</a:t>
            </a:r>
          </a:p>
          <a:p>
            <a:r>
              <a:rPr lang="en-US" altLang="ko-KR" dirty="0"/>
              <a:t>(4) </a:t>
            </a:r>
            <a:r>
              <a:rPr lang="ko-KR" altLang="en-US" dirty="0"/>
              <a:t>합법 데이터 사용의 책임 규정</a:t>
            </a:r>
          </a:p>
          <a:p>
            <a:endParaRPr lang="ko-KR" altLang="en-US" dirty="0"/>
          </a:p>
          <a:p>
            <a:r>
              <a:rPr lang="en-US" altLang="ko-KR" b="1" dirty="0"/>
              <a:t>7. AI </a:t>
            </a:r>
            <a:r>
              <a:rPr lang="ko-KR" altLang="en-US" b="1" dirty="0"/>
              <a:t>안전성 검증 및 사고 보고 체계</a:t>
            </a:r>
          </a:p>
          <a:p>
            <a:r>
              <a:rPr lang="en-US" altLang="ko-KR" dirty="0"/>
              <a:t>(1) AI </a:t>
            </a:r>
            <a:r>
              <a:rPr lang="ko-KR" altLang="en-US" dirty="0"/>
              <a:t>사고 또는 오작동의 정부 보고 의무</a:t>
            </a:r>
          </a:p>
          <a:p>
            <a:r>
              <a:rPr lang="en-US" altLang="ko-KR" dirty="0"/>
              <a:t>(2) </a:t>
            </a:r>
            <a:r>
              <a:rPr lang="ko-KR" altLang="en-US" dirty="0"/>
              <a:t>고위험 </a:t>
            </a:r>
            <a:r>
              <a:rPr lang="en-US" altLang="ko-KR" dirty="0"/>
              <a:t>AI</a:t>
            </a:r>
            <a:r>
              <a:rPr lang="ko-KR" altLang="en-US" dirty="0"/>
              <a:t>의 사전 신고 및 사후 평가</a:t>
            </a:r>
          </a:p>
          <a:p>
            <a:r>
              <a:rPr lang="en-US" altLang="ko-KR" dirty="0"/>
              <a:t>(3) </a:t>
            </a:r>
            <a:r>
              <a:rPr lang="ko-KR" altLang="en-US" dirty="0"/>
              <a:t>사고 조사 권한</a:t>
            </a:r>
            <a:r>
              <a:rPr lang="en-US" altLang="ko-KR" dirty="0"/>
              <a:t>(</a:t>
            </a:r>
            <a:r>
              <a:rPr lang="ko-KR" altLang="en-US" dirty="0"/>
              <a:t>국가 </a:t>
            </a:r>
            <a:r>
              <a:rPr lang="en-US" altLang="ko-KR" dirty="0"/>
              <a:t>AI </a:t>
            </a:r>
            <a:r>
              <a:rPr lang="ko-KR" altLang="en-US" dirty="0"/>
              <a:t>안전센터 설치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(4) </a:t>
            </a:r>
            <a:r>
              <a:rPr lang="ko-KR" altLang="en-US" dirty="0"/>
              <a:t>리스크 데이터베이스 운영</a:t>
            </a:r>
          </a:p>
          <a:p>
            <a:endParaRPr lang="ko-KR" altLang="en-US" dirty="0"/>
          </a:p>
          <a:p>
            <a:r>
              <a:rPr lang="en-US" altLang="ko-KR" b="1" dirty="0"/>
              <a:t>8. </a:t>
            </a:r>
            <a:r>
              <a:rPr lang="ko-KR" altLang="en-US" b="1" dirty="0"/>
              <a:t>국가기관 및 공공영역의 모범 의무</a:t>
            </a:r>
            <a:r>
              <a:rPr lang="en-US" altLang="ko-KR" b="1" dirty="0"/>
              <a:t>(Best Practice)</a:t>
            </a:r>
          </a:p>
          <a:p>
            <a:r>
              <a:rPr lang="en-US" altLang="ko-KR" dirty="0"/>
              <a:t>(1) </a:t>
            </a:r>
            <a:r>
              <a:rPr lang="ko-KR" altLang="en-US" dirty="0"/>
              <a:t>공공 </a:t>
            </a:r>
            <a:r>
              <a:rPr lang="en-US" altLang="ko-KR" dirty="0"/>
              <a:t>AI</a:t>
            </a:r>
            <a:r>
              <a:rPr lang="ko-KR" altLang="en-US" dirty="0"/>
              <a:t>의 투명성</a:t>
            </a:r>
            <a:r>
              <a:rPr lang="en-US" altLang="ko-KR" dirty="0"/>
              <a:t>·</a:t>
            </a:r>
            <a:r>
              <a:rPr lang="ko-KR" altLang="en-US" dirty="0"/>
              <a:t>설명가능성 의무 강화</a:t>
            </a:r>
          </a:p>
          <a:p>
            <a:r>
              <a:rPr lang="en-US" altLang="ko-KR" dirty="0"/>
              <a:t>(2) </a:t>
            </a:r>
            <a:r>
              <a:rPr lang="ko-KR" altLang="en-US" dirty="0"/>
              <a:t>공공조달 시 신뢰 인증 </a:t>
            </a:r>
            <a:r>
              <a:rPr lang="en-US" altLang="ko-KR" dirty="0"/>
              <a:t>AI</a:t>
            </a:r>
            <a:r>
              <a:rPr lang="ko-KR" altLang="en-US" dirty="0"/>
              <a:t>만 허용</a:t>
            </a:r>
          </a:p>
          <a:p>
            <a:r>
              <a:rPr lang="en-US" altLang="ko-KR" dirty="0"/>
              <a:t>(3) </a:t>
            </a:r>
            <a:r>
              <a:rPr lang="ko-KR" altLang="en-US" dirty="0"/>
              <a:t>알고리즘 영향평가</a:t>
            </a:r>
            <a:r>
              <a:rPr lang="en-US" altLang="ko-KR" dirty="0"/>
              <a:t>(AIA) </a:t>
            </a:r>
            <a:r>
              <a:rPr lang="ko-KR" altLang="en-US" dirty="0"/>
              <a:t>의무화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8C1349-8AF9-4DA0-958A-74FAE389A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7" y="92799"/>
            <a:ext cx="6468533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670A96-1BC7-4A28-A07E-C664DA439FD8}"/>
              </a:ext>
            </a:extLst>
          </p:cNvPr>
          <p:cNvSpPr txBox="1"/>
          <p:nvPr/>
        </p:nvSpPr>
        <p:spPr>
          <a:xfrm>
            <a:off x="359975" y="262250"/>
            <a:ext cx="58208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“</a:t>
            </a:r>
            <a:r>
              <a:rPr lang="ko-KR" altLang="en-US" sz="3200" b="1" dirty="0"/>
              <a:t>신뢰</a:t>
            </a:r>
            <a:r>
              <a:rPr lang="en-US" altLang="ko-KR" sz="3200" b="1" dirty="0"/>
              <a:t>”</a:t>
            </a:r>
            <a:r>
              <a:rPr lang="ko-KR" altLang="en-US" sz="3200" b="1" dirty="0"/>
              <a:t>의 법률적 구현 방법</a:t>
            </a:r>
            <a:r>
              <a:rPr lang="en-US" altLang="ko-KR" sz="2400" b="1" dirty="0"/>
              <a:t>(3/3)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56403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162D-A79E-E8BA-4895-166EF2C3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BC6EB1-AEA3-4BC3-8991-F658F9228FB1}"/>
              </a:ext>
            </a:extLst>
          </p:cNvPr>
          <p:cNvSpPr txBox="1"/>
          <p:nvPr/>
        </p:nvSpPr>
        <p:spPr>
          <a:xfrm>
            <a:off x="1557864" y="1185929"/>
            <a:ext cx="7936660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00FF"/>
                </a:solidFill>
              </a:rPr>
              <a:t>▣ 신뢰</a:t>
            </a:r>
            <a:r>
              <a:rPr lang="en-US" altLang="ko-KR" b="1" dirty="0">
                <a:solidFill>
                  <a:srgbClr val="0000FF"/>
                </a:solidFill>
              </a:rPr>
              <a:t>(Trust) = How?</a:t>
            </a:r>
          </a:p>
          <a:p>
            <a:r>
              <a:rPr lang="ko-KR" altLang="en-US" dirty="0"/>
              <a:t>신뢰는 윤리 원칙이 현장에서 실제로 어떻게 구현되는가에 대한 것</a:t>
            </a:r>
          </a:p>
          <a:p>
            <a:r>
              <a:rPr lang="ko-KR" altLang="en-US" dirty="0"/>
              <a:t>신뢰는 윤리가 지켜지고 있다는 것을 어떻게 증명하는 것</a:t>
            </a:r>
            <a:endParaRPr lang="en-US" altLang="ko-KR" dirty="0"/>
          </a:p>
          <a:p>
            <a:r>
              <a:rPr lang="ko-KR" altLang="en-US" dirty="0">
                <a:solidFill>
                  <a:srgbClr val="0000FF"/>
                </a:solidFill>
              </a:rPr>
              <a:t>신뢰는 그 이상을 현실에서 “보증”하는 장치</a:t>
            </a:r>
          </a:p>
          <a:p>
            <a:endParaRPr lang="ko-KR" altLang="en-US" dirty="0"/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수단</a:t>
            </a:r>
            <a:r>
              <a:rPr lang="en-US" altLang="ko-KR" dirty="0"/>
              <a:t>(Means) : </a:t>
            </a:r>
            <a:r>
              <a:rPr lang="ko-KR" altLang="en-US" dirty="0"/>
              <a:t>법</a:t>
            </a:r>
            <a:r>
              <a:rPr lang="en-US" altLang="ko-KR" dirty="0"/>
              <a:t>, </a:t>
            </a:r>
            <a:r>
              <a:rPr lang="ko-KR" altLang="en-US" dirty="0"/>
              <a:t>제도</a:t>
            </a:r>
            <a:r>
              <a:rPr lang="en-US" altLang="ko-KR" dirty="0"/>
              <a:t>, </a:t>
            </a:r>
            <a:r>
              <a:rPr lang="ko-KR" altLang="en-US" dirty="0"/>
              <a:t>인증</a:t>
            </a:r>
            <a:r>
              <a:rPr lang="en-US" altLang="ko-KR" dirty="0"/>
              <a:t>, </a:t>
            </a:r>
            <a:r>
              <a:rPr lang="ko-KR" altLang="en-US" dirty="0"/>
              <a:t>규제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운영</a:t>
            </a:r>
            <a:r>
              <a:rPr lang="en-US" altLang="ko-KR" dirty="0"/>
              <a:t>(Operation) : </a:t>
            </a:r>
            <a:r>
              <a:rPr lang="ko-KR" altLang="en-US" dirty="0"/>
              <a:t>위험관리</a:t>
            </a:r>
            <a:r>
              <a:rPr lang="en-US" altLang="ko-KR" dirty="0"/>
              <a:t>, </a:t>
            </a:r>
            <a:r>
              <a:rPr lang="ko-KR" altLang="en-US" dirty="0"/>
              <a:t>감시</a:t>
            </a:r>
            <a:r>
              <a:rPr lang="en-US" altLang="ko-KR" dirty="0"/>
              <a:t>, </a:t>
            </a:r>
            <a:r>
              <a:rPr lang="ko-KR" altLang="en-US" dirty="0"/>
              <a:t>테스트</a:t>
            </a:r>
            <a:r>
              <a:rPr lang="en-US" altLang="ko-KR" dirty="0"/>
              <a:t>, </a:t>
            </a:r>
            <a:r>
              <a:rPr lang="ko-KR" altLang="en-US" dirty="0"/>
              <a:t>책임 부여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절차</a:t>
            </a:r>
            <a:r>
              <a:rPr lang="en-US" altLang="ko-KR" dirty="0"/>
              <a:t>(Procedures) : </a:t>
            </a:r>
            <a:r>
              <a:rPr lang="ko-KR" altLang="en-US" dirty="0"/>
              <a:t>설명가능성 절차</a:t>
            </a:r>
            <a:r>
              <a:rPr lang="en-US" altLang="ko-KR" dirty="0"/>
              <a:t>, </a:t>
            </a:r>
            <a:r>
              <a:rPr lang="ko-KR" altLang="en-US" dirty="0"/>
              <a:t>데이터 관리 절차</a:t>
            </a:r>
            <a:r>
              <a:rPr lang="en-US" altLang="ko-KR" dirty="0"/>
              <a:t>, </a:t>
            </a:r>
            <a:r>
              <a:rPr lang="ko-KR" altLang="en-US" dirty="0"/>
              <a:t>안전성 검증 절차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b="1" dirty="0">
                <a:solidFill>
                  <a:srgbClr val="0000FF"/>
                </a:solidFill>
              </a:rPr>
              <a:t>▣ 윤리</a:t>
            </a:r>
            <a:r>
              <a:rPr lang="en-US" altLang="ko-KR" b="1" dirty="0">
                <a:solidFill>
                  <a:srgbClr val="0000FF"/>
                </a:solidFill>
              </a:rPr>
              <a:t>(Ethics) = Why?</a:t>
            </a:r>
          </a:p>
          <a:p>
            <a:r>
              <a:rPr lang="ko-KR" altLang="en-US" dirty="0"/>
              <a:t>윤리는 </a:t>
            </a:r>
            <a:r>
              <a:rPr lang="en-US" altLang="ko-KR" dirty="0"/>
              <a:t>AI</a:t>
            </a:r>
            <a:r>
              <a:rPr lang="ko-KR" altLang="en-US" dirty="0"/>
              <a:t>가 어떤 가치에 따라야 하는가를 정의</a:t>
            </a:r>
          </a:p>
          <a:p>
            <a:r>
              <a:rPr lang="ko-KR" altLang="en-US" dirty="0"/>
              <a:t>윤리는 옳은 </a:t>
            </a:r>
            <a:r>
              <a:rPr lang="en-US" altLang="ko-KR" dirty="0"/>
              <a:t>AI</a:t>
            </a:r>
            <a:r>
              <a:rPr lang="ko-KR" altLang="en-US" dirty="0"/>
              <a:t>가 무엇인가를 고민하는 영역</a:t>
            </a:r>
            <a:endParaRPr lang="en-US" altLang="ko-KR" dirty="0"/>
          </a:p>
          <a:p>
            <a:r>
              <a:rPr lang="ko-KR" altLang="en-US" dirty="0">
                <a:solidFill>
                  <a:srgbClr val="0000FF"/>
                </a:solidFill>
              </a:rPr>
              <a:t>윤리는 </a:t>
            </a:r>
            <a:r>
              <a:rPr lang="en-US" altLang="ko-KR" dirty="0">
                <a:solidFill>
                  <a:srgbClr val="0000FF"/>
                </a:solidFill>
              </a:rPr>
              <a:t>AI</a:t>
            </a:r>
            <a:r>
              <a:rPr lang="ko-KR" altLang="en-US" dirty="0">
                <a:solidFill>
                  <a:srgbClr val="0000FF"/>
                </a:solidFill>
              </a:rPr>
              <a:t>의 “이상</a:t>
            </a:r>
            <a:r>
              <a:rPr lang="en-US" altLang="ko-KR" dirty="0">
                <a:solidFill>
                  <a:srgbClr val="0000FF"/>
                </a:solidFill>
              </a:rPr>
              <a:t>(</a:t>
            </a:r>
            <a:r>
              <a:rPr lang="ko-KR" altLang="en-US" dirty="0">
                <a:solidFill>
                  <a:srgbClr val="0000FF"/>
                </a:solidFill>
              </a:rPr>
              <a:t>理想</a:t>
            </a:r>
            <a:r>
              <a:rPr lang="en-US" altLang="ko-KR" dirty="0">
                <a:solidFill>
                  <a:srgbClr val="0000FF"/>
                </a:solidFill>
              </a:rPr>
              <a:t>)”</a:t>
            </a:r>
          </a:p>
          <a:p>
            <a:endParaRPr lang="ko-KR" altLang="en-US" dirty="0"/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목적</a:t>
            </a:r>
            <a:r>
              <a:rPr lang="en-US" altLang="ko-KR" dirty="0"/>
              <a:t>(Purpose): </a:t>
            </a:r>
            <a:r>
              <a:rPr lang="ko-KR" altLang="en-US" dirty="0"/>
              <a:t>왜 이 </a:t>
            </a:r>
            <a:r>
              <a:rPr lang="en-US" altLang="ko-KR" dirty="0"/>
              <a:t>AI</a:t>
            </a:r>
            <a:r>
              <a:rPr lang="ko-KR" altLang="en-US" dirty="0"/>
              <a:t>가 인간에게 해를 주지 않아야 하는가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기준</a:t>
            </a:r>
            <a:r>
              <a:rPr lang="en-US" altLang="ko-KR" dirty="0"/>
              <a:t>(Principles): </a:t>
            </a:r>
            <a:r>
              <a:rPr lang="ko-KR" altLang="en-US" dirty="0"/>
              <a:t>공정성</a:t>
            </a:r>
            <a:r>
              <a:rPr lang="en-US" altLang="ko-KR" dirty="0"/>
              <a:t>·</a:t>
            </a:r>
            <a:r>
              <a:rPr lang="ko-KR" altLang="en-US" dirty="0"/>
              <a:t>인권</a:t>
            </a:r>
            <a:r>
              <a:rPr lang="en-US" altLang="ko-KR" dirty="0"/>
              <a:t>·</a:t>
            </a:r>
            <a:r>
              <a:rPr lang="ko-KR" altLang="en-US" dirty="0"/>
              <a:t>책임성</a:t>
            </a:r>
            <a:r>
              <a:rPr lang="en-US" altLang="ko-KR" dirty="0"/>
              <a:t>·</a:t>
            </a:r>
            <a:r>
              <a:rPr lang="ko-KR" altLang="en-US" dirty="0"/>
              <a:t>비차별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가치</a:t>
            </a:r>
            <a:r>
              <a:rPr lang="en-US" altLang="ko-KR" dirty="0"/>
              <a:t>(Values): </a:t>
            </a:r>
            <a:r>
              <a:rPr lang="ko-KR" altLang="en-US" dirty="0"/>
              <a:t>인간 중심의 우선순위</a:t>
            </a:r>
          </a:p>
        </p:txBody>
      </p:sp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8C1349-8AF9-4DA0-958A-74FAE389A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8" y="92799"/>
            <a:ext cx="5452532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670A96-1BC7-4A28-A07E-C664DA439FD8}"/>
              </a:ext>
            </a:extLst>
          </p:cNvPr>
          <p:cNvSpPr txBox="1"/>
          <p:nvPr/>
        </p:nvSpPr>
        <p:spPr>
          <a:xfrm>
            <a:off x="359975" y="262250"/>
            <a:ext cx="51571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“</a:t>
            </a:r>
            <a:r>
              <a:rPr lang="ko-KR" altLang="en-US" sz="3200" b="1" dirty="0"/>
              <a:t>신뢰</a:t>
            </a:r>
            <a:r>
              <a:rPr lang="en-US" altLang="ko-KR" sz="3200" b="1" dirty="0"/>
              <a:t>”</a:t>
            </a:r>
            <a:r>
              <a:rPr lang="ko-KR" altLang="en-US" sz="3200" b="1" dirty="0"/>
              <a:t>의 대상</a:t>
            </a:r>
            <a:r>
              <a:rPr lang="en-US" altLang="ko-KR" sz="3200" b="1" dirty="0"/>
              <a:t>, ＂</a:t>
            </a:r>
            <a:r>
              <a:rPr lang="ko-KR" altLang="en-US" sz="3200" b="1" dirty="0"/>
              <a:t>윤리</a:t>
            </a:r>
            <a:r>
              <a:rPr lang="en-US" altLang="ko-KR" sz="3200" b="1" dirty="0"/>
              <a:t>”</a:t>
            </a:r>
            <a:r>
              <a:rPr lang="en-US" altLang="ko-KR" sz="2400" b="1" dirty="0"/>
              <a:t>(1/2)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665793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162D-A79E-E8BA-4895-166EF2C3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8C1349-8AF9-4DA0-958A-74FAE389A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8" y="92799"/>
            <a:ext cx="5452532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670A96-1BC7-4A28-A07E-C664DA439FD8}"/>
              </a:ext>
            </a:extLst>
          </p:cNvPr>
          <p:cNvSpPr txBox="1"/>
          <p:nvPr/>
        </p:nvSpPr>
        <p:spPr>
          <a:xfrm>
            <a:off x="359975" y="262250"/>
            <a:ext cx="53351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“</a:t>
            </a:r>
            <a:r>
              <a:rPr lang="ko-KR" altLang="en-US" sz="3200" b="1" dirty="0"/>
              <a:t>신뢰</a:t>
            </a:r>
            <a:r>
              <a:rPr lang="en-US" altLang="ko-KR" sz="3200" b="1" dirty="0"/>
              <a:t>”</a:t>
            </a:r>
            <a:r>
              <a:rPr lang="ko-KR" altLang="en-US" sz="3200" b="1" dirty="0"/>
              <a:t>의 대상</a:t>
            </a:r>
            <a:r>
              <a:rPr lang="en-US" altLang="ko-KR" sz="3200" b="1" dirty="0"/>
              <a:t>, ＂</a:t>
            </a:r>
            <a:r>
              <a:rPr lang="ko-KR" altLang="en-US" sz="3200" b="1" dirty="0"/>
              <a:t>윤리</a:t>
            </a:r>
            <a:r>
              <a:rPr lang="en-US" altLang="ko-KR" sz="3200" b="1" dirty="0"/>
              <a:t>”</a:t>
            </a:r>
            <a:r>
              <a:rPr lang="en-US" altLang="ko-KR" sz="2400" b="1" dirty="0"/>
              <a:t>(2/2)</a:t>
            </a:r>
            <a:endParaRPr lang="ko-KR" altLang="en-US" sz="32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DA4813C-2029-4074-BEDC-76F2220FA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75" y="3379029"/>
            <a:ext cx="8025412" cy="3166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E2FBF5-7E43-4EEF-9D8D-B5565F87976D}"/>
              </a:ext>
            </a:extLst>
          </p:cNvPr>
          <p:cNvSpPr txBox="1"/>
          <p:nvPr/>
        </p:nvSpPr>
        <p:spPr>
          <a:xfrm>
            <a:off x="225322" y="2732698"/>
            <a:ext cx="5604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윤리는 무엇이 “옳은 </a:t>
            </a:r>
            <a:r>
              <a:rPr lang="en-US" altLang="ko-KR" dirty="0"/>
              <a:t>AI”</a:t>
            </a:r>
            <a:r>
              <a:rPr lang="ko-KR" altLang="en-US" dirty="0"/>
              <a:t>인지 정의하는 기준이고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신뢰는 그 기준이 실제 실현되고 있다는 사회의 확신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6B4E08-AE55-46F8-8B05-D7CC06DB6D12}"/>
              </a:ext>
            </a:extLst>
          </p:cNvPr>
          <p:cNvSpPr txBox="1"/>
          <p:nvPr/>
        </p:nvSpPr>
        <p:spPr>
          <a:xfrm>
            <a:off x="6496912" y="132575"/>
            <a:ext cx="556107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00FF"/>
                </a:solidFill>
              </a:rPr>
              <a:t>윤리 원칙 </a:t>
            </a:r>
            <a:r>
              <a:rPr lang="en-US" altLang="ko-KR" sz="1600" dirty="0">
                <a:solidFill>
                  <a:srgbClr val="0000FF"/>
                </a:solidFill>
              </a:rPr>
              <a:t>(Ethical Principles)</a:t>
            </a:r>
          </a:p>
          <a:p>
            <a:r>
              <a:rPr lang="en-US" altLang="ko-KR" dirty="0">
                <a:solidFill>
                  <a:srgbClr val="0000FF"/>
                </a:solidFill>
              </a:rPr>
              <a:t>        ↓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사회적 요구 </a:t>
            </a:r>
            <a:r>
              <a:rPr lang="en-US" altLang="ko-KR" sz="1600" dirty="0">
                <a:solidFill>
                  <a:srgbClr val="0000FF"/>
                </a:solidFill>
              </a:rPr>
              <a:t>(Social Expectations)</a:t>
            </a:r>
          </a:p>
          <a:p>
            <a:r>
              <a:rPr lang="en-US" altLang="ko-KR" dirty="0">
                <a:solidFill>
                  <a:srgbClr val="0000FF"/>
                </a:solidFill>
              </a:rPr>
              <a:t>        ↓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신뢰할 수 있는 </a:t>
            </a:r>
            <a:r>
              <a:rPr lang="en-US" altLang="ko-KR" dirty="0">
                <a:solidFill>
                  <a:srgbClr val="0000FF"/>
                </a:solidFill>
              </a:rPr>
              <a:t>AI </a:t>
            </a:r>
            <a:r>
              <a:rPr lang="ko-KR" altLang="en-US" dirty="0">
                <a:solidFill>
                  <a:srgbClr val="0000FF"/>
                </a:solidFill>
              </a:rPr>
              <a:t>요건 </a:t>
            </a:r>
            <a:r>
              <a:rPr lang="en-US" altLang="ko-KR" sz="1600" dirty="0">
                <a:solidFill>
                  <a:srgbClr val="0000FF"/>
                </a:solidFill>
              </a:rPr>
              <a:t>(Trustworthiness Requirements)</a:t>
            </a:r>
          </a:p>
          <a:p>
            <a:r>
              <a:rPr lang="en-US" altLang="ko-KR" dirty="0">
                <a:solidFill>
                  <a:srgbClr val="0000FF"/>
                </a:solidFill>
              </a:rPr>
              <a:t>        ↓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법</a:t>
            </a:r>
            <a:r>
              <a:rPr lang="en-US" altLang="ko-KR" dirty="0">
                <a:solidFill>
                  <a:srgbClr val="0000FF"/>
                </a:solidFill>
              </a:rPr>
              <a:t>·</a:t>
            </a:r>
            <a:r>
              <a:rPr lang="ko-KR" altLang="en-US" dirty="0">
                <a:solidFill>
                  <a:srgbClr val="0000FF"/>
                </a:solidFill>
              </a:rPr>
              <a:t>제도</a:t>
            </a:r>
            <a:r>
              <a:rPr lang="en-US" altLang="ko-KR" dirty="0">
                <a:solidFill>
                  <a:srgbClr val="0000FF"/>
                </a:solidFill>
              </a:rPr>
              <a:t>·</a:t>
            </a:r>
            <a:r>
              <a:rPr lang="ko-KR" altLang="en-US" dirty="0">
                <a:solidFill>
                  <a:srgbClr val="0000FF"/>
                </a:solidFill>
              </a:rPr>
              <a:t>표준 </a:t>
            </a:r>
            <a:r>
              <a:rPr lang="en-US" altLang="ko-KR" sz="1600" dirty="0">
                <a:solidFill>
                  <a:srgbClr val="0000FF"/>
                </a:solidFill>
              </a:rPr>
              <a:t>(Regulation / Standards)</a:t>
            </a:r>
          </a:p>
          <a:p>
            <a:r>
              <a:rPr lang="en-US" altLang="ko-KR" dirty="0">
                <a:solidFill>
                  <a:srgbClr val="0000FF"/>
                </a:solidFill>
              </a:rPr>
              <a:t>        ↓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산업 실행 </a:t>
            </a:r>
            <a:r>
              <a:rPr lang="en-US" altLang="ko-KR" sz="1600" dirty="0">
                <a:solidFill>
                  <a:srgbClr val="0000FF"/>
                </a:solidFill>
              </a:rPr>
              <a:t>(Compliance &amp; Governance)</a:t>
            </a:r>
          </a:p>
          <a:p>
            <a:r>
              <a:rPr lang="en-US" altLang="ko-KR" dirty="0">
                <a:solidFill>
                  <a:srgbClr val="0000FF"/>
                </a:solidFill>
              </a:rPr>
              <a:t>        ↓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사회적 신뢰 형성 </a:t>
            </a:r>
            <a:r>
              <a:rPr lang="en-US" altLang="ko-KR" sz="1600" dirty="0">
                <a:solidFill>
                  <a:srgbClr val="0000FF"/>
                </a:solidFill>
              </a:rPr>
              <a:t>(Public Trust)</a:t>
            </a:r>
            <a:endParaRPr lang="ko-KR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29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4F11-B237-423B-05F6-1C36E76DE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C3A7C3-DA7C-357F-E67C-AB10A5ABC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3968262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3B1EC8-7873-CD02-58F7-916B10A57E47}"/>
              </a:ext>
            </a:extLst>
          </p:cNvPr>
          <p:cNvSpPr txBox="1"/>
          <p:nvPr/>
        </p:nvSpPr>
        <p:spPr>
          <a:xfrm>
            <a:off x="486799" y="187001"/>
            <a:ext cx="3350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AI </a:t>
            </a:r>
            <a:r>
              <a:rPr lang="ko-KR" altLang="en-US" sz="3200" b="1" dirty="0"/>
              <a:t>거버넌스 연구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8BC22D-A5B0-49E3-BB0B-DCE4EF0B132D}"/>
              </a:ext>
            </a:extLst>
          </p:cNvPr>
          <p:cNvSpPr txBox="1"/>
          <p:nvPr/>
        </p:nvSpPr>
        <p:spPr>
          <a:xfrm>
            <a:off x="811224" y="1428272"/>
            <a:ext cx="63482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0000FF"/>
                </a:solidFill>
              </a:rPr>
              <a:t>인공지능 거버넌스와 정책형성과정 연구</a:t>
            </a:r>
            <a:r>
              <a:rPr lang="en-US" altLang="ko-KR" b="1" dirty="0"/>
              <a:t>(</a:t>
            </a:r>
            <a:r>
              <a:rPr lang="ko-KR" altLang="en-US" b="1" dirty="0"/>
              <a:t>김지원</a:t>
            </a:r>
            <a:r>
              <a:rPr lang="en-US" altLang="ko-KR" b="1" dirty="0"/>
              <a:t>, 2024)</a:t>
            </a:r>
            <a:endParaRPr lang="en-US" altLang="ko-KR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940D02-00FC-499F-93EF-FF3BB515C7FB}"/>
              </a:ext>
            </a:extLst>
          </p:cNvPr>
          <p:cNvSpPr txBox="1"/>
          <p:nvPr/>
        </p:nvSpPr>
        <p:spPr>
          <a:xfrm>
            <a:off x="811224" y="2909292"/>
            <a:ext cx="7975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</a:t>
            </a:r>
            <a:r>
              <a:rPr lang="en-US" altLang="ko-KR" sz="2000" b="1" dirty="0"/>
              <a:t>(AI)</a:t>
            </a:r>
            <a:r>
              <a:rPr lang="ko-KR" altLang="en-US" sz="2000" b="1" dirty="0"/>
              <a:t>시대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인공지능기본법과 </a:t>
            </a:r>
            <a:r>
              <a:rPr lang="ko-KR" altLang="en-US" sz="2000" b="1" dirty="0">
                <a:solidFill>
                  <a:srgbClr val="C00000"/>
                </a:solidFill>
              </a:rPr>
              <a:t>윤리</a:t>
            </a:r>
            <a:r>
              <a:rPr lang="ko-KR" altLang="en-US" sz="2000" b="1" dirty="0"/>
              <a:t>에 관한 연구</a:t>
            </a:r>
            <a:r>
              <a:rPr lang="en-US" altLang="ko-KR" b="1" dirty="0"/>
              <a:t>(</a:t>
            </a:r>
            <a:r>
              <a:rPr lang="ko-KR" altLang="en-US" b="1" dirty="0"/>
              <a:t>김경동</a:t>
            </a:r>
            <a:r>
              <a:rPr lang="en-US" altLang="ko-KR" b="1" dirty="0"/>
              <a:t>, 2025)</a:t>
            </a:r>
            <a:endParaRPr lang="en-US" altLang="ko-KR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721DB-79A0-487A-AF59-53FB21A3D1CB}"/>
              </a:ext>
            </a:extLst>
          </p:cNvPr>
          <p:cNvSpPr txBox="1"/>
          <p:nvPr/>
        </p:nvSpPr>
        <p:spPr>
          <a:xfrm>
            <a:off x="811224" y="4236196"/>
            <a:ext cx="72731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인공지능기술 </a:t>
            </a:r>
            <a:r>
              <a:rPr lang="ko-KR" altLang="en-US" sz="2000" b="1" dirty="0">
                <a:solidFill>
                  <a:srgbClr val="C00000"/>
                </a:solidFill>
              </a:rPr>
              <a:t>윤리</a:t>
            </a:r>
            <a:r>
              <a:rPr lang="ko-KR" altLang="en-US" sz="2000" b="1" dirty="0"/>
              <a:t>성 인식 척도개발 연구</a:t>
            </a:r>
            <a:r>
              <a:rPr lang="en-US" altLang="ko-KR" b="1" dirty="0"/>
              <a:t>(</a:t>
            </a:r>
            <a:r>
              <a:rPr lang="ko-KR" altLang="en-US" b="1" dirty="0"/>
              <a:t>김도연</a:t>
            </a:r>
            <a:r>
              <a:rPr lang="en-US" altLang="ko-KR" b="1" dirty="0"/>
              <a:t>, </a:t>
            </a:r>
            <a:r>
              <a:rPr lang="ko-KR" altLang="en-US" b="1" dirty="0"/>
              <a:t>고영화</a:t>
            </a:r>
            <a:r>
              <a:rPr lang="en-US" altLang="ko-KR" b="1" dirty="0"/>
              <a:t>, 2022)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243035-E243-48C9-A3B2-86FB11906759}"/>
              </a:ext>
            </a:extLst>
          </p:cNvPr>
          <p:cNvSpPr txBox="1"/>
          <p:nvPr/>
        </p:nvSpPr>
        <p:spPr>
          <a:xfrm>
            <a:off x="811224" y="3572744"/>
            <a:ext cx="5198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인공지능의 </a:t>
            </a:r>
            <a:r>
              <a:rPr lang="ko-KR" altLang="en-US" sz="2000" b="1" dirty="0">
                <a:solidFill>
                  <a:srgbClr val="C00000"/>
                </a:solidFill>
              </a:rPr>
              <a:t>윤리</a:t>
            </a:r>
            <a:r>
              <a:rPr lang="ko-KR" altLang="en-US" sz="2000" b="1" dirty="0"/>
              <a:t>와 법의 접점</a:t>
            </a:r>
            <a:r>
              <a:rPr lang="en-US" altLang="ko-KR" b="1" dirty="0"/>
              <a:t>(</a:t>
            </a:r>
            <a:r>
              <a:rPr lang="ko-KR" altLang="en-US" b="1" dirty="0"/>
              <a:t>원상철</a:t>
            </a:r>
            <a:r>
              <a:rPr lang="en-US" altLang="ko-KR" b="1" dirty="0"/>
              <a:t>, 2024)</a:t>
            </a:r>
            <a:endParaRPr lang="en-US" altLang="ko-KR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7C879-6C65-4E67-B6F0-EA4ADF83F08B}"/>
              </a:ext>
            </a:extLst>
          </p:cNvPr>
          <p:cNvSpPr txBox="1"/>
          <p:nvPr/>
        </p:nvSpPr>
        <p:spPr>
          <a:xfrm>
            <a:off x="811224" y="5563101"/>
            <a:ext cx="11089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로봇의 위험성 유형별 측정지표 개발과 인공지능 </a:t>
            </a:r>
            <a:r>
              <a:rPr lang="ko-KR" altLang="en-US" sz="2000" b="1" dirty="0">
                <a:solidFill>
                  <a:srgbClr val="C00000"/>
                </a:solidFill>
              </a:rPr>
              <a:t>윤리</a:t>
            </a:r>
            <a:r>
              <a:rPr lang="ko-KR" altLang="en-US" sz="2000" b="1" dirty="0"/>
              <a:t>원칙 관계성 연구</a:t>
            </a:r>
            <a:r>
              <a:rPr lang="en-US" altLang="ko-KR" b="1" dirty="0"/>
              <a:t>(</a:t>
            </a:r>
            <a:r>
              <a:rPr lang="ko-KR" altLang="en-US" b="1" dirty="0"/>
              <a:t>송현경</a:t>
            </a:r>
            <a:r>
              <a:rPr lang="en-US" altLang="ko-KR" b="1" dirty="0"/>
              <a:t>, 2024)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8C3AC3-75AF-4B98-9C1B-768F3DAC8E9A}"/>
              </a:ext>
            </a:extLst>
          </p:cNvPr>
          <p:cNvSpPr txBox="1"/>
          <p:nvPr/>
        </p:nvSpPr>
        <p:spPr>
          <a:xfrm>
            <a:off x="811224" y="4899648"/>
            <a:ext cx="104823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</a:t>
            </a:r>
            <a:r>
              <a:rPr lang="ko-KR" altLang="en-US" sz="2000" b="1" dirty="0">
                <a:solidFill>
                  <a:srgbClr val="C00000"/>
                </a:solidFill>
              </a:rPr>
              <a:t>윤리</a:t>
            </a:r>
            <a:r>
              <a:rPr lang="ko-KR" altLang="en-US" sz="2000" b="1" dirty="0"/>
              <a:t>원칙 분류 모형 및 윤리 측정지표 개발과 신뢰성에 관한 연구</a:t>
            </a:r>
            <a:r>
              <a:rPr lang="en-US" altLang="ko-KR" b="1" dirty="0"/>
              <a:t>(</a:t>
            </a:r>
            <a:r>
              <a:rPr lang="ko-KR" altLang="en-US" b="1" dirty="0"/>
              <a:t>소순주</a:t>
            </a:r>
            <a:r>
              <a:rPr lang="en-US" altLang="ko-KR" b="1" dirty="0"/>
              <a:t>, 2023)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A30C7C-74D8-44F8-91A5-545AF736A6B0}"/>
              </a:ext>
            </a:extLst>
          </p:cNvPr>
          <p:cNvSpPr txBox="1"/>
          <p:nvPr/>
        </p:nvSpPr>
        <p:spPr>
          <a:xfrm>
            <a:off x="811224" y="2192360"/>
            <a:ext cx="66688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0000FF"/>
                </a:solidFill>
              </a:rPr>
              <a:t>인공지능 </a:t>
            </a:r>
            <a:r>
              <a:rPr lang="ko-KR" altLang="en-US" sz="2000" b="1" dirty="0">
                <a:solidFill>
                  <a:srgbClr val="C00000"/>
                </a:solidFill>
              </a:rPr>
              <a:t>윤리</a:t>
            </a:r>
            <a:r>
              <a:rPr lang="ko-KR" altLang="en-US" sz="2000" b="1" dirty="0">
                <a:solidFill>
                  <a:srgbClr val="0000FF"/>
                </a:solidFill>
              </a:rPr>
              <a:t>와 저작권의 규제체계 연구</a:t>
            </a:r>
            <a:r>
              <a:rPr lang="en-US" altLang="ko-KR" b="1" dirty="0"/>
              <a:t>(</a:t>
            </a:r>
            <a:r>
              <a:rPr lang="ko-KR" altLang="en-US" b="1" dirty="0"/>
              <a:t>신용우</a:t>
            </a:r>
            <a:r>
              <a:rPr lang="en-US" altLang="ko-KR" b="1" dirty="0"/>
              <a:t>, 2024)</a:t>
            </a:r>
            <a:endParaRPr lang="en-US" altLang="ko-KR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A14B46-8A7E-424A-AAF7-C4C27B8113D4}"/>
              </a:ext>
            </a:extLst>
          </p:cNvPr>
          <p:cNvSpPr txBox="1"/>
          <p:nvPr/>
        </p:nvSpPr>
        <p:spPr>
          <a:xfrm>
            <a:off x="298025" y="1446559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【1】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FF46CB-487E-4870-9716-121FEDD1F324}"/>
              </a:ext>
            </a:extLst>
          </p:cNvPr>
          <p:cNvSpPr txBox="1"/>
          <p:nvPr/>
        </p:nvSpPr>
        <p:spPr>
          <a:xfrm>
            <a:off x="298025" y="219236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【2】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DE219D-26BD-44C5-AF87-55FE93ADEE89}"/>
              </a:ext>
            </a:extLst>
          </p:cNvPr>
          <p:cNvSpPr txBox="1"/>
          <p:nvPr/>
        </p:nvSpPr>
        <p:spPr>
          <a:xfrm>
            <a:off x="298025" y="2931874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【3】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E45107-452B-4C48-A728-2E6D7A0B46DF}"/>
              </a:ext>
            </a:extLst>
          </p:cNvPr>
          <p:cNvSpPr txBox="1"/>
          <p:nvPr/>
        </p:nvSpPr>
        <p:spPr>
          <a:xfrm>
            <a:off x="298025" y="3561453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【4】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D8193F-FA73-48BE-8080-3D6E937938F7}"/>
              </a:ext>
            </a:extLst>
          </p:cNvPr>
          <p:cNvSpPr txBox="1"/>
          <p:nvPr/>
        </p:nvSpPr>
        <p:spPr>
          <a:xfrm>
            <a:off x="298025" y="4227334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【5】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2D560E-AC24-4A7D-9EDD-ED55945A5458}"/>
              </a:ext>
            </a:extLst>
          </p:cNvPr>
          <p:cNvSpPr txBox="1"/>
          <p:nvPr/>
        </p:nvSpPr>
        <p:spPr>
          <a:xfrm>
            <a:off x="298025" y="4915003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【6】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C625E6-8710-4787-829D-FE05932AE8DF}"/>
              </a:ext>
            </a:extLst>
          </p:cNvPr>
          <p:cNvSpPr txBox="1"/>
          <p:nvPr/>
        </p:nvSpPr>
        <p:spPr>
          <a:xfrm>
            <a:off x="298025" y="556310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【7】</a:t>
            </a:r>
          </a:p>
        </p:txBody>
      </p:sp>
    </p:spTree>
    <p:extLst>
      <p:ext uri="{BB962C8B-B14F-4D97-AF65-F5344CB8AC3E}">
        <p14:creationId xmlns:p14="http://schemas.microsoft.com/office/powerpoint/2010/main" val="1560365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72D3F-4A83-581C-B1E0-BCB500DFA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2E5A91-C315-2AF3-C73C-8EFA804D1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83CE63-E586-C1BA-561A-945159F24282}"/>
              </a:ext>
            </a:extLst>
          </p:cNvPr>
          <p:cNvSpPr txBox="1"/>
          <p:nvPr/>
        </p:nvSpPr>
        <p:spPr>
          <a:xfrm>
            <a:off x="458807" y="286850"/>
            <a:ext cx="70759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거버넌스와 정책형성과정 연구</a:t>
            </a:r>
            <a:r>
              <a:rPr lang="en-US" altLang="ko-KR" b="1" dirty="0"/>
              <a:t>(</a:t>
            </a:r>
            <a:r>
              <a:rPr lang="ko-KR" altLang="en-US" b="1" dirty="0"/>
              <a:t>김지원</a:t>
            </a:r>
            <a:r>
              <a:rPr lang="en-US" altLang="ko-KR" b="1" dirty="0"/>
              <a:t>, 2024.8)(1/2)</a:t>
            </a:r>
            <a:endParaRPr lang="en-US" altLang="ko-KR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A9DDB6-D5B7-3339-A5DF-716EA8254504}"/>
              </a:ext>
            </a:extLst>
          </p:cNvPr>
          <p:cNvSpPr txBox="1"/>
          <p:nvPr/>
        </p:nvSpPr>
        <p:spPr>
          <a:xfrm>
            <a:off x="392132" y="1139785"/>
            <a:ext cx="11561178" cy="52937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AI </a:t>
            </a:r>
            <a:r>
              <a:rPr lang="ko-KR" altLang="en-US" sz="2000" dirty="0"/>
              <a:t>기술발전에 따른 윤리</a:t>
            </a:r>
            <a:r>
              <a:rPr lang="en-US" altLang="ko-KR" sz="2000" dirty="0"/>
              <a:t>·</a:t>
            </a:r>
            <a:r>
              <a:rPr lang="ko-KR" altLang="en-US" sz="2000" dirty="0"/>
              <a:t>사회적 문제를 해결하기 위해 </a:t>
            </a:r>
            <a:r>
              <a:rPr lang="en-US" altLang="ko-KR" sz="2000" dirty="0"/>
              <a:t>AI </a:t>
            </a:r>
            <a:r>
              <a:rPr lang="ko-KR" altLang="en-US" sz="2000" dirty="0"/>
              <a:t>거버넌스와 정책형성과정을 분석한 연구</a:t>
            </a:r>
            <a:endParaRPr lang="en-US" altLang="ko-KR" sz="2000" dirty="0"/>
          </a:p>
          <a:p>
            <a:r>
              <a:rPr lang="en-US" altLang="ko-KR" sz="2000" dirty="0"/>
              <a:t>2016~2023</a:t>
            </a:r>
            <a:r>
              <a:rPr lang="ko-KR" altLang="en-US" sz="2000" dirty="0"/>
              <a:t>년 과학기술정보통신부를 중심으로 추진된 주요 정책과</a:t>
            </a:r>
            <a:r>
              <a:rPr lang="en-US" altLang="ko-KR" sz="2000" dirty="0"/>
              <a:t>, </a:t>
            </a:r>
          </a:p>
          <a:p>
            <a:r>
              <a:rPr lang="ko-KR" altLang="en-US" sz="2000" dirty="0"/>
              <a:t>정책 형성과정에 참여한 정부</a:t>
            </a:r>
            <a:r>
              <a:rPr lang="en-US" altLang="ko-KR" sz="2000" dirty="0"/>
              <a:t>·</a:t>
            </a:r>
            <a:r>
              <a:rPr lang="ko-KR" altLang="en-US" sz="2000" dirty="0"/>
              <a:t>전문가</a:t>
            </a:r>
            <a:r>
              <a:rPr lang="en-US" altLang="ko-KR" sz="2000" dirty="0"/>
              <a:t>·</a:t>
            </a:r>
            <a:r>
              <a:rPr lang="ko-KR" altLang="en-US" sz="2000" dirty="0"/>
              <a:t>기업</a:t>
            </a:r>
            <a:r>
              <a:rPr lang="en-US" altLang="ko-KR" sz="2000" dirty="0"/>
              <a:t>·</a:t>
            </a:r>
            <a:r>
              <a:rPr lang="ko-KR" altLang="en-US" sz="2000" dirty="0"/>
              <a:t>시민단체의 관계를 정책네트워크 이론과 </a:t>
            </a:r>
            <a:endParaRPr lang="en-US" altLang="ko-KR" sz="2000" dirty="0"/>
          </a:p>
          <a:p>
            <a:r>
              <a:rPr lang="ko-KR" altLang="en-US" sz="2000" dirty="0"/>
              <a:t>사회기술시스템</a:t>
            </a:r>
            <a:r>
              <a:rPr lang="en-US" altLang="ko-KR" sz="2000" dirty="0"/>
              <a:t>(STS) </a:t>
            </a:r>
            <a:r>
              <a:rPr lang="ko-KR" altLang="en-US" sz="2000" dirty="0"/>
              <a:t>관점에서 분석</a:t>
            </a:r>
            <a:endParaRPr lang="en-US" altLang="ko-KR" sz="2000" dirty="0"/>
          </a:p>
          <a:p>
            <a:endParaRPr lang="en-US" altLang="ko-KR" sz="2000" b="1" dirty="0"/>
          </a:p>
          <a:p>
            <a:r>
              <a:rPr lang="en-US" altLang="ko-KR" sz="2000" b="1" dirty="0"/>
              <a:t>【 </a:t>
            </a:r>
            <a:r>
              <a:rPr lang="ko-KR" altLang="en-US" sz="2000" b="1" dirty="0"/>
              <a:t>연구 배경</a:t>
            </a:r>
            <a:r>
              <a:rPr lang="en-US" altLang="ko-KR" sz="2000" b="1" dirty="0"/>
              <a:t>  】</a:t>
            </a:r>
            <a:r>
              <a:rPr lang="en-US" altLang="ko-KR" dirty="0"/>
              <a:t>
AI</a:t>
            </a:r>
            <a:r>
              <a:rPr lang="ko-KR" altLang="en-US" dirty="0"/>
              <a:t>의 급속한 확산으로 차별</a:t>
            </a:r>
            <a:r>
              <a:rPr lang="en-US" altLang="ko-KR" dirty="0"/>
              <a:t>, </a:t>
            </a:r>
            <a:r>
              <a:rPr lang="ko-KR" altLang="en-US" dirty="0"/>
              <a:t>편향</a:t>
            </a:r>
            <a:r>
              <a:rPr lang="en-US" altLang="ko-KR" dirty="0"/>
              <a:t>, </a:t>
            </a:r>
            <a:r>
              <a:rPr lang="ko-KR" altLang="en-US" dirty="0"/>
              <a:t>설명가능성 부족</a:t>
            </a:r>
            <a:r>
              <a:rPr lang="en-US" altLang="ko-KR" dirty="0"/>
              <a:t>, </a:t>
            </a:r>
            <a:r>
              <a:rPr lang="ko-KR" altLang="en-US" dirty="0"/>
              <a:t>프라이버시 침해 등 새로운 사회적 위험이 발생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이를 해결하기 위한 정책</a:t>
            </a:r>
            <a:r>
              <a:rPr lang="en-US" altLang="ko-KR" dirty="0"/>
              <a:t>·</a:t>
            </a:r>
            <a:r>
              <a:rPr lang="ko-KR" altLang="en-US" dirty="0"/>
              <a:t>윤리 프레임워크의 필요성이 크게 증가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(1) </a:t>
            </a:r>
            <a:r>
              <a:rPr lang="ko-KR" altLang="en-US" dirty="0"/>
              <a:t>철학자 중심의 윤리 원칙 제시 단계</a:t>
            </a:r>
            <a:r>
              <a:rPr lang="en-US" altLang="ko-KR" dirty="0"/>
              <a:t>(2016~) </a:t>
            </a:r>
          </a:p>
          <a:p>
            <a:r>
              <a:rPr lang="en-US" altLang="ko-KR" dirty="0"/>
              <a:t>(2) </a:t>
            </a:r>
            <a:r>
              <a:rPr lang="ko-KR" altLang="en-US" dirty="0"/>
              <a:t>공정성</a:t>
            </a:r>
            <a:r>
              <a:rPr lang="en-US" altLang="ko-KR" dirty="0"/>
              <a:t>/</a:t>
            </a:r>
            <a:r>
              <a:rPr lang="ko-KR" altLang="en-US" dirty="0"/>
              <a:t>편향 등 기술적 해결 중심 단계</a:t>
            </a:r>
            <a:r>
              <a:rPr lang="en-US" altLang="ko-KR" dirty="0"/>
              <a:t>(2018~) </a:t>
            </a:r>
          </a:p>
          <a:p>
            <a:r>
              <a:rPr lang="en-US" altLang="ko-KR" dirty="0"/>
              <a:t>(3) </a:t>
            </a:r>
            <a:r>
              <a:rPr lang="ko-KR" altLang="en-US" dirty="0"/>
              <a:t>사회정의</a:t>
            </a:r>
            <a:r>
              <a:rPr lang="en-US" altLang="ko-KR" dirty="0"/>
              <a:t>·</a:t>
            </a:r>
            <a:r>
              <a:rPr lang="ko-KR" altLang="en-US" dirty="0"/>
              <a:t>인권</a:t>
            </a:r>
            <a:r>
              <a:rPr lang="en-US" altLang="ko-KR" dirty="0"/>
              <a:t>·</a:t>
            </a:r>
            <a:r>
              <a:rPr lang="ko-KR" altLang="en-US" dirty="0"/>
              <a:t>지속가능성 중심의 사회기술적 접근 단계</a:t>
            </a:r>
            <a:r>
              <a:rPr lang="en-US" altLang="ko-KR" dirty="0"/>
              <a:t>(2020~)</a:t>
            </a:r>
            <a:r>
              <a:rPr lang="ko-KR" altLang="en-US" dirty="0"/>
              <a:t>로 발전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r>
              <a:rPr lang="en-US" altLang="ko-KR" sz="2000" b="1" dirty="0"/>
              <a:t>【 AI </a:t>
            </a:r>
            <a:r>
              <a:rPr lang="ko-KR" altLang="en-US" sz="2000" b="1" dirty="0"/>
              <a:t>거버넌스 발전 단계</a:t>
            </a:r>
            <a:r>
              <a:rPr lang="en-US" altLang="ko-KR" sz="2000" b="1" dirty="0"/>
              <a:t> 】</a:t>
            </a:r>
            <a:endParaRPr lang="en-US" altLang="ko-KR" sz="2000" dirty="0"/>
          </a:p>
          <a:p>
            <a:endParaRPr lang="en-US" altLang="ko-KR" dirty="0"/>
          </a:p>
          <a:p>
            <a:r>
              <a:rPr lang="en-US" altLang="ko-KR" dirty="0"/>
              <a:t>(1) </a:t>
            </a:r>
            <a:r>
              <a:rPr lang="ko-KR" altLang="en-US" dirty="0"/>
              <a:t>로봇 윤리 선언 등 초기 논의 → </a:t>
            </a:r>
            <a:r>
              <a:rPr lang="en-US" altLang="ko-KR" dirty="0"/>
              <a:t>(2) </a:t>
            </a:r>
            <a:r>
              <a:rPr lang="ko-KR" altLang="en-US" dirty="0"/>
              <a:t>윤리 방향성 설정 → </a:t>
            </a:r>
            <a:r>
              <a:rPr lang="en-US" altLang="ko-KR" dirty="0"/>
              <a:t>(3) </a:t>
            </a:r>
            <a:r>
              <a:rPr lang="ko-KR" altLang="en-US" dirty="0"/>
              <a:t>다수의 윤리 강령 발표</a:t>
            </a:r>
            <a:r>
              <a:rPr lang="en-US" altLang="ko-KR" dirty="0"/>
              <a:t>(</a:t>
            </a:r>
            <a:r>
              <a:rPr lang="ko-KR" altLang="en-US" dirty="0"/>
              <a:t>민간 중심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→ (4) EU AI Act </a:t>
            </a:r>
            <a:r>
              <a:rPr lang="ko-KR" altLang="en-US" dirty="0"/>
              <a:t>등 법제화 중심의 규제 거버넌스 단계로 전환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076D9C-76AB-431C-B67E-E36E799BEA70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【1】</a:t>
            </a:r>
          </a:p>
        </p:txBody>
      </p:sp>
    </p:spTree>
    <p:extLst>
      <p:ext uri="{BB962C8B-B14F-4D97-AF65-F5344CB8AC3E}">
        <p14:creationId xmlns:p14="http://schemas.microsoft.com/office/powerpoint/2010/main" val="1943822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D7E3E-5330-6F81-DEAC-969F3D9BE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19EA43-C494-4544-61A7-75BC14C90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B49054-5BF9-00C6-EAF7-CC887614C63D}"/>
              </a:ext>
            </a:extLst>
          </p:cNvPr>
          <p:cNvSpPr txBox="1"/>
          <p:nvPr/>
        </p:nvSpPr>
        <p:spPr>
          <a:xfrm>
            <a:off x="458807" y="286850"/>
            <a:ext cx="71577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거버넌스와 정책형성과정 연구</a:t>
            </a:r>
            <a:r>
              <a:rPr lang="en-US" altLang="ko-KR" b="1" dirty="0"/>
              <a:t>(</a:t>
            </a:r>
            <a:r>
              <a:rPr lang="ko-KR" altLang="en-US" b="1" dirty="0"/>
              <a:t>김지원</a:t>
            </a:r>
            <a:r>
              <a:rPr lang="en-US" altLang="ko-KR" b="1" dirty="0"/>
              <a:t>, 2024.8)</a:t>
            </a:r>
            <a:r>
              <a:rPr lang="en-US" altLang="ko-KR" sz="2000" b="1" dirty="0"/>
              <a:t>(2/2)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0C4418-3FD1-853B-E7E7-AF44FC21ABFB}"/>
              </a:ext>
            </a:extLst>
          </p:cNvPr>
          <p:cNvSpPr txBox="1"/>
          <p:nvPr/>
        </p:nvSpPr>
        <p:spPr>
          <a:xfrm>
            <a:off x="458807" y="1041036"/>
            <a:ext cx="11634916" cy="541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【 </a:t>
            </a:r>
            <a:r>
              <a:rPr lang="ko-KR" altLang="en-US" sz="2000" b="1" dirty="0"/>
              <a:t>한국 </a:t>
            </a:r>
            <a:r>
              <a:rPr lang="en-US" altLang="ko-KR" sz="2000" b="1" dirty="0"/>
              <a:t>AI </a:t>
            </a:r>
            <a:r>
              <a:rPr lang="ko-KR" altLang="en-US" sz="2000" b="1" dirty="0"/>
              <a:t>정책 흐름</a:t>
            </a:r>
            <a:r>
              <a:rPr lang="en-US" altLang="ko-KR" sz="2000" b="1" dirty="0"/>
              <a:t> 】 </a:t>
            </a:r>
            <a:r>
              <a:rPr lang="en-US" altLang="ko-KR" dirty="0"/>
              <a:t>(</a:t>
            </a:r>
            <a:r>
              <a:rPr lang="ko-KR" altLang="en-US" dirty="0"/>
              <a:t>윤리 가이드라인에서 법</a:t>
            </a:r>
            <a:r>
              <a:rPr lang="en-US" altLang="ko-KR" dirty="0"/>
              <a:t>·</a:t>
            </a:r>
            <a:r>
              <a:rPr lang="ko-KR" altLang="en-US" dirty="0"/>
              <a:t>제도 설계로 이동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2016</a:t>
            </a:r>
            <a:r>
              <a:rPr lang="ko-KR" altLang="en-US" dirty="0"/>
              <a:t>년 기술영향평가 → </a:t>
            </a:r>
            <a:r>
              <a:rPr lang="en-US" altLang="ko-KR" dirty="0"/>
              <a:t>2018</a:t>
            </a:r>
            <a:r>
              <a:rPr lang="ko-KR" altLang="en-US" dirty="0"/>
              <a:t>년 </a:t>
            </a:r>
            <a:r>
              <a:rPr lang="en-US" altLang="ko-KR" dirty="0"/>
              <a:t>AI </a:t>
            </a:r>
            <a:r>
              <a:rPr lang="ko-KR" altLang="en-US" dirty="0"/>
              <a:t>윤리헌장 → </a:t>
            </a:r>
            <a:r>
              <a:rPr lang="en-US" altLang="ko-KR" dirty="0"/>
              <a:t>2019</a:t>
            </a:r>
            <a:r>
              <a:rPr lang="ko-KR" altLang="en-US" dirty="0"/>
              <a:t>년 </a:t>
            </a:r>
            <a:r>
              <a:rPr lang="en-US" altLang="ko-KR" dirty="0"/>
              <a:t>AI </a:t>
            </a:r>
            <a:r>
              <a:rPr lang="ko-KR" altLang="en-US" dirty="0"/>
              <a:t>국가전략 발표 → </a:t>
            </a:r>
            <a:r>
              <a:rPr lang="en-US" altLang="ko-KR" dirty="0"/>
              <a:t>2020</a:t>
            </a:r>
            <a:r>
              <a:rPr lang="ko-KR" altLang="en-US" dirty="0"/>
              <a:t>년 법</a:t>
            </a:r>
            <a:r>
              <a:rPr lang="en-US" altLang="ko-KR" dirty="0"/>
              <a:t>·</a:t>
            </a:r>
            <a:r>
              <a:rPr lang="ko-KR" altLang="en-US" dirty="0"/>
              <a:t>제도</a:t>
            </a:r>
            <a:r>
              <a:rPr lang="en-US" altLang="ko-KR" dirty="0"/>
              <a:t>·</a:t>
            </a:r>
            <a:r>
              <a:rPr lang="ko-KR" altLang="en-US" dirty="0"/>
              <a:t>규제 정비 로드맵 </a:t>
            </a:r>
            <a:endParaRPr lang="en-US" altLang="ko-KR" dirty="0"/>
          </a:p>
          <a:p>
            <a:r>
              <a:rPr lang="en-US" altLang="ko-KR" dirty="0"/>
              <a:t>          </a:t>
            </a:r>
            <a:r>
              <a:rPr lang="ko-KR" altLang="en-US" dirty="0"/>
              <a:t>정책의 초점이 ‘윤리 원칙 제시’에서 ‘제도적 규제와 법제화’로 이동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2023</a:t>
            </a:r>
            <a:r>
              <a:rPr lang="ko-KR" altLang="en-US" dirty="0"/>
              <a:t>년 </a:t>
            </a:r>
            <a:r>
              <a:rPr lang="en-US" altLang="ko-KR" dirty="0"/>
              <a:t>AI </a:t>
            </a:r>
            <a:r>
              <a:rPr lang="ko-KR" altLang="en-US" dirty="0"/>
              <a:t>기본법 추진 과정에서는 시민단체의 영향력이 크게 증가</a:t>
            </a:r>
            <a:endParaRPr lang="en-US" altLang="ko-KR" dirty="0"/>
          </a:p>
          <a:p>
            <a:r>
              <a:rPr lang="en-US" altLang="ko-KR" dirty="0"/>
              <a:t>          </a:t>
            </a:r>
            <a:r>
              <a:rPr lang="ko-KR" altLang="en-US" dirty="0"/>
              <a:t>규제 접근 방식</a:t>
            </a:r>
            <a:r>
              <a:rPr lang="en-US" altLang="ko-KR" dirty="0"/>
              <a:t>(</a:t>
            </a:r>
            <a:r>
              <a:rPr lang="ko-KR" altLang="en-US" dirty="0"/>
              <a:t>우선허용</a:t>
            </a:r>
            <a:r>
              <a:rPr lang="en-US" altLang="ko-KR" dirty="0"/>
              <a:t>-</a:t>
            </a:r>
            <a:r>
              <a:rPr lang="ko-KR" altLang="en-US" dirty="0"/>
              <a:t>사후규제 원칙</a:t>
            </a:r>
            <a:r>
              <a:rPr lang="en-US" altLang="ko-KR" dirty="0"/>
              <a:t>)</a:t>
            </a:r>
            <a:r>
              <a:rPr lang="ko-KR" altLang="en-US" dirty="0"/>
              <a:t>에 대한 갈등도 발생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sz="2000" b="1" dirty="0"/>
              <a:t>【 </a:t>
            </a:r>
            <a:r>
              <a:rPr lang="ko-KR" altLang="en-US" sz="2000" b="1" dirty="0"/>
              <a:t>정책네트워크 분석</a:t>
            </a:r>
            <a:r>
              <a:rPr lang="en-US" altLang="ko-KR" sz="2000" b="1" dirty="0"/>
              <a:t> 】</a:t>
            </a:r>
          </a:p>
          <a:p>
            <a:endParaRPr lang="en-US" altLang="ko-KR" dirty="0"/>
          </a:p>
          <a:p>
            <a:r>
              <a:rPr lang="ko-KR" altLang="en-US" dirty="0"/>
              <a:t>정책네트워크는 정부</a:t>
            </a:r>
            <a:r>
              <a:rPr lang="en-US" altLang="ko-KR" dirty="0"/>
              <a:t>, </a:t>
            </a:r>
            <a:r>
              <a:rPr lang="ko-KR" altLang="en-US" dirty="0"/>
              <a:t>전문가</a:t>
            </a:r>
            <a:r>
              <a:rPr lang="en-US" altLang="ko-KR" dirty="0"/>
              <a:t>, </a:t>
            </a:r>
            <a:r>
              <a:rPr lang="ko-KR" altLang="en-US" dirty="0"/>
              <a:t>기업</a:t>
            </a:r>
            <a:r>
              <a:rPr lang="en-US" altLang="ko-KR" dirty="0"/>
              <a:t>·</a:t>
            </a:r>
            <a:r>
              <a:rPr lang="ko-KR" altLang="en-US" dirty="0"/>
              <a:t>협회</a:t>
            </a:r>
            <a:r>
              <a:rPr lang="en-US" altLang="ko-KR" dirty="0"/>
              <a:t>, </a:t>
            </a:r>
            <a:r>
              <a:rPr lang="ko-KR" altLang="en-US" dirty="0"/>
              <a:t>시민단체로 구성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권력은 정부 → 기업 → 전문가 → 시민단체 순으로 배분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기업은 혁신과 규제 완화를</a:t>
            </a:r>
            <a:r>
              <a:rPr lang="en-US" altLang="ko-KR" dirty="0"/>
              <a:t>, </a:t>
            </a:r>
            <a:r>
              <a:rPr lang="ko-KR" altLang="en-US" dirty="0"/>
              <a:t>시민단체는 인권</a:t>
            </a:r>
            <a:r>
              <a:rPr lang="en-US" altLang="ko-KR" dirty="0"/>
              <a:t>·</a:t>
            </a:r>
            <a:r>
              <a:rPr lang="ko-KR" altLang="en-US" dirty="0"/>
              <a:t>프라이버시 보호 및 사전 규제를 선호하는 등 </a:t>
            </a:r>
            <a:endParaRPr lang="en-US" altLang="ko-KR" dirty="0"/>
          </a:p>
          <a:p>
            <a:r>
              <a:rPr lang="ko-KR" altLang="en-US" dirty="0"/>
              <a:t>정책 선호가 상이하며 이들 간 협력</a:t>
            </a:r>
            <a:r>
              <a:rPr lang="en-US" altLang="ko-KR" dirty="0"/>
              <a:t>·</a:t>
            </a:r>
            <a:r>
              <a:rPr lang="ko-KR" altLang="en-US" dirty="0"/>
              <a:t>갈등이 정책 형성과정에 중요한 영향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한국의 </a:t>
            </a:r>
            <a:r>
              <a:rPr lang="en-US" altLang="ko-KR" dirty="0"/>
              <a:t>AI </a:t>
            </a:r>
            <a:r>
              <a:rPr lang="ko-KR" altLang="en-US" dirty="0"/>
              <a:t>정책 형성은 행위자 간 관계 변화에 크게 영향을 받는 네트워크 기반 구조로 설명</a:t>
            </a:r>
            <a:endParaRPr lang="en-US" altLang="ko-KR" dirty="0"/>
          </a:p>
          <a:p>
            <a:r>
              <a:rPr lang="ko-KR" altLang="en-US" dirty="0"/>
              <a:t>정부 중심이지만 민간의 협력적 참여가 강화되는 특징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향후 한국 </a:t>
            </a:r>
            <a:r>
              <a:rPr lang="en-US" altLang="ko-KR" dirty="0"/>
              <a:t>AI </a:t>
            </a:r>
            <a:r>
              <a:rPr lang="ko-KR" altLang="en-US" dirty="0"/>
              <a:t>정책의 핵심 과제 </a:t>
            </a:r>
            <a:r>
              <a:rPr lang="en-US" altLang="ko-KR" dirty="0"/>
              <a:t>: </a:t>
            </a:r>
            <a:r>
              <a:rPr lang="ko-KR" altLang="en-US" dirty="0"/>
              <a:t> </a:t>
            </a:r>
            <a:r>
              <a:rPr lang="en-US" altLang="ko-KR" dirty="0"/>
              <a:t>(1) </a:t>
            </a:r>
            <a:r>
              <a:rPr lang="ko-KR" altLang="en-US" dirty="0"/>
              <a:t>윤리</a:t>
            </a:r>
            <a:r>
              <a:rPr lang="en-US" altLang="ko-KR" dirty="0"/>
              <a:t>·</a:t>
            </a:r>
            <a:r>
              <a:rPr lang="ko-KR" altLang="en-US" dirty="0"/>
              <a:t>규제</a:t>
            </a:r>
            <a:r>
              <a:rPr lang="en-US" altLang="ko-KR" dirty="0"/>
              <a:t>·</a:t>
            </a:r>
            <a:r>
              <a:rPr lang="ko-KR" altLang="en-US" dirty="0"/>
              <a:t>산업진흥의 균형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                                          (2) </a:t>
            </a:r>
            <a:r>
              <a:rPr lang="ko-KR" altLang="en-US" dirty="0"/>
              <a:t>고위험 </a:t>
            </a:r>
            <a:r>
              <a:rPr lang="en-US" altLang="ko-KR" dirty="0"/>
              <a:t>AI</a:t>
            </a:r>
            <a:r>
              <a:rPr lang="ko-KR" altLang="en-US" dirty="0"/>
              <a:t>에 대한 사전 안전장치 마련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                                          (3) </a:t>
            </a:r>
            <a:r>
              <a:rPr lang="ko-KR" altLang="en-US" dirty="0"/>
              <a:t>민간의 자율평가 역량 강화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1F6061-C437-4B14-9528-4820D5478F4E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【1】</a:t>
            </a:r>
          </a:p>
        </p:txBody>
      </p:sp>
    </p:spTree>
    <p:extLst>
      <p:ext uri="{BB962C8B-B14F-4D97-AF65-F5344CB8AC3E}">
        <p14:creationId xmlns:p14="http://schemas.microsoft.com/office/powerpoint/2010/main" val="239260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72D3F-4A83-581C-B1E0-BCB500DFA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2E5A91-C315-2AF3-C73C-8EFA804D1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83CE63-E586-C1BA-561A-945159F24282}"/>
              </a:ext>
            </a:extLst>
          </p:cNvPr>
          <p:cNvSpPr txBox="1"/>
          <p:nvPr/>
        </p:nvSpPr>
        <p:spPr>
          <a:xfrm>
            <a:off x="458807" y="286850"/>
            <a:ext cx="7053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윤리와 저작권의 규제체계 연구</a:t>
            </a:r>
            <a:r>
              <a:rPr lang="en-US" altLang="ko-KR" b="1" dirty="0"/>
              <a:t>(</a:t>
            </a:r>
            <a:r>
              <a:rPr lang="ko-KR" altLang="en-US" b="1" dirty="0"/>
              <a:t>신용우</a:t>
            </a:r>
            <a:r>
              <a:rPr lang="en-US" altLang="ko-KR" b="1" dirty="0"/>
              <a:t>, 2024)(1/3)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A9DDB6-D5B7-3339-A5DF-716EA8254504}"/>
              </a:ext>
            </a:extLst>
          </p:cNvPr>
          <p:cNvSpPr txBox="1"/>
          <p:nvPr/>
        </p:nvSpPr>
        <p:spPr>
          <a:xfrm>
            <a:off x="2356398" y="1024638"/>
            <a:ext cx="6999032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인공지능 규제 연구의 필요성</a:t>
            </a:r>
          </a:p>
          <a:p>
            <a:r>
              <a:rPr lang="en-US" altLang="ko-KR" dirty="0"/>
              <a:t>AI </a:t>
            </a:r>
            <a:r>
              <a:rPr lang="ko-KR" altLang="en-US" dirty="0"/>
              <a:t>확산으로 공정성</a:t>
            </a:r>
            <a:r>
              <a:rPr lang="en-US" altLang="ko-KR" dirty="0"/>
              <a:t>·</a:t>
            </a:r>
            <a:r>
              <a:rPr lang="ko-KR" altLang="en-US" dirty="0"/>
              <a:t>투명성</a:t>
            </a:r>
            <a:r>
              <a:rPr lang="en-US" altLang="ko-KR" dirty="0"/>
              <a:t>·</a:t>
            </a:r>
            <a:r>
              <a:rPr lang="ko-KR" altLang="en-US" dirty="0"/>
              <a:t>책임성 등 윤리 요구 증가</a:t>
            </a:r>
            <a:endParaRPr lang="en-US" altLang="ko-KR" dirty="0"/>
          </a:p>
          <a:p>
            <a:r>
              <a:rPr lang="ko-KR" altLang="en-US" dirty="0"/>
              <a:t>허위조작정보</a:t>
            </a:r>
            <a:r>
              <a:rPr lang="en-US" altLang="ko-KR" dirty="0"/>
              <a:t>(</a:t>
            </a:r>
            <a:r>
              <a:rPr lang="ko-KR" altLang="en-US" dirty="0"/>
              <a:t>딥페이크</a:t>
            </a:r>
            <a:r>
              <a:rPr lang="en-US" altLang="ko-KR" dirty="0"/>
              <a:t>), </a:t>
            </a:r>
            <a:r>
              <a:rPr lang="ko-KR" altLang="en-US" dirty="0"/>
              <a:t>저작권 침해 등 현실적 문제 발생</a:t>
            </a:r>
            <a:endParaRPr lang="en-US" altLang="ko-KR" dirty="0"/>
          </a:p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확산 → 학습데이터 저작권 면책 여부가 핵심 쟁점</a:t>
            </a:r>
            <a:endParaRPr lang="en-US" altLang="ko-KR" dirty="0"/>
          </a:p>
          <a:p>
            <a:r>
              <a:rPr lang="ko-KR" altLang="en-US" dirty="0"/>
              <a:t>본 연구는 국내외 규제 동향을 분석하고 입법 방향을 제시</a:t>
            </a:r>
          </a:p>
          <a:p>
            <a:endParaRPr lang="ko-KR" altLang="en-US" dirty="0"/>
          </a:p>
          <a:p>
            <a:r>
              <a:rPr lang="en-US" altLang="ko-KR" b="1" dirty="0"/>
              <a:t>2. </a:t>
            </a:r>
            <a:r>
              <a:rPr lang="ko-KR" altLang="en-US" b="1" dirty="0"/>
              <a:t>인공지능 윤리 규제체계 및 입법 방향</a:t>
            </a:r>
          </a:p>
          <a:p>
            <a:r>
              <a:rPr lang="en-US" altLang="ko-KR" dirty="0"/>
              <a:t>(2-1) </a:t>
            </a:r>
            <a:r>
              <a:rPr lang="ko-KR" altLang="en-US" dirty="0"/>
              <a:t>국제 규제 동향</a:t>
            </a:r>
          </a:p>
          <a:p>
            <a:r>
              <a:rPr lang="en-US" altLang="ko-KR" dirty="0"/>
              <a:t>EU AI Act: </a:t>
            </a:r>
            <a:r>
              <a:rPr lang="ko-KR" altLang="en-US" dirty="0"/>
              <a:t>세계 최초의 포괄적 </a:t>
            </a:r>
            <a:r>
              <a:rPr lang="en-US" altLang="ko-KR" dirty="0"/>
              <a:t>AI </a:t>
            </a:r>
            <a:r>
              <a:rPr lang="ko-KR" altLang="en-US" dirty="0"/>
              <a:t>규제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위험 기반 접근</a:t>
            </a:r>
            <a:r>
              <a:rPr lang="en-US" altLang="ko-KR" dirty="0"/>
              <a:t>, </a:t>
            </a:r>
            <a:r>
              <a:rPr lang="ko-KR" altLang="en-US" dirty="0"/>
              <a:t>생태계 주체</a:t>
            </a:r>
            <a:r>
              <a:rPr lang="en-US" altLang="ko-KR" dirty="0"/>
              <a:t>(</a:t>
            </a:r>
            <a:r>
              <a:rPr lang="ko-KR" altLang="en-US" dirty="0"/>
              <a:t>제공자</a:t>
            </a:r>
            <a:r>
              <a:rPr lang="en-US" altLang="ko-KR" dirty="0"/>
              <a:t>·</a:t>
            </a:r>
            <a:r>
              <a:rPr lang="ko-KR" altLang="en-US" dirty="0"/>
              <a:t>배포자</a:t>
            </a:r>
            <a:r>
              <a:rPr lang="en-US" altLang="ko-KR" dirty="0"/>
              <a:t>·</a:t>
            </a:r>
            <a:r>
              <a:rPr lang="ko-KR" altLang="en-US" dirty="0"/>
              <a:t>유통자</a:t>
            </a:r>
            <a:r>
              <a:rPr lang="en-US" altLang="ko-KR" dirty="0"/>
              <a:t>)</a:t>
            </a:r>
            <a:r>
              <a:rPr lang="ko-KR" altLang="en-US" dirty="0"/>
              <a:t>별 의무 부여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범용 </a:t>
            </a:r>
            <a:r>
              <a:rPr lang="en-US" altLang="ko-KR" dirty="0"/>
              <a:t>AI(FM) </a:t>
            </a:r>
            <a:r>
              <a:rPr lang="ko-KR" altLang="en-US" dirty="0"/>
              <a:t>규제</a:t>
            </a:r>
            <a:r>
              <a:rPr lang="en-US" altLang="ko-KR" dirty="0"/>
              <a:t>, </a:t>
            </a:r>
            <a:r>
              <a:rPr lang="ko-KR" altLang="en-US" dirty="0"/>
              <a:t>강한 행정통제</a:t>
            </a:r>
            <a:r>
              <a:rPr lang="en-US" altLang="ko-KR" dirty="0"/>
              <a:t>, </a:t>
            </a:r>
            <a:r>
              <a:rPr lang="ko-KR" altLang="en-US" dirty="0"/>
              <a:t>혁신지원 제도 포함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장점</a:t>
            </a:r>
            <a:r>
              <a:rPr lang="en-US" altLang="ko-KR" dirty="0"/>
              <a:t>: </a:t>
            </a:r>
            <a:r>
              <a:rPr lang="ko-KR" altLang="en-US" dirty="0"/>
              <a:t>전 분야 위험 사전 규제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한계</a:t>
            </a:r>
            <a:r>
              <a:rPr lang="en-US" altLang="ko-KR" dirty="0"/>
              <a:t>: </a:t>
            </a:r>
            <a:r>
              <a:rPr lang="ko-KR" altLang="en-US" dirty="0"/>
              <a:t>규제 복잡성</a:t>
            </a:r>
            <a:r>
              <a:rPr lang="en-US" altLang="ko-KR" dirty="0"/>
              <a:t>·</a:t>
            </a:r>
            <a:r>
              <a:rPr lang="ko-KR" altLang="en-US" dirty="0"/>
              <a:t>불명확성</a:t>
            </a:r>
          </a:p>
          <a:p>
            <a:r>
              <a:rPr lang="ko-KR" altLang="en-US" dirty="0"/>
              <a:t>미국</a:t>
            </a:r>
            <a:r>
              <a:rPr lang="en-US" altLang="ko-KR" dirty="0"/>
              <a:t>: </a:t>
            </a:r>
            <a:r>
              <a:rPr lang="ko-KR" altLang="en-US" dirty="0"/>
              <a:t>연방 차원의 포괄 규제 없음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행정명령 기반 정책</a:t>
            </a:r>
            <a:r>
              <a:rPr lang="en-US" altLang="ko-KR" dirty="0"/>
              <a:t>, </a:t>
            </a:r>
            <a:r>
              <a:rPr lang="ko-KR" altLang="en-US" dirty="0"/>
              <a:t>주</a:t>
            </a:r>
            <a:r>
              <a:rPr lang="en-US" altLang="ko-KR" dirty="0"/>
              <a:t>(</a:t>
            </a:r>
            <a:r>
              <a:rPr lang="ko-KR" altLang="en-US" dirty="0"/>
              <a:t>州</a:t>
            </a:r>
            <a:r>
              <a:rPr lang="en-US" altLang="ko-KR" dirty="0"/>
              <a:t>) </a:t>
            </a:r>
            <a:r>
              <a:rPr lang="ko-KR" altLang="en-US" dirty="0"/>
              <a:t>단위 강한 규제 확산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CA, CO)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원칙 중심</a:t>
            </a:r>
            <a:r>
              <a:rPr lang="en-US" altLang="ko-KR" dirty="0"/>
              <a:t>·</a:t>
            </a:r>
            <a:r>
              <a:rPr lang="ko-KR" altLang="en-US" dirty="0"/>
              <a:t>부문별 규제 </a:t>
            </a:r>
            <a:r>
              <a:rPr lang="en-US" altLang="ko-KR" dirty="0"/>
              <a:t>(</a:t>
            </a:r>
            <a:r>
              <a:rPr lang="ko-KR" altLang="en-US" dirty="0"/>
              <a:t>수직적 접근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규제 방식 비교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EU·</a:t>
            </a:r>
            <a:r>
              <a:rPr lang="ko-KR" altLang="en-US" dirty="0"/>
              <a:t>캐나다</a:t>
            </a:r>
            <a:r>
              <a:rPr lang="en-US" altLang="ko-KR" dirty="0"/>
              <a:t>: </a:t>
            </a:r>
            <a:r>
              <a:rPr lang="ko-KR" altLang="en-US" dirty="0"/>
              <a:t>수평적</a:t>
            </a:r>
            <a:r>
              <a:rPr lang="en-US" altLang="ko-KR" dirty="0"/>
              <a:t>(</a:t>
            </a:r>
            <a:r>
              <a:rPr lang="ko-KR" altLang="en-US" dirty="0"/>
              <a:t>전 분야 규율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미국</a:t>
            </a:r>
            <a:r>
              <a:rPr lang="en-US" altLang="ko-KR" dirty="0"/>
              <a:t>·</a:t>
            </a:r>
            <a:r>
              <a:rPr lang="ko-KR" altLang="en-US" dirty="0"/>
              <a:t>영국</a:t>
            </a:r>
            <a:r>
              <a:rPr lang="en-US" altLang="ko-KR" dirty="0"/>
              <a:t>·</a:t>
            </a:r>
            <a:r>
              <a:rPr lang="ko-KR" altLang="en-US" dirty="0"/>
              <a:t>중국</a:t>
            </a:r>
            <a:r>
              <a:rPr lang="en-US" altLang="ko-KR" dirty="0"/>
              <a:t>: </a:t>
            </a:r>
            <a:r>
              <a:rPr lang="ko-KR" altLang="en-US" dirty="0"/>
              <a:t>수직적</a:t>
            </a:r>
            <a:r>
              <a:rPr lang="en-US" altLang="ko-KR" dirty="0"/>
              <a:t>(</a:t>
            </a:r>
            <a:r>
              <a:rPr lang="ko-KR" altLang="en-US" dirty="0"/>
              <a:t>분야별 규제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한국은 양자 혼합 적용 필요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6B3BFC-0FA2-4E65-936E-E541925D3E77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【2】</a:t>
            </a:r>
          </a:p>
        </p:txBody>
      </p:sp>
    </p:spTree>
    <p:extLst>
      <p:ext uri="{BB962C8B-B14F-4D97-AF65-F5344CB8AC3E}">
        <p14:creationId xmlns:p14="http://schemas.microsoft.com/office/powerpoint/2010/main" val="1572499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72D3F-4A83-581C-B1E0-BCB500DFA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2E5A91-C315-2AF3-C73C-8EFA804D1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83CE63-E586-C1BA-561A-945159F24282}"/>
              </a:ext>
            </a:extLst>
          </p:cNvPr>
          <p:cNvSpPr txBox="1"/>
          <p:nvPr/>
        </p:nvSpPr>
        <p:spPr>
          <a:xfrm>
            <a:off x="458807" y="286850"/>
            <a:ext cx="7053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윤리와 저작권의 규제체계 연구</a:t>
            </a:r>
            <a:r>
              <a:rPr lang="en-US" altLang="ko-KR" b="1" dirty="0"/>
              <a:t>(</a:t>
            </a:r>
            <a:r>
              <a:rPr lang="ko-KR" altLang="en-US" b="1" dirty="0"/>
              <a:t>신용우</a:t>
            </a:r>
            <a:r>
              <a:rPr lang="en-US" altLang="ko-KR" b="1" dirty="0"/>
              <a:t>, 2024)(</a:t>
            </a:r>
            <a:r>
              <a:rPr lang="ko-KR" altLang="en-US" b="1" dirty="0"/>
              <a:t>２</a:t>
            </a:r>
            <a:r>
              <a:rPr lang="en-US" altLang="ko-KR" b="1" dirty="0"/>
              <a:t>/3)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A9DDB6-D5B7-3339-A5DF-716EA8254504}"/>
              </a:ext>
            </a:extLst>
          </p:cNvPr>
          <p:cNvSpPr txBox="1"/>
          <p:nvPr/>
        </p:nvSpPr>
        <p:spPr>
          <a:xfrm>
            <a:off x="1929678" y="1275252"/>
            <a:ext cx="8154797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(2-2) </a:t>
            </a:r>
            <a:r>
              <a:rPr lang="ko-KR" altLang="en-US" dirty="0"/>
              <a:t>허위조작정보</a:t>
            </a:r>
            <a:r>
              <a:rPr lang="en-US" altLang="ko-KR" dirty="0"/>
              <a:t>(</a:t>
            </a:r>
            <a:r>
              <a:rPr lang="ko-KR" altLang="en-US" dirty="0"/>
              <a:t>딥페이크</a:t>
            </a:r>
            <a:r>
              <a:rPr lang="en-US" altLang="ko-KR" dirty="0"/>
              <a:t>) </a:t>
            </a:r>
            <a:r>
              <a:rPr lang="ko-KR" altLang="en-US" dirty="0"/>
              <a:t>대응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국내외 모두 처벌</a:t>
            </a:r>
            <a:r>
              <a:rPr lang="en-US" altLang="ko-KR" dirty="0"/>
              <a:t>·</a:t>
            </a:r>
            <a:r>
              <a:rPr lang="ko-KR" altLang="en-US" dirty="0"/>
              <a:t>표시 의무화 규제 추진 중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생성 콘텐츠 표시 의무는 허위정보 예방뿐 아니라 저작권 보호에도 효과적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다만 기술적 회피 가능성 → 초기에는 적용 범위</a:t>
            </a:r>
            <a:r>
              <a:rPr lang="en-US" altLang="ko-KR" dirty="0"/>
              <a:t>·</a:t>
            </a:r>
            <a:r>
              <a:rPr lang="ko-KR" altLang="en-US" dirty="0"/>
              <a:t>수범자를 좁게 설정 필요</a:t>
            </a:r>
          </a:p>
          <a:p>
            <a:endParaRPr lang="ko-KR" altLang="en-US" dirty="0"/>
          </a:p>
          <a:p>
            <a:r>
              <a:rPr lang="en-US" altLang="ko-KR" dirty="0"/>
              <a:t>(2-3) </a:t>
            </a:r>
            <a:r>
              <a:rPr lang="ko-KR" altLang="en-US" dirty="0"/>
              <a:t>향후 입법 방향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EU</a:t>
            </a:r>
            <a:r>
              <a:rPr lang="ko-KR" altLang="en-US" dirty="0"/>
              <a:t>식 옴니버스 규제 도입 고려하되</a:t>
            </a:r>
            <a:r>
              <a:rPr lang="en-US" altLang="ko-KR" dirty="0"/>
              <a:t>, </a:t>
            </a:r>
            <a:r>
              <a:rPr lang="ko-KR" altLang="en-US" dirty="0"/>
              <a:t>규제 강도는 낮추기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위험 기반 규제 도입하되 공공 분야 중심으로 점진 확대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생성형</a:t>
            </a:r>
            <a:r>
              <a:rPr lang="en-US" altLang="ko-KR" dirty="0"/>
              <a:t>/</a:t>
            </a:r>
            <a:r>
              <a:rPr lang="ko-KR" altLang="en-US" dirty="0"/>
              <a:t>범용 </a:t>
            </a:r>
            <a:r>
              <a:rPr lang="en-US" altLang="ko-KR" dirty="0"/>
              <a:t>AI</a:t>
            </a:r>
            <a:r>
              <a:rPr lang="ko-KR" altLang="en-US" dirty="0"/>
              <a:t>는 특성상 별도 규제 필요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제공자</a:t>
            </a:r>
            <a:r>
              <a:rPr lang="en-US" altLang="ko-KR" dirty="0"/>
              <a:t>·</a:t>
            </a:r>
            <a:r>
              <a:rPr lang="ko-KR" altLang="en-US" dirty="0"/>
              <a:t>배포자 등 생태계 주체별 의무 구체화 필요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독립적인 국가 </a:t>
            </a:r>
            <a:r>
              <a:rPr lang="en-US" altLang="ko-KR" dirty="0"/>
              <a:t>AI </a:t>
            </a:r>
            <a:r>
              <a:rPr lang="ko-KR" altLang="en-US" dirty="0"/>
              <a:t>감독기구</a:t>
            </a:r>
            <a:r>
              <a:rPr lang="en-US" altLang="ko-KR" dirty="0"/>
              <a:t>(</a:t>
            </a:r>
            <a:r>
              <a:rPr lang="ko-KR" altLang="en-US" dirty="0"/>
              <a:t>컨트롤타워</a:t>
            </a:r>
            <a:r>
              <a:rPr lang="en-US" altLang="ko-KR" dirty="0"/>
              <a:t>) </a:t>
            </a:r>
            <a:r>
              <a:rPr lang="ko-KR" altLang="en-US" dirty="0"/>
              <a:t>구축 필요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3. </a:t>
            </a:r>
            <a:r>
              <a:rPr lang="ko-KR" altLang="en-US" b="1" dirty="0"/>
              <a:t>인공지능 저작권 규제체계 및 입법 방향</a:t>
            </a:r>
          </a:p>
          <a:p>
            <a:r>
              <a:rPr lang="en-US" altLang="ko-KR" dirty="0"/>
              <a:t>(3-1) </a:t>
            </a:r>
            <a:r>
              <a:rPr lang="ko-KR" altLang="en-US" dirty="0"/>
              <a:t>핵심 쟁점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AI </a:t>
            </a:r>
            <a:r>
              <a:rPr lang="ko-KR" altLang="en-US" dirty="0"/>
              <a:t>자체에는 저작권 부여 어려움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사람</a:t>
            </a:r>
            <a:r>
              <a:rPr lang="en-US" altLang="ko-KR" dirty="0"/>
              <a:t>(</a:t>
            </a:r>
            <a:r>
              <a:rPr lang="ko-KR" altLang="en-US" dirty="0"/>
              <a:t>저작자</a:t>
            </a:r>
            <a:r>
              <a:rPr lang="en-US" altLang="ko-KR" dirty="0"/>
              <a:t>)</a:t>
            </a:r>
            <a:r>
              <a:rPr lang="ko-KR" altLang="en-US" dirty="0"/>
              <a:t>이 </a:t>
            </a:r>
            <a:r>
              <a:rPr lang="en-US" altLang="ko-KR" dirty="0"/>
              <a:t>AI</a:t>
            </a:r>
            <a:r>
              <a:rPr lang="ko-KR" altLang="en-US" dirty="0"/>
              <a:t>를 도구로 사용할 경우 기존 법리에 따라 저작권 인정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생성물의 저작권 침해 여부 → 기존 판단 기준 적용 가능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핵심 논점</a:t>
            </a:r>
            <a:r>
              <a:rPr lang="en-US" altLang="ko-KR" dirty="0"/>
              <a:t>: AI </a:t>
            </a:r>
            <a:r>
              <a:rPr lang="ko-KR" altLang="en-US" dirty="0"/>
              <a:t>학습 과정의 저작권 침해 면책 여부</a:t>
            </a:r>
            <a:r>
              <a:rPr lang="en-US" altLang="ko-KR" dirty="0"/>
              <a:t>(TDM </a:t>
            </a:r>
            <a:r>
              <a:rPr lang="ko-KR" altLang="en-US" dirty="0"/>
              <a:t>면책</a:t>
            </a:r>
            <a:r>
              <a:rPr lang="en-US" altLang="ko-KR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14FFDD-54AA-4BE9-BFF9-4EE7745C09D6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【2】</a:t>
            </a:r>
          </a:p>
        </p:txBody>
      </p:sp>
    </p:spTree>
    <p:extLst>
      <p:ext uri="{BB962C8B-B14F-4D97-AF65-F5344CB8AC3E}">
        <p14:creationId xmlns:p14="http://schemas.microsoft.com/office/powerpoint/2010/main" val="18965647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72D3F-4A83-581C-B1E0-BCB500DFA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2E5A91-C315-2AF3-C73C-8EFA804D1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83CE63-E586-C1BA-561A-945159F24282}"/>
              </a:ext>
            </a:extLst>
          </p:cNvPr>
          <p:cNvSpPr txBox="1"/>
          <p:nvPr/>
        </p:nvSpPr>
        <p:spPr>
          <a:xfrm>
            <a:off x="458807" y="286850"/>
            <a:ext cx="7151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윤리와 저작권의 규제체계 연구</a:t>
            </a:r>
            <a:r>
              <a:rPr lang="en-US" altLang="ko-KR" b="1" dirty="0"/>
              <a:t>(</a:t>
            </a:r>
            <a:r>
              <a:rPr lang="ko-KR" altLang="en-US" b="1" dirty="0"/>
              <a:t>신용우</a:t>
            </a:r>
            <a:r>
              <a:rPr lang="en-US" altLang="ko-KR" b="1" dirty="0"/>
              <a:t>, 2024)(</a:t>
            </a:r>
            <a:r>
              <a:rPr lang="ko-KR" altLang="en-US" b="1" dirty="0"/>
              <a:t>３</a:t>
            </a:r>
            <a:r>
              <a:rPr lang="en-US" altLang="ko-KR" b="1" dirty="0"/>
              <a:t>/3)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A9DDB6-D5B7-3339-A5DF-716EA8254504}"/>
              </a:ext>
            </a:extLst>
          </p:cNvPr>
          <p:cNvSpPr txBox="1"/>
          <p:nvPr/>
        </p:nvSpPr>
        <p:spPr>
          <a:xfrm>
            <a:off x="1198671" y="1050344"/>
            <a:ext cx="8730275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(3-2) </a:t>
            </a:r>
            <a:r>
              <a:rPr lang="ko-KR" altLang="en-US" dirty="0"/>
              <a:t>국가별 동향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미국</a:t>
            </a:r>
            <a:r>
              <a:rPr lang="en-US" altLang="ko-KR" dirty="0"/>
              <a:t>: </a:t>
            </a:r>
            <a:r>
              <a:rPr lang="ko-KR" altLang="en-US" dirty="0"/>
              <a:t>공정이용 적용 가능성 있지만 상업성</a:t>
            </a:r>
            <a:r>
              <a:rPr lang="en-US" altLang="ko-KR" dirty="0"/>
              <a:t>·</a:t>
            </a:r>
            <a:r>
              <a:rPr lang="ko-KR" altLang="en-US" dirty="0"/>
              <a:t>대체성 문제로 불확실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EU·</a:t>
            </a:r>
            <a:r>
              <a:rPr lang="ko-KR" altLang="en-US" dirty="0"/>
              <a:t>영국</a:t>
            </a:r>
            <a:r>
              <a:rPr lang="en-US" altLang="ko-KR" dirty="0"/>
              <a:t>·</a:t>
            </a:r>
            <a:r>
              <a:rPr lang="ko-KR" altLang="en-US" dirty="0"/>
              <a:t>일본</a:t>
            </a:r>
            <a:r>
              <a:rPr lang="en-US" altLang="ko-KR" dirty="0"/>
              <a:t>·</a:t>
            </a:r>
            <a:r>
              <a:rPr lang="ko-KR" altLang="en-US" dirty="0"/>
              <a:t>싱가포르</a:t>
            </a:r>
            <a:r>
              <a:rPr lang="en-US" altLang="ko-KR" dirty="0"/>
              <a:t>: TDM </a:t>
            </a:r>
            <a:r>
              <a:rPr lang="ko-KR" altLang="en-US" dirty="0"/>
              <a:t>면책 규정 도입</a:t>
            </a:r>
            <a:r>
              <a:rPr lang="en-US" altLang="ko-KR" dirty="0"/>
              <a:t>, </a:t>
            </a:r>
            <a:r>
              <a:rPr lang="ko-KR" altLang="en-US" dirty="0"/>
              <a:t>다만 범위와 조건은 국가마다 다름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EU: </a:t>
            </a:r>
            <a:r>
              <a:rPr lang="ko-KR" altLang="en-US" dirty="0"/>
              <a:t>학술용</a:t>
            </a:r>
            <a:r>
              <a:rPr lang="en-US" altLang="ko-KR" dirty="0"/>
              <a:t>/</a:t>
            </a:r>
            <a:r>
              <a:rPr lang="ko-KR" altLang="en-US" dirty="0"/>
              <a:t>일반용 </a:t>
            </a:r>
            <a:r>
              <a:rPr lang="en-US" altLang="ko-KR" dirty="0"/>
              <a:t>TDM </a:t>
            </a:r>
            <a:r>
              <a:rPr lang="ko-KR" altLang="en-US" dirty="0"/>
              <a:t>이원화</a:t>
            </a:r>
            <a:r>
              <a:rPr lang="en-US" altLang="ko-KR" dirty="0"/>
              <a:t>, </a:t>
            </a:r>
            <a:r>
              <a:rPr lang="ko-KR" altLang="en-US" dirty="0"/>
              <a:t>일반 </a:t>
            </a:r>
            <a:r>
              <a:rPr lang="en-US" altLang="ko-KR" dirty="0"/>
              <a:t>TDM</a:t>
            </a:r>
            <a:r>
              <a:rPr lang="ko-KR" altLang="en-US" dirty="0"/>
              <a:t>에는 옵트아웃 허용</a:t>
            </a:r>
          </a:p>
          <a:p>
            <a:r>
              <a:rPr lang="ko-KR" altLang="en-US" dirty="0"/>
              <a:t>   영국</a:t>
            </a:r>
            <a:r>
              <a:rPr lang="en-US" altLang="ko-KR" dirty="0"/>
              <a:t>·</a:t>
            </a:r>
            <a:r>
              <a:rPr lang="ko-KR" altLang="en-US" dirty="0"/>
              <a:t>싱가포르</a:t>
            </a:r>
            <a:r>
              <a:rPr lang="en-US" altLang="ko-KR" dirty="0"/>
              <a:t>: </a:t>
            </a:r>
            <a:r>
              <a:rPr lang="ko-KR" altLang="en-US" dirty="0"/>
              <a:t>옵트아웃 허용하지 않는 광범위 면책</a:t>
            </a:r>
          </a:p>
          <a:p>
            <a:r>
              <a:rPr lang="ko-KR" altLang="en-US" dirty="0"/>
              <a:t>   일본</a:t>
            </a:r>
            <a:r>
              <a:rPr lang="en-US" altLang="ko-KR" dirty="0"/>
              <a:t>: EU </a:t>
            </a:r>
            <a:r>
              <a:rPr lang="ko-KR" altLang="en-US" dirty="0"/>
              <a:t>유사 구조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한국</a:t>
            </a:r>
            <a:r>
              <a:rPr lang="en-US" altLang="ko-KR" dirty="0"/>
              <a:t>: 2021</a:t>
            </a:r>
            <a:r>
              <a:rPr lang="ko-KR" altLang="en-US" dirty="0"/>
              <a:t>년 </a:t>
            </a:r>
            <a:r>
              <a:rPr lang="en-US" altLang="ko-KR" dirty="0"/>
              <a:t>TDM </a:t>
            </a:r>
            <a:r>
              <a:rPr lang="ko-KR" altLang="en-US" dirty="0"/>
              <a:t>면책 도입 시도 → 이해관계자 반대로 폐기</a:t>
            </a:r>
          </a:p>
          <a:p>
            <a:r>
              <a:rPr lang="en-US" altLang="ko-KR" dirty="0"/>
              <a:t>(3-3) </a:t>
            </a:r>
            <a:r>
              <a:rPr lang="ko-KR" altLang="en-US" dirty="0"/>
              <a:t>한국의 입법 고려사항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TDM </a:t>
            </a:r>
            <a:r>
              <a:rPr lang="ko-KR" altLang="en-US" dirty="0"/>
              <a:t>면책 조항 별도 도입 필요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옵트아웃 권리 인정 여부와 범위 설계 중요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학습데이터 출처 표시 범위</a:t>
            </a:r>
            <a:r>
              <a:rPr lang="en-US" altLang="ko-KR" dirty="0"/>
              <a:t>·</a:t>
            </a:r>
            <a:r>
              <a:rPr lang="ko-KR" altLang="en-US" dirty="0"/>
              <a:t>방식 정립 필요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면책 시 보상제 도입 여부 검토 필요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영리 목적 </a:t>
            </a:r>
            <a:r>
              <a:rPr lang="en-US" altLang="ko-KR" dirty="0"/>
              <a:t>AI </a:t>
            </a:r>
            <a:r>
              <a:rPr lang="ko-KR" altLang="en-US" dirty="0"/>
              <a:t>개발도 면책 적용 가능하되 권리자 보호장치 병행 필요</a:t>
            </a:r>
          </a:p>
          <a:p>
            <a:endParaRPr lang="ko-KR" altLang="en-US" dirty="0"/>
          </a:p>
          <a:p>
            <a:r>
              <a:rPr lang="en-US" altLang="ko-KR" b="1" dirty="0"/>
              <a:t>4. </a:t>
            </a:r>
            <a:r>
              <a:rPr lang="ko-KR" altLang="en-US" b="1" dirty="0"/>
              <a:t>종합 시사점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규제는 혁신을 과도하게 저해하지 않도록 유연한 접근 필요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신뢰성 제고 → </a:t>
            </a:r>
            <a:r>
              <a:rPr lang="en-US" altLang="ko-KR" dirty="0"/>
              <a:t>AI </a:t>
            </a:r>
            <a:r>
              <a:rPr lang="ko-KR" altLang="en-US" dirty="0"/>
              <a:t>사회적 수용성 향상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이해관계자 갈등 완화 → 산업 발달 촉진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국제 규제 정합성 → 글로벌 진출 경쟁력 확보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최종 목표</a:t>
            </a:r>
            <a:r>
              <a:rPr lang="en-US" altLang="ko-KR" dirty="0"/>
              <a:t>: </a:t>
            </a:r>
            <a:r>
              <a:rPr lang="ko-KR" altLang="en-US" dirty="0"/>
              <a:t>규제와 혁신의 균형</a:t>
            </a:r>
            <a:r>
              <a:rPr lang="en-US" altLang="ko-KR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F19192-F4D5-428E-B1C6-3B620B7FAEFA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【2】</a:t>
            </a:r>
          </a:p>
        </p:txBody>
      </p:sp>
    </p:spTree>
    <p:extLst>
      <p:ext uri="{BB962C8B-B14F-4D97-AF65-F5344CB8AC3E}">
        <p14:creationId xmlns:p14="http://schemas.microsoft.com/office/powerpoint/2010/main" val="29738592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E22DD-B525-1770-F90C-B50B687E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0F6F7C5-59C3-7676-950E-3D71CBA97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2A9C0C-4F0F-6EA1-1326-AD458D8928E1}"/>
              </a:ext>
            </a:extLst>
          </p:cNvPr>
          <p:cNvSpPr txBox="1"/>
          <p:nvPr/>
        </p:nvSpPr>
        <p:spPr>
          <a:xfrm>
            <a:off x="458807" y="286850"/>
            <a:ext cx="87847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</a:t>
            </a:r>
            <a:r>
              <a:rPr lang="en-US" altLang="ko-KR" sz="2000" b="1" dirty="0"/>
              <a:t>(AI)</a:t>
            </a:r>
            <a:r>
              <a:rPr lang="ko-KR" altLang="en-US" sz="2000" b="1" dirty="0"/>
              <a:t>시대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인공지능기본법과 윤리에 관한 연구</a:t>
            </a:r>
            <a:r>
              <a:rPr lang="en-US" altLang="ko-KR" b="1" dirty="0"/>
              <a:t>(</a:t>
            </a:r>
            <a:r>
              <a:rPr lang="ko-KR" altLang="en-US" b="1" dirty="0"/>
              <a:t>김경동</a:t>
            </a:r>
            <a:r>
              <a:rPr lang="en-US" altLang="ko-KR" b="1" dirty="0"/>
              <a:t>, 2025.6)</a:t>
            </a:r>
            <a:r>
              <a:rPr lang="en-US" altLang="ko-KR" sz="2000" b="1" dirty="0"/>
              <a:t>(1/2)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143085-B69F-2638-FA7A-F5DE91A61E12}"/>
              </a:ext>
            </a:extLst>
          </p:cNvPr>
          <p:cNvSpPr txBox="1"/>
          <p:nvPr/>
        </p:nvSpPr>
        <p:spPr>
          <a:xfrm>
            <a:off x="458807" y="948744"/>
            <a:ext cx="7358105" cy="5478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인공지능시대, 인공지능기본법, 윤리를 연구주제로 설정하고, </a:t>
            </a:r>
          </a:p>
          <a:p>
            <a:r>
              <a:rPr lang="en-US" altLang="ko-KR" sz="2000" dirty="0"/>
              <a:t>문헌연구를 채용하여 설명적·규범적인 방식으로 연구를 진행</a:t>
            </a:r>
            <a:endParaRPr lang="en-US" altLang="ko-KR" sz="2000" b="1" dirty="0"/>
          </a:p>
          <a:p>
            <a:endParaRPr lang="en-US" altLang="ko-KR" sz="2000" b="1" dirty="0"/>
          </a:p>
          <a:p>
            <a:r>
              <a:rPr lang="en-US" altLang="ko-KR" sz="2000" b="1" dirty="0"/>
              <a:t>【 문제점 도출 】</a:t>
            </a:r>
            <a:r>
              <a:rPr lang="en-US" altLang="ko-KR" dirty="0"/>
              <a:t>
</a:t>
            </a:r>
            <a:r>
              <a:rPr lang="en-US" altLang="ko-KR" b="1" dirty="0"/>
              <a:t>1. 인공지능기본법의 문제</a:t>
            </a:r>
            <a:r>
              <a:rPr lang="en-US" altLang="ko-KR" dirty="0"/>
              <a:t>
① 인공지능 개념의 문제
② 고영향 인공지능 개념과 범위의 문제
③ 책임성에 관한 구체적인 내용의 결핍과 부재
</a:t>
            </a:r>
            <a:r>
              <a:rPr lang="en-US" altLang="ko-KR" b="1" dirty="0"/>
              <a:t>2. 인공지능 알고리즘의 문제</a:t>
            </a:r>
            <a:r>
              <a:rPr lang="en-US" altLang="ko-KR" dirty="0"/>
              <a:t>
① 인공지능 알고리즘의 편향성
② 편향적인 가치판단과 의사결정의 왜곡
③ 개인정보취급과 저작권 문제
</a:t>
            </a:r>
            <a:r>
              <a:rPr lang="en-US" altLang="ko-KR" b="1" dirty="0"/>
              <a:t>3. 인공지능의 위험성과 규제의 문제</a:t>
            </a:r>
            <a:r>
              <a:rPr lang="en-US" altLang="ko-KR" dirty="0"/>
              <a:t>
① 인공지능에 대한 우려와 심리적 불안감의 존재
② 인공지능에 대응하는 적절한 윤리의 부재
③ 인공지능을 둘러싼 규제의 문제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25E221-9EEF-40EA-8442-E7EAC7DD2C15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【3】</a:t>
            </a:r>
          </a:p>
        </p:txBody>
      </p:sp>
    </p:spTree>
    <p:extLst>
      <p:ext uri="{BB962C8B-B14F-4D97-AF65-F5344CB8AC3E}">
        <p14:creationId xmlns:p14="http://schemas.microsoft.com/office/powerpoint/2010/main" val="195225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30AB1-4443-14D9-5B42-113079D1C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FC8322-C533-3DF6-5FF9-1C2988BF8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4F3A75-FC05-CE6B-6077-35F837B42A84}"/>
              </a:ext>
            </a:extLst>
          </p:cNvPr>
          <p:cNvSpPr txBox="1"/>
          <p:nvPr/>
        </p:nvSpPr>
        <p:spPr>
          <a:xfrm>
            <a:off x="458807" y="286850"/>
            <a:ext cx="87847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</a:t>
            </a:r>
            <a:r>
              <a:rPr lang="en-US" altLang="ko-KR" sz="2000" b="1" dirty="0"/>
              <a:t>(AI)</a:t>
            </a:r>
            <a:r>
              <a:rPr lang="ko-KR" altLang="en-US" sz="2000" b="1" dirty="0"/>
              <a:t>시대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인공지능기본법과 윤리에 관한 연구</a:t>
            </a:r>
            <a:r>
              <a:rPr lang="en-US" altLang="ko-KR" b="1" dirty="0"/>
              <a:t>(</a:t>
            </a:r>
            <a:r>
              <a:rPr lang="ko-KR" altLang="en-US" b="1" dirty="0"/>
              <a:t>김경동</a:t>
            </a:r>
            <a:r>
              <a:rPr lang="en-US" altLang="ko-KR" b="1" dirty="0"/>
              <a:t>, 2025.6)</a:t>
            </a:r>
            <a:r>
              <a:rPr lang="en-US" altLang="ko-KR" sz="2000" b="1" dirty="0"/>
              <a:t>(2/2)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108ECF-EA34-2A50-7921-E3BA2285500F}"/>
              </a:ext>
            </a:extLst>
          </p:cNvPr>
          <p:cNvSpPr txBox="1"/>
          <p:nvPr/>
        </p:nvSpPr>
        <p:spPr>
          <a:xfrm>
            <a:off x="458807" y="1210529"/>
            <a:ext cx="11471410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【 대응방안 제안 】
</a:t>
            </a:r>
            <a:r>
              <a:rPr lang="en-US" altLang="ko-KR" dirty="0"/>
              <a:t>
</a:t>
            </a:r>
            <a:r>
              <a:rPr lang="en-US" altLang="ko-KR" b="1" dirty="0"/>
              <a:t>1. 인공지능기본법의 수정 및 보완</a:t>
            </a:r>
            <a:r>
              <a:rPr lang="en-US" altLang="ko-KR" dirty="0"/>
              <a:t>
인공지능기본법에서 고영향 인공지능과 관련 법규</a:t>
            </a:r>
            <a:r>
              <a:rPr lang="ko-KR" altLang="en-US" dirty="0"/>
              <a:t>의 </a:t>
            </a:r>
            <a:r>
              <a:rPr lang="en-US" altLang="ko-KR" dirty="0"/>
              <a:t>보완 </a:t>
            </a:r>
            <a:r>
              <a:rPr lang="ko-KR" altLang="en-US" dirty="0"/>
              <a:t>필요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고영향 인공지능의 개념과 법조문의 명확화와 구체화를 진행하는 방법 </a:t>
            </a:r>
          </a:p>
          <a:p>
            <a:r>
              <a:rPr lang="en-US" altLang="ko-KR" dirty="0"/>
              <a:t>또는 새로운 인공지능의 개념정의와 법조문의 재구성을 권고
</a:t>
            </a:r>
            <a:r>
              <a:rPr lang="en-US" altLang="ko-KR" b="1" dirty="0"/>
              <a:t>2. 인공지능에 대한 현실적 인식</a:t>
            </a:r>
            <a:r>
              <a:rPr lang="en-US" altLang="ko-KR" dirty="0"/>
              <a:t>
인공지능이라는 하나의 기술적인 실체에 대하여 명확한 인식과 분명한 윤리체계를 생성할 필요 </a:t>
            </a:r>
          </a:p>
          <a:p>
            <a:r>
              <a:rPr lang="en-US" altLang="ko-KR" dirty="0"/>
              <a:t>인공지능의 출발점은 도구적 수단으로 인간을 보조하기 위한 목적에서 시작 </a:t>
            </a:r>
          </a:p>
          <a:p>
            <a:r>
              <a:rPr lang="en-US" altLang="ko-KR" dirty="0"/>
              <a:t>이 사실을 바탕으로 우리는 인공지능과 지능정보기술을 규정하고 정비해 나가야만 인류의 지속가능성을 확보
</a:t>
            </a:r>
            <a:r>
              <a:rPr lang="en-US" altLang="ko-KR" b="1" dirty="0"/>
              <a:t>3. 인공지능의 위험성 해소와 규제수준의 결정</a:t>
            </a:r>
            <a:r>
              <a:rPr lang="en-US" altLang="ko-KR" dirty="0"/>
              <a:t>
인공지능의 알고리즘에 대한 규제수준을 강력하게 설정하는 것보다 </a:t>
            </a:r>
          </a:p>
          <a:p>
            <a:r>
              <a:rPr lang="en-US" altLang="ko-KR" dirty="0"/>
              <a:t>인공지능 알고리즘의 설계자와 소유자에 대한 통제를 강화하는 방향으로 인공지능의 위험성을 감소 </a:t>
            </a:r>
          </a:p>
          <a:p>
            <a:r>
              <a:rPr lang="en-US" altLang="ko-KR" dirty="0"/>
              <a:t>동시에 인공지능의 생성과 유통은 자율적이거나 느슨한 수준의 규제를 적용하여 </a:t>
            </a:r>
          </a:p>
          <a:p>
            <a:r>
              <a:rPr lang="en-US" altLang="ko-KR" dirty="0"/>
              <a:t>인공지능이 제공하는 효용과 편익을 확보하고자 시도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AD99CD-0073-43F3-9F40-0ADB73FB1715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【3】</a:t>
            </a:r>
          </a:p>
        </p:txBody>
      </p:sp>
    </p:spTree>
    <p:extLst>
      <p:ext uri="{BB962C8B-B14F-4D97-AF65-F5344CB8AC3E}">
        <p14:creationId xmlns:p14="http://schemas.microsoft.com/office/powerpoint/2010/main" val="17300859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BBB63-4E0F-E726-1FD3-3CCE67151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FAF628-4CAB-2155-F696-86FD87ABA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6AADDF-023E-FF2D-7DCB-ACF832E8DC5E}"/>
              </a:ext>
            </a:extLst>
          </p:cNvPr>
          <p:cNvSpPr txBox="1"/>
          <p:nvPr/>
        </p:nvSpPr>
        <p:spPr>
          <a:xfrm>
            <a:off x="458807" y="286850"/>
            <a:ext cx="60244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인공지능의 윤리와 법의 접점</a:t>
            </a:r>
            <a:r>
              <a:rPr lang="en-US" altLang="ko-KR" b="1" dirty="0"/>
              <a:t>(</a:t>
            </a:r>
            <a:r>
              <a:rPr lang="ko-KR" altLang="en-US" b="1" dirty="0"/>
              <a:t>원상철</a:t>
            </a:r>
            <a:r>
              <a:rPr lang="en-US" altLang="ko-KR" b="1" dirty="0"/>
              <a:t>, 2024.5)(1/</a:t>
            </a:r>
            <a:r>
              <a:rPr lang="ko-KR" altLang="en-US" b="1" dirty="0"/>
              <a:t>３</a:t>
            </a:r>
            <a:r>
              <a:rPr lang="en-US" altLang="ko-KR" b="1" dirty="0"/>
              <a:t>)</a:t>
            </a:r>
            <a:endParaRPr lang="en-US" altLang="ko-KR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8367E9-A92B-762E-8ED9-DA40455DA3F0}"/>
              </a:ext>
            </a:extLst>
          </p:cNvPr>
          <p:cNvSpPr txBox="1"/>
          <p:nvPr/>
        </p:nvSpPr>
        <p:spPr>
          <a:xfrm>
            <a:off x="350433" y="1325997"/>
            <a:ext cx="1173319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연구 배경</a:t>
            </a:r>
          </a:p>
          <a:p>
            <a:r>
              <a:rPr lang="en-US" altLang="ko-KR" dirty="0"/>
              <a:t>AI </a:t>
            </a:r>
            <a:r>
              <a:rPr lang="ko-KR" altLang="en-US" dirty="0"/>
              <a:t>기술은 자율시스템</a:t>
            </a:r>
            <a:r>
              <a:rPr lang="en-US" altLang="ko-KR" dirty="0"/>
              <a:t>, </a:t>
            </a:r>
            <a:r>
              <a:rPr lang="ko-KR" altLang="en-US" dirty="0"/>
              <a:t>개인정보보호</a:t>
            </a:r>
            <a:r>
              <a:rPr lang="en-US" altLang="ko-KR" dirty="0"/>
              <a:t>, </a:t>
            </a:r>
            <a:r>
              <a:rPr lang="ko-KR" altLang="en-US" dirty="0"/>
              <a:t>감시</a:t>
            </a:r>
            <a:r>
              <a:rPr lang="en-US" altLang="ko-KR" dirty="0"/>
              <a:t>, </a:t>
            </a:r>
            <a:r>
              <a:rPr lang="ko-KR" altLang="en-US" dirty="0"/>
              <a:t>블랙박스 문제</a:t>
            </a:r>
            <a:r>
              <a:rPr lang="en-US" altLang="ko-KR" dirty="0"/>
              <a:t>, </a:t>
            </a:r>
            <a:r>
              <a:rPr lang="ko-KR" altLang="en-US" dirty="0"/>
              <a:t>알고리즘 편향 등 다양한 윤리</a:t>
            </a:r>
            <a:r>
              <a:rPr lang="en-US" altLang="ko-KR" dirty="0"/>
              <a:t>·</a:t>
            </a:r>
            <a:r>
              <a:rPr lang="ko-KR" altLang="en-US" dirty="0"/>
              <a:t>사회적 문제를 야기</a:t>
            </a:r>
            <a:endParaRPr lang="en-US" altLang="ko-KR" dirty="0"/>
          </a:p>
          <a:p>
            <a:r>
              <a:rPr lang="ko-KR" altLang="en-US" dirty="0"/>
              <a:t>인간과 기계의 상호작용이 확대되면서 </a:t>
            </a:r>
            <a:r>
              <a:rPr lang="en-US" altLang="ko-KR" dirty="0"/>
              <a:t>AI</a:t>
            </a:r>
            <a:r>
              <a:rPr lang="ko-KR" altLang="en-US" dirty="0"/>
              <a:t>의 윤리적</a:t>
            </a:r>
            <a:r>
              <a:rPr lang="en-US" altLang="ko-KR" dirty="0"/>
              <a:t>·</a:t>
            </a:r>
            <a:r>
              <a:rPr lang="ko-KR" altLang="en-US" dirty="0"/>
              <a:t>법적 의미</a:t>
            </a:r>
            <a:r>
              <a:rPr lang="en-US" altLang="ko-KR" dirty="0"/>
              <a:t>, </a:t>
            </a:r>
            <a:r>
              <a:rPr lang="ko-KR" altLang="en-US" dirty="0"/>
              <a:t>도덕적 지위</a:t>
            </a:r>
            <a:r>
              <a:rPr lang="en-US" altLang="ko-KR" dirty="0"/>
              <a:t>, </a:t>
            </a:r>
            <a:r>
              <a:rPr lang="ko-KR" altLang="en-US" dirty="0"/>
              <a:t>기계책임 등이 중요한 논점으로 대두</a:t>
            </a:r>
            <a:endParaRPr lang="en-US" altLang="ko-KR" dirty="0"/>
          </a:p>
          <a:p>
            <a:r>
              <a:rPr lang="ko-KR" altLang="en-US" dirty="0"/>
              <a:t>단기</a:t>
            </a:r>
            <a:r>
              <a:rPr lang="en-US" altLang="ko-KR" dirty="0"/>
              <a:t>(2021~): </a:t>
            </a:r>
            <a:r>
              <a:rPr lang="ko-KR" altLang="en-US" dirty="0"/>
              <a:t>자율주행</a:t>
            </a:r>
            <a:r>
              <a:rPr lang="en-US" altLang="ko-KR" dirty="0"/>
              <a:t>, </a:t>
            </a:r>
            <a:r>
              <a:rPr lang="ko-KR" altLang="en-US" dirty="0"/>
              <a:t>무기</a:t>
            </a:r>
            <a:r>
              <a:rPr lang="en-US" altLang="ko-KR" dirty="0"/>
              <a:t>, </a:t>
            </a:r>
            <a:r>
              <a:rPr lang="ko-KR" altLang="en-US" dirty="0"/>
              <a:t>프라이버시</a:t>
            </a:r>
            <a:r>
              <a:rPr lang="en-US" altLang="ko-KR" dirty="0"/>
              <a:t>, </a:t>
            </a:r>
            <a:r>
              <a:rPr lang="ko-KR" altLang="en-US" dirty="0"/>
              <a:t>기계편향 문제</a:t>
            </a:r>
          </a:p>
          <a:p>
            <a:r>
              <a:rPr lang="ko-KR" altLang="en-US" dirty="0"/>
              <a:t>중기</a:t>
            </a:r>
            <a:r>
              <a:rPr lang="en-US" altLang="ko-KR" dirty="0"/>
              <a:t>(2040</a:t>
            </a:r>
            <a:r>
              <a:rPr lang="ko-KR" altLang="en-US" dirty="0"/>
              <a:t>년대</a:t>
            </a:r>
            <a:r>
              <a:rPr lang="en-US" altLang="ko-KR" dirty="0"/>
              <a:t>~): AI </a:t>
            </a:r>
            <a:r>
              <a:rPr lang="ko-KR" altLang="en-US" dirty="0"/>
              <a:t>거버넌스</a:t>
            </a:r>
            <a:r>
              <a:rPr lang="en-US" altLang="ko-KR" dirty="0"/>
              <a:t>, </a:t>
            </a:r>
            <a:r>
              <a:rPr lang="ko-KR" altLang="en-US" dirty="0"/>
              <a:t>기계의 법적 지위</a:t>
            </a:r>
            <a:r>
              <a:rPr lang="en-US" altLang="ko-KR" dirty="0"/>
              <a:t>, </a:t>
            </a:r>
            <a:r>
              <a:rPr lang="ko-KR" altLang="en-US" dirty="0"/>
              <a:t>인간</a:t>
            </a:r>
            <a:r>
              <a:rPr lang="en-US" altLang="ko-KR" dirty="0"/>
              <a:t>-</a:t>
            </a:r>
            <a:r>
              <a:rPr lang="ko-KR" altLang="en-US" dirty="0"/>
              <a:t>기계 상호작용</a:t>
            </a:r>
          </a:p>
          <a:p>
            <a:r>
              <a:rPr lang="ko-KR" altLang="en-US" dirty="0"/>
              <a:t>장기</a:t>
            </a:r>
            <a:r>
              <a:rPr lang="en-US" altLang="ko-KR" dirty="0"/>
              <a:t>(2100</a:t>
            </a:r>
            <a:r>
              <a:rPr lang="ko-KR" altLang="en-US" dirty="0"/>
              <a:t>년대</a:t>
            </a:r>
            <a:r>
              <a:rPr lang="en-US" altLang="ko-KR" dirty="0"/>
              <a:t>~): </a:t>
            </a:r>
            <a:r>
              <a:rPr lang="ko-KR" altLang="en-US" dirty="0"/>
              <a:t>기술적 특이점</a:t>
            </a:r>
            <a:r>
              <a:rPr lang="en-US" altLang="ko-KR" dirty="0"/>
              <a:t>, </a:t>
            </a:r>
            <a:r>
              <a:rPr lang="ko-KR" altLang="en-US" dirty="0"/>
              <a:t>대량 실업</a:t>
            </a:r>
          </a:p>
          <a:p>
            <a:endParaRPr lang="ko-KR" altLang="en-US" dirty="0"/>
          </a:p>
          <a:p>
            <a:r>
              <a:rPr lang="en-US" altLang="ko-KR" b="1" dirty="0"/>
              <a:t>2. </a:t>
            </a:r>
            <a:r>
              <a:rPr lang="ko-KR" altLang="en-US" b="1" dirty="0"/>
              <a:t>연구 목적</a:t>
            </a:r>
          </a:p>
          <a:p>
            <a:r>
              <a:rPr lang="en-US" altLang="ko-KR" dirty="0"/>
              <a:t>AI</a:t>
            </a:r>
            <a:r>
              <a:rPr lang="ko-KR" altLang="en-US" dirty="0"/>
              <a:t>가 인간사회에 미치는 윤리적</a:t>
            </a:r>
            <a:r>
              <a:rPr lang="en-US" altLang="ko-KR" dirty="0"/>
              <a:t>·</a:t>
            </a:r>
            <a:r>
              <a:rPr lang="ko-KR" altLang="en-US" dirty="0"/>
              <a:t>법적 영향 전반을 체계적으로 정리하고 주요 쟁점을 분석</a:t>
            </a:r>
            <a:endParaRPr lang="en-US" altLang="ko-KR" dirty="0"/>
          </a:p>
          <a:p>
            <a:r>
              <a:rPr lang="ko-KR" altLang="en-US" dirty="0"/>
              <a:t>기계윤리</a:t>
            </a:r>
            <a:r>
              <a:rPr lang="en-US" altLang="ko-KR" dirty="0"/>
              <a:t>, </a:t>
            </a:r>
            <a:r>
              <a:rPr lang="ko-KR" altLang="en-US" dirty="0"/>
              <a:t>기계편향</a:t>
            </a:r>
            <a:r>
              <a:rPr lang="en-US" altLang="ko-KR" dirty="0"/>
              <a:t>, </a:t>
            </a:r>
            <a:r>
              <a:rPr lang="ko-KR" altLang="en-US" dirty="0"/>
              <a:t>설명가능성</a:t>
            </a:r>
            <a:r>
              <a:rPr lang="en-US" altLang="ko-KR" dirty="0"/>
              <a:t>, </a:t>
            </a:r>
            <a:r>
              <a:rPr lang="ko-KR" altLang="en-US" dirty="0"/>
              <a:t>자율성</a:t>
            </a:r>
            <a:r>
              <a:rPr lang="en-US" altLang="ko-KR" dirty="0"/>
              <a:t>, </a:t>
            </a:r>
            <a:r>
              <a:rPr lang="ko-KR" altLang="en-US" dirty="0"/>
              <a:t>도덕적 지위</a:t>
            </a:r>
            <a:r>
              <a:rPr lang="en-US" altLang="ko-KR" dirty="0"/>
              <a:t>, </a:t>
            </a:r>
            <a:r>
              <a:rPr lang="ko-KR" altLang="en-US" dirty="0"/>
              <a:t>특이점 문제 등 </a:t>
            </a:r>
            <a:r>
              <a:rPr lang="en-US" altLang="ko-KR" dirty="0"/>
              <a:t>AI </a:t>
            </a:r>
            <a:r>
              <a:rPr lang="ko-KR" altLang="en-US" dirty="0"/>
              <a:t>윤리 분야를 철학적으로 검토</a:t>
            </a:r>
            <a:endParaRPr lang="en-US" altLang="ko-KR" dirty="0"/>
          </a:p>
          <a:p>
            <a:r>
              <a:rPr lang="ko-KR" altLang="en-US" dirty="0"/>
              <a:t>국제적 윤리지침</a:t>
            </a:r>
            <a:r>
              <a:rPr lang="en-US" altLang="ko-KR" dirty="0"/>
              <a:t>(EU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에 대한 비교</a:t>
            </a:r>
            <a:r>
              <a:rPr lang="en-US" altLang="ko-KR" dirty="0"/>
              <a:t>·</a:t>
            </a:r>
            <a:r>
              <a:rPr lang="ko-KR" altLang="en-US" dirty="0"/>
              <a:t>비판을 통해 향후 </a:t>
            </a:r>
            <a:r>
              <a:rPr lang="en-US" altLang="ko-KR" dirty="0"/>
              <a:t>AI </a:t>
            </a:r>
            <a:r>
              <a:rPr lang="ko-KR" altLang="en-US" dirty="0"/>
              <a:t>윤리 원칙의 방향성을 제시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3. </a:t>
            </a:r>
            <a:r>
              <a:rPr lang="ko-KR" altLang="en-US" b="1" dirty="0"/>
              <a:t>연구 방법</a:t>
            </a:r>
          </a:p>
          <a:p>
            <a:r>
              <a:rPr lang="ko-KR" altLang="en-US" dirty="0"/>
              <a:t>철학적 문헌 검토와 기존 </a:t>
            </a:r>
            <a:r>
              <a:rPr lang="en-US" altLang="ko-KR" dirty="0"/>
              <a:t>AI </a:t>
            </a:r>
            <a:r>
              <a:rPr lang="ko-KR" altLang="en-US" dirty="0"/>
              <a:t>윤리 이론</a:t>
            </a:r>
            <a:r>
              <a:rPr lang="en-US" altLang="ko-KR" dirty="0"/>
              <a:t>(</a:t>
            </a:r>
            <a:r>
              <a:rPr lang="ko-KR" altLang="en-US" dirty="0"/>
              <a:t>기계윤리</a:t>
            </a:r>
            <a:r>
              <a:rPr lang="en-US" altLang="ko-KR" dirty="0"/>
              <a:t>, </a:t>
            </a:r>
            <a:r>
              <a:rPr lang="ko-KR" altLang="en-US" dirty="0"/>
              <a:t>도덕적 지위</a:t>
            </a:r>
            <a:r>
              <a:rPr lang="en-US" altLang="ko-KR" dirty="0"/>
              <a:t>, </a:t>
            </a:r>
            <a:r>
              <a:rPr lang="ko-KR" altLang="en-US" dirty="0"/>
              <a:t>특이점</a:t>
            </a:r>
            <a:r>
              <a:rPr lang="en-US" altLang="ko-KR" dirty="0"/>
              <a:t>, </a:t>
            </a:r>
            <a:r>
              <a:rPr lang="ko-KR" altLang="en-US" dirty="0"/>
              <a:t>가치정렬 등</a:t>
            </a:r>
            <a:r>
              <a:rPr lang="en-US" altLang="ko-KR" dirty="0"/>
              <a:t>)</a:t>
            </a:r>
            <a:r>
              <a:rPr lang="ko-KR" altLang="en-US" dirty="0"/>
              <a:t>의 분석</a:t>
            </a:r>
            <a:endParaRPr lang="en-US" altLang="ko-KR" dirty="0"/>
          </a:p>
          <a:p>
            <a:r>
              <a:rPr lang="ko-KR" altLang="en-US" dirty="0"/>
              <a:t>자율주행차</a:t>
            </a:r>
            <a:r>
              <a:rPr lang="en-US" altLang="ko-KR" dirty="0"/>
              <a:t>, </a:t>
            </a:r>
            <a:r>
              <a:rPr lang="ko-KR" altLang="en-US" dirty="0"/>
              <a:t>자율무기</a:t>
            </a:r>
            <a:r>
              <a:rPr lang="en-US" altLang="ko-KR" dirty="0"/>
              <a:t>, </a:t>
            </a:r>
            <a:r>
              <a:rPr lang="ko-KR" altLang="en-US" dirty="0"/>
              <a:t>기계편향</a:t>
            </a:r>
            <a:r>
              <a:rPr lang="en-US" altLang="ko-KR" dirty="0"/>
              <a:t>, </a:t>
            </a:r>
            <a:r>
              <a:rPr lang="ko-KR" altLang="en-US" dirty="0"/>
              <a:t>블랙박스 문제 등 실제 사례 기반 윤리 논쟁 검토</a:t>
            </a:r>
            <a:endParaRPr lang="en-US" altLang="ko-KR" dirty="0"/>
          </a:p>
          <a:p>
            <a:r>
              <a:rPr lang="en-US" altLang="ko-KR" dirty="0"/>
              <a:t>84</a:t>
            </a:r>
            <a:r>
              <a:rPr lang="ko-KR" altLang="en-US" dirty="0"/>
              <a:t>개 글로벌 </a:t>
            </a:r>
            <a:r>
              <a:rPr lang="en-US" altLang="ko-KR" dirty="0"/>
              <a:t>AI </a:t>
            </a:r>
            <a:r>
              <a:rPr lang="ko-KR" altLang="en-US" dirty="0"/>
              <a:t>윤리지침을 비교한 </a:t>
            </a:r>
            <a:r>
              <a:rPr lang="en-US" altLang="ko-KR" dirty="0"/>
              <a:t>Jobin et al. </a:t>
            </a:r>
            <a:r>
              <a:rPr lang="ko-KR" altLang="en-US" dirty="0"/>
              <a:t>결과를 활용하여 정책적</a:t>
            </a:r>
            <a:r>
              <a:rPr lang="en-US" altLang="ko-KR" dirty="0"/>
              <a:t>·</a:t>
            </a:r>
            <a:r>
              <a:rPr lang="ko-KR" altLang="en-US" dirty="0"/>
              <a:t>국제적 윤리원칙 분석</a:t>
            </a:r>
            <a:endParaRPr lang="ko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D381B6-E9A0-470A-8851-A3BC37767EA3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【4】</a:t>
            </a:r>
          </a:p>
        </p:txBody>
      </p:sp>
    </p:spTree>
    <p:extLst>
      <p:ext uri="{BB962C8B-B14F-4D97-AF65-F5344CB8AC3E}">
        <p14:creationId xmlns:p14="http://schemas.microsoft.com/office/powerpoint/2010/main" val="2659155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BBB63-4E0F-E726-1FD3-3CCE67151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FAF628-4CAB-2155-F696-86FD87ABA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6AADDF-023E-FF2D-7DCB-ACF832E8DC5E}"/>
              </a:ext>
            </a:extLst>
          </p:cNvPr>
          <p:cNvSpPr txBox="1"/>
          <p:nvPr/>
        </p:nvSpPr>
        <p:spPr>
          <a:xfrm>
            <a:off x="458807" y="286850"/>
            <a:ext cx="5891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인공지능의 윤리와 법의 접점</a:t>
            </a:r>
            <a:r>
              <a:rPr lang="en-US" altLang="ko-KR" b="1" dirty="0"/>
              <a:t>(</a:t>
            </a:r>
            <a:r>
              <a:rPr lang="ko-KR" altLang="en-US" b="1" dirty="0"/>
              <a:t>원상철</a:t>
            </a:r>
            <a:r>
              <a:rPr lang="en-US" altLang="ko-KR" b="1" dirty="0"/>
              <a:t>, 2024.5)(2/</a:t>
            </a:r>
            <a:r>
              <a:rPr lang="ko-KR" altLang="en-US" b="1" dirty="0"/>
              <a:t>３</a:t>
            </a:r>
            <a:r>
              <a:rPr lang="en-US" altLang="ko-KR" b="1" dirty="0"/>
              <a:t>)</a:t>
            </a:r>
            <a:endParaRPr lang="en-US" altLang="ko-KR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8367E9-A92B-762E-8ED9-DA40455DA3F0}"/>
              </a:ext>
            </a:extLst>
          </p:cNvPr>
          <p:cNvSpPr txBox="1"/>
          <p:nvPr/>
        </p:nvSpPr>
        <p:spPr>
          <a:xfrm>
            <a:off x="350433" y="1325997"/>
            <a:ext cx="1173319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4. </a:t>
            </a:r>
            <a:r>
              <a:rPr lang="ko-KR" altLang="en-US" b="1" dirty="0"/>
              <a:t>연구 데이터</a:t>
            </a:r>
          </a:p>
          <a:p>
            <a:r>
              <a:rPr lang="ko-KR" altLang="en-US" dirty="0"/>
              <a:t>윤리</a:t>
            </a:r>
            <a:r>
              <a:rPr lang="en-US" altLang="ko-KR" dirty="0"/>
              <a:t>·</a:t>
            </a:r>
            <a:r>
              <a:rPr lang="ko-KR" altLang="en-US" dirty="0"/>
              <a:t>철학</a:t>
            </a:r>
            <a:r>
              <a:rPr lang="en-US" altLang="ko-KR" dirty="0"/>
              <a:t>·</a:t>
            </a:r>
            <a:r>
              <a:rPr lang="ko-KR" altLang="en-US" dirty="0"/>
              <a:t>기술 분야 핵심 문헌</a:t>
            </a:r>
            <a:r>
              <a:rPr lang="en-US" altLang="ko-KR" dirty="0"/>
              <a:t>, </a:t>
            </a:r>
            <a:r>
              <a:rPr lang="ko-KR" altLang="en-US" dirty="0"/>
              <a:t>국제 지침</a:t>
            </a:r>
            <a:r>
              <a:rPr lang="en-US" altLang="ko-KR" dirty="0"/>
              <a:t>(EU HLEG, </a:t>
            </a:r>
            <a:r>
              <a:rPr lang="ko-KR" altLang="en-US" dirty="0"/>
              <a:t>산업계 윤리지침 등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주요 사례</a:t>
            </a:r>
            <a:r>
              <a:rPr lang="en-US" altLang="ko-KR" dirty="0"/>
              <a:t>: </a:t>
            </a:r>
            <a:r>
              <a:rPr lang="ko-KR" altLang="en-US" dirty="0"/>
              <a:t>테슬라 오토파일럿 사고</a:t>
            </a:r>
            <a:r>
              <a:rPr lang="en-US" altLang="ko-KR" dirty="0"/>
              <a:t>(2016), Uber </a:t>
            </a:r>
            <a:r>
              <a:rPr lang="ko-KR" altLang="en-US" dirty="0"/>
              <a:t>자율주행 보행자 사망사고</a:t>
            </a:r>
            <a:r>
              <a:rPr lang="en-US" altLang="ko-KR" dirty="0"/>
              <a:t>(2018)</a:t>
            </a:r>
          </a:p>
          <a:p>
            <a:r>
              <a:rPr lang="en-US" altLang="ko-KR" dirty="0"/>
              <a:t>Jobin et al.</a:t>
            </a:r>
            <a:r>
              <a:rPr lang="ko-KR" altLang="en-US" dirty="0"/>
              <a:t>의 </a:t>
            </a:r>
            <a:r>
              <a:rPr lang="en-US" altLang="ko-KR" dirty="0"/>
              <a:t>84</a:t>
            </a:r>
            <a:r>
              <a:rPr lang="ko-KR" altLang="en-US" dirty="0"/>
              <a:t>개 </a:t>
            </a:r>
            <a:r>
              <a:rPr lang="en-US" altLang="ko-KR" dirty="0"/>
              <a:t>AI </a:t>
            </a:r>
            <a:r>
              <a:rPr lang="ko-KR" altLang="en-US" dirty="0"/>
              <a:t>윤리지침 비교 표</a:t>
            </a:r>
            <a:r>
              <a:rPr lang="en-US" altLang="ko-KR" dirty="0"/>
              <a:t>(</a:t>
            </a:r>
            <a:r>
              <a:rPr lang="ko-KR" altLang="en-US" dirty="0"/>
              <a:t>투명성</a:t>
            </a:r>
            <a:r>
              <a:rPr lang="en-US" altLang="ko-KR" dirty="0"/>
              <a:t>·</a:t>
            </a:r>
            <a:r>
              <a:rPr lang="ko-KR" altLang="en-US" dirty="0"/>
              <a:t>정의</a:t>
            </a:r>
            <a:r>
              <a:rPr lang="en-US" altLang="ko-KR" dirty="0"/>
              <a:t>·</a:t>
            </a:r>
            <a:r>
              <a:rPr lang="ko-KR" altLang="en-US" dirty="0"/>
              <a:t>비악의</a:t>
            </a:r>
            <a:r>
              <a:rPr lang="en-US" altLang="ko-KR" dirty="0"/>
              <a:t>·</a:t>
            </a:r>
            <a:r>
              <a:rPr lang="ko-KR" altLang="en-US" dirty="0"/>
              <a:t>책임</a:t>
            </a:r>
            <a:r>
              <a:rPr lang="en-US" altLang="ko-KR" dirty="0"/>
              <a:t>·</a:t>
            </a:r>
            <a:r>
              <a:rPr lang="ko-KR" altLang="en-US" dirty="0"/>
              <a:t>프라이버시 등 </a:t>
            </a:r>
            <a:r>
              <a:rPr lang="en-US" altLang="ko-KR" dirty="0"/>
              <a:t>5</a:t>
            </a:r>
            <a:r>
              <a:rPr lang="ko-KR" altLang="en-US" dirty="0"/>
              <a:t>대 핵심 원칙 재정리</a:t>
            </a:r>
            <a:r>
              <a:rPr lang="en-US" altLang="ko-KR" dirty="0"/>
              <a:t>)</a:t>
            </a:r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5. </a:t>
            </a:r>
            <a:r>
              <a:rPr lang="ko-KR" altLang="en-US" b="1" dirty="0"/>
              <a:t>연구 결과</a:t>
            </a:r>
          </a:p>
          <a:p>
            <a:r>
              <a:rPr lang="en-US" altLang="ko-KR" dirty="0"/>
              <a:t>(1) </a:t>
            </a:r>
            <a:r>
              <a:rPr lang="ko-KR" altLang="en-US" dirty="0"/>
              <a:t>핵심 윤리 문제 구조화</a:t>
            </a:r>
          </a:p>
          <a:p>
            <a:r>
              <a:rPr lang="ko-KR" altLang="en-US" dirty="0"/>
              <a:t>  － 기계윤리</a:t>
            </a:r>
            <a:r>
              <a:rPr lang="en-US" altLang="ko-KR" dirty="0"/>
              <a:t>: </a:t>
            </a:r>
            <a:r>
              <a:rPr lang="ko-KR" altLang="en-US" dirty="0"/>
              <a:t>상향식</a:t>
            </a:r>
            <a:r>
              <a:rPr lang="en-US" altLang="ko-KR" dirty="0"/>
              <a:t>·</a:t>
            </a:r>
            <a:r>
              <a:rPr lang="ko-KR" altLang="en-US" dirty="0"/>
              <a:t>하향식</a:t>
            </a:r>
            <a:r>
              <a:rPr lang="en-US" altLang="ko-KR" dirty="0"/>
              <a:t>·</a:t>
            </a:r>
            <a:r>
              <a:rPr lang="ko-KR" altLang="en-US" dirty="0"/>
              <a:t>혼합형 윤리 구현 방식의 한계 분석</a:t>
            </a:r>
          </a:p>
          <a:p>
            <a:r>
              <a:rPr lang="ko-KR" altLang="en-US" dirty="0"/>
              <a:t>  － 자율 시스템 책임 문제</a:t>
            </a:r>
            <a:r>
              <a:rPr lang="en-US" altLang="ko-KR" dirty="0"/>
              <a:t>: </a:t>
            </a:r>
            <a:r>
              <a:rPr lang="ko-KR" altLang="en-US" dirty="0"/>
              <a:t>자율주행</a:t>
            </a:r>
            <a:r>
              <a:rPr lang="en-US" altLang="ko-KR" dirty="0"/>
              <a:t>·</a:t>
            </a:r>
            <a:r>
              <a:rPr lang="ko-KR" altLang="en-US" dirty="0"/>
              <a:t>자율무기의 도덕적 책임</a:t>
            </a:r>
            <a:r>
              <a:rPr lang="en-US" altLang="ko-KR" dirty="0"/>
              <a:t>, ‘</a:t>
            </a:r>
            <a:r>
              <a:rPr lang="ko-KR" altLang="en-US" dirty="0"/>
              <a:t>책임격차’ 문제</a:t>
            </a:r>
          </a:p>
          <a:p>
            <a:r>
              <a:rPr lang="ko-KR" altLang="en-US" dirty="0"/>
              <a:t>  － 기계편향</a:t>
            </a:r>
            <a:r>
              <a:rPr lang="en-US" altLang="ko-KR" dirty="0"/>
              <a:t>: </a:t>
            </a:r>
            <a:r>
              <a:rPr lang="ko-KR" altLang="en-US" dirty="0"/>
              <a:t>데이터</a:t>
            </a:r>
            <a:r>
              <a:rPr lang="en-US" altLang="ko-KR" dirty="0"/>
              <a:t>·</a:t>
            </a:r>
            <a:r>
              <a:rPr lang="ko-KR" altLang="en-US" dirty="0"/>
              <a:t>알고리즘</a:t>
            </a:r>
            <a:r>
              <a:rPr lang="en-US" altLang="ko-KR" dirty="0"/>
              <a:t>·</a:t>
            </a:r>
            <a:r>
              <a:rPr lang="ko-KR" altLang="en-US" dirty="0"/>
              <a:t>결과 편향 등 구조적 분석</a:t>
            </a:r>
          </a:p>
          <a:p>
            <a:r>
              <a:rPr lang="ko-KR" altLang="en-US" dirty="0"/>
              <a:t>  － 불투명성</a:t>
            </a:r>
            <a:r>
              <a:rPr lang="en-US" altLang="ko-KR" dirty="0"/>
              <a:t>(</a:t>
            </a:r>
            <a:r>
              <a:rPr lang="ko-KR" altLang="en-US" dirty="0"/>
              <a:t>블랙박스</a:t>
            </a:r>
            <a:r>
              <a:rPr lang="en-US" altLang="ko-KR" dirty="0"/>
              <a:t>): </a:t>
            </a:r>
            <a:r>
              <a:rPr lang="ko-KR" altLang="en-US" dirty="0"/>
              <a:t>설명가능성 부족 문제와 반사실적 설명의 대안</a:t>
            </a:r>
          </a:p>
          <a:p>
            <a:r>
              <a:rPr lang="ko-KR" altLang="en-US" dirty="0"/>
              <a:t>  － 기계 의식</a:t>
            </a:r>
            <a:r>
              <a:rPr lang="en-US" altLang="ko-KR" dirty="0"/>
              <a:t>·</a:t>
            </a:r>
            <a:r>
              <a:rPr lang="ko-KR" altLang="en-US" dirty="0"/>
              <a:t>도덕적 지위</a:t>
            </a:r>
            <a:r>
              <a:rPr lang="en-US" altLang="ko-KR" dirty="0"/>
              <a:t>: </a:t>
            </a:r>
            <a:r>
              <a:rPr lang="ko-KR" altLang="en-US" dirty="0"/>
              <a:t>자율성 접근법</a:t>
            </a:r>
            <a:r>
              <a:rPr lang="en-US" altLang="ko-KR" dirty="0"/>
              <a:t>, </a:t>
            </a:r>
            <a:r>
              <a:rPr lang="ko-KR" altLang="en-US" dirty="0"/>
              <a:t>간접의무 접근법</a:t>
            </a:r>
            <a:r>
              <a:rPr lang="en-US" altLang="ko-KR" dirty="0"/>
              <a:t>, </a:t>
            </a:r>
            <a:r>
              <a:rPr lang="ko-KR" altLang="en-US" dirty="0"/>
              <a:t>관계적 접근법 비교</a:t>
            </a:r>
          </a:p>
          <a:p>
            <a:r>
              <a:rPr lang="ko-KR" altLang="en-US" dirty="0"/>
              <a:t>  － 특이점과 가치정렬</a:t>
            </a:r>
            <a:r>
              <a:rPr lang="en-US" altLang="ko-KR" dirty="0"/>
              <a:t>: </a:t>
            </a:r>
            <a:r>
              <a:rPr lang="ko-KR" altLang="en-US" dirty="0"/>
              <a:t>초지능 등장 가능성 및 인간 가치와의 정렬 문제</a:t>
            </a:r>
          </a:p>
          <a:p>
            <a:endParaRPr lang="ko-KR" altLang="en-US" dirty="0"/>
          </a:p>
          <a:p>
            <a:r>
              <a:rPr lang="en-US" altLang="ko-KR" dirty="0"/>
              <a:t>(2) </a:t>
            </a:r>
            <a:r>
              <a:rPr lang="ko-KR" altLang="en-US" dirty="0"/>
              <a:t>국제 윤리지침 비교 결과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－ </a:t>
            </a:r>
            <a:r>
              <a:rPr lang="en-US" altLang="ko-KR" dirty="0"/>
              <a:t>84</a:t>
            </a:r>
            <a:r>
              <a:rPr lang="ko-KR" altLang="en-US" dirty="0"/>
              <a:t>개 지침 중 공통 핵심원칙 </a:t>
            </a:r>
            <a:r>
              <a:rPr lang="en-US" altLang="ko-KR" dirty="0"/>
              <a:t>5</a:t>
            </a:r>
            <a:r>
              <a:rPr lang="ko-KR" altLang="en-US" dirty="0"/>
              <a:t>가지</a:t>
            </a:r>
            <a:r>
              <a:rPr lang="en-US" altLang="ko-KR" dirty="0"/>
              <a:t>(</a:t>
            </a:r>
            <a:r>
              <a:rPr lang="ko-KR" altLang="en-US" dirty="0"/>
              <a:t>투명성</a:t>
            </a:r>
            <a:r>
              <a:rPr lang="en-US" altLang="ko-KR" dirty="0"/>
              <a:t>, </a:t>
            </a:r>
            <a:r>
              <a:rPr lang="ko-KR" altLang="en-US" dirty="0"/>
              <a:t>정의</a:t>
            </a:r>
            <a:r>
              <a:rPr lang="en-US" altLang="ko-KR" dirty="0"/>
              <a:t>/</a:t>
            </a:r>
            <a:r>
              <a:rPr lang="ko-KR" altLang="en-US" dirty="0"/>
              <a:t>공정성</a:t>
            </a:r>
            <a:r>
              <a:rPr lang="en-US" altLang="ko-KR" dirty="0"/>
              <a:t>, </a:t>
            </a:r>
            <a:r>
              <a:rPr lang="ko-KR" altLang="en-US" dirty="0"/>
              <a:t>비악의성</a:t>
            </a:r>
            <a:r>
              <a:rPr lang="en-US" altLang="ko-KR" dirty="0"/>
              <a:t>, </a:t>
            </a:r>
            <a:r>
              <a:rPr lang="ko-KR" altLang="en-US" dirty="0"/>
              <a:t>책임</a:t>
            </a:r>
            <a:r>
              <a:rPr lang="en-US" altLang="ko-KR" dirty="0"/>
              <a:t>, </a:t>
            </a:r>
            <a:r>
              <a:rPr lang="ko-KR" altLang="en-US" dirty="0"/>
              <a:t>개인정보 보호</a:t>
            </a:r>
            <a:r>
              <a:rPr lang="en-US" altLang="ko-KR" dirty="0"/>
              <a:t>)</a:t>
            </a:r>
            <a:r>
              <a:rPr lang="ko-KR" altLang="en-US" dirty="0"/>
              <a:t>가 가장 강하게 수렴</a:t>
            </a:r>
          </a:p>
          <a:p>
            <a:r>
              <a:rPr lang="ko-KR" altLang="en-US" dirty="0"/>
              <a:t>  －반면 선행</a:t>
            </a:r>
            <a:r>
              <a:rPr lang="en-US" altLang="ko-KR" dirty="0"/>
              <a:t>·</a:t>
            </a:r>
            <a:r>
              <a:rPr lang="ko-KR" altLang="en-US" dirty="0"/>
              <a:t>자율성</a:t>
            </a:r>
            <a:r>
              <a:rPr lang="en-US" altLang="ko-KR" dirty="0"/>
              <a:t>·</a:t>
            </a:r>
            <a:r>
              <a:rPr lang="ko-KR" altLang="en-US" dirty="0"/>
              <a:t>신뢰</a:t>
            </a:r>
            <a:r>
              <a:rPr lang="en-US" altLang="ko-KR" dirty="0"/>
              <a:t>·</a:t>
            </a:r>
            <a:r>
              <a:rPr lang="ko-KR" altLang="en-US" dirty="0"/>
              <a:t>존엄</a:t>
            </a:r>
            <a:r>
              <a:rPr lang="en-US" altLang="ko-KR" dirty="0"/>
              <a:t>·</a:t>
            </a:r>
            <a:r>
              <a:rPr lang="ko-KR" altLang="en-US" dirty="0"/>
              <a:t>연대 등은 문서 간 편차가 큼</a:t>
            </a:r>
            <a:r>
              <a:rPr lang="en-US" altLang="ko-KR" dirty="0"/>
              <a:t>.</a:t>
            </a:r>
            <a:endParaRPr lang="ko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551CA3-5607-4574-BB1D-CF0F98400BB9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【4】</a:t>
            </a:r>
          </a:p>
        </p:txBody>
      </p:sp>
    </p:spTree>
    <p:extLst>
      <p:ext uri="{BB962C8B-B14F-4D97-AF65-F5344CB8AC3E}">
        <p14:creationId xmlns:p14="http://schemas.microsoft.com/office/powerpoint/2010/main" val="8398893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BBB63-4E0F-E726-1FD3-3CCE67151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FAF628-4CAB-2155-F696-86FD87ABA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6AADDF-023E-FF2D-7DCB-ACF832E8DC5E}"/>
              </a:ext>
            </a:extLst>
          </p:cNvPr>
          <p:cNvSpPr txBox="1"/>
          <p:nvPr/>
        </p:nvSpPr>
        <p:spPr>
          <a:xfrm>
            <a:off x="458807" y="286850"/>
            <a:ext cx="61221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인공지능의 윤리와 법의 접점</a:t>
            </a:r>
            <a:r>
              <a:rPr lang="en-US" altLang="ko-KR" b="1" dirty="0"/>
              <a:t>(</a:t>
            </a:r>
            <a:r>
              <a:rPr lang="ko-KR" altLang="en-US" b="1" dirty="0"/>
              <a:t>원상철</a:t>
            </a:r>
            <a:r>
              <a:rPr lang="en-US" altLang="ko-KR" b="1" dirty="0"/>
              <a:t>, 2024.5)(</a:t>
            </a:r>
            <a:r>
              <a:rPr lang="ko-KR" altLang="en-US" b="1" dirty="0"/>
              <a:t>３</a:t>
            </a:r>
            <a:r>
              <a:rPr lang="en-US" altLang="ko-KR" b="1" dirty="0"/>
              <a:t>/</a:t>
            </a:r>
            <a:r>
              <a:rPr lang="ko-KR" altLang="en-US" b="1" dirty="0"/>
              <a:t>３</a:t>
            </a:r>
            <a:r>
              <a:rPr lang="en-US" altLang="ko-KR" b="1" dirty="0"/>
              <a:t>)</a:t>
            </a:r>
            <a:endParaRPr lang="en-US" altLang="ko-KR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8367E9-A92B-762E-8ED9-DA40455DA3F0}"/>
              </a:ext>
            </a:extLst>
          </p:cNvPr>
          <p:cNvSpPr txBox="1"/>
          <p:nvPr/>
        </p:nvSpPr>
        <p:spPr>
          <a:xfrm>
            <a:off x="330113" y="1082157"/>
            <a:ext cx="1173319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6. </a:t>
            </a:r>
            <a:r>
              <a:rPr lang="ko-KR" altLang="en-US" b="1" dirty="0"/>
              <a:t>측정 지표 내용</a:t>
            </a:r>
          </a:p>
          <a:p>
            <a:r>
              <a:rPr lang="ko-KR" altLang="en-US" dirty="0"/>
              <a:t>이 논문은 측정지표 자체를 개발한 연구는 아니지만</a:t>
            </a:r>
            <a:r>
              <a:rPr lang="en-US" altLang="ko-KR" dirty="0"/>
              <a:t>, </a:t>
            </a:r>
            <a:r>
              <a:rPr lang="ko-KR" altLang="en-US" dirty="0"/>
              <a:t>국제 윤리지침의 공통 기준을 비교하여 도출된 핵심 원칙들은 다음과 같은 </a:t>
            </a:r>
            <a:r>
              <a:rPr lang="en-US" altLang="ko-KR" dirty="0"/>
              <a:t>5</a:t>
            </a:r>
            <a:r>
              <a:rPr lang="ko-KR" altLang="en-US" dirty="0"/>
              <a:t>대 지표로 정리됨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윤리 원칙세부 내용투명성설명가능성</a:t>
            </a:r>
            <a:r>
              <a:rPr lang="en-US" altLang="ko-KR" dirty="0"/>
              <a:t>, </a:t>
            </a:r>
            <a:r>
              <a:rPr lang="ko-KR" altLang="en-US" dirty="0"/>
              <a:t>해석 가능성</a:t>
            </a:r>
            <a:r>
              <a:rPr lang="en-US" altLang="ko-KR" dirty="0"/>
              <a:t>, </a:t>
            </a:r>
            <a:r>
              <a:rPr lang="ko-KR" altLang="en-US" dirty="0"/>
              <a:t>정보 공개정의</a:t>
            </a:r>
            <a:r>
              <a:rPr lang="en-US" altLang="ko-KR" dirty="0"/>
              <a:t>·</a:t>
            </a:r>
            <a:r>
              <a:rPr lang="ko-KR" altLang="en-US" dirty="0"/>
              <a:t>공정성비차별성</a:t>
            </a:r>
            <a:r>
              <a:rPr lang="en-US" altLang="ko-KR" dirty="0"/>
              <a:t>, </a:t>
            </a:r>
            <a:r>
              <a:rPr lang="ko-KR" altLang="en-US" dirty="0"/>
              <a:t>편향 제거</a:t>
            </a:r>
            <a:r>
              <a:rPr lang="en-US" altLang="ko-KR" dirty="0"/>
              <a:t>, </a:t>
            </a:r>
            <a:r>
              <a:rPr lang="ko-KR" altLang="en-US" dirty="0"/>
              <a:t>접근성비악의성안전성</a:t>
            </a:r>
            <a:r>
              <a:rPr lang="en-US" altLang="ko-KR" dirty="0"/>
              <a:t>, </a:t>
            </a:r>
            <a:r>
              <a:rPr lang="ko-KR" altLang="en-US" dirty="0"/>
              <a:t>위해 방지</a:t>
            </a:r>
            <a:r>
              <a:rPr lang="en-US" altLang="ko-KR" dirty="0"/>
              <a:t>, </a:t>
            </a:r>
            <a:r>
              <a:rPr lang="ko-KR" altLang="en-US" dirty="0"/>
              <a:t>보호 조치책임의사결정 책임소재 명확화개인정보 보호정보 보호</a:t>
            </a:r>
            <a:r>
              <a:rPr lang="en-US" altLang="ko-KR" dirty="0"/>
              <a:t>, </a:t>
            </a:r>
            <a:r>
              <a:rPr lang="ko-KR" altLang="en-US" dirty="0"/>
              <a:t>프라이버시 준수</a:t>
            </a:r>
          </a:p>
          <a:p>
            <a:r>
              <a:rPr lang="ko-KR" altLang="en-US" dirty="0"/>
              <a:t>이는 향후 </a:t>
            </a:r>
            <a:r>
              <a:rPr lang="en-US" altLang="ko-KR" dirty="0"/>
              <a:t>AI </a:t>
            </a:r>
            <a:r>
              <a:rPr lang="ko-KR" altLang="en-US" dirty="0"/>
              <a:t>윤리 점검</a:t>
            </a:r>
            <a:r>
              <a:rPr lang="en-US" altLang="ko-KR" dirty="0"/>
              <a:t>·</a:t>
            </a:r>
            <a:r>
              <a:rPr lang="ko-KR" altLang="en-US" dirty="0"/>
              <a:t>평가 지표의 기초 틀로 활용될 수 있다고 논문은 주장함</a:t>
            </a:r>
            <a:r>
              <a:rPr lang="en-US" altLang="ko-KR" b="1" dirty="0"/>
              <a:t>.</a:t>
            </a:r>
          </a:p>
          <a:p>
            <a:endParaRPr lang="en-US" altLang="ko-KR" b="1" dirty="0"/>
          </a:p>
          <a:p>
            <a:r>
              <a:rPr lang="en-US" altLang="ko-KR" b="1" dirty="0"/>
              <a:t>7. </a:t>
            </a:r>
            <a:r>
              <a:rPr lang="ko-KR" altLang="en-US" b="1" dirty="0"/>
              <a:t>연구 특장점</a:t>
            </a:r>
          </a:p>
          <a:p>
            <a:r>
              <a:rPr lang="en-US" altLang="ko-KR" dirty="0"/>
              <a:t>AI </a:t>
            </a:r>
            <a:r>
              <a:rPr lang="ko-KR" altLang="en-US" dirty="0"/>
              <a:t>윤리의 주요 철학적</a:t>
            </a:r>
            <a:r>
              <a:rPr lang="en-US" altLang="ko-KR" dirty="0"/>
              <a:t>·</a:t>
            </a:r>
            <a:r>
              <a:rPr lang="ko-KR" altLang="en-US" dirty="0"/>
              <a:t>법적 논쟁을 전면적으로 통합 정리</a:t>
            </a:r>
            <a:endParaRPr lang="en-US" altLang="ko-KR" dirty="0"/>
          </a:p>
          <a:p>
            <a:r>
              <a:rPr lang="ko-KR" altLang="en-US" dirty="0"/>
              <a:t>국제 윤리지침을 분석하여 현재 </a:t>
            </a:r>
            <a:r>
              <a:rPr lang="en-US" altLang="ko-KR" dirty="0"/>
              <a:t>AI </a:t>
            </a:r>
            <a:r>
              <a:rPr lang="ko-KR" altLang="en-US" dirty="0"/>
              <a:t>윤리 원칙의 수렴과 이질성을 모두 보여줌</a:t>
            </a:r>
            <a:endParaRPr lang="en-US" altLang="ko-KR" dirty="0"/>
          </a:p>
          <a:p>
            <a:r>
              <a:rPr lang="ko-KR" altLang="en-US" dirty="0"/>
              <a:t>기계윤리</a:t>
            </a:r>
            <a:r>
              <a:rPr lang="en-US" altLang="ko-KR" dirty="0"/>
              <a:t>, </a:t>
            </a:r>
            <a:r>
              <a:rPr lang="ko-KR" altLang="en-US" dirty="0"/>
              <a:t>도덕적 지위</a:t>
            </a:r>
            <a:r>
              <a:rPr lang="en-US" altLang="ko-KR" dirty="0"/>
              <a:t>, </a:t>
            </a:r>
            <a:r>
              <a:rPr lang="ko-KR" altLang="en-US" dirty="0"/>
              <a:t>특이점 등 미래지향적 이슈까지 포함해 포괄적 관점 제공</a:t>
            </a:r>
            <a:endParaRPr lang="en-US" altLang="ko-KR" dirty="0"/>
          </a:p>
          <a:p>
            <a:r>
              <a:rPr lang="ko-KR" altLang="en-US" dirty="0"/>
              <a:t>실제 자율주행</a:t>
            </a:r>
            <a:r>
              <a:rPr lang="en-US" altLang="ko-KR" dirty="0"/>
              <a:t>·</a:t>
            </a:r>
            <a:r>
              <a:rPr lang="ko-KR" altLang="en-US" dirty="0"/>
              <a:t>무기</a:t>
            </a:r>
            <a:r>
              <a:rPr lang="en-US" altLang="ko-KR" dirty="0"/>
              <a:t>·</a:t>
            </a:r>
            <a:r>
              <a:rPr lang="ko-KR" altLang="en-US" dirty="0"/>
              <a:t>편향 사례를 기반으로 논쟁을 구체화하여 현실 적용성을 강화</a:t>
            </a:r>
            <a:endParaRPr lang="en-US" altLang="ko-KR" dirty="0"/>
          </a:p>
          <a:p>
            <a:endParaRPr lang="en-US" altLang="ko-KR" b="1" dirty="0"/>
          </a:p>
          <a:p>
            <a:r>
              <a:rPr lang="en-US" altLang="ko-KR" b="1" dirty="0"/>
              <a:t>8. </a:t>
            </a:r>
            <a:r>
              <a:rPr lang="ko-KR" altLang="en-US" b="1" dirty="0"/>
              <a:t>연구 한계</a:t>
            </a:r>
          </a:p>
          <a:p>
            <a:r>
              <a:rPr lang="ko-KR" altLang="en-US" dirty="0"/>
              <a:t>실증 연구보다는 철학</a:t>
            </a:r>
            <a:r>
              <a:rPr lang="en-US" altLang="ko-KR" dirty="0"/>
              <a:t>·</a:t>
            </a:r>
            <a:r>
              <a:rPr lang="ko-KR" altLang="en-US" dirty="0"/>
              <a:t>문헌 중심의 분석으로</a:t>
            </a:r>
            <a:r>
              <a:rPr lang="en-US" altLang="ko-KR" dirty="0"/>
              <a:t>, </a:t>
            </a:r>
            <a:r>
              <a:rPr lang="ko-KR" altLang="en-US" dirty="0"/>
              <a:t>정량적 검증은 부족</a:t>
            </a:r>
            <a:endParaRPr lang="en-US" altLang="ko-KR" dirty="0"/>
          </a:p>
          <a:p>
            <a:r>
              <a:rPr lang="ko-KR" altLang="en-US" dirty="0"/>
              <a:t>실제 규제나 법제 적용 가능성에 대한 정책적 제안이 구체적이지 않음</a:t>
            </a:r>
            <a:endParaRPr lang="en-US" altLang="ko-KR" dirty="0"/>
          </a:p>
          <a:p>
            <a:r>
              <a:rPr lang="ko-KR" altLang="en-US" dirty="0"/>
              <a:t>문화적 다양성 반영의 필요성을 언급하였으나 비서구 관점 분석이 제한적</a:t>
            </a:r>
            <a:endParaRPr lang="en-US" altLang="ko-KR" dirty="0"/>
          </a:p>
          <a:p>
            <a:r>
              <a:rPr lang="ko-KR" altLang="en-US" dirty="0"/>
              <a:t>윤리지침 비교를 소개하지만</a:t>
            </a:r>
            <a:r>
              <a:rPr lang="en-US" altLang="ko-KR" dirty="0"/>
              <a:t>, </a:t>
            </a:r>
            <a:r>
              <a:rPr lang="ko-KR" altLang="en-US" dirty="0"/>
              <a:t>자체 분석은 아니며 </a:t>
            </a:r>
            <a:r>
              <a:rPr lang="en-US" altLang="ko-KR" dirty="0"/>
              <a:t>2</a:t>
            </a:r>
            <a:r>
              <a:rPr lang="ko-KR" altLang="en-US" dirty="0"/>
              <a:t>차 연구 결과 의존도가 높음</a:t>
            </a:r>
            <a:endParaRPr lang="ko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68FD95-6B36-4A57-A63A-DE2F5A514BF4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【4】</a:t>
            </a:r>
          </a:p>
        </p:txBody>
      </p:sp>
    </p:spTree>
    <p:extLst>
      <p:ext uri="{BB962C8B-B14F-4D97-AF65-F5344CB8AC3E}">
        <p14:creationId xmlns:p14="http://schemas.microsoft.com/office/powerpoint/2010/main" val="35303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010AB-8B1D-9AD2-36CA-D75F7769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BB64BE-FBC2-1394-1E0E-FB2F098F7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138FCB-8B72-3766-8BA8-FDB94EBC355D}"/>
              </a:ext>
            </a:extLst>
          </p:cNvPr>
          <p:cNvSpPr txBox="1"/>
          <p:nvPr/>
        </p:nvSpPr>
        <p:spPr>
          <a:xfrm>
            <a:off x="458807" y="286850"/>
            <a:ext cx="795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인공지능기술 윤리성 인식 척도개발 연구</a:t>
            </a:r>
            <a:r>
              <a:rPr lang="en-US" altLang="ko-KR" b="1" dirty="0"/>
              <a:t>(</a:t>
            </a:r>
            <a:r>
              <a:rPr lang="ko-KR" altLang="en-US" b="1" dirty="0"/>
              <a:t>김도연</a:t>
            </a:r>
            <a:r>
              <a:rPr lang="en-US" altLang="ko-KR" b="1" dirty="0"/>
              <a:t>, </a:t>
            </a:r>
            <a:r>
              <a:rPr lang="ko-KR" altLang="en-US" b="1" dirty="0"/>
              <a:t>고영화</a:t>
            </a:r>
            <a:r>
              <a:rPr lang="en-US" altLang="ko-KR" b="1" dirty="0"/>
              <a:t>, 2022)(1/6)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DBE4D8-71F7-4B7F-6238-59694DD8FD0E}"/>
              </a:ext>
            </a:extLst>
          </p:cNvPr>
          <p:cNvSpPr txBox="1"/>
          <p:nvPr/>
        </p:nvSpPr>
        <p:spPr>
          <a:xfrm>
            <a:off x="755845" y="1083263"/>
            <a:ext cx="11215331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AI </a:t>
            </a:r>
            <a:r>
              <a:rPr lang="ko-KR" altLang="en-US" sz="2000" dirty="0"/>
              <a:t>기술확산 초기단계에서 </a:t>
            </a:r>
            <a:r>
              <a:rPr lang="ko-KR" altLang="en-US" sz="2000" b="1" dirty="0">
                <a:solidFill>
                  <a:srgbClr val="0000FF"/>
                </a:solidFill>
              </a:rPr>
              <a:t>사용자 관점의 윤리성 인식</a:t>
            </a:r>
            <a:r>
              <a:rPr lang="en-US" altLang="ko-KR" b="1" dirty="0">
                <a:solidFill>
                  <a:srgbClr val="0000FF"/>
                </a:solidFill>
              </a:rPr>
              <a:t>(Ethical Awareness)</a:t>
            </a:r>
            <a:r>
              <a:rPr lang="ko-KR" altLang="en-US" sz="2000" b="1" dirty="0">
                <a:solidFill>
                  <a:srgbClr val="0000FF"/>
                </a:solidFill>
              </a:rPr>
              <a:t> 계량화 </a:t>
            </a:r>
            <a:r>
              <a:rPr lang="ko-KR" altLang="en-US" sz="2000" dirty="0"/>
              <a:t>첫 체계적 시도</a:t>
            </a:r>
            <a:endParaRPr lang="en-US" altLang="ko-KR" sz="2000" dirty="0"/>
          </a:p>
          <a:p>
            <a:r>
              <a:rPr lang="en-US" altLang="ko-KR" sz="2000" dirty="0"/>
              <a:t>AI </a:t>
            </a:r>
            <a:r>
              <a:rPr lang="ko-KR" altLang="en-US" sz="2000" dirty="0"/>
              <a:t>기술 또는 서비스 사용자의 </a:t>
            </a:r>
            <a:r>
              <a:rPr lang="en-US" altLang="ko-KR" sz="2000" dirty="0"/>
              <a:t>'</a:t>
            </a:r>
            <a:r>
              <a:rPr lang="ko-KR" altLang="en-US" sz="2000" dirty="0"/>
              <a:t>윤리성 인식 정도</a:t>
            </a:r>
            <a:r>
              <a:rPr lang="en-US" altLang="ko-KR" sz="2000" dirty="0"/>
              <a:t>'</a:t>
            </a:r>
            <a:r>
              <a:rPr lang="ko-KR" altLang="en-US" sz="2000" dirty="0"/>
              <a:t> 측정 척도를 개발하고 검증</a:t>
            </a:r>
            <a:endParaRPr lang="en-US" altLang="ko-KR" sz="2000" dirty="0"/>
          </a:p>
          <a:p>
            <a:r>
              <a:rPr lang="ko-KR" altLang="en-US" sz="2000" dirty="0"/>
              <a:t>문헌 분석을 통해 </a:t>
            </a:r>
            <a:r>
              <a:rPr lang="en-US" altLang="ko-KR" sz="2000" dirty="0"/>
              <a:t>AI </a:t>
            </a:r>
            <a:r>
              <a:rPr lang="ko-KR" altLang="en-US" sz="2000" dirty="0"/>
              <a:t>윤리의 핵심요소를 추출하고</a:t>
            </a:r>
            <a:r>
              <a:rPr lang="en-US" altLang="ko-KR" sz="2000" dirty="0"/>
              <a:t>, </a:t>
            </a:r>
          </a:p>
          <a:p>
            <a:r>
              <a:rPr lang="ko-KR" altLang="en-US" sz="2000" dirty="0"/>
              <a:t>개방형 설문</a:t>
            </a:r>
            <a:r>
              <a:rPr lang="en-US" altLang="ko-KR" sz="1600" dirty="0"/>
              <a:t>(133</a:t>
            </a:r>
            <a:r>
              <a:rPr lang="ko-KR" altLang="en-US" sz="1600" dirty="0"/>
              <a:t>명</a:t>
            </a:r>
            <a:r>
              <a:rPr lang="en-US" altLang="ko-KR" sz="1600" dirty="0"/>
              <a:t>)</a:t>
            </a:r>
            <a:r>
              <a:rPr lang="en-US" altLang="ko-KR" sz="2000" dirty="0"/>
              <a:t>, </a:t>
            </a:r>
            <a:r>
              <a:rPr lang="ko-KR" altLang="en-US" sz="2000" dirty="0"/>
              <a:t>예비조사</a:t>
            </a:r>
            <a:r>
              <a:rPr lang="en-US" altLang="ko-KR" sz="1600" dirty="0"/>
              <a:t>(273</a:t>
            </a:r>
            <a:r>
              <a:rPr lang="ko-KR" altLang="en-US" sz="1600" dirty="0"/>
              <a:t>명</a:t>
            </a:r>
            <a:r>
              <a:rPr lang="en-US" altLang="ko-KR" sz="1600" dirty="0"/>
              <a:t>)</a:t>
            </a:r>
            <a:r>
              <a:rPr lang="en-US" altLang="ko-KR" sz="2000" dirty="0"/>
              <a:t>, </a:t>
            </a:r>
            <a:r>
              <a:rPr lang="ko-KR" altLang="en-US" sz="2000" dirty="0"/>
              <a:t>본조사</a:t>
            </a:r>
            <a:r>
              <a:rPr lang="en-US" altLang="ko-KR" sz="1600" dirty="0"/>
              <a:t>(500</a:t>
            </a:r>
            <a:r>
              <a:rPr lang="ko-KR" altLang="en-US" sz="1600" dirty="0"/>
              <a:t>명</a:t>
            </a:r>
            <a:r>
              <a:rPr lang="en-US" altLang="ko-KR" sz="1600" dirty="0"/>
              <a:t>) </a:t>
            </a:r>
            <a:r>
              <a:rPr lang="ko-KR" altLang="en-US" sz="2000" dirty="0"/>
              <a:t>단계로 문항을 개발하여 </a:t>
            </a:r>
            <a:endParaRPr lang="en-US" altLang="ko-KR" sz="2000" dirty="0"/>
          </a:p>
          <a:p>
            <a:r>
              <a:rPr lang="ko-KR" altLang="en-US" sz="2000" dirty="0"/>
              <a:t>최종적으로 </a:t>
            </a:r>
            <a:r>
              <a:rPr lang="en-US" altLang="ko-KR" sz="2000" dirty="0"/>
              <a:t>4</a:t>
            </a:r>
            <a:r>
              <a:rPr lang="ko-KR" altLang="en-US" sz="2000" dirty="0"/>
              <a:t>개 요인</a:t>
            </a:r>
            <a:r>
              <a:rPr lang="en-US" altLang="ko-KR" sz="2000" dirty="0"/>
              <a:t>(</a:t>
            </a:r>
            <a:r>
              <a:rPr lang="ko-KR" altLang="en-US" sz="2000" dirty="0"/>
              <a:t>투명성</a:t>
            </a:r>
            <a:r>
              <a:rPr lang="en-US" altLang="ko-KR" sz="2000" dirty="0"/>
              <a:t>, </a:t>
            </a:r>
            <a:r>
              <a:rPr lang="ko-KR" altLang="en-US" sz="2000" dirty="0"/>
              <a:t>공정성</a:t>
            </a:r>
            <a:r>
              <a:rPr lang="en-US" altLang="ko-KR" sz="2000" dirty="0"/>
              <a:t>, </a:t>
            </a:r>
            <a:r>
              <a:rPr lang="ko-KR" altLang="en-US" sz="2000" dirty="0"/>
              <a:t>안전성</a:t>
            </a:r>
            <a:r>
              <a:rPr lang="en-US" altLang="ko-KR" sz="2000" dirty="0"/>
              <a:t>, </a:t>
            </a:r>
            <a:r>
              <a:rPr lang="ko-KR" altLang="en-US" sz="2000" dirty="0"/>
              <a:t>책임성</a:t>
            </a:r>
            <a:r>
              <a:rPr lang="en-US" altLang="ko-KR" sz="2000" dirty="0"/>
              <a:t>)</a:t>
            </a:r>
            <a:r>
              <a:rPr lang="ko-KR" altLang="en-US" sz="2000" dirty="0"/>
              <a:t>의</a:t>
            </a:r>
            <a:r>
              <a:rPr lang="en-US" altLang="ko-KR" sz="2000" dirty="0"/>
              <a:t>16</a:t>
            </a:r>
            <a:r>
              <a:rPr lang="ko-KR" altLang="en-US" sz="2000" dirty="0"/>
              <a:t>개 문항의 척도를 완성</a:t>
            </a:r>
            <a:endParaRPr lang="en-US" altLang="ko-KR" sz="2000" dirty="0"/>
          </a:p>
          <a:p>
            <a:endParaRPr lang="en-US" altLang="ko-KR" sz="2000" b="1" dirty="0"/>
          </a:p>
          <a:p>
            <a:r>
              <a:rPr lang="en-US" altLang="ko-KR" sz="2000" b="1" dirty="0"/>
              <a:t>【 </a:t>
            </a:r>
            <a:r>
              <a:rPr lang="ko-KR" altLang="en-US" sz="2000" b="1" dirty="0"/>
              <a:t>사용자 기반 </a:t>
            </a:r>
            <a:r>
              <a:rPr lang="en-US" altLang="ko-KR" sz="2000" b="1" dirty="0"/>
              <a:t>AI </a:t>
            </a:r>
            <a:r>
              <a:rPr lang="ko-KR" altLang="en-US" sz="2000" b="1" dirty="0"/>
              <a:t>윤리 평가체계의 필요성 </a:t>
            </a:r>
            <a:r>
              <a:rPr lang="en-US" altLang="ko-KR" sz="2000" b="1" dirty="0"/>
              <a:t>】</a:t>
            </a:r>
          </a:p>
          <a:p>
            <a:r>
              <a:rPr lang="ko-KR" altLang="en-US" dirty="0"/>
              <a:t>윤리는 기술적 문제이기도 하나</a:t>
            </a:r>
            <a:r>
              <a:rPr lang="en-US" altLang="ko-KR" dirty="0"/>
              <a:t>, </a:t>
            </a:r>
            <a:r>
              <a:rPr lang="ko-KR" altLang="en-US" dirty="0"/>
              <a:t>실제 윤리 문제 발생은 사용자의 인식 부족으로 방치되는 경우가 많음</a:t>
            </a:r>
            <a:endParaRPr lang="en-US" altLang="ko-KR" dirty="0"/>
          </a:p>
          <a:p>
            <a:r>
              <a:rPr lang="ko-KR" altLang="en-US" dirty="0"/>
              <a:t>따라서 “윤리 인식 → 사용 행동 → 위험 가능성”의 구조를 모니터링할 필요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sz="2000" b="1" dirty="0"/>
              <a:t>【 AI </a:t>
            </a:r>
            <a:r>
              <a:rPr lang="ko-KR" altLang="en-US" sz="2000" b="1" dirty="0"/>
              <a:t>윤리성 인식 척도의 활용</a:t>
            </a:r>
            <a:r>
              <a:rPr lang="en-US" altLang="ko-KR" sz="2000" b="1" dirty="0"/>
              <a:t> 】</a:t>
            </a:r>
          </a:p>
          <a:p>
            <a:r>
              <a:rPr lang="en-US" altLang="ko-KR" dirty="0"/>
              <a:t>- AI </a:t>
            </a:r>
            <a:r>
              <a:rPr lang="ko-KR" altLang="en-US" dirty="0"/>
              <a:t>제품</a:t>
            </a:r>
            <a:r>
              <a:rPr lang="en-US" altLang="ko-KR" dirty="0"/>
              <a:t>·</a:t>
            </a:r>
            <a:r>
              <a:rPr lang="ko-KR" altLang="en-US" dirty="0"/>
              <a:t>서비스 도입 시 윤리적 영향 평가 도구로 활용 가능   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교육기관</a:t>
            </a:r>
            <a:r>
              <a:rPr lang="en-US" altLang="ko-KR" dirty="0"/>
              <a:t>, </a:t>
            </a:r>
            <a:r>
              <a:rPr lang="ko-KR" altLang="en-US" dirty="0"/>
              <a:t>공공기관</a:t>
            </a:r>
            <a:r>
              <a:rPr lang="en-US" altLang="ko-KR" dirty="0"/>
              <a:t>, </a:t>
            </a:r>
            <a:r>
              <a:rPr lang="ko-KR" altLang="en-US" dirty="0"/>
              <a:t>기업의 </a:t>
            </a:r>
            <a:r>
              <a:rPr lang="en-US" altLang="ko-KR" dirty="0"/>
              <a:t>AI </a:t>
            </a:r>
            <a:r>
              <a:rPr lang="ko-KR" altLang="en-US" dirty="0"/>
              <a:t>윤리 정책 수립에 기초자료로 사용 가능   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사용자 대상 윤리 인식 모니터링 및 정책 개선 근거로 활용 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【 </a:t>
            </a:r>
            <a:r>
              <a:rPr lang="ko-KR" altLang="en-US" b="1" dirty="0"/>
              <a:t>국제 표준 </a:t>
            </a:r>
            <a:r>
              <a:rPr lang="en-US" altLang="ko-KR" b="1" dirty="0"/>
              <a:t>】</a:t>
            </a:r>
          </a:p>
          <a:p>
            <a:r>
              <a:rPr lang="en-US" altLang="ko-KR" dirty="0"/>
              <a:t>- OECD AI </a:t>
            </a:r>
            <a:r>
              <a:rPr lang="ko-KR" altLang="en-US" dirty="0"/>
              <a:t>원칙</a:t>
            </a:r>
            <a:r>
              <a:rPr lang="en-US" altLang="ko-KR" dirty="0"/>
              <a:t>(</a:t>
            </a:r>
            <a:r>
              <a:rPr lang="ko-KR" altLang="en-US" dirty="0"/>
              <a:t>공정성</a:t>
            </a:r>
            <a:r>
              <a:rPr lang="en-US" altLang="ko-KR" dirty="0"/>
              <a:t>·</a:t>
            </a:r>
            <a:r>
              <a:rPr lang="ko-KR" altLang="en-US" dirty="0"/>
              <a:t>투명성</a:t>
            </a:r>
            <a:r>
              <a:rPr lang="en-US" altLang="ko-KR" dirty="0"/>
              <a:t>·</a:t>
            </a:r>
            <a:r>
              <a:rPr lang="ko-KR" altLang="en-US" dirty="0"/>
              <a:t>인간 중심성</a:t>
            </a:r>
            <a:r>
              <a:rPr lang="en-US" altLang="ko-KR" dirty="0"/>
              <a:t>)</a:t>
            </a:r>
            <a:r>
              <a:rPr lang="ko-KR" altLang="en-US" dirty="0"/>
              <a:t>과 일치</a:t>
            </a:r>
            <a:endParaRPr lang="en-US" altLang="ko-KR" dirty="0"/>
          </a:p>
          <a:p>
            <a:r>
              <a:rPr lang="en-US" altLang="ko-KR" dirty="0"/>
              <a:t>- EU AI Act</a:t>
            </a:r>
            <a:r>
              <a:rPr lang="ko-KR" altLang="en-US" dirty="0"/>
              <a:t>의 </a:t>
            </a:r>
            <a:r>
              <a:rPr lang="en-US" altLang="ko-KR" dirty="0"/>
              <a:t>High-Risk AI </a:t>
            </a:r>
            <a:r>
              <a:rPr lang="ko-KR" altLang="en-US" dirty="0"/>
              <a:t>요구사항과 법적 부합</a:t>
            </a:r>
            <a:endParaRPr lang="en-US" altLang="ko-KR" dirty="0"/>
          </a:p>
          <a:p>
            <a:r>
              <a:rPr lang="en-US" altLang="ko-KR" dirty="0"/>
              <a:t>- ISO/IEC 42001(2025~) AI </a:t>
            </a:r>
            <a:r>
              <a:rPr lang="ko-KR" altLang="en-US" dirty="0"/>
              <a:t>경영시스템 표준의 “윤리성 인식 교육” 파트에 적용 가능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CE290E-CB05-49D9-8D6E-E750EF165238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【5】</a:t>
            </a:r>
          </a:p>
        </p:txBody>
      </p:sp>
    </p:spTree>
    <p:extLst>
      <p:ext uri="{BB962C8B-B14F-4D97-AF65-F5344CB8AC3E}">
        <p14:creationId xmlns:p14="http://schemas.microsoft.com/office/powerpoint/2010/main" val="2887617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75EC3-ABDE-9F9B-F821-35AED9F10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45DEB6-52B2-7B8C-F1B7-E41C701EB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E8D179-6D55-61FB-D489-1F60FAB3B61A}"/>
              </a:ext>
            </a:extLst>
          </p:cNvPr>
          <p:cNvSpPr txBox="1"/>
          <p:nvPr/>
        </p:nvSpPr>
        <p:spPr>
          <a:xfrm>
            <a:off x="458807" y="286850"/>
            <a:ext cx="795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인공지능기술 윤리성 인식 척도개발 연구</a:t>
            </a:r>
            <a:r>
              <a:rPr lang="en-US" altLang="ko-KR" b="1" dirty="0"/>
              <a:t>(</a:t>
            </a:r>
            <a:r>
              <a:rPr lang="ko-KR" altLang="en-US" b="1" dirty="0"/>
              <a:t>김도연</a:t>
            </a:r>
            <a:r>
              <a:rPr lang="en-US" altLang="ko-KR" b="1" dirty="0"/>
              <a:t>, </a:t>
            </a:r>
            <a:r>
              <a:rPr lang="ko-KR" altLang="en-US" b="1" dirty="0"/>
              <a:t>고영화</a:t>
            </a:r>
            <a:r>
              <a:rPr lang="en-US" altLang="ko-KR" b="1" dirty="0"/>
              <a:t>, 2022)(2/6)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4504F-7656-FBFD-F657-7FAABB790B87}"/>
              </a:ext>
            </a:extLst>
          </p:cNvPr>
          <p:cNvSpPr txBox="1"/>
          <p:nvPr/>
        </p:nvSpPr>
        <p:spPr>
          <a:xfrm>
            <a:off x="961119" y="1450765"/>
            <a:ext cx="1083744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(1) </a:t>
            </a:r>
            <a:r>
              <a:rPr lang="ko-KR" altLang="en-US" b="1" dirty="0"/>
              <a:t>투명성</a:t>
            </a:r>
            <a:r>
              <a:rPr lang="en-US" altLang="ko-KR" b="1" dirty="0"/>
              <a:t>(Transparency) </a:t>
            </a:r>
            <a:r>
              <a:rPr lang="en-US" altLang="ko-KR" dirty="0">
                <a:solidFill>
                  <a:srgbClr val="0000FF"/>
                </a:solidFill>
              </a:rPr>
              <a:t>: AI </a:t>
            </a:r>
            <a:r>
              <a:rPr lang="ko-KR" altLang="en-US" dirty="0">
                <a:solidFill>
                  <a:srgbClr val="0000FF"/>
                </a:solidFill>
              </a:rPr>
              <a:t>개발</a:t>
            </a:r>
            <a:r>
              <a:rPr lang="en-US" altLang="ko-KR" dirty="0">
                <a:solidFill>
                  <a:srgbClr val="0000FF"/>
                </a:solidFill>
              </a:rPr>
              <a:t>·</a:t>
            </a:r>
            <a:r>
              <a:rPr lang="ko-KR" altLang="en-US" dirty="0">
                <a:solidFill>
                  <a:srgbClr val="0000FF"/>
                </a:solidFill>
              </a:rPr>
              <a:t>운영 과정에 대한 공개성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ko-KR" altLang="en-US" dirty="0">
                <a:solidFill>
                  <a:srgbClr val="0000FF"/>
                </a:solidFill>
              </a:rPr>
              <a:t>설명 가능성 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/>
              <a:t>설명 가능성</a:t>
            </a:r>
            <a:r>
              <a:rPr lang="en-US" altLang="ko-KR" dirty="0"/>
              <a:t>(Explainability), </a:t>
            </a:r>
            <a:r>
              <a:rPr lang="ko-KR" altLang="en-US" dirty="0"/>
              <a:t>해석가능성</a:t>
            </a:r>
            <a:r>
              <a:rPr lang="en-US" altLang="ko-KR" dirty="0"/>
              <a:t>(Interpretability), </a:t>
            </a:r>
            <a:r>
              <a:rPr lang="ko-KR" altLang="en-US" dirty="0"/>
              <a:t>공개성</a:t>
            </a:r>
            <a:r>
              <a:rPr lang="en-US" altLang="ko-KR" dirty="0"/>
              <a:t>(Disclosure) </a:t>
            </a:r>
            <a:r>
              <a:rPr lang="ko-KR" altLang="en-US" dirty="0"/>
              <a:t>등의 하위 개념 포함</a:t>
            </a:r>
            <a:endParaRPr lang="en-US" altLang="ko-KR" dirty="0"/>
          </a:p>
          <a:p>
            <a:r>
              <a:rPr lang="ko-KR" altLang="en-US" dirty="0"/>
              <a:t>검증 가능한 의사결정 경로가 존재해야 하며</a:t>
            </a:r>
            <a:r>
              <a:rPr lang="en-US" altLang="ko-KR" dirty="0"/>
              <a:t>, </a:t>
            </a:r>
            <a:r>
              <a:rPr lang="ko-KR" altLang="en-US" dirty="0"/>
              <a:t>사용자 또한 적정 수준의 정보에 접근할 수 있어야 함</a:t>
            </a:r>
            <a:endParaRPr lang="en-US" altLang="ko-KR" dirty="0"/>
          </a:p>
          <a:p>
            <a:r>
              <a:rPr lang="ko-KR" altLang="en-US" dirty="0"/>
              <a:t>민주주의 원칙</a:t>
            </a:r>
            <a:r>
              <a:rPr lang="en-US" altLang="ko-KR" dirty="0"/>
              <a:t>(</a:t>
            </a:r>
            <a:r>
              <a:rPr lang="ko-KR" altLang="en-US" dirty="0"/>
              <a:t>참여</a:t>
            </a:r>
            <a:r>
              <a:rPr lang="en-US" altLang="ko-KR" dirty="0"/>
              <a:t>, </a:t>
            </a:r>
            <a:r>
              <a:rPr lang="ko-KR" altLang="en-US" dirty="0"/>
              <a:t>책임추궁 가능성</a:t>
            </a:r>
            <a:r>
              <a:rPr lang="en-US" altLang="ko-KR" dirty="0"/>
              <a:t>)</a:t>
            </a:r>
            <a:r>
              <a:rPr lang="ko-KR" altLang="en-US" dirty="0"/>
              <a:t>을 기술 운영에 이식하는 기능</a:t>
            </a:r>
            <a:endParaRPr lang="en-US" altLang="ko-KR" dirty="0"/>
          </a:p>
          <a:p>
            <a:r>
              <a:rPr lang="en-US" altLang="ko-KR" dirty="0">
                <a:solidFill>
                  <a:srgbClr val="0000FF"/>
                </a:solidFill>
              </a:rPr>
              <a:t> </a:t>
            </a:r>
            <a:endParaRPr lang="en-US" altLang="ko-KR" dirty="0"/>
          </a:p>
          <a:p>
            <a:r>
              <a:rPr lang="en-US" altLang="ko-KR" b="1" dirty="0"/>
              <a:t>(2) </a:t>
            </a:r>
            <a:r>
              <a:rPr lang="ko-KR" altLang="en-US" b="1" dirty="0"/>
              <a:t>공정성</a:t>
            </a:r>
            <a:r>
              <a:rPr lang="en-US" altLang="ko-KR" b="1" dirty="0"/>
              <a:t>(Fairness)</a:t>
            </a:r>
            <a:r>
              <a:rPr lang="en-US" altLang="ko-KR" dirty="0">
                <a:solidFill>
                  <a:srgbClr val="0000FF"/>
                </a:solidFill>
              </a:rPr>
              <a:t> : </a:t>
            </a:r>
            <a:r>
              <a:rPr lang="ko-KR" altLang="en-US" dirty="0">
                <a:solidFill>
                  <a:srgbClr val="0000FF"/>
                </a:solidFill>
              </a:rPr>
              <a:t>성별</a:t>
            </a:r>
            <a:r>
              <a:rPr lang="en-US" altLang="ko-KR" dirty="0">
                <a:solidFill>
                  <a:srgbClr val="0000FF"/>
                </a:solidFill>
              </a:rPr>
              <a:t>·</a:t>
            </a:r>
            <a:r>
              <a:rPr lang="ko-KR" altLang="en-US" dirty="0">
                <a:solidFill>
                  <a:srgbClr val="0000FF"/>
                </a:solidFill>
              </a:rPr>
              <a:t>연령</a:t>
            </a:r>
            <a:r>
              <a:rPr lang="en-US" altLang="ko-KR" dirty="0">
                <a:solidFill>
                  <a:srgbClr val="0000FF"/>
                </a:solidFill>
              </a:rPr>
              <a:t>·</a:t>
            </a:r>
            <a:r>
              <a:rPr lang="ko-KR" altLang="en-US" dirty="0">
                <a:solidFill>
                  <a:srgbClr val="0000FF"/>
                </a:solidFill>
              </a:rPr>
              <a:t>인종 차별 방지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ko-KR" altLang="en-US" dirty="0">
                <a:solidFill>
                  <a:srgbClr val="0000FF"/>
                </a:solidFill>
              </a:rPr>
              <a:t>인간 존엄성 고려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/>
              <a:t>알고리즘 편향</a:t>
            </a:r>
            <a:r>
              <a:rPr lang="en-US" altLang="ko-KR" dirty="0"/>
              <a:t>(bias), </a:t>
            </a:r>
            <a:r>
              <a:rPr lang="ko-KR" altLang="en-US" dirty="0"/>
              <a:t>차별</a:t>
            </a:r>
            <a:r>
              <a:rPr lang="en-US" altLang="ko-KR" dirty="0"/>
              <a:t>(discrimination), </a:t>
            </a:r>
            <a:r>
              <a:rPr lang="ko-KR" altLang="en-US" dirty="0"/>
              <a:t>형평성</a:t>
            </a:r>
            <a:r>
              <a:rPr lang="en-US" altLang="ko-KR" dirty="0"/>
              <a:t>(equity) </a:t>
            </a:r>
            <a:r>
              <a:rPr lang="ko-KR" altLang="en-US" dirty="0"/>
              <a:t>문제를 포괄</a:t>
            </a:r>
            <a:endParaRPr lang="en-US" altLang="ko-KR" dirty="0"/>
          </a:p>
          <a:p>
            <a:r>
              <a:rPr lang="ko-KR" altLang="en-US" dirty="0"/>
              <a:t>성별</a:t>
            </a:r>
            <a:r>
              <a:rPr lang="en-US" altLang="ko-KR" dirty="0"/>
              <a:t>, </a:t>
            </a:r>
            <a:r>
              <a:rPr lang="ko-KR" altLang="en-US" dirty="0"/>
              <a:t>연령</a:t>
            </a:r>
            <a:r>
              <a:rPr lang="en-US" altLang="ko-KR" dirty="0"/>
              <a:t>, </a:t>
            </a:r>
            <a:r>
              <a:rPr lang="ko-KR" altLang="en-US" dirty="0"/>
              <a:t>인종을 최소 단위로 실질적 차별 금지 의무를 요구</a:t>
            </a:r>
            <a:endParaRPr lang="en-US" altLang="ko-KR" dirty="0"/>
          </a:p>
          <a:p>
            <a:r>
              <a:rPr lang="ko-KR" altLang="en-US" dirty="0"/>
              <a:t>인간 존엄성</a:t>
            </a:r>
            <a:r>
              <a:rPr lang="en-US" altLang="ko-KR" dirty="0"/>
              <a:t>(dignity)</a:t>
            </a:r>
            <a:r>
              <a:rPr lang="ko-KR" altLang="en-US" dirty="0"/>
              <a:t>과 직결되는 가치로</a:t>
            </a:r>
            <a:r>
              <a:rPr lang="en-US" altLang="ko-KR" dirty="0"/>
              <a:t>, </a:t>
            </a:r>
            <a:r>
              <a:rPr lang="ko-KR" altLang="en-US" dirty="0"/>
              <a:t>최근 </a:t>
            </a:r>
            <a:r>
              <a:rPr lang="en-US" altLang="ko-KR" dirty="0"/>
              <a:t>IEEE/ISO </a:t>
            </a:r>
            <a:r>
              <a:rPr lang="ko-KR" altLang="en-US" dirty="0"/>
              <a:t>윤리기준에서도 핵심 원칙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(3) </a:t>
            </a:r>
            <a:r>
              <a:rPr lang="ko-KR" altLang="en-US" b="1" dirty="0"/>
              <a:t>안전성</a:t>
            </a:r>
            <a:r>
              <a:rPr lang="en-US" altLang="ko-KR" b="1" dirty="0"/>
              <a:t>(Safety) </a:t>
            </a:r>
            <a:r>
              <a:rPr lang="en-US" altLang="ko-KR" dirty="0">
                <a:solidFill>
                  <a:srgbClr val="0000FF"/>
                </a:solidFill>
              </a:rPr>
              <a:t>: </a:t>
            </a:r>
            <a:r>
              <a:rPr lang="ko-KR" altLang="en-US" dirty="0">
                <a:solidFill>
                  <a:srgbClr val="0000FF"/>
                </a:solidFill>
              </a:rPr>
              <a:t>개인정보 보호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ko-KR" altLang="en-US" dirty="0">
                <a:solidFill>
                  <a:srgbClr val="0000FF"/>
                </a:solidFill>
              </a:rPr>
              <a:t>유해 콘텐츠 노출 방지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ko-KR" altLang="en-US" dirty="0">
                <a:solidFill>
                  <a:srgbClr val="0000FF"/>
                </a:solidFill>
              </a:rPr>
              <a:t>보안 강화 </a:t>
            </a:r>
            <a:endParaRPr lang="en-US" altLang="ko-KR" b="1" dirty="0"/>
          </a:p>
          <a:p>
            <a:r>
              <a:rPr lang="ko-KR" altLang="en-US" dirty="0"/>
              <a:t>개인정보 침해</a:t>
            </a:r>
            <a:r>
              <a:rPr lang="en-US" altLang="ko-KR" dirty="0"/>
              <a:t>, </a:t>
            </a:r>
            <a:r>
              <a:rPr lang="ko-KR" altLang="en-US" dirty="0"/>
              <a:t>유해 콘텐츠 노출</a:t>
            </a:r>
            <a:r>
              <a:rPr lang="en-US" altLang="ko-KR" dirty="0"/>
              <a:t>, </a:t>
            </a:r>
            <a:r>
              <a:rPr lang="ko-KR" altLang="en-US" dirty="0"/>
              <a:t>시스템 오작동</a:t>
            </a:r>
            <a:r>
              <a:rPr lang="en-US" altLang="ko-KR" dirty="0"/>
              <a:t>·</a:t>
            </a:r>
            <a:r>
              <a:rPr lang="ko-KR" altLang="en-US" dirty="0"/>
              <a:t>보안 위협 등 포함</a:t>
            </a:r>
            <a:endParaRPr lang="en-US" altLang="ko-KR" dirty="0"/>
          </a:p>
          <a:p>
            <a:r>
              <a:rPr lang="en-US" altLang="ko-KR" dirty="0"/>
              <a:t>AI</a:t>
            </a:r>
            <a:r>
              <a:rPr lang="ko-KR" altLang="en-US" dirty="0"/>
              <a:t>의 자율성 증가에 따른 잠재적 해악</a:t>
            </a:r>
            <a:r>
              <a:rPr lang="en-US" altLang="ko-KR" dirty="0"/>
              <a:t>(non-maleficence)</a:t>
            </a:r>
            <a:r>
              <a:rPr lang="ko-KR" altLang="en-US" dirty="0"/>
              <a:t>을 예방하는 규범</a:t>
            </a:r>
            <a:endParaRPr lang="en-US" altLang="ko-KR" dirty="0"/>
          </a:p>
          <a:p>
            <a:r>
              <a:rPr lang="ko-KR" altLang="en-US" dirty="0"/>
              <a:t>사이버보안</a:t>
            </a:r>
            <a:r>
              <a:rPr lang="en-US" altLang="ko-KR" dirty="0"/>
              <a:t>(Cybersecurity)</a:t>
            </a:r>
            <a:r>
              <a:rPr lang="ko-KR" altLang="en-US" dirty="0"/>
              <a:t>과 윤리적 안전성</a:t>
            </a:r>
            <a:r>
              <a:rPr lang="en-US" altLang="ko-KR" dirty="0"/>
              <a:t>(Ethical Safety)</a:t>
            </a:r>
            <a:r>
              <a:rPr lang="ko-KR" altLang="en-US" dirty="0"/>
              <a:t>이 결합된 개념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(4) </a:t>
            </a:r>
            <a:r>
              <a:rPr lang="ko-KR" altLang="en-US" b="1" dirty="0"/>
              <a:t>책임성</a:t>
            </a:r>
            <a:r>
              <a:rPr lang="en-US" altLang="ko-KR" b="1" dirty="0"/>
              <a:t>(Responsibility)</a:t>
            </a:r>
            <a:r>
              <a:rPr lang="en-US" altLang="ko-KR" dirty="0">
                <a:solidFill>
                  <a:srgbClr val="0000FF"/>
                </a:solidFill>
              </a:rPr>
              <a:t> : </a:t>
            </a:r>
            <a:r>
              <a:rPr lang="ko-KR" altLang="en-US" dirty="0">
                <a:solidFill>
                  <a:srgbClr val="0000FF"/>
                </a:solidFill>
              </a:rPr>
              <a:t>법적 책임 명확화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ko-KR" altLang="en-US" dirty="0">
                <a:solidFill>
                  <a:srgbClr val="0000FF"/>
                </a:solidFill>
              </a:rPr>
              <a:t>악의적 개발 의도 차단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ko-KR" altLang="en-US" dirty="0">
                <a:solidFill>
                  <a:srgbClr val="0000FF"/>
                </a:solidFill>
              </a:rPr>
              <a:t>제도적 지원</a:t>
            </a:r>
            <a:endParaRPr lang="en-US" altLang="ko-KR" b="1" dirty="0"/>
          </a:p>
          <a:p>
            <a:r>
              <a:rPr lang="ko-KR" altLang="en-US" dirty="0"/>
              <a:t>법적 책임</a:t>
            </a:r>
            <a:r>
              <a:rPr lang="en-US" altLang="ko-KR" dirty="0"/>
              <a:t>(legal liability), </a:t>
            </a:r>
            <a:r>
              <a:rPr lang="ko-KR" altLang="en-US" dirty="0"/>
              <a:t>기술적 책임</a:t>
            </a:r>
            <a:r>
              <a:rPr lang="en-US" altLang="ko-KR" dirty="0"/>
              <a:t>(accountability), </a:t>
            </a:r>
            <a:r>
              <a:rPr lang="ko-KR" altLang="en-US" dirty="0"/>
              <a:t>도덕적 책임</a:t>
            </a:r>
            <a:r>
              <a:rPr lang="en-US" altLang="ko-KR" dirty="0"/>
              <a:t>(moral duty) </a:t>
            </a:r>
            <a:r>
              <a:rPr lang="ko-KR" altLang="en-US" dirty="0"/>
              <a:t>모두 포함</a:t>
            </a:r>
            <a:endParaRPr lang="en-US" altLang="ko-KR" dirty="0"/>
          </a:p>
          <a:p>
            <a:r>
              <a:rPr lang="en-US" altLang="ko-KR" dirty="0"/>
              <a:t>AI </a:t>
            </a:r>
            <a:r>
              <a:rPr lang="ko-KR" altLang="en-US" dirty="0"/>
              <a:t>시스템의 결과물에 대해 개발자</a:t>
            </a:r>
            <a:r>
              <a:rPr lang="en-US" altLang="ko-KR" dirty="0"/>
              <a:t>·</a:t>
            </a:r>
            <a:r>
              <a:rPr lang="ko-KR" altLang="en-US" dirty="0"/>
              <a:t>기업</a:t>
            </a:r>
            <a:r>
              <a:rPr lang="en-US" altLang="ko-KR" dirty="0"/>
              <a:t>·</a:t>
            </a:r>
            <a:r>
              <a:rPr lang="ko-KR" altLang="en-US" dirty="0"/>
              <a:t>사용자</a:t>
            </a:r>
            <a:r>
              <a:rPr lang="en-US" altLang="ko-KR" dirty="0"/>
              <a:t>·</a:t>
            </a:r>
            <a:r>
              <a:rPr lang="ko-KR" altLang="en-US" dirty="0"/>
              <a:t>정부의 역할을 어떻게 배분할 것인가의 문제</a:t>
            </a:r>
            <a:endParaRPr lang="en-US" altLang="ko-KR" dirty="0"/>
          </a:p>
          <a:p>
            <a:r>
              <a:rPr lang="ko-KR" altLang="en-US" dirty="0"/>
              <a:t>악의적 개발 방지</a:t>
            </a:r>
            <a:r>
              <a:rPr lang="en-US" altLang="ko-KR" dirty="0"/>
              <a:t>, </a:t>
            </a:r>
            <a:r>
              <a:rPr lang="ko-KR" altLang="en-US" dirty="0"/>
              <a:t>지재권 보호</a:t>
            </a:r>
            <a:r>
              <a:rPr lang="en-US" altLang="ko-KR" dirty="0"/>
              <a:t>, </a:t>
            </a:r>
            <a:r>
              <a:rPr lang="ko-KR" altLang="en-US" dirty="0"/>
              <a:t>제도적 관리체계를 포함하는 폭넓은 개념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B2A2D-B650-5CA0-70BD-6999ED04BDBF}"/>
              </a:ext>
            </a:extLst>
          </p:cNvPr>
          <p:cNvSpPr txBox="1"/>
          <p:nvPr/>
        </p:nvSpPr>
        <p:spPr>
          <a:xfrm>
            <a:off x="393440" y="948744"/>
            <a:ext cx="60975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【 AI </a:t>
            </a:r>
            <a:r>
              <a:rPr lang="ko-KR" altLang="en-US" sz="2000" b="1" dirty="0"/>
              <a:t>윤리성의 주요 구성요소</a:t>
            </a:r>
            <a:r>
              <a:rPr lang="en-US" altLang="ko-KR" sz="2000" b="1" dirty="0"/>
              <a:t> 】</a:t>
            </a:r>
            <a:endParaRPr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332D2C-70F0-4683-A4A8-8CAFBD602A4B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【5】</a:t>
            </a:r>
          </a:p>
        </p:txBody>
      </p:sp>
    </p:spTree>
    <p:extLst>
      <p:ext uri="{BB962C8B-B14F-4D97-AF65-F5344CB8AC3E}">
        <p14:creationId xmlns:p14="http://schemas.microsoft.com/office/powerpoint/2010/main" val="1077824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20FD8-72D7-FAB6-3F8D-B66782983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6670C1-950E-2708-ACBF-9CB18810E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EA77B1-FE98-0DA9-ECCA-A2D6A8C8C178}"/>
              </a:ext>
            </a:extLst>
          </p:cNvPr>
          <p:cNvSpPr txBox="1"/>
          <p:nvPr/>
        </p:nvSpPr>
        <p:spPr>
          <a:xfrm>
            <a:off x="458807" y="286850"/>
            <a:ext cx="795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인공지능기술 윤리성 인식 척도개발 연구</a:t>
            </a:r>
            <a:r>
              <a:rPr lang="en-US" altLang="ko-KR" b="1" dirty="0"/>
              <a:t>(</a:t>
            </a:r>
            <a:r>
              <a:rPr lang="ko-KR" altLang="en-US" b="1" dirty="0"/>
              <a:t>김도연</a:t>
            </a:r>
            <a:r>
              <a:rPr lang="en-US" altLang="ko-KR" b="1" dirty="0"/>
              <a:t>, </a:t>
            </a:r>
            <a:r>
              <a:rPr lang="ko-KR" altLang="en-US" b="1" dirty="0"/>
              <a:t>고영화</a:t>
            </a:r>
            <a:r>
              <a:rPr lang="en-US" altLang="ko-KR" b="1" dirty="0"/>
              <a:t>, 2022)(3/6)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665FE0-6759-2E4D-4401-3EF01462984D}"/>
              </a:ext>
            </a:extLst>
          </p:cNvPr>
          <p:cNvSpPr txBox="1"/>
          <p:nvPr/>
        </p:nvSpPr>
        <p:spPr>
          <a:xfrm>
            <a:off x="1072273" y="1898582"/>
            <a:ext cx="108374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(1) </a:t>
            </a:r>
            <a:r>
              <a:rPr lang="ko-KR" altLang="en-US" b="1" dirty="0"/>
              <a:t>투명성</a:t>
            </a:r>
            <a:r>
              <a:rPr lang="en-US" altLang="ko-KR" b="1" dirty="0"/>
              <a:t>(Transparency) </a:t>
            </a:r>
            <a:r>
              <a:rPr lang="en-US" altLang="ko-KR" dirty="0">
                <a:solidFill>
                  <a:srgbClr val="0000FF"/>
                </a:solidFill>
              </a:rPr>
              <a:t>: 6</a:t>
            </a:r>
            <a:r>
              <a:rPr lang="ko-KR" altLang="en-US" dirty="0">
                <a:solidFill>
                  <a:srgbClr val="0000FF"/>
                </a:solidFill>
              </a:rPr>
              <a:t>문항</a:t>
            </a:r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/>
              <a:t>인공지능 개발 및 활용의 투명성에 대한 가이드라인이 홍보되어야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인공지능 개발 및 활용에 대한 투명성 개념이 명확히 정의될 필요가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인공지능 개발 및 활용의 투명성은 사용자가 검색 가능하도록 제공되어야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인공지능 개발 및 활용의 투명성에 대해 공개적 논의가 필요하다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인공지능 개발 및 활용의 투명성을 확보하기 위해 뉴스</a:t>
            </a:r>
            <a:r>
              <a:rPr lang="en-US" altLang="ko-KR" dirty="0"/>
              <a:t>·</a:t>
            </a:r>
            <a:r>
              <a:rPr lang="ko-KR" altLang="en-US" dirty="0"/>
              <a:t>포털</a:t>
            </a:r>
            <a:r>
              <a:rPr lang="en-US" altLang="ko-KR" dirty="0"/>
              <a:t>·SNS </a:t>
            </a:r>
            <a:r>
              <a:rPr lang="ko-KR" altLang="en-US" dirty="0"/>
              <a:t>등을 통한 홍보가 필요하다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인공지능 개발 및 활용의 투명성에 관한 매뉴얼이 작성되어야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62F91A-66D5-EEBD-6C49-D0F07658B830}"/>
              </a:ext>
            </a:extLst>
          </p:cNvPr>
          <p:cNvSpPr txBox="1"/>
          <p:nvPr/>
        </p:nvSpPr>
        <p:spPr>
          <a:xfrm>
            <a:off x="458807" y="1247462"/>
            <a:ext cx="60975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【 AI </a:t>
            </a:r>
            <a:r>
              <a:rPr lang="ko-KR" altLang="en-US" sz="2000" b="1" dirty="0"/>
              <a:t>윤리성의 인식척도 </a:t>
            </a:r>
            <a:r>
              <a:rPr lang="en-US" altLang="ko-KR" sz="2000" b="1" dirty="0"/>
              <a:t>16</a:t>
            </a:r>
            <a:r>
              <a:rPr lang="ko-KR" altLang="en-US" sz="2000" b="1" dirty="0"/>
              <a:t>문항</a:t>
            </a:r>
            <a:r>
              <a:rPr lang="en-US" altLang="ko-KR" sz="2000" b="1" dirty="0"/>
              <a:t>(1/2) 】</a:t>
            </a:r>
            <a:endParaRPr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759C66-68CF-4DB7-4408-A37D2914203B}"/>
              </a:ext>
            </a:extLst>
          </p:cNvPr>
          <p:cNvSpPr txBox="1"/>
          <p:nvPr/>
        </p:nvSpPr>
        <p:spPr>
          <a:xfrm>
            <a:off x="1072273" y="4708927"/>
            <a:ext cx="108374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(2) </a:t>
            </a:r>
            <a:r>
              <a:rPr lang="ko-KR" altLang="en-US" b="1" dirty="0"/>
              <a:t>공정성</a:t>
            </a:r>
            <a:r>
              <a:rPr lang="en-US" altLang="ko-KR" b="1" dirty="0"/>
              <a:t>(Fairness)</a:t>
            </a:r>
            <a:r>
              <a:rPr lang="en-US" altLang="ko-KR" dirty="0">
                <a:solidFill>
                  <a:srgbClr val="0000FF"/>
                </a:solidFill>
              </a:rPr>
              <a:t> : 3</a:t>
            </a:r>
            <a:r>
              <a:rPr lang="ko-KR" altLang="en-US" dirty="0">
                <a:solidFill>
                  <a:srgbClr val="0000FF"/>
                </a:solidFill>
              </a:rPr>
              <a:t>문항</a:t>
            </a:r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/>
              <a:t>인공지능 기술을 사용할 때 성별 차별을 고려해야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인공지능 기술을 사용할 때 연령 차별을 고려해야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인공지능 기술을 사용할 때 인종 차별을 고려해야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954C15-D640-4242-8FAE-C22DE1EF91A8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【5】</a:t>
            </a:r>
          </a:p>
        </p:txBody>
      </p:sp>
    </p:spTree>
    <p:extLst>
      <p:ext uri="{BB962C8B-B14F-4D97-AF65-F5344CB8AC3E}">
        <p14:creationId xmlns:p14="http://schemas.microsoft.com/office/powerpoint/2010/main" val="27383876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9A6F1-FE0F-8EED-F6E7-2FF417900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8F24DE-239C-2F29-1280-70157537B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C475A5-5820-9F0E-7221-C9CECA447029}"/>
              </a:ext>
            </a:extLst>
          </p:cNvPr>
          <p:cNvSpPr txBox="1"/>
          <p:nvPr/>
        </p:nvSpPr>
        <p:spPr>
          <a:xfrm>
            <a:off x="458807" y="286850"/>
            <a:ext cx="795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인공지능기술 윤리성 인식 척도개발 연구</a:t>
            </a:r>
            <a:r>
              <a:rPr lang="en-US" altLang="ko-KR" b="1" dirty="0"/>
              <a:t>(</a:t>
            </a:r>
            <a:r>
              <a:rPr lang="ko-KR" altLang="en-US" b="1" dirty="0"/>
              <a:t>김도연</a:t>
            </a:r>
            <a:r>
              <a:rPr lang="en-US" altLang="ko-KR" b="1" dirty="0"/>
              <a:t>, </a:t>
            </a:r>
            <a:r>
              <a:rPr lang="ko-KR" altLang="en-US" b="1" dirty="0"/>
              <a:t>고영화</a:t>
            </a:r>
            <a:r>
              <a:rPr lang="en-US" altLang="ko-KR" b="1" dirty="0"/>
              <a:t>, 2022)(4/6)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09F0DB-1CB1-0041-16E3-67CA112CB14E}"/>
              </a:ext>
            </a:extLst>
          </p:cNvPr>
          <p:cNvSpPr txBox="1"/>
          <p:nvPr/>
        </p:nvSpPr>
        <p:spPr>
          <a:xfrm>
            <a:off x="1173390" y="2189429"/>
            <a:ext cx="108374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(3) </a:t>
            </a:r>
            <a:r>
              <a:rPr lang="ko-KR" altLang="en-US" b="1" dirty="0"/>
              <a:t>안전성</a:t>
            </a:r>
            <a:r>
              <a:rPr lang="en-US" altLang="ko-KR" b="1" dirty="0"/>
              <a:t>(Safety) </a:t>
            </a:r>
            <a:r>
              <a:rPr lang="en-US" altLang="ko-KR" dirty="0">
                <a:solidFill>
                  <a:srgbClr val="0000FF"/>
                </a:solidFill>
              </a:rPr>
              <a:t>: 2</a:t>
            </a:r>
            <a:r>
              <a:rPr lang="ko-KR" altLang="en-US" dirty="0">
                <a:solidFill>
                  <a:srgbClr val="0000FF"/>
                </a:solidFill>
              </a:rPr>
              <a:t>문항</a:t>
            </a:r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/>
              <a:t>인공지능 기술을 사용할 때 인터넷</a:t>
            </a:r>
            <a:r>
              <a:rPr lang="en-US" altLang="ko-KR" dirty="0"/>
              <a:t>·SNS</a:t>
            </a:r>
            <a:r>
              <a:rPr lang="ko-KR" altLang="en-US" dirty="0"/>
              <a:t>의 유해 콘텐츠에 노출될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인공지능 기술을 사용할 때 개인정보 유출 또는 프라이버시 침해가 발생할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E411DC-8AC9-42DC-E1A1-344E754073D2}"/>
              </a:ext>
            </a:extLst>
          </p:cNvPr>
          <p:cNvSpPr txBox="1"/>
          <p:nvPr/>
        </p:nvSpPr>
        <p:spPr>
          <a:xfrm>
            <a:off x="494556" y="1431144"/>
            <a:ext cx="60975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【 AI </a:t>
            </a:r>
            <a:r>
              <a:rPr lang="ko-KR" altLang="en-US" sz="2000" b="1" dirty="0"/>
              <a:t>윤리성의 인식척도 </a:t>
            </a:r>
            <a:r>
              <a:rPr lang="en-US" altLang="ko-KR" sz="2000" b="1" dirty="0"/>
              <a:t>16</a:t>
            </a:r>
            <a:r>
              <a:rPr lang="ko-KR" altLang="en-US" sz="2000" b="1" dirty="0"/>
              <a:t>문항</a:t>
            </a:r>
            <a:r>
              <a:rPr lang="en-US" altLang="ko-KR" sz="2000" b="1" dirty="0"/>
              <a:t>(2/2) 】</a:t>
            </a:r>
            <a:endParaRPr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BFB74C-3B95-38F3-261F-5778EE094315}"/>
              </a:ext>
            </a:extLst>
          </p:cNvPr>
          <p:cNvSpPr txBox="1"/>
          <p:nvPr/>
        </p:nvSpPr>
        <p:spPr>
          <a:xfrm>
            <a:off x="1173390" y="4033157"/>
            <a:ext cx="1083744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(4) </a:t>
            </a:r>
            <a:r>
              <a:rPr lang="ko-KR" altLang="en-US" b="1" dirty="0"/>
              <a:t>책임성</a:t>
            </a:r>
            <a:r>
              <a:rPr lang="en-US" altLang="ko-KR" b="1" dirty="0"/>
              <a:t>(Responsibility)</a:t>
            </a:r>
            <a:r>
              <a:rPr lang="en-US" altLang="ko-KR" dirty="0">
                <a:solidFill>
                  <a:srgbClr val="0000FF"/>
                </a:solidFill>
              </a:rPr>
              <a:t> : 5</a:t>
            </a:r>
            <a:r>
              <a:rPr lang="ko-KR" altLang="en-US" dirty="0">
                <a:solidFill>
                  <a:srgbClr val="0000FF"/>
                </a:solidFill>
              </a:rPr>
              <a:t>문항</a:t>
            </a:r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/>
              <a:t>인공지능 기술을 개발</a:t>
            </a:r>
            <a:r>
              <a:rPr lang="en-US" altLang="ko-KR" dirty="0"/>
              <a:t>·</a:t>
            </a:r>
            <a:r>
              <a:rPr lang="ko-KR" altLang="en-US" dirty="0"/>
              <a:t>활용할 때 사용자의 요구에 부응해야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인공지능 기술을 개발</a:t>
            </a:r>
            <a:r>
              <a:rPr lang="en-US" altLang="ko-KR" dirty="0"/>
              <a:t>·</a:t>
            </a:r>
            <a:r>
              <a:rPr lang="ko-KR" altLang="en-US" dirty="0"/>
              <a:t>활용할 때 지적재산권이 보호되어야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인공지능 기술 개발 및 활용에 대한 법적 책임이 명확히 규정되어야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인공지능 기술을 사용할 때 악의적 개발 의도가 존재해서는 안 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인공지능 기술을 사용할 때 공정성을 확보하기 위한 제도적 지원이 필요하다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13C0E0-5C29-49A0-AA98-FF21913AB422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【5】</a:t>
            </a:r>
          </a:p>
        </p:txBody>
      </p:sp>
    </p:spTree>
    <p:extLst>
      <p:ext uri="{BB962C8B-B14F-4D97-AF65-F5344CB8AC3E}">
        <p14:creationId xmlns:p14="http://schemas.microsoft.com/office/powerpoint/2010/main" val="31989293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852B-FE43-E766-0354-6E892E4E1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D6C6A1-D9E1-C41E-68D6-92FEFF7D8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6B4690-1141-B7F5-3464-D9B8DE5E327E}"/>
              </a:ext>
            </a:extLst>
          </p:cNvPr>
          <p:cNvSpPr txBox="1"/>
          <p:nvPr/>
        </p:nvSpPr>
        <p:spPr>
          <a:xfrm>
            <a:off x="458807" y="286850"/>
            <a:ext cx="795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인공지능기술 윤리성 인식 척도개발 연구</a:t>
            </a:r>
            <a:r>
              <a:rPr lang="en-US" altLang="ko-KR" b="1" dirty="0"/>
              <a:t>(</a:t>
            </a:r>
            <a:r>
              <a:rPr lang="ko-KR" altLang="en-US" b="1" dirty="0"/>
              <a:t>김도연</a:t>
            </a:r>
            <a:r>
              <a:rPr lang="en-US" altLang="ko-KR" b="1" dirty="0"/>
              <a:t>, </a:t>
            </a:r>
            <a:r>
              <a:rPr lang="ko-KR" altLang="en-US" b="1" dirty="0"/>
              <a:t>고영화</a:t>
            </a:r>
            <a:r>
              <a:rPr lang="en-US" altLang="ko-KR" b="1" dirty="0"/>
              <a:t>, 2022)(5/6)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A0058C-E780-A3EC-2DCA-1D2F8F48F221}"/>
              </a:ext>
            </a:extLst>
          </p:cNvPr>
          <p:cNvSpPr txBox="1"/>
          <p:nvPr/>
        </p:nvSpPr>
        <p:spPr>
          <a:xfrm>
            <a:off x="565676" y="1136504"/>
            <a:ext cx="60975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【 </a:t>
            </a:r>
            <a:r>
              <a:rPr lang="ko-KR" altLang="en-US" sz="2000" b="1" dirty="0"/>
              <a:t>연구 절차 </a:t>
            </a:r>
            <a:r>
              <a:rPr lang="en-US" altLang="ko-KR" sz="2000" b="1" dirty="0"/>
              <a:t>】</a:t>
            </a:r>
            <a:endParaRPr lang="ko-KR" alt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DB071C-3857-F4E1-27FE-DE8E3FE490C3}"/>
              </a:ext>
            </a:extLst>
          </p:cNvPr>
          <p:cNvSpPr txBox="1"/>
          <p:nvPr/>
        </p:nvSpPr>
        <p:spPr>
          <a:xfrm>
            <a:off x="806580" y="1940145"/>
            <a:ext cx="9817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- 1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개방형 설문을 통해 인공지능에 대한 인식 및 윤리적 이슈 파악   </a:t>
            </a:r>
            <a:endParaRPr lang="en-US" altLang="ko-KR" dirty="0"/>
          </a:p>
          <a:p>
            <a:r>
              <a:rPr lang="en-US" altLang="ko-KR" dirty="0"/>
              <a:t>- 2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탐색적 요인분석</a:t>
            </a:r>
            <a:r>
              <a:rPr lang="en-US" altLang="ko-KR" dirty="0"/>
              <a:t>(EFA)</a:t>
            </a:r>
            <a:r>
              <a:rPr lang="ko-KR" altLang="en-US" dirty="0"/>
              <a:t>을 통해 문항 정제 </a:t>
            </a:r>
            <a:r>
              <a:rPr lang="en-US" altLang="ko-KR" dirty="0"/>
              <a:t>(45 → 26</a:t>
            </a:r>
            <a:r>
              <a:rPr lang="ko-KR" altLang="en-US" dirty="0"/>
              <a:t>문항</a:t>
            </a:r>
            <a:r>
              <a:rPr lang="en-US" altLang="ko-KR" dirty="0"/>
              <a:t>)   </a:t>
            </a:r>
          </a:p>
          <a:p>
            <a:r>
              <a:rPr lang="en-US" altLang="ko-KR" dirty="0"/>
              <a:t>- 3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확인적 요인분석</a:t>
            </a:r>
            <a:r>
              <a:rPr lang="en-US" altLang="ko-KR" dirty="0"/>
              <a:t>(CFA)</a:t>
            </a:r>
            <a:r>
              <a:rPr lang="ko-KR" altLang="en-US" dirty="0"/>
              <a:t>으로 최종 </a:t>
            </a:r>
            <a:r>
              <a:rPr lang="en-US" altLang="ko-KR" dirty="0"/>
              <a:t>16</a:t>
            </a:r>
            <a:r>
              <a:rPr lang="ko-KR" altLang="en-US" dirty="0"/>
              <a:t>문항 확정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개발된 척도의 확인</a:t>
            </a:r>
            <a:r>
              <a:rPr lang="en-US" altLang="ko-KR" dirty="0"/>
              <a:t>)</a:t>
            </a:r>
            <a:r>
              <a:rPr lang="ko-KR" altLang="en-US" dirty="0"/>
              <a:t>   </a:t>
            </a:r>
            <a:endParaRPr lang="en-US" altLang="ko-KR" dirty="0"/>
          </a:p>
          <a:p>
            <a:r>
              <a:rPr lang="en-US" altLang="ko-KR" dirty="0"/>
              <a:t>- Likert 5</a:t>
            </a:r>
            <a:r>
              <a:rPr lang="ko-KR" altLang="en-US" dirty="0"/>
              <a:t>점 척도   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높은 신뢰도</a:t>
            </a:r>
            <a:r>
              <a:rPr lang="en-US" altLang="ko-KR" dirty="0"/>
              <a:t>(Cronbach’s α = .79~.86)   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투명성</a:t>
            </a:r>
            <a:r>
              <a:rPr lang="en-US" altLang="ko-KR" dirty="0"/>
              <a:t>(6</a:t>
            </a:r>
            <a:r>
              <a:rPr lang="ko-KR" altLang="en-US" dirty="0"/>
              <a:t>문항</a:t>
            </a:r>
            <a:r>
              <a:rPr lang="en-US" altLang="ko-KR" dirty="0"/>
              <a:t>), </a:t>
            </a:r>
            <a:r>
              <a:rPr lang="ko-KR" altLang="en-US" dirty="0"/>
              <a:t>공정성</a:t>
            </a:r>
            <a:r>
              <a:rPr lang="en-US" altLang="ko-KR" dirty="0"/>
              <a:t>(3</a:t>
            </a:r>
            <a:r>
              <a:rPr lang="ko-KR" altLang="en-US" dirty="0"/>
              <a:t>문항</a:t>
            </a:r>
            <a:r>
              <a:rPr lang="en-US" altLang="ko-KR" dirty="0"/>
              <a:t>), </a:t>
            </a:r>
            <a:r>
              <a:rPr lang="ko-KR" altLang="en-US" dirty="0"/>
              <a:t>안전성</a:t>
            </a:r>
            <a:r>
              <a:rPr lang="en-US" altLang="ko-KR" dirty="0"/>
              <a:t>(2</a:t>
            </a:r>
            <a:r>
              <a:rPr lang="ko-KR" altLang="en-US" dirty="0"/>
              <a:t>문항</a:t>
            </a:r>
            <a:r>
              <a:rPr lang="en-US" altLang="ko-KR" dirty="0"/>
              <a:t>), </a:t>
            </a:r>
            <a:r>
              <a:rPr lang="ko-KR" altLang="en-US" dirty="0"/>
              <a:t>책임성</a:t>
            </a:r>
            <a:r>
              <a:rPr lang="en-US" altLang="ko-KR" dirty="0"/>
              <a:t>(5</a:t>
            </a:r>
            <a:r>
              <a:rPr lang="ko-KR" altLang="en-US" dirty="0"/>
              <a:t>문항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CBC287-9531-4258-A621-1523969FA7C7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【5】</a:t>
            </a:r>
          </a:p>
        </p:txBody>
      </p:sp>
    </p:spTree>
    <p:extLst>
      <p:ext uri="{BB962C8B-B14F-4D97-AF65-F5344CB8AC3E}">
        <p14:creationId xmlns:p14="http://schemas.microsoft.com/office/powerpoint/2010/main" val="8932174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43313-A773-B10C-3DC2-8BC3091D8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F0B7F7-4CED-9358-1D95-03CB16355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4BD008-9FEE-F5C4-CCC7-FB2F263165DF}"/>
              </a:ext>
            </a:extLst>
          </p:cNvPr>
          <p:cNvSpPr txBox="1"/>
          <p:nvPr/>
        </p:nvSpPr>
        <p:spPr>
          <a:xfrm>
            <a:off x="458807" y="286850"/>
            <a:ext cx="795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인공지능기술 윤리성 인식 척도개발 연구</a:t>
            </a:r>
            <a:r>
              <a:rPr lang="en-US" altLang="ko-KR" b="1" dirty="0"/>
              <a:t>(</a:t>
            </a:r>
            <a:r>
              <a:rPr lang="ko-KR" altLang="en-US" b="1" dirty="0"/>
              <a:t>김도연</a:t>
            </a:r>
            <a:r>
              <a:rPr lang="en-US" altLang="ko-KR" b="1" dirty="0"/>
              <a:t>, </a:t>
            </a:r>
            <a:r>
              <a:rPr lang="ko-KR" altLang="en-US" b="1" dirty="0"/>
              <a:t>고영화</a:t>
            </a:r>
            <a:r>
              <a:rPr lang="en-US" altLang="ko-KR" b="1" dirty="0"/>
              <a:t>, 2022)(6/6)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75909E-BE66-A477-1744-FA0700951C70}"/>
              </a:ext>
            </a:extLst>
          </p:cNvPr>
          <p:cNvSpPr txBox="1"/>
          <p:nvPr/>
        </p:nvSpPr>
        <p:spPr>
          <a:xfrm>
            <a:off x="565676" y="1136504"/>
            <a:ext cx="60975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【 </a:t>
            </a:r>
            <a:r>
              <a:rPr lang="ko-KR" altLang="en-US" sz="2000" b="1" dirty="0"/>
              <a:t>타당성 분석 </a:t>
            </a:r>
            <a:r>
              <a:rPr lang="en-US" altLang="ko-KR" sz="2000" b="1" dirty="0"/>
              <a:t>】</a:t>
            </a:r>
            <a:endParaRPr lang="ko-KR" altLang="en-US" sz="20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531C294-9E10-8600-7B3A-7DB3A8237047}"/>
              </a:ext>
            </a:extLst>
          </p:cNvPr>
          <p:cNvGraphicFramePr>
            <a:graphicFrameLocks noGrp="1"/>
          </p:cNvGraphicFramePr>
          <p:nvPr/>
        </p:nvGraphicFramePr>
        <p:xfrm>
          <a:off x="270588" y="1604865"/>
          <a:ext cx="11607281" cy="485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803">
                  <a:extLst>
                    <a:ext uri="{9D8B030D-6E8A-4147-A177-3AD203B41FA5}">
                      <a16:colId xmlns:a16="http://schemas.microsoft.com/office/drawing/2014/main" val="1040614268"/>
                    </a:ext>
                  </a:extLst>
                </a:gridCol>
                <a:gridCol w="4980891">
                  <a:extLst>
                    <a:ext uri="{9D8B030D-6E8A-4147-A177-3AD203B41FA5}">
                      <a16:colId xmlns:a16="http://schemas.microsoft.com/office/drawing/2014/main" val="1750335051"/>
                    </a:ext>
                  </a:extLst>
                </a:gridCol>
                <a:gridCol w="4842587">
                  <a:extLst>
                    <a:ext uri="{9D8B030D-6E8A-4147-A177-3AD203B41FA5}">
                      <a16:colId xmlns:a16="http://schemas.microsoft.com/office/drawing/2014/main" val="1065601569"/>
                    </a:ext>
                  </a:extLst>
                </a:gridCol>
              </a:tblGrid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1" u="none" strike="noStrike" dirty="0">
                          <a:effectLst/>
                          <a:latin typeface="+mn-lt"/>
                        </a:rPr>
                        <a:t>구분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+mn-lt"/>
                        </a:rPr>
                        <a:t>EFA (Exploratory Factor Analysis) </a:t>
                      </a:r>
                      <a:r>
                        <a:rPr lang="ko-KR" altLang="en-US" sz="1200" b="1" u="none" strike="noStrike" dirty="0">
                          <a:effectLst/>
                          <a:latin typeface="+mn-lt"/>
                        </a:rPr>
                        <a:t>탐색적 요인분석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+mn-lt"/>
                        </a:rPr>
                        <a:t>CFA (Confirmatory Factor Analysis) </a:t>
                      </a:r>
                      <a:r>
                        <a:rPr lang="ko-KR" altLang="en-US" sz="1200" b="1" u="none" strike="noStrike" dirty="0">
                          <a:effectLst/>
                          <a:latin typeface="+mn-lt"/>
                        </a:rPr>
                        <a:t>확인적 요인분석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3868830066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목적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데이터 기반으로 요인 구조를 탐색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이론 기반 요인 구조를 검증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127942598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필요성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척도 개발 초기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구조가 불확실할 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척도 개발 후반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구조가 이론적으로 제시되어 있을 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3114182873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본 연구에서의 적용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4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개 요인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투명성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·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공정성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·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안전성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·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책임성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)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이 데이터에서도 타당한지 탐색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4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요인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·16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문항 구조가 실제 데이터에 잘 부합하는지 검증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137165771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사용 데이터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예비조사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273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명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본조사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500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명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3143315553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요인 수 처리 방식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4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개 요인 고정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, Varimax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직교 회전 사용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4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개 요인을 잠재변수로 설정한 측정모형을 설정하고 검증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689079958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문항 제거 기준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요인적재량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&lt; .40,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두 개 이상 요인에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.40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이상 로딩 시 교차적재로 제거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요인적재량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&lt; .60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문항 제거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수정지수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(MI)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참고하여 모형 개선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4194515312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결과 문항 수 변화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45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문항 →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26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문항으로 정제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26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문항 →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16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문항으로 축소 및 최종 확정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3621436258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적합도 지표 사용 여부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사용하지 않음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전통적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EFA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에서는 모형 적합도 지수 사용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X)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사용함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(χ², RMSEA, CFI, IFI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등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577228258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본 연구의 적합도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해당 없음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l-GR" sz="1200" u="none" strike="noStrike">
                          <a:effectLst/>
                          <a:latin typeface="+mn-lt"/>
                        </a:rPr>
                        <a:t>χ²=351.079, </a:t>
                      </a: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df=98, CMIN/df=3.582, RMSEA=.072, CFI=.928, IFI=.928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2495163871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1" u="none" strike="noStrike" dirty="0">
                          <a:effectLst/>
                          <a:latin typeface="+mn-lt"/>
                        </a:rPr>
                        <a:t>신뢰도</a:t>
                      </a:r>
                      <a:r>
                        <a:rPr lang="en-US" altLang="ko-KR" sz="1200" b="1" u="none" strike="noStrike" dirty="0">
                          <a:effectLst/>
                          <a:latin typeface="+mn-lt"/>
                        </a:rPr>
                        <a:t>(Cronbach’s α)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투명성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.866,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공정성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.798,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안전성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.722,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책임성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.877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신뢰도 분석은 별도 수행되지만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, CFA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단계에서 개념신뢰도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(CR)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도 확인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3347779824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확보되는 타당성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구성타당성 중 탐색적 타당성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요인 구조의 존재 가능성 확인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구성타당성 중 확증적 타당성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수렴타당도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·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판별타당도 검증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1297030997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측정모형 검증 여부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4207118609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본 연구의 타당도 결과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EFA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결과를 바탕으로 잠재요인 구조가 적절하다고 판단후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CFA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진행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CR ≥ .70, AVE ≥ .50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으로 수렴타당도 충족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3527187833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본 연구의 판별타당도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해당 없음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AVE &gt;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요인 간 상관계수 제곱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(r²)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로 판별타당도 확보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3015852927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연구에서의 역할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초기 구조 탐색 및 문항 정제 단계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최종 척도 구조 확정 및 측정모형 타당화 단계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8752856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0151B6E-5E1B-4FB7-8551-53388C64C09F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【5】</a:t>
            </a:r>
          </a:p>
        </p:txBody>
      </p:sp>
    </p:spTree>
    <p:extLst>
      <p:ext uri="{BB962C8B-B14F-4D97-AF65-F5344CB8AC3E}">
        <p14:creationId xmlns:p14="http://schemas.microsoft.com/office/powerpoint/2010/main" val="3559420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010AB-8B1D-9AD2-36CA-D75F7769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BB64BE-FBC2-1394-1E0E-FB2F098F7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7660641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138FCB-8B72-3766-8BA8-FDB94EBC355D}"/>
              </a:ext>
            </a:extLst>
          </p:cNvPr>
          <p:cNvSpPr txBox="1"/>
          <p:nvPr/>
        </p:nvSpPr>
        <p:spPr>
          <a:xfrm>
            <a:off x="628141" y="132961"/>
            <a:ext cx="65453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윤리원칙 분류 모형 및 윤리 측정지표 개발과 </a:t>
            </a:r>
            <a:endParaRPr lang="en-US" altLang="ko-KR" sz="2000" b="1" dirty="0"/>
          </a:p>
          <a:p>
            <a:r>
              <a:rPr lang="ko-KR" altLang="en-US" sz="2000" b="1" dirty="0"/>
              <a:t>신뢰성에 관한 연구</a:t>
            </a:r>
            <a:r>
              <a:rPr lang="en-US" altLang="ko-KR" b="1" dirty="0"/>
              <a:t>(</a:t>
            </a:r>
            <a:r>
              <a:rPr lang="ko-KR" altLang="en-US" b="1" dirty="0"/>
              <a:t>소순주</a:t>
            </a:r>
            <a:r>
              <a:rPr lang="en-US" altLang="ko-KR" b="1" dirty="0"/>
              <a:t>, 2023)(1/4)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DBE4D8-71F7-4B7F-6238-59694DD8FD0E}"/>
              </a:ext>
            </a:extLst>
          </p:cNvPr>
          <p:cNvSpPr txBox="1"/>
          <p:nvPr/>
        </p:nvSpPr>
        <p:spPr>
          <a:xfrm>
            <a:off x="535748" y="1199356"/>
            <a:ext cx="1121533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연구 배경</a:t>
            </a:r>
          </a:p>
          <a:p>
            <a:r>
              <a:rPr lang="en-US" altLang="ko-KR" dirty="0"/>
              <a:t>AI</a:t>
            </a:r>
            <a:r>
              <a:rPr lang="ko-KR" altLang="en-US" dirty="0"/>
              <a:t>는 </a:t>
            </a:r>
            <a:r>
              <a:rPr lang="en-US" altLang="ko-KR" dirty="0"/>
              <a:t>4</a:t>
            </a:r>
            <a:r>
              <a:rPr lang="ko-KR" altLang="en-US" dirty="0"/>
              <a:t>차 산업혁명 핵심기술로서 사회</a:t>
            </a:r>
            <a:r>
              <a:rPr lang="en-US" altLang="ko-KR" dirty="0"/>
              <a:t>·</a:t>
            </a:r>
            <a:r>
              <a:rPr lang="ko-KR" altLang="en-US" dirty="0"/>
              <a:t>산업 전반에서 활용 증가</a:t>
            </a:r>
            <a:endParaRPr lang="en-US" altLang="ko-KR" dirty="0"/>
          </a:p>
          <a:p>
            <a:r>
              <a:rPr lang="ko-KR" altLang="en-US" dirty="0"/>
              <a:t>편리함과 효용성 증가와 동시에 편향</a:t>
            </a:r>
            <a:r>
              <a:rPr lang="en-US" altLang="ko-KR" dirty="0"/>
              <a:t>·</a:t>
            </a:r>
            <a:r>
              <a:rPr lang="ko-KR" altLang="en-US" dirty="0"/>
              <a:t>오류</a:t>
            </a:r>
            <a:r>
              <a:rPr lang="en-US" altLang="ko-KR" dirty="0"/>
              <a:t>·</a:t>
            </a:r>
            <a:r>
              <a:rPr lang="ko-KR" altLang="en-US" dirty="0"/>
              <a:t>안전성</a:t>
            </a:r>
            <a:r>
              <a:rPr lang="en-US" altLang="ko-KR" dirty="0"/>
              <a:t>·</a:t>
            </a:r>
            <a:r>
              <a:rPr lang="ko-KR" altLang="en-US" dirty="0"/>
              <a:t>프라이버시 침해</a:t>
            </a:r>
            <a:r>
              <a:rPr lang="en-US" altLang="ko-KR" dirty="0"/>
              <a:t>·</a:t>
            </a:r>
            <a:r>
              <a:rPr lang="ko-KR" altLang="en-US" dirty="0"/>
              <a:t>인격권 훼손 등의 윤리적 문제 발생</a:t>
            </a:r>
            <a:endParaRPr lang="en-US" altLang="ko-KR" dirty="0"/>
          </a:p>
          <a:p>
            <a:r>
              <a:rPr lang="ko-KR" altLang="en-US" dirty="0"/>
              <a:t>국내외에서 윤리 가이드라인</a:t>
            </a:r>
            <a:r>
              <a:rPr lang="en-US" altLang="ko-KR" dirty="0"/>
              <a:t>, </a:t>
            </a:r>
            <a:r>
              <a:rPr lang="ko-KR" altLang="en-US" dirty="0"/>
              <a:t>법</a:t>
            </a:r>
            <a:r>
              <a:rPr lang="en-US" altLang="ko-KR" dirty="0"/>
              <a:t>‧</a:t>
            </a:r>
            <a:r>
              <a:rPr lang="ko-KR" altLang="en-US" dirty="0"/>
              <a:t>제도</a:t>
            </a:r>
            <a:r>
              <a:rPr lang="en-US" altLang="ko-KR" dirty="0"/>
              <a:t>, </a:t>
            </a:r>
            <a:r>
              <a:rPr lang="ko-KR" altLang="en-US" dirty="0"/>
              <a:t>표준이 제정되었지만 체계적이고 측정 가능한 윤리 지표의 부족</a:t>
            </a:r>
            <a:endParaRPr lang="en-US" altLang="ko-KR" dirty="0"/>
          </a:p>
          <a:p>
            <a:r>
              <a:rPr lang="ko-KR" altLang="en-US" dirty="0"/>
              <a:t>신뢰할 수 있는 </a:t>
            </a:r>
            <a:r>
              <a:rPr lang="en-US" altLang="ko-KR" dirty="0"/>
              <a:t>AI </a:t>
            </a:r>
            <a:r>
              <a:rPr lang="ko-KR" altLang="en-US" dirty="0"/>
              <a:t>실현을 위해 윤리원칙 기반의 측정지표 개발 및 검증 체계 필요성이 증대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2. </a:t>
            </a:r>
            <a:r>
              <a:rPr lang="ko-KR" altLang="en-US" b="1" dirty="0"/>
              <a:t>연구 목적</a:t>
            </a:r>
          </a:p>
          <a:p>
            <a:r>
              <a:rPr lang="en-US" altLang="ko-KR" dirty="0"/>
              <a:t>AI </a:t>
            </a:r>
            <a:r>
              <a:rPr lang="ko-KR" altLang="en-US" dirty="0"/>
              <a:t>윤리원칙 분류 모형 및 구성요소를 토대로 범용적이고 신뢰성 있는 </a:t>
            </a:r>
            <a:r>
              <a:rPr lang="en-US" altLang="ko-KR" dirty="0"/>
              <a:t>AI </a:t>
            </a:r>
            <a:r>
              <a:rPr lang="ko-KR" altLang="en-US" dirty="0"/>
              <a:t>윤리 측정지표</a:t>
            </a:r>
            <a:r>
              <a:rPr lang="en-US" altLang="ko-KR" dirty="0"/>
              <a:t>(EMI-AI) </a:t>
            </a:r>
            <a:r>
              <a:rPr lang="ko-KR" altLang="en-US" dirty="0"/>
              <a:t>개발</a:t>
            </a:r>
            <a:endParaRPr lang="en-US" altLang="ko-KR" dirty="0"/>
          </a:p>
          <a:p>
            <a:r>
              <a:rPr lang="ko-KR" altLang="en-US" dirty="0"/>
              <a:t>개발된 지표가 국내외 </a:t>
            </a:r>
            <a:r>
              <a:rPr lang="en-US" altLang="ko-KR" dirty="0"/>
              <a:t>AI </a:t>
            </a:r>
            <a:r>
              <a:rPr lang="ko-KR" altLang="en-US" dirty="0"/>
              <a:t>제품</a:t>
            </a:r>
            <a:r>
              <a:rPr lang="en-US" altLang="ko-KR" dirty="0"/>
              <a:t>/</a:t>
            </a:r>
            <a:r>
              <a:rPr lang="ko-KR" altLang="en-US" dirty="0"/>
              <a:t>서비스에 실질적으로 활용되도록 신뢰성 검증</a:t>
            </a:r>
            <a:endParaRPr lang="en-US" altLang="ko-KR" dirty="0"/>
          </a:p>
          <a:p>
            <a:r>
              <a:rPr lang="en-US" altLang="ko-KR" u="sng" dirty="0"/>
              <a:t>EU</a:t>
            </a:r>
            <a:r>
              <a:rPr lang="ko-KR" altLang="en-US" u="sng" dirty="0"/>
              <a:t>의 </a:t>
            </a:r>
            <a:r>
              <a:rPr lang="en-US" altLang="ko-KR" u="sng" dirty="0"/>
              <a:t>ALTAI(</a:t>
            </a:r>
            <a:r>
              <a:rPr lang="ko-KR" altLang="en-US" u="sng" dirty="0"/>
              <a:t>신뢰할 수 있는 </a:t>
            </a:r>
            <a:r>
              <a:rPr lang="en-US" altLang="ko-KR" u="sng" dirty="0"/>
              <a:t>AI </a:t>
            </a:r>
            <a:r>
              <a:rPr lang="ko-KR" altLang="en-US" u="sng" dirty="0"/>
              <a:t>자체평가목록</a:t>
            </a:r>
            <a:r>
              <a:rPr lang="en-US" altLang="ko-KR" u="sng" dirty="0"/>
              <a:t>)</a:t>
            </a:r>
            <a:r>
              <a:rPr lang="ko-KR" altLang="en-US" dirty="0"/>
              <a:t>와 비교하여 국제적 정합성</a:t>
            </a:r>
            <a:r>
              <a:rPr lang="en-US" altLang="ko-KR" dirty="0"/>
              <a:t>·</a:t>
            </a:r>
            <a:r>
              <a:rPr lang="ko-KR" altLang="en-US" dirty="0"/>
              <a:t>차별성</a:t>
            </a:r>
            <a:r>
              <a:rPr lang="en-US" altLang="ko-KR" dirty="0"/>
              <a:t>·</a:t>
            </a:r>
            <a:r>
              <a:rPr lang="ko-KR" altLang="en-US" dirty="0"/>
              <a:t>호환성 분석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3. </a:t>
            </a:r>
            <a:r>
              <a:rPr lang="ko-KR" altLang="en-US" b="1" dirty="0"/>
              <a:t>연구 방법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문헌 분석 </a:t>
            </a:r>
            <a:r>
              <a:rPr lang="en-US" altLang="ko-KR" dirty="0"/>
              <a:t>: </a:t>
            </a:r>
            <a:r>
              <a:rPr lang="ko-KR" altLang="en-US" dirty="0"/>
              <a:t>국내외 </a:t>
            </a:r>
            <a:r>
              <a:rPr lang="en-US" altLang="ko-KR" dirty="0"/>
              <a:t>AI </a:t>
            </a:r>
            <a:r>
              <a:rPr lang="ko-KR" altLang="en-US" dirty="0"/>
              <a:t>윤리 가이드라인</a:t>
            </a:r>
            <a:r>
              <a:rPr lang="en-US" altLang="ko-KR" dirty="0"/>
              <a:t>, </a:t>
            </a:r>
            <a:r>
              <a:rPr lang="ko-KR" altLang="en-US" dirty="0"/>
              <a:t>헌장</a:t>
            </a:r>
            <a:r>
              <a:rPr lang="en-US" altLang="ko-KR" dirty="0"/>
              <a:t>, </a:t>
            </a:r>
            <a:r>
              <a:rPr lang="ko-KR" altLang="en-US" dirty="0"/>
              <a:t>정책</a:t>
            </a:r>
            <a:r>
              <a:rPr lang="en-US" altLang="ko-KR" dirty="0"/>
              <a:t>, </a:t>
            </a:r>
            <a:r>
              <a:rPr lang="ko-KR" altLang="en-US" dirty="0"/>
              <a:t>국제표준</a:t>
            </a:r>
            <a:r>
              <a:rPr lang="en-US" altLang="ko-KR" dirty="0"/>
              <a:t>(IEEE, EU, ISO </a:t>
            </a:r>
            <a:r>
              <a:rPr lang="ko-KR" altLang="en-US" dirty="0"/>
              <a:t>등</a:t>
            </a:r>
            <a:r>
              <a:rPr lang="en-US" altLang="ko-KR" dirty="0"/>
              <a:t>) </a:t>
            </a:r>
            <a:r>
              <a:rPr lang="ko-KR" altLang="en-US" dirty="0"/>
              <a:t>분석</a:t>
            </a:r>
            <a:endParaRPr lang="en-US" altLang="ko-KR" dirty="0"/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전문가 조사 </a:t>
            </a:r>
            <a:r>
              <a:rPr lang="en-US" altLang="ko-KR" dirty="0"/>
              <a:t>: </a:t>
            </a:r>
            <a:r>
              <a:rPr lang="ko-KR" altLang="en-US" dirty="0"/>
              <a:t>전문가 </a:t>
            </a:r>
            <a:r>
              <a:rPr lang="en-US" altLang="ko-KR" dirty="0"/>
              <a:t>FGI 3</a:t>
            </a:r>
            <a:r>
              <a:rPr lang="ko-KR" altLang="en-US" dirty="0"/>
              <a:t>회</a:t>
            </a:r>
            <a:r>
              <a:rPr lang="en-US" altLang="ko-KR" dirty="0"/>
              <a:t>(</a:t>
            </a:r>
            <a:r>
              <a:rPr lang="ko-KR" altLang="en-US" dirty="0"/>
              <a:t>총 </a:t>
            </a:r>
            <a:r>
              <a:rPr lang="en-US" altLang="ko-KR" dirty="0"/>
              <a:t>30</a:t>
            </a:r>
            <a:r>
              <a:rPr lang="ko-KR" altLang="en-US" dirty="0"/>
              <a:t>명</a:t>
            </a:r>
            <a:r>
              <a:rPr lang="en-US" altLang="ko-KR" dirty="0"/>
              <a:t>), Delphi 2</a:t>
            </a:r>
            <a:r>
              <a:rPr lang="ko-KR" altLang="en-US" dirty="0"/>
              <a:t>회 설문조사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지표 개발 </a:t>
            </a:r>
            <a:r>
              <a:rPr lang="en-US" altLang="ko-KR" dirty="0"/>
              <a:t>: </a:t>
            </a:r>
            <a:r>
              <a:rPr lang="ko-KR" altLang="en-US" dirty="0"/>
              <a:t>선행 </a:t>
            </a:r>
            <a:r>
              <a:rPr lang="en-US" altLang="ko-KR" dirty="0"/>
              <a:t>40</a:t>
            </a:r>
            <a:r>
              <a:rPr lang="ko-KR" altLang="en-US" dirty="0"/>
              <a:t>개 지표 </a:t>
            </a:r>
            <a:r>
              <a:rPr lang="en-US" altLang="ko-KR" dirty="0"/>
              <a:t>+ FGI </a:t>
            </a:r>
            <a:r>
              <a:rPr lang="ko-KR" altLang="en-US" dirty="0"/>
              <a:t>기반 </a:t>
            </a:r>
            <a:r>
              <a:rPr lang="en-US" altLang="ko-KR" dirty="0"/>
              <a:t>55</a:t>
            </a:r>
            <a:r>
              <a:rPr lang="ko-KR" altLang="en-US" dirty="0"/>
              <a:t>개 도출 → 델파이로 </a:t>
            </a:r>
            <a:r>
              <a:rPr lang="en-US" altLang="ko-KR" dirty="0"/>
              <a:t>50</a:t>
            </a:r>
            <a:r>
              <a:rPr lang="ko-KR" altLang="en-US" dirty="0"/>
              <a:t>개 확정</a:t>
            </a:r>
            <a:endParaRPr lang="en-US" altLang="ko-KR" dirty="0"/>
          </a:p>
          <a:p>
            <a:r>
              <a:rPr lang="en-US" altLang="ko-KR" dirty="0"/>
              <a:t>             </a:t>
            </a:r>
            <a:r>
              <a:rPr lang="ko-KR" altLang="en-US" dirty="0"/>
              <a:t> → 기존 지표와 통합하여 </a:t>
            </a:r>
            <a:r>
              <a:rPr lang="en-US" altLang="ko-KR" dirty="0"/>
              <a:t>90</a:t>
            </a:r>
            <a:r>
              <a:rPr lang="ko-KR" altLang="en-US" dirty="0"/>
              <a:t>개 후보지표 구성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신뢰성 검증 </a:t>
            </a:r>
            <a:r>
              <a:rPr lang="en-US" altLang="ko-KR" dirty="0"/>
              <a:t>: 164</a:t>
            </a:r>
            <a:r>
              <a:rPr lang="ko-KR" altLang="en-US" dirty="0"/>
              <a:t>명 대상 설문조사</a:t>
            </a:r>
            <a:r>
              <a:rPr lang="en-US" altLang="ko-KR" dirty="0"/>
              <a:t>(SPSS </a:t>
            </a:r>
            <a:r>
              <a:rPr lang="ko-KR" altLang="en-US" dirty="0"/>
              <a:t>분석</a:t>
            </a:r>
            <a:r>
              <a:rPr lang="en-US" altLang="ko-KR" dirty="0"/>
              <a:t>: </a:t>
            </a:r>
            <a:r>
              <a:rPr lang="ko-KR" altLang="en-US" dirty="0"/>
              <a:t>타당도</a:t>
            </a:r>
            <a:r>
              <a:rPr lang="en-US" altLang="ko-KR" dirty="0"/>
              <a:t>, </a:t>
            </a:r>
            <a:r>
              <a:rPr lang="ko-KR" altLang="en-US" dirty="0"/>
              <a:t>신뢰도</a:t>
            </a:r>
            <a:r>
              <a:rPr lang="en-US" altLang="ko-KR" dirty="0"/>
              <a:t>, </a:t>
            </a:r>
            <a:r>
              <a:rPr lang="ko-KR" altLang="en-US" dirty="0"/>
              <a:t>상관관계</a:t>
            </a:r>
            <a:r>
              <a:rPr lang="en-US" altLang="ko-KR" dirty="0"/>
              <a:t>, </a:t>
            </a:r>
            <a:r>
              <a:rPr lang="ko-KR" altLang="en-US" dirty="0"/>
              <a:t>요인분석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- ALTAI</a:t>
            </a:r>
            <a:r>
              <a:rPr lang="ko-KR" altLang="en-US" dirty="0"/>
              <a:t>와의 매핑 </a:t>
            </a:r>
            <a:r>
              <a:rPr lang="en-US" altLang="ko-KR" dirty="0"/>
              <a:t>: EMI-AI 86</a:t>
            </a:r>
            <a:r>
              <a:rPr lang="ko-KR" altLang="en-US" dirty="0"/>
              <a:t>개 </a:t>
            </a:r>
            <a:r>
              <a:rPr lang="en-US" altLang="ko-KR" dirty="0"/>
              <a:t>vs. ALTAI 69</a:t>
            </a:r>
            <a:r>
              <a:rPr lang="ko-KR" altLang="en-US" dirty="0"/>
              <a:t>개 관계성 분석</a:t>
            </a:r>
            <a:endParaRPr lang="ko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A91A94-8262-4289-99FC-BF4BCF9CD55B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【6】</a:t>
            </a:r>
          </a:p>
        </p:txBody>
      </p:sp>
    </p:spTree>
    <p:extLst>
      <p:ext uri="{BB962C8B-B14F-4D97-AF65-F5344CB8AC3E}">
        <p14:creationId xmlns:p14="http://schemas.microsoft.com/office/powerpoint/2010/main" val="4047195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010AB-8B1D-9AD2-36CA-D75F7769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BB64BE-FBC2-1394-1E0E-FB2F098F7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7660641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138FCB-8B72-3766-8BA8-FDB94EBC355D}"/>
              </a:ext>
            </a:extLst>
          </p:cNvPr>
          <p:cNvSpPr txBox="1"/>
          <p:nvPr/>
        </p:nvSpPr>
        <p:spPr>
          <a:xfrm>
            <a:off x="628141" y="132961"/>
            <a:ext cx="65453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윤리원칙 분류 모형 및 윤리 측정지표 개발과 </a:t>
            </a:r>
            <a:endParaRPr lang="en-US" altLang="ko-KR" sz="2000" b="1" dirty="0"/>
          </a:p>
          <a:p>
            <a:r>
              <a:rPr lang="ko-KR" altLang="en-US" sz="2000" b="1" dirty="0"/>
              <a:t>신뢰성에 관한 연구</a:t>
            </a:r>
            <a:r>
              <a:rPr lang="en-US" altLang="ko-KR" b="1" dirty="0"/>
              <a:t>(</a:t>
            </a:r>
            <a:r>
              <a:rPr lang="ko-KR" altLang="en-US" b="1" dirty="0"/>
              <a:t>소순주</a:t>
            </a:r>
            <a:r>
              <a:rPr lang="en-US" altLang="ko-KR" b="1" dirty="0"/>
              <a:t>, 2023)(2/4)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DBE4D8-71F7-4B7F-6238-59694DD8FD0E}"/>
              </a:ext>
            </a:extLst>
          </p:cNvPr>
          <p:cNvSpPr txBox="1"/>
          <p:nvPr/>
        </p:nvSpPr>
        <p:spPr>
          <a:xfrm>
            <a:off x="11772" y="1220153"/>
            <a:ext cx="12180228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4. </a:t>
            </a:r>
            <a:r>
              <a:rPr lang="ko-KR" altLang="en-US" b="1" dirty="0"/>
              <a:t>연구 데이터</a:t>
            </a:r>
          </a:p>
          <a:p>
            <a:r>
              <a:rPr lang="ko-KR" altLang="en-US" dirty="0"/>
              <a:t>전문가 그룹</a:t>
            </a:r>
            <a:r>
              <a:rPr lang="en-US" altLang="ko-KR" dirty="0"/>
              <a:t>: 30</a:t>
            </a:r>
            <a:r>
              <a:rPr lang="ko-KR" altLang="en-US" dirty="0"/>
              <a:t>명</a:t>
            </a:r>
            <a:r>
              <a:rPr lang="en-US" altLang="ko-KR" dirty="0"/>
              <a:t>, </a:t>
            </a:r>
            <a:r>
              <a:rPr lang="ko-KR" altLang="en-US" dirty="0"/>
              <a:t>설문조사</a:t>
            </a:r>
            <a:r>
              <a:rPr lang="en-US" altLang="ko-KR" dirty="0"/>
              <a:t>: 200</a:t>
            </a:r>
            <a:r>
              <a:rPr lang="ko-KR" altLang="en-US" dirty="0"/>
              <a:t>명 배포 → </a:t>
            </a:r>
            <a:r>
              <a:rPr lang="en-US" altLang="ko-KR" dirty="0"/>
              <a:t>164</a:t>
            </a:r>
            <a:r>
              <a:rPr lang="ko-KR" altLang="en-US" dirty="0"/>
              <a:t>명 응답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해외 가이드라인</a:t>
            </a:r>
            <a:r>
              <a:rPr lang="en-US" altLang="ko-KR" dirty="0"/>
              <a:t>(EU, IEEE, </a:t>
            </a:r>
            <a:r>
              <a:rPr lang="ko-KR" altLang="en-US" dirty="0"/>
              <a:t>미국 </a:t>
            </a:r>
            <a:r>
              <a:rPr lang="en-US" altLang="ko-KR" dirty="0"/>
              <a:t>FTC </a:t>
            </a:r>
            <a:r>
              <a:rPr lang="ko-KR" altLang="en-US" dirty="0"/>
              <a:t>등</a:t>
            </a:r>
            <a:r>
              <a:rPr lang="en-US" altLang="ko-KR" dirty="0"/>
              <a:t>), </a:t>
            </a:r>
            <a:r>
              <a:rPr lang="ko-KR" altLang="en-US" dirty="0"/>
              <a:t>국내 정책</a:t>
            </a:r>
            <a:r>
              <a:rPr lang="en-US" altLang="ko-KR" dirty="0"/>
              <a:t>(</a:t>
            </a:r>
            <a:r>
              <a:rPr lang="ko-KR" altLang="en-US" dirty="0"/>
              <a:t>국가 </a:t>
            </a:r>
            <a:r>
              <a:rPr lang="en-US" altLang="ko-KR" dirty="0"/>
              <a:t>AI </a:t>
            </a:r>
            <a:r>
              <a:rPr lang="ko-KR" altLang="en-US" dirty="0"/>
              <a:t>윤리기준</a:t>
            </a:r>
            <a:r>
              <a:rPr lang="en-US" altLang="ko-KR" dirty="0"/>
              <a:t>, </a:t>
            </a:r>
            <a:r>
              <a:rPr lang="ko-KR" altLang="en-US" dirty="0"/>
              <a:t>교육부</a:t>
            </a:r>
            <a:r>
              <a:rPr lang="en-US" altLang="ko-KR" dirty="0"/>
              <a:t>/</a:t>
            </a:r>
            <a:r>
              <a:rPr lang="ko-KR" altLang="en-US" dirty="0"/>
              <a:t>방통위 지침 등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선행 연구 결과</a:t>
            </a:r>
            <a:r>
              <a:rPr lang="en-US" altLang="ko-KR" dirty="0"/>
              <a:t>(</a:t>
            </a:r>
            <a:r>
              <a:rPr lang="ko-KR" altLang="en-US" dirty="0"/>
              <a:t>윤리원칙 모형</a:t>
            </a:r>
            <a:r>
              <a:rPr lang="en-US" altLang="ko-KR" dirty="0"/>
              <a:t>, 40</a:t>
            </a:r>
            <a:r>
              <a:rPr lang="ko-KR" altLang="en-US" dirty="0"/>
              <a:t>개 측정지표</a:t>
            </a:r>
            <a:r>
              <a:rPr lang="en-US" altLang="ko-KR" dirty="0"/>
              <a:t>), </a:t>
            </a:r>
            <a:r>
              <a:rPr lang="ko-KR" altLang="en-US" dirty="0"/>
              <a:t>다양한 법</a:t>
            </a:r>
            <a:r>
              <a:rPr lang="en-US" altLang="ko-KR" dirty="0"/>
              <a:t>·</a:t>
            </a:r>
            <a:r>
              <a:rPr lang="ko-KR" altLang="en-US" dirty="0"/>
              <a:t>제도</a:t>
            </a:r>
            <a:r>
              <a:rPr lang="en-US" altLang="ko-KR" dirty="0"/>
              <a:t>·</a:t>
            </a:r>
            <a:r>
              <a:rPr lang="ko-KR" altLang="en-US" dirty="0"/>
              <a:t>문헌</a:t>
            </a:r>
            <a:r>
              <a:rPr lang="en-US" altLang="ko-KR" dirty="0"/>
              <a:t>·</a:t>
            </a:r>
            <a:r>
              <a:rPr lang="ko-KR" altLang="en-US" dirty="0"/>
              <a:t>사례 분석 자료</a:t>
            </a:r>
          </a:p>
          <a:p>
            <a:endParaRPr lang="ko-KR" altLang="en-US" dirty="0"/>
          </a:p>
          <a:p>
            <a:r>
              <a:rPr lang="en-US" altLang="ko-KR" b="1" dirty="0"/>
              <a:t>5. </a:t>
            </a:r>
            <a:r>
              <a:rPr lang="ko-KR" altLang="en-US" b="1" dirty="0"/>
              <a:t>연구 결과 </a:t>
            </a:r>
            <a:r>
              <a:rPr lang="ko-KR" altLang="en-US" dirty="0"/>
              <a:t> </a:t>
            </a:r>
            <a:r>
              <a:rPr lang="en-US" altLang="ko-KR" dirty="0"/>
              <a:t>: EMI-AI</a:t>
            </a:r>
            <a:r>
              <a:rPr lang="ko-KR" altLang="en-US" dirty="0"/>
              <a:t>는 국내 현실 </a:t>
            </a:r>
            <a:r>
              <a:rPr lang="en-US" altLang="ko-KR" dirty="0"/>
              <a:t>+ </a:t>
            </a:r>
            <a:r>
              <a:rPr lang="ko-KR" altLang="en-US" dirty="0"/>
              <a:t>국제 기준을 모두 반영한 범용 윤리지표 체계로 적합</a:t>
            </a:r>
            <a:endParaRPr lang="en-US" altLang="ko-KR" dirty="0"/>
          </a:p>
          <a:p>
            <a:r>
              <a:rPr lang="en-US" altLang="ko-KR" dirty="0"/>
              <a:t>90</a:t>
            </a:r>
            <a:r>
              <a:rPr lang="ko-KR" altLang="en-US" dirty="0"/>
              <a:t>개 항목 중 </a:t>
            </a:r>
            <a:r>
              <a:rPr lang="en-US" altLang="ko-KR" dirty="0"/>
              <a:t>86</a:t>
            </a:r>
            <a:r>
              <a:rPr lang="ko-KR" altLang="en-US" dirty="0"/>
              <a:t>개 윤리 측정지표</a:t>
            </a:r>
            <a:r>
              <a:rPr lang="en-US" altLang="ko-KR" dirty="0"/>
              <a:t>(EMI-AI)</a:t>
            </a:r>
            <a:r>
              <a:rPr lang="ko-KR" altLang="en-US" dirty="0"/>
              <a:t>가 높은 신뢰성</a:t>
            </a:r>
            <a:r>
              <a:rPr lang="en-US" altLang="ko-KR" dirty="0"/>
              <a:t>·</a:t>
            </a:r>
            <a:r>
              <a:rPr lang="ko-KR" altLang="en-US" dirty="0"/>
              <a:t>타당성 확보하 한국형 </a:t>
            </a:r>
            <a:r>
              <a:rPr lang="en-US" altLang="ko-KR" dirty="0"/>
              <a:t>AI </a:t>
            </a:r>
            <a:r>
              <a:rPr lang="ko-KR" altLang="en-US" dirty="0"/>
              <a:t>윤리 측정지표로 확정</a:t>
            </a:r>
          </a:p>
          <a:p>
            <a:r>
              <a:rPr lang="en-US" altLang="ko-KR" dirty="0"/>
              <a:t>KMO = 0.914, Bartlett </a:t>
            </a:r>
            <a:r>
              <a:rPr lang="ko-KR" altLang="en-US" dirty="0"/>
              <a:t>유의확률 </a:t>
            </a:r>
            <a:r>
              <a:rPr lang="en-US" altLang="ko-KR" dirty="0"/>
              <a:t>0.000 → </a:t>
            </a:r>
            <a:r>
              <a:rPr lang="ko-KR" altLang="en-US" dirty="0"/>
              <a:t>요인분석 적합</a:t>
            </a:r>
          </a:p>
          <a:p>
            <a:r>
              <a:rPr lang="en-US" altLang="ko-KR" dirty="0"/>
              <a:t>Cronbach α 0.8 </a:t>
            </a:r>
            <a:r>
              <a:rPr lang="ko-KR" altLang="en-US" dirty="0"/>
              <a:t>이상 → 높은 신뢰도</a:t>
            </a:r>
          </a:p>
          <a:p>
            <a:r>
              <a:rPr lang="ko-KR" altLang="en-US" dirty="0"/>
              <a:t>상관관계 분석</a:t>
            </a:r>
            <a:r>
              <a:rPr lang="en-US" altLang="ko-KR" dirty="0"/>
              <a:t>: </a:t>
            </a:r>
            <a:r>
              <a:rPr lang="ko-KR" altLang="en-US" dirty="0"/>
              <a:t>대부분 </a:t>
            </a:r>
            <a:r>
              <a:rPr lang="en-US" altLang="ko-KR" dirty="0"/>
              <a:t>0.4~0.9</a:t>
            </a:r>
            <a:r>
              <a:rPr lang="ko-KR" altLang="en-US" dirty="0"/>
              <a:t>로 신뢰성 변수와 강한 연관</a:t>
            </a:r>
          </a:p>
          <a:p>
            <a:r>
              <a:rPr lang="en-US" altLang="ko-KR" dirty="0"/>
              <a:t>ALTAI </a:t>
            </a:r>
            <a:r>
              <a:rPr lang="ko-KR" altLang="en-US" dirty="0"/>
              <a:t>비교 </a:t>
            </a:r>
            <a:r>
              <a:rPr lang="en-US" altLang="ko-KR" dirty="0"/>
              <a:t>: 61</a:t>
            </a:r>
            <a:r>
              <a:rPr lang="ko-KR" altLang="en-US" dirty="0"/>
              <a:t>개 항목이 유사 또는 공통</a:t>
            </a:r>
            <a:r>
              <a:rPr lang="en-US" altLang="ko-KR" dirty="0"/>
              <a:t>, EMI-AI </a:t>
            </a:r>
            <a:r>
              <a:rPr lang="ko-KR" altLang="en-US" dirty="0"/>
              <a:t>독자 항목 </a:t>
            </a:r>
            <a:r>
              <a:rPr lang="en-US" altLang="ko-KR" dirty="0"/>
              <a:t>18</a:t>
            </a:r>
            <a:r>
              <a:rPr lang="ko-KR" altLang="en-US" dirty="0"/>
              <a:t>개</a:t>
            </a:r>
            <a:r>
              <a:rPr lang="en-US" altLang="ko-KR" dirty="0"/>
              <a:t>, ALTAI </a:t>
            </a:r>
            <a:r>
              <a:rPr lang="ko-KR" altLang="en-US" dirty="0"/>
              <a:t>독자 항목 </a:t>
            </a:r>
            <a:r>
              <a:rPr lang="en-US" altLang="ko-KR" dirty="0"/>
              <a:t>8</a:t>
            </a:r>
            <a:r>
              <a:rPr lang="ko-KR" altLang="en-US" dirty="0"/>
              <a:t>개</a:t>
            </a:r>
          </a:p>
          <a:p>
            <a:endParaRPr lang="en-US" altLang="ko-KR" dirty="0"/>
          </a:p>
          <a:p>
            <a:r>
              <a:rPr lang="en-US" altLang="ko-KR" b="1" dirty="0"/>
              <a:t>6. </a:t>
            </a:r>
            <a:r>
              <a:rPr lang="ko-KR" altLang="en-US" b="1" dirty="0"/>
              <a:t>측정 지표 내용</a:t>
            </a:r>
            <a:r>
              <a:rPr lang="ko-KR" altLang="en-US" dirty="0"/>
              <a:t> </a:t>
            </a:r>
            <a:r>
              <a:rPr lang="en-US" altLang="ko-KR" dirty="0"/>
              <a:t>: 5</a:t>
            </a:r>
            <a:r>
              <a:rPr lang="ko-KR" altLang="en-US" dirty="0"/>
              <a:t>대 윤리원칙 </a:t>
            </a:r>
            <a:r>
              <a:rPr lang="en-US" altLang="ko-KR" dirty="0"/>
              <a:t>+ 20</a:t>
            </a:r>
            <a:r>
              <a:rPr lang="ko-KR" altLang="en-US" dirty="0"/>
              <a:t>개 구성요소 </a:t>
            </a:r>
            <a:r>
              <a:rPr lang="en-US" altLang="ko-KR" dirty="0"/>
              <a:t>+ 86</a:t>
            </a:r>
            <a:r>
              <a:rPr lang="ko-KR" altLang="en-US" dirty="0"/>
              <a:t>개 세부 지표</a:t>
            </a:r>
          </a:p>
          <a:p>
            <a:r>
              <a:rPr lang="ko-KR" altLang="en-US" sz="1600" dirty="0"/>
              <a:t>① 투명성</a:t>
            </a:r>
            <a:r>
              <a:rPr lang="en-US" altLang="ko-KR" sz="1600" dirty="0"/>
              <a:t>(Transparency) : </a:t>
            </a:r>
            <a:r>
              <a:rPr lang="ko-KR" altLang="en-US" sz="1600" dirty="0"/>
              <a:t>설명가능</a:t>
            </a:r>
            <a:r>
              <a:rPr lang="en-US" altLang="ko-KR" sz="1600" dirty="0"/>
              <a:t>, </a:t>
            </a:r>
            <a:r>
              <a:rPr lang="ko-KR" altLang="en-US" sz="1600" dirty="0"/>
              <a:t>추적가능</a:t>
            </a:r>
            <a:r>
              <a:rPr lang="en-US" altLang="ko-KR" sz="1600" dirty="0"/>
              <a:t>, </a:t>
            </a:r>
            <a:r>
              <a:rPr lang="ko-KR" altLang="en-US" sz="1600" dirty="0"/>
              <a:t>검증가능</a:t>
            </a:r>
            <a:r>
              <a:rPr lang="en-US" altLang="ko-KR" sz="1600" dirty="0"/>
              <a:t>, </a:t>
            </a:r>
            <a:r>
              <a:rPr lang="ko-KR" altLang="en-US" sz="1600" dirty="0"/>
              <a:t>식별가능 → 알고리즘 의사결정 과정 제공</a:t>
            </a:r>
            <a:r>
              <a:rPr lang="en-US" altLang="ko-KR" sz="1600" dirty="0"/>
              <a:t>, </a:t>
            </a:r>
            <a:r>
              <a:rPr lang="ko-KR" altLang="en-US" sz="1600" dirty="0"/>
              <a:t>로그 기록</a:t>
            </a:r>
            <a:r>
              <a:rPr lang="en-US" altLang="ko-KR" sz="1600" dirty="0"/>
              <a:t>, </a:t>
            </a:r>
            <a:r>
              <a:rPr lang="ko-KR" altLang="en-US" sz="1600" dirty="0"/>
              <a:t>데이터 근원 추적 등</a:t>
            </a:r>
          </a:p>
          <a:p>
            <a:r>
              <a:rPr lang="ko-KR" altLang="en-US" sz="1600" dirty="0"/>
              <a:t>② 책무성</a:t>
            </a:r>
            <a:r>
              <a:rPr lang="en-US" altLang="ko-KR" sz="1600" dirty="0"/>
              <a:t>(Accountability) : </a:t>
            </a:r>
            <a:r>
              <a:rPr lang="ko-KR" altLang="en-US" sz="1600" dirty="0"/>
              <a:t>준법성</a:t>
            </a:r>
            <a:r>
              <a:rPr lang="en-US" altLang="ko-KR" sz="1600" dirty="0"/>
              <a:t>, </a:t>
            </a:r>
            <a:r>
              <a:rPr lang="ko-KR" altLang="en-US" sz="1600" dirty="0"/>
              <a:t>책임 식별성</a:t>
            </a:r>
            <a:r>
              <a:rPr lang="en-US" altLang="ko-KR" sz="1600" dirty="0"/>
              <a:t>, </a:t>
            </a:r>
            <a:r>
              <a:rPr lang="ko-KR" altLang="en-US" sz="1600" dirty="0"/>
              <a:t>개발 표준성</a:t>
            </a:r>
            <a:r>
              <a:rPr lang="en-US" altLang="ko-KR" sz="1600" dirty="0"/>
              <a:t>, </a:t>
            </a:r>
            <a:r>
              <a:rPr lang="ko-KR" altLang="en-US" sz="1600" dirty="0"/>
              <a:t>이용자 책임성 → 법</a:t>
            </a:r>
            <a:r>
              <a:rPr lang="en-US" altLang="ko-KR" sz="1600" dirty="0"/>
              <a:t>·</a:t>
            </a:r>
            <a:r>
              <a:rPr lang="ko-KR" altLang="en-US" sz="1600" dirty="0"/>
              <a:t>제도 준수</a:t>
            </a:r>
            <a:r>
              <a:rPr lang="en-US" altLang="ko-KR" sz="1600" dirty="0"/>
              <a:t>, </a:t>
            </a:r>
            <a:r>
              <a:rPr lang="ko-KR" altLang="en-US" sz="1600" dirty="0"/>
              <a:t>개인정보 동의</a:t>
            </a:r>
            <a:r>
              <a:rPr lang="en-US" altLang="ko-KR" sz="1600" dirty="0"/>
              <a:t>, </a:t>
            </a:r>
            <a:r>
              <a:rPr lang="ko-KR" altLang="en-US" sz="1600" dirty="0"/>
              <a:t>역할</a:t>
            </a:r>
            <a:r>
              <a:rPr lang="en-US" altLang="ko-KR" sz="1600" dirty="0"/>
              <a:t>·</a:t>
            </a:r>
            <a:r>
              <a:rPr lang="ko-KR" altLang="en-US" sz="1600" dirty="0"/>
              <a:t>책임 명확화 등 </a:t>
            </a:r>
            <a:endParaRPr lang="en-US" altLang="ko-KR" sz="1600" dirty="0"/>
          </a:p>
          <a:p>
            <a:r>
              <a:rPr lang="ko-KR" altLang="en-US" sz="1600" dirty="0"/>
              <a:t>③ 공정성</a:t>
            </a:r>
            <a:r>
              <a:rPr lang="en-US" altLang="ko-KR" sz="1600" dirty="0"/>
              <a:t>(Fairness) : </a:t>
            </a:r>
            <a:r>
              <a:rPr lang="ko-KR" altLang="en-US" sz="1600" dirty="0"/>
              <a:t>알고리즘 차별성</a:t>
            </a:r>
            <a:r>
              <a:rPr lang="en-US" altLang="ko-KR" sz="1600" dirty="0"/>
              <a:t>, </a:t>
            </a:r>
            <a:r>
              <a:rPr lang="ko-KR" altLang="en-US" sz="1600" dirty="0"/>
              <a:t>데이터 편향성</a:t>
            </a:r>
            <a:r>
              <a:rPr lang="en-US" altLang="ko-KR" sz="1600" dirty="0"/>
              <a:t>, </a:t>
            </a:r>
            <a:r>
              <a:rPr lang="ko-KR" altLang="en-US" sz="1600" dirty="0"/>
              <a:t>접근성</a:t>
            </a:r>
            <a:r>
              <a:rPr lang="en-US" altLang="ko-KR" sz="1600" dirty="0"/>
              <a:t>, </a:t>
            </a:r>
            <a:r>
              <a:rPr lang="ko-KR" altLang="en-US" sz="1600" dirty="0"/>
              <a:t>공공성 → 편향 제거</a:t>
            </a:r>
            <a:r>
              <a:rPr lang="en-US" altLang="ko-KR" sz="1600" dirty="0"/>
              <a:t>, </a:t>
            </a:r>
            <a:r>
              <a:rPr lang="ko-KR" altLang="en-US" sz="1600" dirty="0"/>
              <a:t>데이터 품질 확보</a:t>
            </a:r>
            <a:r>
              <a:rPr lang="en-US" altLang="ko-KR" sz="1600" dirty="0"/>
              <a:t>, </a:t>
            </a:r>
            <a:r>
              <a:rPr lang="ko-KR" altLang="en-US" sz="1600" dirty="0"/>
              <a:t>취약계층 고려 등</a:t>
            </a:r>
          </a:p>
          <a:p>
            <a:r>
              <a:rPr lang="ko-KR" altLang="en-US" sz="1600" dirty="0"/>
              <a:t>④ 통제성</a:t>
            </a:r>
            <a:r>
              <a:rPr lang="en-US" altLang="ko-KR" sz="1600" dirty="0"/>
              <a:t>(Controllability) : </a:t>
            </a:r>
            <a:r>
              <a:rPr lang="ko-KR" altLang="en-US" sz="1600" dirty="0"/>
              <a:t>제어 가능성</a:t>
            </a:r>
            <a:r>
              <a:rPr lang="en-US" altLang="ko-KR" sz="1600" dirty="0"/>
              <a:t>, </a:t>
            </a:r>
            <a:r>
              <a:rPr lang="ko-KR" altLang="en-US" sz="1600" dirty="0"/>
              <a:t>이용자 주도성</a:t>
            </a:r>
            <a:r>
              <a:rPr lang="en-US" altLang="ko-KR" sz="1600" dirty="0"/>
              <a:t>, </a:t>
            </a:r>
            <a:r>
              <a:rPr lang="ko-KR" altLang="en-US" sz="1600" dirty="0"/>
              <a:t>모니터링 → 비상정지 기능</a:t>
            </a:r>
            <a:r>
              <a:rPr lang="en-US" altLang="ko-KR" sz="1600" dirty="0"/>
              <a:t>, </a:t>
            </a:r>
            <a:r>
              <a:rPr lang="ko-KR" altLang="en-US" sz="1600" dirty="0"/>
              <a:t>이용자 데이터 삭제권</a:t>
            </a:r>
            <a:r>
              <a:rPr lang="en-US" altLang="ko-KR" sz="1600" dirty="0"/>
              <a:t>, </a:t>
            </a:r>
            <a:r>
              <a:rPr lang="ko-KR" altLang="en-US" sz="1600" dirty="0"/>
              <a:t>오작동 감시 등</a:t>
            </a:r>
          </a:p>
          <a:p>
            <a:r>
              <a:rPr lang="ko-KR" altLang="en-US" sz="1600" dirty="0"/>
              <a:t>⑤ 안전성</a:t>
            </a:r>
            <a:r>
              <a:rPr lang="en-US" altLang="ko-KR" sz="1600" dirty="0"/>
              <a:t>(Safety) : </a:t>
            </a:r>
            <a:r>
              <a:rPr lang="ko-KR" altLang="en-US" sz="1600" dirty="0"/>
              <a:t>견고성</a:t>
            </a:r>
            <a:r>
              <a:rPr lang="en-US" altLang="ko-KR" sz="1600" dirty="0"/>
              <a:t>, </a:t>
            </a:r>
            <a:r>
              <a:rPr lang="ko-KR" altLang="en-US" sz="1600" dirty="0"/>
              <a:t>보안성</a:t>
            </a:r>
            <a:r>
              <a:rPr lang="en-US" altLang="ko-KR" sz="1600" dirty="0"/>
              <a:t>, </a:t>
            </a:r>
            <a:r>
              <a:rPr lang="ko-KR" altLang="en-US" sz="1600" dirty="0"/>
              <a:t>프라이버시 보호</a:t>
            </a:r>
            <a:r>
              <a:rPr lang="en-US" altLang="ko-KR" sz="1600" dirty="0"/>
              <a:t>, </a:t>
            </a:r>
            <a:r>
              <a:rPr lang="ko-KR" altLang="en-US" sz="1600" dirty="0"/>
              <a:t>가치 정렬 → 보안 공격 방어</a:t>
            </a:r>
            <a:r>
              <a:rPr lang="en-US" altLang="ko-KR" sz="1600" dirty="0"/>
              <a:t>, </a:t>
            </a:r>
            <a:r>
              <a:rPr lang="ko-KR" altLang="en-US" sz="1600" dirty="0"/>
              <a:t>안전성 테스트</a:t>
            </a:r>
            <a:r>
              <a:rPr lang="en-US" altLang="ko-KR" sz="1600" dirty="0"/>
              <a:t>, </a:t>
            </a:r>
            <a:r>
              <a:rPr lang="ko-KR" altLang="en-US" sz="1600" dirty="0"/>
              <a:t>개인정보 보호</a:t>
            </a:r>
            <a:r>
              <a:rPr lang="en-US" altLang="ko-KR" sz="1600" dirty="0"/>
              <a:t>, </a:t>
            </a:r>
            <a:r>
              <a:rPr lang="ko-KR" altLang="en-US" sz="1600" dirty="0"/>
              <a:t>의도된 목적 부합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501D0B-4934-45F5-B731-2BEBDE7BDE1A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【6】</a:t>
            </a:r>
          </a:p>
        </p:txBody>
      </p:sp>
    </p:spTree>
    <p:extLst>
      <p:ext uri="{BB962C8B-B14F-4D97-AF65-F5344CB8AC3E}">
        <p14:creationId xmlns:p14="http://schemas.microsoft.com/office/powerpoint/2010/main" val="15799673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010AB-8B1D-9AD2-36CA-D75F7769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BB64BE-FBC2-1394-1E0E-FB2F098F7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7660641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138FCB-8B72-3766-8BA8-FDB94EBC355D}"/>
              </a:ext>
            </a:extLst>
          </p:cNvPr>
          <p:cNvSpPr txBox="1"/>
          <p:nvPr/>
        </p:nvSpPr>
        <p:spPr>
          <a:xfrm>
            <a:off x="628141" y="132961"/>
            <a:ext cx="65453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윤리원칙 분류 모형 및 윤리 측정지표 개발과 </a:t>
            </a:r>
            <a:endParaRPr lang="en-US" altLang="ko-KR" sz="2000" b="1" dirty="0"/>
          </a:p>
          <a:p>
            <a:r>
              <a:rPr lang="ko-KR" altLang="en-US" sz="2000" b="1" dirty="0"/>
              <a:t>신뢰성에 관한 연구</a:t>
            </a:r>
            <a:r>
              <a:rPr lang="en-US" altLang="ko-KR" b="1" dirty="0"/>
              <a:t>(</a:t>
            </a:r>
            <a:r>
              <a:rPr lang="ko-KR" altLang="en-US" b="1" dirty="0"/>
              <a:t>소순주</a:t>
            </a:r>
            <a:r>
              <a:rPr lang="en-US" altLang="ko-KR" b="1" dirty="0"/>
              <a:t>, 2023)(3/4)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DBE4D8-71F7-4B7F-6238-59694DD8FD0E}"/>
              </a:ext>
            </a:extLst>
          </p:cNvPr>
          <p:cNvSpPr txBox="1"/>
          <p:nvPr/>
        </p:nvSpPr>
        <p:spPr>
          <a:xfrm>
            <a:off x="628141" y="1450446"/>
            <a:ext cx="112251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7. </a:t>
            </a:r>
            <a:r>
              <a:rPr lang="ko-KR" altLang="en-US" b="1" dirty="0"/>
              <a:t>연구의 특장점</a:t>
            </a:r>
          </a:p>
          <a:p>
            <a:r>
              <a:rPr lang="ko-KR" altLang="en-US" b="1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최초로 한국형 </a:t>
            </a:r>
            <a:r>
              <a:rPr lang="en-US" altLang="ko-KR" dirty="0"/>
              <a:t>AI </a:t>
            </a:r>
            <a:r>
              <a:rPr lang="ko-KR" altLang="en-US" dirty="0"/>
              <a:t>윤리 측정지표</a:t>
            </a:r>
            <a:r>
              <a:rPr lang="en-US" altLang="ko-KR" dirty="0"/>
              <a:t>(EMI-AI) </a:t>
            </a:r>
            <a:r>
              <a:rPr lang="ko-KR" altLang="en-US" dirty="0"/>
              <a:t>체계화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국내 실정 </a:t>
            </a:r>
            <a:r>
              <a:rPr lang="en-US" altLang="ko-KR" dirty="0"/>
              <a:t>+ </a:t>
            </a:r>
            <a:r>
              <a:rPr lang="ko-KR" altLang="en-US" dirty="0"/>
              <a:t>국제 기준 통합</a:t>
            </a:r>
            <a:r>
              <a:rPr lang="en-US" altLang="ko-KR" dirty="0"/>
              <a:t>, </a:t>
            </a:r>
            <a:r>
              <a:rPr lang="ko-KR" altLang="en-US" dirty="0"/>
              <a:t>실질적 평가 및 인증 활용 가능성 제시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학문적</a:t>
            </a:r>
            <a:r>
              <a:rPr lang="en-US" altLang="ko-KR" dirty="0"/>
              <a:t>·</a:t>
            </a:r>
            <a:r>
              <a:rPr lang="ko-KR" altLang="en-US" dirty="0"/>
              <a:t>산업적 활용성 </a:t>
            </a:r>
            <a:r>
              <a:rPr lang="en-US" altLang="ko-KR" dirty="0"/>
              <a:t>: AI </a:t>
            </a:r>
            <a:r>
              <a:rPr lang="ko-KR" altLang="en-US" dirty="0"/>
              <a:t>제품</a:t>
            </a:r>
            <a:r>
              <a:rPr lang="en-US" altLang="ko-KR" dirty="0"/>
              <a:t>/</a:t>
            </a:r>
            <a:r>
              <a:rPr lang="ko-KR" altLang="en-US" dirty="0"/>
              <a:t>서비스 평가</a:t>
            </a:r>
            <a:r>
              <a:rPr lang="en-US" altLang="ko-KR" dirty="0"/>
              <a:t>, </a:t>
            </a:r>
            <a:r>
              <a:rPr lang="ko-KR" altLang="en-US" dirty="0"/>
              <a:t>인증</a:t>
            </a:r>
            <a:r>
              <a:rPr lang="en-US" altLang="ko-KR" dirty="0"/>
              <a:t>·</a:t>
            </a:r>
            <a:r>
              <a:rPr lang="ko-KR" altLang="en-US" dirty="0"/>
              <a:t>검사 항목 개발</a:t>
            </a:r>
            <a:r>
              <a:rPr lang="en-US" altLang="ko-KR" dirty="0"/>
              <a:t>, </a:t>
            </a:r>
            <a:r>
              <a:rPr lang="ko-KR" altLang="en-US" dirty="0"/>
              <a:t>가이드라인</a:t>
            </a:r>
            <a:r>
              <a:rPr lang="en-US" altLang="ko-KR" dirty="0"/>
              <a:t>·</a:t>
            </a:r>
            <a:r>
              <a:rPr lang="ko-KR" altLang="en-US" dirty="0"/>
              <a:t>교육</a:t>
            </a:r>
            <a:r>
              <a:rPr lang="en-US" altLang="ko-KR" dirty="0"/>
              <a:t>·</a:t>
            </a:r>
            <a:r>
              <a:rPr lang="ko-KR" altLang="en-US" dirty="0"/>
              <a:t>정책 설계에 적용 가능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정량적 검증 기반의 신뢰성 확보 </a:t>
            </a:r>
            <a:r>
              <a:rPr lang="en-US" altLang="ko-KR" dirty="0"/>
              <a:t>: 164</a:t>
            </a:r>
            <a:r>
              <a:rPr lang="ko-KR" altLang="en-US" dirty="0"/>
              <a:t>명 규모의 통계 기반 검증</a:t>
            </a:r>
            <a:r>
              <a:rPr lang="en-US" altLang="ko-KR" dirty="0"/>
              <a:t>, </a:t>
            </a:r>
            <a:r>
              <a:rPr lang="ko-KR" altLang="en-US" dirty="0"/>
              <a:t>상당한 신뢰계수로 객관성 확보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ALTAI</a:t>
            </a:r>
            <a:r>
              <a:rPr lang="ko-KR" altLang="en-US" dirty="0"/>
              <a:t>와 비교해 국제 호환성 확보 </a:t>
            </a:r>
            <a:r>
              <a:rPr lang="en-US" altLang="ko-KR" dirty="0"/>
              <a:t>: </a:t>
            </a:r>
            <a:r>
              <a:rPr lang="ko-KR" altLang="en-US" dirty="0"/>
              <a:t>글로벌 기준과의 정합성 확인</a:t>
            </a:r>
          </a:p>
          <a:p>
            <a:endParaRPr lang="ko-KR" altLang="en-US" b="1" dirty="0"/>
          </a:p>
          <a:p>
            <a:endParaRPr lang="ko-KR" altLang="en-US" b="1" dirty="0"/>
          </a:p>
          <a:p>
            <a:r>
              <a:rPr lang="en-US" altLang="ko-KR" b="1" dirty="0"/>
              <a:t>8. </a:t>
            </a:r>
            <a:r>
              <a:rPr lang="ko-KR" altLang="en-US" b="1" dirty="0"/>
              <a:t>연구 한계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한국 중심적 맥락이 강해 국제적 일반화는 추가 검증 필요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정성적 </a:t>
            </a:r>
            <a:r>
              <a:rPr lang="en-US" altLang="ko-KR" dirty="0"/>
              <a:t>FGI·</a:t>
            </a:r>
            <a:r>
              <a:rPr lang="ko-KR" altLang="en-US" dirty="0"/>
              <a:t>델파이 의존도가 있어 전문가 그룹 구성에 따라 편향 가능성 존재</a:t>
            </a:r>
            <a:endParaRPr lang="en-US" altLang="ko-KR" dirty="0"/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윤리지표는 기술 변화 속도에 따라 지속적 업데이트 필요</a:t>
            </a:r>
            <a:endParaRPr lang="en-US" altLang="ko-KR" dirty="0"/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실제 산업 현장에서의 적용</a:t>
            </a:r>
            <a:r>
              <a:rPr lang="en-US" altLang="ko-KR" dirty="0"/>
              <a:t>·</a:t>
            </a:r>
            <a:r>
              <a:rPr lang="ko-KR" altLang="en-US" dirty="0"/>
              <a:t>검증 사례</a:t>
            </a:r>
            <a:r>
              <a:rPr lang="en-US" altLang="ko-KR" dirty="0"/>
              <a:t>(</a:t>
            </a:r>
            <a:r>
              <a:rPr lang="ko-KR" altLang="en-US" dirty="0"/>
              <a:t>파일럿테스트</a:t>
            </a:r>
            <a:r>
              <a:rPr lang="en-US" altLang="ko-KR" dirty="0"/>
              <a:t>)</a:t>
            </a:r>
            <a:r>
              <a:rPr lang="ko-KR" altLang="en-US" dirty="0"/>
              <a:t>는 추가 연구 필요</a:t>
            </a:r>
            <a:endParaRPr lang="ko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E7D65F-1137-4144-9AB8-5FBD060AF6B8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【6】</a:t>
            </a:r>
          </a:p>
        </p:txBody>
      </p:sp>
    </p:spTree>
    <p:extLst>
      <p:ext uri="{BB962C8B-B14F-4D97-AF65-F5344CB8AC3E}">
        <p14:creationId xmlns:p14="http://schemas.microsoft.com/office/powerpoint/2010/main" val="3849005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010AB-8B1D-9AD2-36CA-D75F7769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BB64BE-FBC2-1394-1E0E-FB2F098F7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7660641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138FCB-8B72-3766-8BA8-FDB94EBC355D}"/>
              </a:ext>
            </a:extLst>
          </p:cNvPr>
          <p:cNvSpPr txBox="1"/>
          <p:nvPr/>
        </p:nvSpPr>
        <p:spPr>
          <a:xfrm>
            <a:off x="628141" y="132961"/>
            <a:ext cx="65453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윤리원칙 분류 모형 및 윤리 측정지표 개발과 </a:t>
            </a:r>
            <a:endParaRPr lang="en-US" altLang="ko-KR" sz="2000" b="1" dirty="0"/>
          </a:p>
          <a:p>
            <a:r>
              <a:rPr lang="ko-KR" altLang="en-US" sz="2000" b="1" dirty="0"/>
              <a:t>신뢰성에 관한 연구</a:t>
            </a:r>
            <a:r>
              <a:rPr lang="en-US" altLang="ko-KR" b="1" dirty="0"/>
              <a:t>(</a:t>
            </a:r>
            <a:r>
              <a:rPr lang="ko-KR" altLang="en-US" b="1" dirty="0"/>
              <a:t>소순주</a:t>
            </a:r>
            <a:r>
              <a:rPr lang="en-US" altLang="ko-KR" b="1" dirty="0"/>
              <a:t>, 2023)(4/4)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B23AFA-CF2F-48A3-B593-97D61B4F55F5}"/>
              </a:ext>
            </a:extLst>
          </p:cNvPr>
          <p:cNvSpPr txBox="1"/>
          <p:nvPr/>
        </p:nvSpPr>
        <p:spPr>
          <a:xfrm>
            <a:off x="3869744" y="1102130"/>
            <a:ext cx="43877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0" i="0" dirty="0">
                <a:solidFill>
                  <a:srgbClr val="0000FF"/>
                </a:solidFill>
                <a:effectLst/>
                <a:latin typeface="-apple-system"/>
              </a:rPr>
              <a:t>인공지능 윤리 측정지표</a:t>
            </a:r>
            <a:r>
              <a:rPr lang="en-US" altLang="ko-KR" sz="1600" b="0" i="0" dirty="0">
                <a:solidFill>
                  <a:srgbClr val="0000FF"/>
                </a:solidFill>
                <a:effectLst/>
                <a:latin typeface="-apple-system"/>
              </a:rPr>
              <a:t>(EMI-AI) </a:t>
            </a:r>
            <a:r>
              <a:rPr lang="ko-KR" altLang="en-US" sz="1600" b="0" i="0" dirty="0">
                <a:solidFill>
                  <a:srgbClr val="0000FF"/>
                </a:solidFill>
                <a:effectLst/>
                <a:latin typeface="-apple-system"/>
              </a:rPr>
              <a:t>전체 </a:t>
            </a:r>
            <a:r>
              <a:rPr lang="en-US" altLang="ko-KR" sz="1600" b="0" i="0" dirty="0">
                <a:solidFill>
                  <a:srgbClr val="0000FF"/>
                </a:solidFill>
                <a:effectLst/>
                <a:latin typeface="-apple-system"/>
              </a:rPr>
              <a:t>86</a:t>
            </a:r>
            <a:r>
              <a:rPr lang="ko-KR" altLang="en-US" sz="1600" b="0" i="0" dirty="0">
                <a:solidFill>
                  <a:srgbClr val="0000FF"/>
                </a:solidFill>
                <a:effectLst/>
                <a:latin typeface="-apple-system"/>
              </a:rPr>
              <a:t>개 지표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45B9FE3-33AD-4174-9A43-514C6AA03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27" y="1440684"/>
            <a:ext cx="11563944" cy="52843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00A68C-76EC-4961-B243-D46236D7EEB9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【6】</a:t>
            </a:r>
          </a:p>
        </p:txBody>
      </p:sp>
    </p:spTree>
    <p:extLst>
      <p:ext uri="{BB962C8B-B14F-4D97-AF65-F5344CB8AC3E}">
        <p14:creationId xmlns:p14="http://schemas.microsoft.com/office/powerpoint/2010/main" val="41356182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E345D-8CC7-2BB9-B1CD-6B217F5FF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5A5B4E-94E1-496A-A70D-2CDEA28FB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7152641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F51FBF-51E7-4D04-A281-81704D8DE04A}"/>
              </a:ext>
            </a:extLst>
          </p:cNvPr>
          <p:cNvSpPr txBox="1"/>
          <p:nvPr/>
        </p:nvSpPr>
        <p:spPr>
          <a:xfrm>
            <a:off x="669823" y="132961"/>
            <a:ext cx="59971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로봇의 위험성 유형별 측정지표 개발과 </a:t>
            </a:r>
            <a:endParaRPr lang="en-US" altLang="ko-KR" sz="2000" b="1" dirty="0"/>
          </a:p>
          <a:p>
            <a:r>
              <a:rPr lang="ko-KR" altLang="en-US" sz="2000" b="1" dirty="0"/>
              <a:t>인공지능 윤리원칙 관계성 연구</a:t>
            </a:r>
            <a:r>
              <a:rPr lang="en-US" altLang="ko-KR" b="1" dirty="0"/>
              <a:t>(</a:t>
            </a:r>
            <a:r>
              <a:rPr lang="ko-KR" altLang="en-US" b="1" dirty="0"/>
              <a:t>송현경</a:t>
            </a:r>
            <a:r>
              <a:rPr lang="en-US" altLang="ko-KR" b="1" dirty="0"/>
              <a:t>, 2024)(1/4)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7E9BB9-6CEC-4BD9-9B0E-14E3E2C1C2AC}"/>
              </a:ext>
            </a:extLst>
          </p:cNvPr>
          <p:cNvSpPr txBox="1"/>
          <p:nvPr/>
        </p:nvSpPr>
        <p:spPr>
          <a:xfrm>
            <a:off x="481115" y="1192106"/>
            <a:ext cx="11646137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연구 배경</a:t>
            </a:r>
          </a:p>
          <a:p>
            <a:r>
              <a:rPr lang="ko-KR" altLang="en-US" dirty="0"/>
              <a:t>인공지능 로봇</a:t>
            </a:r>
            <a:r>
              <a:rPr lang="en-US" altLang="ko-KR" dirty="0"/>
              <a:t>(</a:t>
            </a:r>
            <a:r>
              <a:rPr lang="ko-KR" altLang="en-US" dirty="0"/>
              <a:t>생성형 </a:t>
            </a:r>
            <a:r>
              <a:rPr lang="en-US" altLang="ko-KR" dirty="0"/>
              <a:t>AI + </a:t>
            </a:r>
            <a:r>
              <a:rPr lang="ko-KR" altLang="en-US" dirty="0"/>
              <a:t>로봇</a:t>
            </a:r>
            <a:r>
              <a:rPr lang="en-US" altLang="ko-KR" dirty="0"/>
              <a:t>)</a:t>
            </a:r>
            <a:r>
              <a:rPr lang="ko-KR" altLang="en-US" dirty="0"/>
              <a:t>의 급속한 확산으로 기술적</a:t>
            </a:r>
            <a:r>
              <a:rPr lang="en-US" altLang="ko-KR" dirty="0"/>
              <a:t>·</a:t>
            </a:r>
            <a:r>
              <a:rPr lang="ko-KR" altLang="en-US" dirty="0"/>
              <a:t>윤리적</a:t>
            </a:r>
            <a:r>
              <a:rPr lang="en-US" altLang="ko-KR" dirty="0"/>
              <a:t>·</a:t>
            </a:r>
            <a:r>
              <a:rPr lang="ko-KR" altLang="en-US" dirty="0"/>
              <a:t>사회적 문제가 증가</a:t>
            </a:r>
            <a:endParaRPr lang="en-US" altLang="ko-KR" dirty="0"/>
          </a:p>
          <a:p>
            <a:r>
              <a:rPr lang="ko-KR" altLang="en-US" dirty="0"/>
              <a:t>기존 연구는 법적</a:t>
            </a:r>
            <a:r>
              <a:rPr lang="en-US" altLang="ko-KR" dirty="0"/>
              <a:t>·</a:t>
            </a:r>
            <a:r>
              <a:rPr lang="ko-KR" altLang="en-US" dirty="0"/>
              <a:t>윤리적 논의 중심이며</a:t>
            </a:r>
            <a:r>
              <a:rPr lang="en-US" altLang="ko-KR" dirty="0"/>
              <a:t>, </a:t>
            </a:r>
            <a:r>
              <a:rPr lang="ko-KR" altLang="en-US" dirty="0"/>
              <a:t>실제 로봇이 유발하는 구체적 위험성 측정지표 부재</a:t>
            </a:r>
            <a:endParaRPr lang="en-US" altLang="ko-KR" dirty="0"/>
          </a:p>
          <a:p>
            <a:r>
              <a:rPr lang="ko-KR" altLang="en-US" dirty="0"/>
              <a:t>인공지능 로봇은 인간과 상호작용하며 신체</a:t>
            </a:r>
            <a:r>
              <a:rPr lang="en-US" altLang="ko-KR" dirty="0"/>
              <a:t>·</a:t>
            </a:r>
            <a:r>
              <a:rPr lang="ko-KR" altLang="en-US" dirty="0"/>
              <a:t>권리</a:t>
            </a:r>
            <a:r>
              <a:rPr lang="en-US" altLang="ko-KR" dirty="0"/>
              <a:t>·</a:t>
            </a:r>
            <a:r>
              <a:rPr lang="ko-KR" altLang="en-US" dirty="0"/>
              <a:t>재산</a:t>
            </a:r>
            <a:r>
              <a:rPr lang="en-US" altLang="ko-KR" dirty="0"/>
              <a:t>·</a:t>
            </a:r>
            <a:r>
              <a:rPr lang="ko-KR" altLang="en-US" dirty="0"/>
              <a:t>사회적 피해 유발 가능하나</a:t>
            </a:r>
            <a:r>
              <a:rPr lang="en-US" altLang="ko-KR" dirty="0"/>
              <a:t>, </a:t>
            </a:r>
            <a:r>
              <a:rPr lang="ko-KR" altLang="en-US" dirty="0"/>
              <a:t>일관되게 점검할 기준 부재</a:t>
            </a:r>
            <a:endParaRPr lang="en-US" altLang="ko-KR" dirty="0"/>
          </a:p>
          <a:p>
            <a:r>
              <a:rPr lang="ko-KR" altLang="en-US" dirty="0"/>
              <a:t>국가</a:t>
            </a:r>
            <a:r>
              <a:rPr lang="en-US" altLang="ko-KR" dirty="0"/>
              <a:t>·</a:t>
            </a:r>
            <a:r>
              <a:rPr lang="ko-KR" altLang="en-US" dirty="0"/>
              <a:t>기업의 </a:t>
            </a:r>
            <a:r>
              <a:rPr lang="en-US" altLang="ko-KR" dirty="0"/>
              <a:t>AI </a:t>
            </a:r>
            <a:r>
              <a:rPr lang="ko-KR" altLang="en-US" dirty="0"/>
              <a:t>가이드라인은 존재하나 범용적</a:t>
            </a:r>
            <a:r>
              <a:rPr lang="en-US" altLang="ko-KR" dirty="0"/>
              <a:t>·</a:t>
            </a:r>
            <a:r>
              <a:rPr lang="ko-KR" altLang="en-US" dirty="0"/>
              <a:t>통합적 위험성 점검 지표는 부재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2. </a:t>
            </a:r>
            <a:r>
              <a:rPr lang="ko-KR" altLang="en-US" b="1" dirty="0"/>
              <a:t>연구 목적</a:t>
            </a:r>
          </a:p>
          <a:p>
            <a:r>
              <a:rPr lang="ko-KR" altLang="en-US" dirty="0"/>
              <a:t>인공지능 로봇의 위험성을 유형별로 분류하고</a:t>
            </a:r>
            <a:r>
              <a:rPr lang="en-US" altLang="ko-KR" dirty="0"/>
              <a:t>, </a:t>
            </a:r>
            <a:r>
              <a:rPr lang="ko-KR" altLang="en-US" dirty="0"/>
              <a:t>그에 따른 측정지표</a:t>
            </a:r>
            <a:r>
              <a:rPr lang="en-US" altLang="ko-KR" dirty="0"/>
              <a:t>(Indicators) </a:t>
            </a:r>
            <a:r>
              <a:rPr lang="ko-KR" altLang="en-US" dirty="0"/>
              <a:t>개발</a:t>
            </a:r>
          </a:p>
          <a:p>
            <a:r>
              <a:rPr lang="ko-KR" altLang="en-US" dirty="0"/>
              <a:t>개발된 위험성 측정지표와 인공지능 윤리원칙</a:t>
            </a:r>
            <a:r>
              <a:rPr lang="en-US" altLang="ko-KR" dirty="0"/>
              <a:t>(AI Ethics Principles) </a:t>
            </a:r>
            <a:r>
              <a:rPr lang="ko-KR" altLang="en-US" dirty="0"/>
              <a:t>간의 관계성 규명</a:t>
            </a:r>
          </a:p>
          <a:p>
            <a:r>
              <a:rPr lang="ko-KR" altLang="en-US" dirty="0"/>
              <a:t>지표를 통해 개발</a:t>
            </a:r>
            <a:r>
              <a:rPr lang="en-US" altLang="ko-KR" dirty="0"/>
              <a:t>·</a:t>
            </a:r>
            <a:r>
              <a:rPr lang="ko-KR" altLang="en-US" dirty="0"/>
              <a:t>인증</a:t>
            </a:r>
            <a:r>
              <a:rPr lang="en-US" altLang="ko-KR" dirty="0"/>
              <a:t>·</a:t>
            </a:r>
            <a:r>
              <a:rPr lang="ko-KR" altLang="en-US" dirty="0"/>
              <a:t>정책</a:t>
            </a:r>
            <a:r>
              <a:rPr lang="en-US" altLang="ko-KR" dirty="0"/>
              <a:t>·</a:t>
            </a:r>
            <a:r>
              <a:rPr lang="ko-KR" altLang="en-US" dirty="0"/>
              <a:t>교육 등에서 범용적으로 활용 가능한 표준 기반 마련</a:t>
            </a:r>
          </a:p>
          <a:p>
            <a:endParaRPr lang="ko-KR" altLang="en-US" dirty="0"/>
          </a:p>
          <a:p>
            <a:r>
              <a:rPr lang="en-US" altLang="ko-KR" b="1" dirty="0"/>
              <a:t>3. </a:t>
            </a:r>
            <a:r>
              <a:rPr lang="ko-KR" altLang="en-US" b="1" dirty="0"/>
              <a:t>연구 방법</a:t>
            </a:r>
          </a:p>
          <a:p>
            <a:r>
              <a:rPr lang="ko-KR" altLang="en-US" dirty="0"/>
              <a:t>문헌 분석 </a:t>
            </a:r>
            <a:r>
              <a:rPr lang="en-US" altLang="ko-KR" dirty="0"/>
              <a:t>: 2013~2023</a:t>
            </a:r>
            <a:r>
              <a:rPr lang="ko-KR" altLang="en-US" dirty="0"/>
              <a:t>년 국내외 </a:t>
            </a:r>
            <a:r>
              <a:rPr lang="en-US" altLang="ko-KR" dirty="0"/>
              <a:t>AI·</a:t>
            </a:r>
            <a:r>
              <a:rPr lang="ko-KR" altLang="en-US" dirty="0"/>
              <a:t>로봇 사고 및 위험 사례 </a:t>
            </a:r>
            <a:r>
              <a:rPr lang="en-US" altLang="ko-KR" dirty="0"/>
              <a:t>76</a:t>
            </a:r>
            <a:r>
              <a:rPr lang="ko-KR" altLang="en-US" dirty="0"/>
              <a:t>건 분석</a:t>
            </a:r>
            <a:endParaRPr lang="en-US" altLang="ko-KR" dirty="0"/>
          </a:p>
          <a:p>
            <a:r>
              <a:rPr lang="ko-KR" altLang="en-US" dirty="0"/>
              <a:t>전문가 인터뷰 </a:t>
            </a:r>
            <a:r>
              <a:rPr lang="en-US" altLang="ko-KR" dirty="0"/>
              <a:t>: AI </a:t>
            </a:r>
            <a:r>
              <a:rPr lang="ko-KR" altLang="en-US" dirty="0"/>
              <a:t>개발자</a:t>
            </a:r>
            <a:r>
              <a:rPr lang="en-US" altLang="ko-KR" dirty="0"/>
              <a:t>·</a:t>
            </a:r>
            <a:r>
              <a:rPr lang="ko-KR" altLang="en-US" dirty="0"/>
              <a:t>보안</a:t>
            </a:r>
            <a:r>
              <a:rPr lang="en-US" altLang="ko-KR" dirty="0"/>
              <a:t>·</a:t>
            </a:r>
            <a:r>
              <a:rPr lang="ko-KR" altLang="en-US" dirty="0"/>
              <a:t>로봇 연구자</a:t>
            </a:r>
            <a:r>
              <a:rPr lang="en-US" altLang="ko-KR" dirty="0"/>
              <a:t>·</a:t>
            </a:r>
            <a:r>
              <a:rPr lang="ko-KR" altLang="en-US" dirty="0"/>
              <a:t>윤리 학자 등 총 </a:t>
            </a:r>
            <a:r>
              <a:rPr lang="en-US" altLang="ko-KR" dirty="0"/>
              <a:t>30</a:t>
            </a:r>
            <a:r>
              <a:rPr lang="ko-KR" altLang="en-US" dirty="0"/>
              <a:t>명</a:t>
            </a:r>
            <a:endParaRPr lang="en-US" altLang="ko-KR" dirty="0"/>
          </a:p>
          <a:p>
            <a:r>
              <a:rPr lang="en-US" altLang="ko-KR" dirty="0"/>
              <a:t>Delphi </a:t>
            </a:r>
            <a:r>
              <a:rPr lang="ko-KR" altLang="en-US" dirty="0"/>
              <a:t>기법 </a:t>
            </a:r>
            <a:r>
              <a:rPr lang="en-US" altLang="ko-KR" dirty="0"/>
              <a:t>: 1·2</a:t>
            </a:r>
            <a:r>
              <a:rPr lang="ko-KR" altLang="en-US" dirty="0"/>
              <a:t>차 전문가 설문</a:t>
            </a:r>
            <a:r>
              <a:rPr lang="en-US" altLang="ko-KR" dirty="0"/>
              <a:t>(</a:t>
            </a:r>
            <a:r>
              <a:rPr lang="ko-KR" altLang="en-US" dirty="0"/>
              <a:t>각 </a:t>
            </a:r>
            <a:r>
              <a:rPr lang="en-US" altLang="ko-KR" dirty="0"/>
              <a:t>30</a:t>
            </a:r>
            <a:r>
              <a:rPr lang="ko-KR" altLang="en-US" dirty="0"/>
              <a:t>명</a:t>
            </a:r>
            <a:r>
              <a:rPr lang="en-US" altLang="ko-KR" dirty="0"/>
              <a:t>), CVR(Content Validity Ratio) </a:t>
            </a:r>
            <a:r>
              <a:rPr lang="ko-KR" altLang="en-US" dirty="0"/>
              <a:t>방식으로 타당도 검증</a:t>
            </a:r>
          </a:p>
          <a:p>
            <a:r>
              <a:rPr lang="ko-KR" altLang="en-US" dirty="0"/>
              <a:t>현장성 설문 </a:t>
            </a:r>
            <a:r>
              <a:rPr lang="en-US" altLang="ko-KR" dirty="0"/>
              <a:t>: AI </a:t>
            </a:r>
            <a:r>
              <a:rPr lang="ko-KR" altLang="en-US" dirty="0"/>
              <a:t>로봇 활용 예상 분야 종사자 </a:t>
            </a:r>
            <a:r>
              <a:rPr lang="en-US" altLang="ko-KR" dirty="0"/>
              <a:t>328</a:t>
            </a:r>
            <a:r>
              <a:rPr lang="ko-KR" altLang="en-US" dirty="0"/>
              <a:t>명 대상 실증 설문</a:t>
            </a:r>
            <a:endParaRPr lang="en-US" altLang="ko-KR" dirty="0"/>
          </a:p>
          <a:p>
            <a:r>
              <a:rPr lang="ko-KR" altLang="en-US" dirty="0"/>
              <a:t>통계 분석 </a:t>
            </a:r>
            <a:r>
              <a:rPr lang="en-US" altLang="ko-KR" dirty="0"/>
              <a:t>: </a:t>
            </a:r>
            <a:r>
              <a:rPr lang="ko-KR" altLang="en-US" dirty="0"/>
              <a:t>탐색적 요인분석</a:t>
            </a:r>
            <a:r>
              <a:rPr lang="en-US" altLang="ko-KR" dirty="0"/>
              <a:t>, </a:t>
            </a:r>
            <a:r>
              <a:rPr lang="ko-KR" altLang="en-US" dirty="0"/>
              <a:t>신뢰도</a:t>
            </a:r>
            <a:r>
              <a:rPr lang="en-US" altLang="ko-KR" dirty="0"/>
              <a:t>(Cronbach’s α), </a:t>
            </a:r>
            <a:r>
              <a:rPr lang="ko-KR" altLang="en-US" dirty="0"/>
              <a:t>상관관계 분석</a:t>
            </a:r>
            <a:r>
              <a:rPr lang="en-US" altLang="ko-KR" dirty="0"/>
              <a:t>, </a:t>
            </a:r>
            <a:r>
              <a:rPr lang="ko-KR" altLang="en-US" dirty="0"/>
              <a:t>다중회귀분석</a:t>
            </a:r>
          </a:p>
          <a:p>
            <a:r>
              <a:rPr lang="ko-KR" altLang="en-US" dirty="0"/>
              <a:t>윤리원칙</a:t>
            </a:r>
            <a:r>
              <a:rPr lang="en-US" altLang="ko-KR" dirty="0"/>
              <a:t>-</a:t>
            </a:r>
            <a:r>
              <a:rPr lang="ko-KR" altLang="en-US" dirty="0"/>
              <a:t>지표 관계 연구 </a:t>
            </a:r>
            <a:r>
              <a:rPr lang="en-US" altLang="ko-KR" dirty="0"/>
              <a:t>: </a:t>
            </a:r>
            <a:r>
              <a:rPr lang="ko-KR" altLang="en-US" dirty="0"/>
              <a:t>전문가 </a:t>
            </a:r>
            <a:r>
              <a:rPr lang="en-US" altLang="ko-KR" dirty="0"/>
              <a:t>14</a:t>
            </a:r>
            <a:r>
              <a:rPr lang="ko-KR" altLang="en-US" dirty="0"/>
              <a:t>명 </a:t>
            </a:r>
            <a:r>
              <a:rPr lang="en-US" altLang="ko-KR" dirty="0"/>
              <a:t>Delphi</a:t>
            </a:r>
            <a:r>
              <a:rPr lang="ko-KR" altLang="en-US" dirty="0"/>
              <a:t> 분석을 통한 매핑 관계 도출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53A64B-4B5A-475E-90E8-3921749C2190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【7】</a:t>
            </a:r>
          </a:p>
        </p:txBody>
      </p:sp>
    </p:spTree>
    <p:extLst>
      <p:ext uri="{BB962C8B-B14F-4D97-AF65-F5344CB8AC3E}">
        <p14:creationId xmlns:p14="http://schemas.microsoft.com/office/powerpoint/2010/main" val="352483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E345D-8CC7-2BB9-B1CD-6B217F5FF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5A5B4E-94E1-496A-A70D-2CDEA28FB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7152641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F51FBF-51E7-4D04-A281-81704D8DE04A}"/>
              </a:ext>
            </a:extLst>
          </p:cNvPr>
          <p:cNvSpPr txBox="1"/>
          <p:nvPr/>
        </p:nvSpPr>
        <p:spPr>
          <a:xfrm>
            <a:off x="669823" y="132961"/>
            <a:ext cx="59971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로봇의 위험성 유형별 측정지표 개발과 </a:t>
            </a:r>
            <a:endParaRPr lang="en-US" altLang="ko-KR" sz="2000" b="1" dirty="0"/>
          </a:p>
          <a:p>
            <a:r>
              <a:rPr lang="ko-KR" altLang="en-US" sz="2000" b="1" dirty="0"/>
              <a:t>인공지능 윤리원칙 관계성 연구</a:t>
            </a:r>
            <a:r>
              <a:rPr lang="en-US" altLang="ko-KR" b="1" dirty="0"/>
              <a:t>(</a:t>
            </a:r>
            <a:r>
              <a:rPr lang="ko-KR" altLang="en-US" b="1" dirty="0"/>
              <a:t>송현경</a:t>
            </a:r>
            <a:r>
              <a:rPr lang="en-US" altLang="ko-KR" b="1" dirty="0"/>
              <a:t>, 2024)(2/4)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7E9BB9-6CEC-4BD9-9B0E-14E3E2C1C2AC}"/>
              </a:ext>
            </a:extLst>
          </p:cNvPr>
          <p:cNvSpPr txBox="1"/>
          <p:nvPr/>
        </p:nvSpPr>
        <p:spPr>
          <a:xfrm>
            <a:off x="393061" y="1092728"/>
            <a:ext cx="11177932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4. </a:t>
            </a:r>
            <a:r>
              <a:rPr lang="ko-KR" altLang="en-US" b="1" dirty="0"/>
              <a:t>연구 데이터</a:t>
            </a:r>
          </a:p>
          <a:p>
            <a:r>
              <a:rPr lang="ko-KR" altLang="en-US" dirty="0"/>
              <a:t>문헌사례 </a:t>
            </a:r>
            <a:r>
              <a:rPr lang="en-US" altLang="ko-KR" dirty="0"/>
              <a:t>76</a:t>
            </a:r>
            <a:r>
              <a:rPr lang="ko-KR" altLang="en-US" dirty="0"/>
              <a:t>건</a:t>
            </a:r>
            <a:r>
              <a:rPr lang="en-US" altLang="ko-KR" dirty="0"/>
              <a:t>, </a:t>
            </a:r>
            <a:r>
              <a:rPr lang="ko-KR" altLang="en-US" dirty="0"/>
              <a:t>전문가 </a:t>
            </a:r>
            <a:r>
              <a:rPr lang="en-US" altLang="ko-KR" dirty="0"/>
              <a:t>30</a:t>
            </a:r>
            <a:r>
              <a:rPr lang="ko-KR" altLang="en-US" dirty="0"/>
              <a:t>명 </a:t>
            </a:r>
            <a:r>
              <a:rPr lang="en-US" altLang="ko-KR" dirty="0"/>
              <a:t>: AI </a:t>
            </a:r>
            <a:r>
              <a:rPr lang="ko-KR" altLang="en-US" dirty="0"/>
              <a:t>개발자</a:t>
            </a:r>
            <a:r>
              <a:rPr lang="en-US" altLang="ko-KR" dirty="0"/>
              <a:t>, </a:t>
            </a:r>
            <a:r>
              <a:rPr lang="ko-KR" altLang="en-US" dirty="0"/>
              <a:t>로봇 연구자</a:t>
            </a:r>
            <a:r>
              <a:rPr lang="en-US" altLang="ko-KR" dirty="0"/>
              <a:t>, </a:t>
            </a:r>
            <a:r>
              <a:rPr lang="ko-KR" altLang="en-US" dirty="0"/>
              <a:t>윤리</a:t>
            </a:r>
            <a:r>
              <a:rPr lang="en-US" altLang="ko-KR" dirty="0"/>
              <a:t>·</a:t>
            </a:r>
            <a:r>
              <a:rPr lang="ko-KR" altLang="en-US" dirty="0"/>
              <a:t>보안 전문가</a:t>
            </a:r>
            <a:r>
              <a:rPr lang="en-US" altLang="ko-KR" dirty="0"/>
              <a:t>, </a:t>
            </a:r>
            <a:r>
              <a:rPr lang="ko-KR" altLang="en-US" dirty="0"/>
              <a:t>교수 등 </a:t>
            </a:r>
            <a:r>
              <a:rPr lang="en-US" altLang="ko-KR" dirty="0"/>
              <a:t>1·2</a:t>
            </a:r>
            <a:r>
              <a:rPr lang="ko-KR" altLang="en-US" dirty="0"/>
              <a:t>차 델파이 설문</a:t>
            </a:r>
            <a:endParaRPr lang="en-US" altLang="ko-KR" dirty="0"/>
          </a:p>
          <a:p>
            <a:r>
              <a:rPr lang="ko-KR" altLang="en-US" dirty="0"/>
              <a:t>현장 설문 응답자 </a:t>
            </a:r>
            <a:r>
              <a:rPr lang="en-US" altLang="ko-KR" dirty="0"/>
              <a:t>328</a:t>
            </a:r>
            <a:r>
              <a:rPr lang="ko-KR" altLang="en-US" dirty="0"/>
              <a:t>명</a:t>
            </a:r>
            <a:r>
              <a:rPr lang="en-US" altLang="ko-KR" dirty="0"/>
              <a:t>, </a:t>
            </a:r>
            <a:r>
              <a:rPr lang="ko-KR" altLang="en-US" dirty="0"/>
              <a:t>윤리원칙 관계성 분석 전문가 </a:t>
            </a:r>
            <a:r>
              <a:rPr lang="en-US" altLang="ko-KR" dirty="0"/>
              <a:t>14</a:t>
            </a:r>
            <a:r>
              <a:rPr lang="ko-KR" altLang="en-US" dirty="0"/>
              <a:t>명</a:t>
            </a:r>
          </a:p>
          <a:p>
            <a:endParaRPr lang="ko-KR" altLang="en-US" dirty="0"/>
          </a:p>
          <a:p>
            <a:r>
              <a:rPr lang="en-US" altLang="ko-KR" b="1" dirty="0"/>
              <a:t>5. </a:t>
            </a:r>
            <a:r>
              <a:rPr lang="ko-KR" altLang="en-US" b="1" dirty="0"/>
              <a:t>연구 결과</a:t>
            </a:r>
            <a:endParaRPr lang="en-US" altLang="ko-KR" b="1" dirty="0"/>
          </a:p>
          <a:p>
            <a:r>
              <a:rPr lang="en-US" altLang="ko-KR" dirty="0"/>
              <a:t>① </a:t>
            </a:r>
            <a:r>
              <a:rPr lang="ko-KR" altLang="en-US" dirty="0"/>
              <a:t>위험성 </a:t>
            </a:r>
            <a:r>
              <a:rPr lang="en-US" altLang="ko-KR" dirty="0"/>
              <a:t>4</a:t>
            </a:r>
            <a:r>
              <a:rPr lang="ko-KR" altLang="en-US" dirty="0"/>
              <a:t>대 유형 도출 </a:t>
            </a:r>
            <a:r>
              <a:rPr lang="en-US" altLang="ko-KR" dirty="0"/>
              <a:t>: </a:t>
            </a:r>
            <a:r>
              <a:rPr lang="ko-KR" altLang="en-US" dirty="0"/>
              <a:t>신체 물리적 위험성</a:t>
            </a:r>
            <a:r>
              <a:rPr lang="en-US" altLang="ko-KR" dirty="0"/>
              <a:t>, </a:t>
            </a:r>
            <a:r>
              <a:rPr lang="ko-KR" altLang="en-US" dirty="0"/>
              <a:t>인간 권리 위험성</a:t>
            </a:r>
            <a:r>
              <a:rPr lang="en-US" altLang="ko-KR" dirty="0"/>
              <a:t>, </a:t>
            </a:r>
            <a:r>
              <a:rPr lang="ko-KR" altLang="en-US" dirty="0"/>
              <a:t>재산 손실 위험성</a:t>
            </a:r>
            <a:r>
              <a:rPr lang="en-US" altLang="ko-KR" dirty="0"/>
              <a:t>, </a:t>
            </a:r>
            <a:r>
              <a:rPr lang="ko-KR" altLang="en-US" dirty="0"/>
              <a:t>사회적 위험성</a:t>
            </a:r>
          </a:p>
          <a:p>
            <a:r>
              <a:rPr lang="ko-KR" altLang="en-US" dirty="0"/>
              <a:t>② </a:t>
            </a:r>
            <a:r>
              <a:rPr lang="en-US" altLang="ko-KR" dirty="0"/>
              <a:t>11</a:t>
            </a:r>
            <a:r>
              <a:rPr lang="ko-KR" altLang="en-US" dirty="0"/>
              <a:t>개 하위 항목 도출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-</a:t>
            </a:r>
            <a:r>
              <a:rPr lang="ko-KR" altLang="en-US" dirty="0"/>
              <a:t> 신체</a:t>
            </a:r>
            <a:r>
              <a:rPr lang="en-US" altLang="ko-KR" dirty="0"/>
              <a:t>: </a:t>
            </a:r>
            <a:r>
              <a:rPr lang="ko-KR" altLang="en-US" dirty="0"/>
              <a:t>운행</a:t>
            </a:r>
            <a:r>
              <a:rPr lang="en-US" altLang="ko-KR" dirty="0"/>
              <a:t>·</a:t>
            </a:r>
            <a:r>
              <a:rPr lang="ko-KR" altLang="en-US" dirty="0"/>
              <a:t>작동 이상</a:t>
            </a:r>
            <a:r>
              <a:rPr lang="en-US" altLang="ko-KR" dirty="0"/>
              <a:t>, </a:t>
            </a:r>
            <a:r>
              <a:rPr lang="ko-KR" altLang="en-US" dirty="0"/>
              <a:t>인간 해칠 판단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-</a:t>
            </a:r>
            <a:r>
              <a:rPr lang="ko-KR" altLang="en-US" dirty="0"/>
              <a:t> 권리</a:t>
            </a:r>
            <a:r>
              <a:rPr lang="en-US" altLang="ko-KR" dirty="0"/>
              <a:t>: </a:t>
            </a:r>
            <a:r>
              <a:rPr lang="ko-KR" altLang="en-US" dirty="0"/>
              <a:t>인격권 침해</a:t>
            </a:r>
            <a:r>
              <a:rPr lang="en-US" altLang="ko-KR" dirty="0"/>
              <a:t>, </a:t>
            </a:r>
            <a:r>
              <a:rPr lang="ko-KR" altLang="en-US" dirty="0"/>
              <a:t>자유의사 방해</a:t>
            </a:r>
            <a:r>
              <a:rPr lang="en-US" altLang="ko-KR" dirty="0"/>
              <a:t>, </a:t>
            </a:r>
            <a:r>
              <a:rPr lang="ko-KR" altLang="en-US" dirty="0"/>
              <a:t>선택적 서비스</a:t>
            </a:r>
            <a:r>
              <a:rPr lang="en-US" altLang="ko-KR" dirty="0"/>
              <a:t>/</a:t>
            </a:r>
            <a:r>
              <a:rPr lang="ko-KR" altLang="en-US" dirty="0"/>
              <a:t>정보제공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- </a:t>
            </a:r>
            <a:r>
              <a:rPr lang="ko-KR" altLang="en-US" dirty="0"/>
              <a:t>재산</a:t>
            </a:r>
            <a:r>
              <a:rPr lang="en-US" altLang="ko-KR" dirty="0"/>
              <a:t>: </a:t>
            </a:r>
            <a:r>
              <a:rPr lang="ko-KR" altLang="en-US" dirty="0"/>
              <a:t>정보 입력</a:t>
            </a:r>
            <a:r>
              <a:rPr lang="en-US" altLang="ko-KR" dirty="0"/>
              <a:t>·</a:t>
            </a:r>
            <a:r>
              <a:rPr lang="ko-KR" altLang="en-US" dirty="0"/>
              <a:t>탈취</a:t>
            </a:r>
            <a:r>
              <a:rPr lang="en-US" altLang="ko-KR" dirty="0"/>
              <a:t>, </a:t>
            </a:r>
            <a:r>
              <a:rPr lang="ko-KR" altLang="en-US" dirty="0"/>
              <a:t>기계 결함</a:t>
            </a:r>
            <a:r>
              <a:rPr lang="en-US" altLang="ko-KR" dirty="0"/>
              <a:t>·</a:t>
            </a:r>
            <a:r>
              <a:rPr lang="ko-KR" altLang="en-US" dirty="0"/>
              <a:t>오작동</a:t>
            </a:r>
            <a:r>
              <a:rPr lang="en-US" altLang="ko-KR" dirty="0"/>
              <a:t>, </a:t>
            </a:r>
            <a:r>
              <a:rPr lang="ko-KR" altLang="en-US" dirty="0"/>
              <a:t>잘못된 의사결정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- </a:t>
            </a:r>
            <a:r>
              <a:rPr lang="ko-KR" altLang="en-US" dirty="0"/>
              <a:t>사회</a:t>
            </a:r>
            <a:r>
              <a:rPr lang="en-US" altLang="ko-KR" dirty="0"/>
              <a:t>: </a:t>
            </a:r>
            <a:r>
              <a:rPr lang="ko-KR" altLang="en-US" dirty="0"/>
              <a:t>데이터 문제</a:t>
            </a:r>
            <a:r>
              <a:rPr lang="en-US" altLang="ko-KR" dirty="0"/>
              <a:t>, </a:t>
            </a:r>
            <a:r>
              <a:rPr lang="ko-KR" altLang="en-US" dirty="0"/>
              <a:t>법규 판단 오류</a:t>
            </a:r>
            <a:r>
              <a:rPr lang="en-US" altLang="ko-KR" dirty="0"/>
              <a:t>, </a:t>
            </a:r>
            <a:r>
              <a:rPr lang="ko-KR" altLang="en-US" dirty="0"/>
              <a:t>도로상 작동 중지</a:t>
            </a:r>
          </a:p>
          <a:p>
            <a:r>
              <a:rPr lang="ko-KR" altLang="en-US" dirty="0"/>
              <a:t>③ 최종 </a:t>
            </a:r>
            <a:r>
              <a:rPr lang="en-US" altLang="ko-KR" dirty="0"/>
              <a:t>52</a:t>
            </a:r>
            <a:r>
              <a:rPr lang="ko-KR" altLang="en-US" dirty="0"/>
              <a:t>개 세부 측정지표 개발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- </a:t>
            </a:r>
            <a:r>
              <a:rPr lang="ko-KR" altLang="en-US" dirty="0"/>
              <a:t>센서 오류</a:t>
            </a:r>
            <a:r>
              <a:rPr lang="en-US" altLang="ko-KR" dirty="0"/>
              <a:t>, </a:t>
            </a:r>
            <a:r>
              <a:rPr lang="ko-KR" altLang="en-US" dirty="0"/>
              <a:t>통신 장애</a:t>
            </a:r>
            <a:r>
              <a:rPr lang="en-US" altLang="ko-KR" dirty="0"/>
              <a:t>, </a:t>
            </a:r>
            <a:r>
              <a:rPr lang="ko-KR" altLang="en-US" dirty="0"/>
              <a:t>프로그램 오류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- </a:t>
            </a:r>
            <a:r>
              <a:rPr lang="ko-KR" altLang="en-US" dirty="0"/>
              <a:t>음성 인식 오류</a:t>
            </a:r>
            <a:r>
              <a:rPr lang="en-US" altLang="ko-KR" dirty="0"/>
              <a:t>, </a:t>
            </a:r>
            <a:r>
              <a:rPr lang="ko-KR" altLang="en-US" dirty="0"/>
              <a:t>감정 피드백 오류</a:t>
            </a:r>
            <a:r>
              <a:rPr lang="en-US" altLang="ko-KR" dirty="0"/>
              <a:t>, </a:t>
            </a:r>
            <a:r>
              <a:rPr lang="ko-KR" altLang="en-US" dirty="0"/>
              <a:t>차별적 정보 제공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- </a:t>
            </a:r>
            <a:r>
              <a:rPr lang="ko-KR" altLang="en-US" dirty="0"/>
              <a:t>악성코드 감염</a:t>
            </a:r>
            <a:r>
              <a:rPr lang="en-US" altLang="ko-KR" dirty="0"/>
              <a:t>, </a:t>
            </a:r>
            <a:r>
              <a:rPr lang="ko-KR" altLang="en-US" dirty="0"/>
              <a:t>비인가 접근</a:t>
            </a:r>
            <a:r>
              <a:rPr lang="en-US" altLang="ko-KR" dirty="0"/>
              <a:t>, </a:t>
            </a:r>
            <a:r>
              <a:rPr lang="ko-KR" altLang="en-US" dirty="0"/>
              <a:t>기계 결함</a:t>
            </a:r>
            <a:r>
              <a:rPr lang="en-US" altLang="ko-KR" dirty="0"/>
              <a:t>, </a:t>
            </a:r>
            <a:r>
              <a:rPr lang="ko-KR" altLang="en-US" dirty="0"/>
              <a:t>창작물 무단 복제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- </a:t>
            </a:r>
            <a:r>
              <a:rPr lang="ko-KR" altLang="en-US" dirty="0"/>
              <a:t>데이터 유출</a:t>
            </a:r>
            <a:r>
              <a:rPr lang="en-US" altLang="ko-KR" dirty="0"/>
              <a:t>, </a:t>
            </a:r>
            <a:r>
              <a:rPr lang="ko-KR" altLang="en-US" dirty="0"/>
              <a:t>법규 혼동</a:t>
            </a:r>
            <a:r>
              <a:rPr lang="en-US" altLang="ko-KR" dirty="0"/>
              <a:t>, </a:t>
            </a:r>
            <a:r>
              <a:rPr lang="ko-KR" altLang="en-US" dirty="0"/>
              <a:t>도로상 작동 중지 등</a:t>
            </a:r>
          </a:p>
          <a:p>
            <a:r>
              <a:rPr lang="ko-KR" altLang="en-US" dirty="0"/>
              <a:t>④ 타당</a:t>
            </a:r>
            <a:r>
              <a:rPr lang="en-US" altLang="ko-KR" dirty="0"/>
              <a:t>·</a:t>
            </a:r>
            <a:r>
              <a:rPr lang="ko-KR" altLang="en-US" dirty="0"/>
              <a:t>신뢰도 검증 완료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- CVR </a:t>
            </a:r>
            <a:r>
              <a:rPr lang="ko-KR" altLang="en-US" dirty="0"/>
              <a:t>기준 충족</a:t>
            </a:r>
            <a:r>
              <a:rPr lang="en-US" altLang="ko-KR" dirty="0"/>
              <a:t>, Cronbach α = 0.888 ~ 0.949</a:t>
            </a:r>
            <a:r>
              <a:rPr lang="ko-KR" altLang="en-US" dirty="0"/>
              <a:t>로 높은 신뢰도 확보</a:t>
            </a:r>
            <a:r>
              <a:rPr lang="en-US" altLang="ko-KR" dirty="0"/>
              <a:t>, </a:t>
            </a:r>
            <a:r>
              <a:rPr lang="ko-KR" altLang="en-US" dirty="0"/>
              <a:t>회귀모형도 모두 통계적으로 유의함</a:t>
            </a:r>
          </a:p>
          <a:p>
            <a:r>
              <a:rPr lang="ko-KR" altLang="en-US" dirty="0"/>
              <a:t>⑤ </a:t>
            </a:r>
            <a:r>
              <a:rPr lang="en-US" altLang="ko-KR" dirty="0"/>
              <a:t>5</a:t>
            </a:r>
            <a:r>
              <a:rPr lang="ko-KR" altLang="en-US" dirty="0"/>
              <a:t>대 윤리원칙</a:t>
            </a:r>
            <a:r>
              <a:rPr lang="en-US" altLang="ko-KR" dirty="0"/>
              <a:t>(</a:t>
            </a:r>
            <a:r>
              <a:rPr lang="ko-KR" altLang="en-US" dirty="0"/>
              <a:t>투명성</a:t>
            </a:r>
            <a:r>
              <a:rPr lang="en-US" altLang="ko-KR" dirty="0"/>
              <a:t>, </a:t>
            </a:r>
            <a:r>
              <a:rPr lang="ko-KR" altLang="en-US" dirty="0"/>
              <a:t>책무성</a:t>
            </a:r>
            <a:r>
              <a:rPr lang="en-US" altLang="ko-KR" dirty="0"/>
              <a:t>, </a:t>
            </a:r>
            <a:r>
              <a:rPr lang="ko-KR" altLang="en-US" dirty="0"/>
              <a:t>공정성</a:t>
            </a:r>
            <a:r>
              <a:rPr lang="en-US" altLang="ko-KR" dirty="0"/>
              <a:t>, </a:t>
            </a:r>
            <a:r>
              <a:rPr lang="ko-KR" altLang="en-US" dirty="0"/>
              <a:t>통제성</a:t>
            </a:r>
            <a:r>
              <a:rPr lang="en-US" altLang="ko-KR" dirty="0"/>
              <a:t>, </a:t>
            </a:r>
            <a:r>
              <a:rPr lang="ko-KR" altLang="en-US" dirty="0"/>
              <a:t>안전성</a:t>
            </a:r>
            <a:r>
              <a:rPr lang="en-US" altLang="ko-KR" dirty="0"/>
              <a:t>)</a:t>
            </a:r>
            <a:endParaRPr lang="ko-KR" altLang="en-US" dirty="0"/>
          </a:p>
          <a:p>
            <a:r>
              <a:rPr lang="ko-KR" altLang="en-US" dirty="0"/>
              <a:t>    각 위험성 지표별로 설명가능성</a:t>
            </a:r>
            <a:r>
              <a:rPr lang="en-US" altLang="ko-KR" dirty="0"/>
              <a:t>, </a:t>
            </a:r>
            <a:r>
              <a:rPr lang="ko-KR" altLang="en-US" dirty="0"/>
              <a:t>준법성</a:t>
            </a:r>
            <a:r>
              <a:rPr lang="en-US" altLang="ko-KR" dirty="0"/>
              <a:t>, </a:t>
            </a:r>
            <a:r>
              <a:rPr lang="ko-KR" altLang="en-US" dirty="0"/>
              <a:t>편향 최소화 등 관계 도출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00D968-C94E-4CAD-8D18-F583CE25FD5E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【7】</a:t>
            </a:r>
          </a:p>
        </p:txBody>
      </p:sp>
    </p:spTree>
    <p:extLst>
      <p:ext uri="{BB962C8B-B14F-4D97-AF65-F5344CB8AC3E}">
        <p14:creationId xmlns:p14="http://schemas.microsoft.com/office/powerpoint/2010/main" val="6490452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E345D-8CC7-2BB9-B1CD-6B217F5FF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5A5B4E-94E1-496A-A70D-2CDEA28FB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7152641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F51FBF-51E7-4D04-A281-81704D8DE04A}"/>
              </a:ext>
            </a:extLst>
          </p:cNvPr>
          <p:cNvSpPr txBox="1"/>
          <p:nvPr/>
        </p:nvSpPr>
        <p:spPr>
          <a:xfrm>
            <a:off x="669823" y="132961"/>
            <a:ext cx="59971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로봇의 위험성 유형별 측정지표 개발과 </a:t>
            </a:r>
            <a:endParaRPr lang="en-US" altLang="ko-KR" sz="2000" b="1" dirty="0"/>
          </a:p>
          <a:p>
            <a:r>
              <a:rPr lang="ko-KR" altLang="en-US" sz="2000" b="1" dirty="0"/>
              <a:t>인공지능 윤리원칙 관계성 연구</a:t>
            </a:r>
            <a:r>
              <a:rPr lang="en-US" altLang="ko-KR" b="1" dirty="0"/>
              <a:t>(</a:t>
            </a:r>
            <a:r>
              <a:rPr lang="ko-KR" altLang="en-US" b="1" dirty="0"/>
              <a:t>송현경</a:t>
            </a:r>
            <a:r>
              <a:rPr lang="en-US" altLang="ko-KR" b="1" dirty="0"/>
              <a:t>, 2024)(3/4)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7E9BB9-6CEC-4BD9-9B0E-14E3E2C1C2AC}"/>
              </a:ext>
            </a:extLst>
          </p:cNvPr>
          <p:cNvSpPr txBox="1"/>
          <p:nvPr/>
        </p:nvSpPr>
        <p:spPr>
          <a:xfrm>
            <a:off x="393061" y="948743"/>
            <a:ext cx="11000127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6. </a:t>
            </a:r>
            <a:r>
              <a:rPr lang="ko-KR" altLang="en-US" b="1" dirty="0"/>
              <a:t>측정 지표 내용 요약</a:t>
            </a:r>
          </a:p>
          <a:p>
            <a:r>
              <a:rPr lang="ko-KR" altLang="en-US" dirty="0"/>
              <a:t>각 지표는 “위험성 발생 가능 여부”를 정량</a:t>
            </a:r>
            <a:r>
              <a:rPr lang="en-US" altLang="ko-KR" dirty="0"/>
              <a:t>·</a:t>
            </a:r>
            <a:r>
              <a:rPr lang="ko-KR" altLang="en-US" dirty="0"/>
              <a:t>정성적으로 확인하는 체크 항목으로 구성됨</a:t>
            </a:r>
            <a:endParaRPr lang="en-US" altLang="ko-KR" dirty="0"/>
          </a:p>
          <a:p>
            <a:r>
              <a:rPr lang="ko-KR" altLang="en-US" dirty="0"/>
              <a:t>총 </a:t>
            </a:r>
            <a:r>
              <a:rPr lang="en-US" altLang="ko-KR" dirty="0"/>
              <a:t>52</a:t>
            </a:r>
            <a:r>
              <a:rPr lang="ko-KR" altLang="en-US" dirty="0"/>
              <a:t>개 지표로 구성되어</a:t>
            </a:r>
            <a:r>
              <a:rPr lang="en-US" altLang="ko-KR" dirty="0"/>
              <a:t>, </a:t>
            </a:r>
            <a:r>
              <a:rPr lang="ko-KR" altLang="en-US" dirty="0"/>
              <a:t>기술적</a:t>
            </a:r>
            <a:r>
              <a:rPr lang="en-US" altLang="ko-KR" dirty="0"/>
              <a:t>·</a:t>
            </a:r>
            <a:r>
              <a:rPr lang="ko-KR" altLang="en-US" dirty="0"/>
              <a:t>윤리적 위험을 모두 포함하는 포괄적 체크리스트 형태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en-US" altLang="ko-KR" b="1" dirty="0"/>
              <a:t>7. </a:t>
            </a:r>
            <a:r>
              <a:rPr lang="ko-KR" altLang="en-US" b="1" dirty="0"/>
              <a:t>연구 특장점</a:t>
            </a:r>
          </a:p>
          <a:p>
            <a:r>
              <a:rPr lang="ko-KR" altLang="en-US" dirty="0"/>
              <a:t>기술 </a:t>
            </a:r>
            <a:r>
              <a:rPr lang="en-US" altLang="ko-KR" dirty="0"/>
              <a:t>+ </a:t>
            </a:r>
            <a:r>
              <a:rPr lang="ko-KR" altLang="en-US" dirty="0"/>
              <a:t>윤리 통합형 위험성 측정지표 최초 개발</a:t>
            </a:r>
            <a:r>
              <a:rPr lang="en-US" altLang="ko-KR" dirty="0"/>
              <a:t>(</a:t>
            </a:r>
            <a:r>
              <a:rPr lang="ko-KR" altLang="en-US" dirty="0"/>
              <a:t>기존 연구는 윤리 또는 기술 어느 한쪽에 편중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다학제 전문가 참여 </a:t>
            </a:r>
            <a:r>
              <a:rPr lang="en-US" altLang="ko-KR" dirty="0"/>
              <a:t>(AI·</a:t>
            </a:r>
            <a:r>
              <a:rPr lang="ko-KR" altLang="en-US" dirty="0"/>
              <a:t>로봇</a:t>
            </a:r>
            <a:r>
              <a:rPr lang="en-US" altLang="ko-KR" dirty="0"/>
              <a:t>·</a:t>
            </a:r>
            <a:r>
              <a:rPr lang="ko-KR" altLang="en-US" dirty="0"/>
              <a:t>보안</a:t>
            </a:r>
            <a:r>
              <a:rPr lang="en-US" altLang="ko-KR" dirty="0"/>
              <a:t>·</a:t>
            </a:r>
            <a:r>
              <a:rPr lang="ko-KR" altLang="en-US" dirty="0"/>
              <a:t>윤리</a:t>
            </a:r>
            <a:r>
              <a:rPr lang="en-US" altLang="ko-KR" dirty="0"/>
              <a:t>·</a:t>
            </a:r>
            <a:r>
              <a:rPr lang="ko-KR" altLang="en-US" dirty="0"/>
              <a:t>교육 등</a:t>
            </a:r>
            <a:r>
              <a:rPr lang="en-US" altLang="ko-KR" dirty="0"/>
              <a:t>) </a:t>
            </a:r>
            <a:r>
              <a:rPr lang="ko-KR" altLang="en-US" dirty="0"/>
              <a:t>현장성 설문 </a:t>
            </a:r>
            <a:r>
              <a:rPr lang="en-US" altLang="ko-KR" dirty="0"/>
              <a:t>328</a:t>
            </a:r>
            <a:r>
              <a:rPr lang="ko-KR" altLang="en-US" dirty="0"/>
              <a:t>명 기반 → 실질적</a:t>
            </a:r>
            <a:r>
              <a:rPr lang="en-US" altLang="ko-KR" dirty="0"/>
              <a:t>·</a:t>
            </a:r>
            <a:r>
              <a:rPr lang="ko-KR" altLang="en-US" dirty="0"/>
              <a:t>범용 적용 가능성 확보</a:t>
            </a:r>
          </a:p>
          <a:p>
            <a:r>
              <a:rPr lang="ko-KR" altLang="en-US" dirty="0"/>
              <a:t>통계 기반 검증</a:t>
            </a:r>
            <a:r>
              <a:rPr lang="en-US" altLang="ko-KR" dirty="0"/>
              <a:t>(CVR·</a:t>
            </a:r>
            <a:r>
              <a:rPr lang="ko-KR" altLang="en-US" dirty="0"/>
              <a:t>회귀분석 등</a:t>
            </a:r>
            <a:r>
              <a:rPr lang="en-US" altLang="ko-KR" dirty="0"/>
              <a:t>)</a:t>
            </a:r>
            <a:r>
              <a:rPr lang="ko-KR" altLang="en-US" dirty="0"/>
              <a:t>으로 신뢰성 확보</a:t>
            </a:r>
          </a:p>
          <a:p>
            <a:r>
              <a:rPr lang="en-US" altLang="ko-KR" dirty="0"/>
              <a:t>AI </a:t>
            </a:r>
            <a:r>
              <a:rPr lang="ko-KR" altLang="en-US" dirty="0"/>
              <a:t>윤리원칙과 공식적 매핑 → 정책</a:t>
            </a:r>
            <a:r>
              <a:rPr lang="en-US" altLang="ko-KR" dirty="0"/>
              <a:t>·</a:t>
            </a:r>
            <a:r>
              <a:rPr lang="ko-KR" altLang="en-US" dirty="0"/>
              <a:t>인증</a:t>
            </a:r>
            <a:r>
              <a:rPr lang="en-US" altLang="ko-KR" dirty="0"/>
              <a:t>·</a:t>
            </a:r>
            <a:r>
              <a:rPr lang="ko-KR" altLang="en-US" dirty="0"/>
              <a:t>교육</a:t>
            </a:r>
            <a:r>
              <a:rPr lang="en-US" altLang="ko-KR" dirty="0"/>
              <a:t>·</a:t>
            </a:r>
            <a:r>
              <a:rPr lang="ko-KR" altLang="en-US" dirty="0"/>
              <a:t>표준화 적용 가능</a:t>
            </a:r>
          </a:p>
          <a:p>
            <a:r>
              <a:rPr lang="ko-KR" altLang="en-US" dirty="0"/>
              <a:t>데이터 기반 미래 위험 예측 지표 제시</a:t>
            </a:r>
          </a:p>
          <a:p>
            <a:endParaRPr lang="ko-KR" altLang="en-US" b="1" dirty="0"/>
          </a:p>
          <a:p>
            <a:r>
              <a:rPr lang="en-US" altLang="ko-KR" b="1" dirty="0"/>
              <a:t>8. </a:t>
            </a:r>
            <a:r>
              <a:rPr lang="ko-KR" altLang="en-US" b="1" dirty="0"/>
              <a:t>연구 한계</a:t>
            </a:r>
          </a:p>
          <a:p>
            <a:r>
              <a:rPr lang="ko-KR" altLang="en-US" dirty="0"/>
              <a:t>미래 위험의 불확실성</a:t>
            </a:r>
          </a:p>
          <a:p>
            <a:r>
              <a:rPr lang="ko-KR" altLang="en-US" dirty="0"/>
              <a:t>자율적 의도</a:t>
            </a:r>
            <a:r>
              <a:rPr lang="en-US" altLang="ko-KR" dirty="0"/>
              <a:t>·</a:t>
            </a:r>
            <a:r>
              <a:rPr lang="ko-KR" altLang="en-US" dirty="0"/>
              <a:t>자의적 판단 등 일부 개념은 전문가 합의 도달 어려움</a:t>
            </a:r>
            <a:endParaRPr lang="en-US" altLang="ko-KR" dirty="0"/>
          </a:p>
          <a:p>
            <a:r>
              <a:rPr lang="ko-KR" altLang="en-US" dirty="0"/>
              <a:t>실제 사고 데이터 부족</a:t>
            </a:r>
          </a:p>
          <a:p>
            <a:r>
              <a:rPr lang="ko-KR" altLang="en-US" dirty="0"/>
              <a:t>현재 로봇 상용화 단계가 초기여서 사례 제한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기술 발전 속도 대비 지표 업데이트 필요</a:t>
            </a:r>
          </a:p>
          <a:p>
            <a:r>
              <a:rPr lang="ko-KR" altLang="en-US" dirty="0"/>
              <a:t>지속적 개정 필요성이 큼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특정 산업 적용 시 세부 상황 고려 필요</a:t>
            </a:r>
          </a:p>
          <a:p>
            <a:r>
              <a:rPr lang="ko-KR" altLang="en-US" dirty="0"/>
              <a:t>모든 산업군에서 </a:t>
            </a:r>
            <a:r>
              <a:rPr lang="en-US" altLang="ko-KR" dirty="0"/>
              <a:t>100% </a:t>
            </a:r>
            <a:r>
              <a:rPr lang="ko-KR" altLang="en-US" dirty="0"/>
              <a:t>즉시 동일하게 적용은 어려움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윤리 해석의 국가</a:t>
            </a:r>
            <a:r>
              <a:rPr lang="en-US" altLang="ko-KR" dirty="0"/>
              <a:t>·</a:t>
            </a:r>
            <a:r>
              <a:rPr lang="ko-KR" altLang="en-US" dirty="0"/>
              <a:t>문화적 차이 존재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D40051-0056-4688-8C8D-6575DFF5696C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【7】</a:t>
            </a:r>
          </a:p>
        </p:txBody>
      </p:sp>
    </p:spTree>
    <p:extLst>
      <p:ext uri="{BB962C8B-B14F-4D97-AF65-F5344CB8AC3E}">
        <p14:creationId xmlns:p14="http://schemas.microsoft.com/office/powerpoint/2010/main" val="4523050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E345D-8CC7-2BB9-B1CD-6B217F5FF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AF04487-9566-4B27-A647-6D570C0ED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27" y="1422400"/>
            <a:ext cx="11081173" cy="5195147"/>
          </a:xfrm>
          <a:prstGeom prst="rect">
            <a:avLst/>
          </a:prstGeom>
        </p:spPr>
      </p:pic>
      <p:pic>
        <p:nvPicPr>
          <p:cNvPr id="4" name="그림 3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36A583-2D27-4286-A801-5E868D88E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5065"/>
            <a:ext cx="7152641" cy="9236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F052BF-3672-4FA3-911A-20578777DAB9}"/>
              </a:ext>
            </a:extLst>
          </p:cNvPr>
          <p:cNvSpPr txBox="1"/>
          <p:nvPr/>
        </p:nvSpPr>
        <p:spPr>
          <a:xfrm>
            <a:off x="669823" y="132961"/>
            <a:ext cx="59971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로봇의 위험성 유형별 측정지표 개발과 </a:t>
            </a:r>
            <a:endParaRPr lang="en-US" altLang="ko-KR" sz="2000" b="1" dirty="0"/>
          </a:p>
          <a:p>
            <a:r>
              <a:rPr lang="ko-KR" altLang="en-US" sz="2000" b="1" dirty="0"/>
              <a:t>인공지능 윤리원칙 관계성 연구</a:t>
            </a:r>
            <a:r>
              <a:rPr lang="en-US" altLang="ko-KR" b="1" dirty="0"/>
              <a:t>(</a:t>
            </a:r>
            <a:r>
              <a:rPr lang="ko-KR" altLang="en-US" b="1" dirty="0"/>
              <a:t>송현경</a:t>
            </a:r>
            <a:r>
              <a:rPr lang="en-US" altLang="ko-KR" b="1" dirty="0"/>
              <a:t>, 2024)(4/4)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117E18-0250-46BF-B79B-7B025BAB92BF}"/>
              </a:ext>
            </a:extLst>
          </p:cNvPr>
          <p:cNvSpPr txBox="1"/>
          <p:nvPr/>
        </p:nvSpPr>
        <p:spPr>
          <a:xfrm>
            <a:off x="4355254" y="1056640"/>
            <a:ext cx="34499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0000FF"/>
                </a:solidFill>
              </a:rPr>
              <a:t>위험성 유형별 </a:t>
            </a:r>
            <a:r>
              <a:rPr lang="en-US" altLang="ko-KR" sz="1600" dirty="0">
                <a:solidFill>
                  <a:srgbClr val="0000FF"/>
                </a:solidFill>
              </a:rPr>
              <a:t>52</a:t>
            </a:r>
            <a:r>
              <a:rPr lang="ko-KR" altLang="en-US" sz="1600" dirty="0">
                <a:solidFill>
                  <a:srgbClr val="0000FF"/>
                </a:solidFill>
              </a:rPr>
              <a:t>개 전체 지표 목록</a:t>
            </a:r>
          </a:p>
          <a:p>
            <a:endParaRPr lang="ko-KR" altLang="en-US" sz="1600" dirty="0">
              <a:solidFill>
                <a:srgbClr val="0000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1CA396-018A-4318-BCF8-B2F47E4D6232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【7】</a:t>
            </a:r>
          </a:p>
        </p:txBody>
      </p:sp>
    </p:spTree>
    <p:extLst>
      <p:ext uri="{BB962C8B-B14F-4D97-AF65-F5344CB8AC3E}">
        <p14:creationId xmlns:p14="http://schemas.microsoft.com/office/powerpoint/2010/main" val="1587711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5054</TotalTime>
  <Words>6731</Words>
  <Application>Microsoft Office PowerPoint</Application>
  <PresentationFormat>와이드스크린</PresentationFormat>
  <Paragraphs>675</Paragraphs>
  <Slides>40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4" baseType="lpstr">
      <vt:lpstr>-apple-system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양희정</dc:creator>
  <cp:lastModifiedBy>양 희정</cp:lastModifiedBy>
  <cp:revision>201</cp:revision>
  <cp:lastPrinted>2026-03-11T07:44:21Z</cp:lastPrinted>
  <dcterms:created xsi:type="dcterms:W3CDTF">2026-02-24T07:28:13Z</dcterms:created>
  <dcterms:modified xsi:type="dcterms:W3CDTF">2026-03-12T05:45:54Z</dcterms:modified>
</cp:coreProperties>
</file>