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24" r:id="rId2"/>
    <p:sldId id="326" r:id="rId3"/>
    <p:sldId id="344" r:id="rId4"/>
    <p:sldId id="343" r:id="rId5"/>
    <p:sldId id="383" r:id="rId6"/>
    <p:sldId id="345" r:id="rId7"/>
    <p:sldId id="398" r:id="rId8"/>
    <p:sldId id="399" r:id="rId9"/>
    <p:sldId id="389" r:id="rId10"/>
    <p:sldId id="396" r:id="rId11"/>
    <p:sldId id="397" r:id="rId12"/>
    <p:sldId id="400" r:id="rId13"/>
    <p:sldId id="376" r:id="rId14"/>
    <p:sldId id="390" r:id="rId15"/>
    <p:sldId id="391" r:id="rId16"/>
    <p:sldId id="384" r:id="rId17"/>
    <p:sldId id="392" r:id="rId18"/>
    <p:sldId id="385" r:id="rId19"/>
    <p:sldId id="393" r:id="rId20"/>
    <p:sldId id="386" r:id="rId21"/>
    <p:sldId id="387" r:id="rId22"/>
    <p:sldId id="388" r:id="rId23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6" autoAdjust="0"/>
    <p:restoredTop sz="85604" autoAdjust="0"/>
  </p:normalViewPr>
  <p:slideViewPr>
    <p:cSldViewPr snapToGrid="0">
      <p:cViewPr varScale="1">
        <p:scale>
          <a:sx n="140" d="100"/>
          <a:sy n="140" d="100"/>
        </p:scale>
        <p:origin x="424" y="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3" d="100"/>
          <a:sy n="113" d="100"/>
        </p:scale>
        <p:origin x="1372" y="1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DA0A7-FD9F-4435-B1D5-7267E1A37088}" type="datetimeFigureOut">
              <a:rPr lang="ko-KR" altLang="en-US" smtClean="0"/>
              <a:t>2026-03-19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F62DE-34EC-4057-822D-799CF81ECAA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2214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1AC2C-4D27-A621-B30E-31C8129F3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21F5BE-C97A-3608-D1A9-78A759478E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B4609F-BAE2-C58F-E95C-E4230D43E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278B77-C967-7646-6C58-FE3F4C86FF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6748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유럽연합</a:t>
            </a:r>
            <a:r>
              <a:rPr lang="en-US" altLang="ko-KR" dirty="0"/>
              <a:t>(EU)</a:t>
            </a:r>
            <a:r>
              <a:rPr lang="ko-KR" altLang="en-US" dirty="0"/>
              <a:t>이 </a:t>
            </a:r>
            <a:r>
              <a:rPr lang="en-US" altLang="ko-KR" dirty="0"/>
              <a:t>2024</a:t>
            </a:r>
            <a:r>
              <a:rPr lang="ko-KR" altLang="en-US" dirty="0"/>
              <a:t>년 </a:t>
            </a:r>
            <a:r>
              <a:rPr lang="en-US" altLang="ko-KR" dirty="0"/>
              <a:t>8</a:t>
            </a:r>
            <a:r>
              <a:rPr lang="ko-KR" altLang="en-US" dirty="0"/>
              <a:t>월 발효한 </a:t>
            </a:r>
            <a:r>
              <a:rPr lang="en-US" altLang="ko-KR" dirty="0"/>
              <a:t>EU AI Act(EU </a:t>
            </a:r>
            <a:r>
              <a:rPr lang="ko-KR" altLang="en-US" dirty="0"/>
              <a:t>인공지능법</a:t>
            </a:r>
            <a:r>
              <a:rPr lang="en-US" altLang="ko-KR" dirty="0"/>
              <a:t>)</a:t>
            </a:r>
            <a:r>
              <a:rPr lang="ko-KR" altLang="en-US" dirty="0"/>
              <a:t>는 전 세계 </a:t>
            </a:r>
            <a:r>
              <a:rPr lang="en-US" altLang="ko-KR" dirty="0"/>
              <a:t>AI </a:t>
            </a:r>
            <a:r>
              <a:rPr lang="ko-KR" altLang="en-US" dirty="0"/>
              <a:t>규제의 기준을 제시한 최초의 포괄적 법안이다</a:t>
            </a:r>
            <a:r>
              <a:rPr lang="en-US" altLang="ko-KR" dirty="0"/>
              <a:t>. </a:t>
            </a:r>
            <a:r>
              <a:rPr lang="ko-KR" altLang="en-US" dirty="0"/>
              <a:t>이 법안은 기업들의 </a:t>
            </a:r>
            <a:r>
              <a:rPr lang="en-US" altLang="ko-KR" dirty="0"/>
              <a:t>AI </a:t>
            </a:r>
            <a:r>
              <a:rPr lang="ko-KR" altLang="en-US" dirty="0"/>
              <a:t>개발 방식을 변화시키며</a:t>
            </a:r>
            <a:r>
              <a:rPr lang="en-US" altLang="ko-KR" dirty="0"/>
              <a:t>, </a:t>
            </a:r>
            <a:r>
              <a:rPr lang="ko-KR" altLang="en-US" dirty="0"/>
              <a:t>윤리적이고 책임 있는 </a:t>
            </a:r>
            <a:r>
              <a:rPr lang="en-US" altLang="ko-KR" dirty="0"/>
              <a:t>AI </a:t>
            </a:r>
            <a:r>
              <a:rPr lang="ko-KR" altLang="en-US" dirty="0"/>
              <a:t>발전에 영향을 미칠 것으로 예상되어 그 중요성이 크다</a:t>
            </a:r>
            <a:r>
              <a:rPr lang="en-US" altLang="ko-KR" dirty="0"/>
              <a:t>. </a:t>
            </a:r>
            <a:r>
              <a:rPr lang="ko-KR" altLang="en-US" dirty="0"/>
              <a:t>특히 </a:t>
            </a:r>
            <a:r>
              <a:rPr lang="en-US" altLang="ko-KR" dirty="0"/>
              <a:t>AI Act</a:t>
            </a:r>
            <a:r>
              <a:rPr lang="ko-KR" altLang="en-US" dirty="0"/>
              <a:t>의 적용범위는 </a:t>
            </a:r>
            <a:r>
              <a:rPr lang="en-US" altLang="ko-KR" dirty="0"/>
              <a:t>EU</a:t>
            </a:r>
            <a:r>
              <a:rPr lang="ko-KR" altLang="en-US" dirty="0"/>
              <a:t>를 넘어 확장되어 유럽 내에서 </a:t>
            </a:r>
            <a:r>
              <a:rPr lang="en-US" altLang="ko-KR" dirty="0"/>
              <a:t>AI </a:t>
            </a:r>
            <a:r>
              <a:rPr lang="ko-KR" altLang="en-US" dirty="0"/>
              <a:t>시스템을 판매하거나 사용하는 전 세계 조직에 영향을 미친다</a:t>
            </a:r>
            <a:r>
              <a:rPr lang="en-US" altLang="ko-KR" dirty="0"/>
              <a:t>. </a:t>
            </a:r>
            <a:r>
              <a:rPr lang="ko-KR" altLang="en-US" dirty="0"/>
              <a:t>한국 기업과 법조계는 </a:t>
            </a:r>
            <a:r>
              <a:rPr lang="en-US" altLang="ko-KR" dirty="0"/>
              <a:t>EU </a:t>
            </a:r>
            <a:r>
              <a:rPr lang="ko-KR" altLang="en-US" dirty="0"/>
              <a:t>시장 진출 시 이 법의 영향력을 피할 수 없기에</a:t>
            </a:r>
            <a:r>
              <a:rPr lang="en-US" altLang="ko-KR" dirty="0"/>
              <a:t>, </a:t>
            </a:r>
            <a:r>
              <a:rPr lang="ko-KR" altLang="en-US" dirty="0"/>
              <a:t>그 내용과 시사점을 심층적으로 분석해볼 필요가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출처 </a:t>
            </a:r>
            <a:r>
              <a:rPr lang="en-US" altLang="ko-KR" dirty="0"/>
              <a:t>: </a:t>
            </a:r>
            <a:r>
              <a:rPr lang="ko-KR" altLang="en-US" dirty="0"/>
              <a:t>법률신문</a:t>
            </a:r>
            <a:r>
              <a:rPr lang="en-US" altLang="ko-KR" dirty="0"/>
              <a:t>(https://www.lawtimes.co.kr)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3503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29996-EFC5-BB6D-22D8-1DC6112AE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4C1864-EA3C-3555-A700-344F14F51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55F65B-7B2C-D5E9-BC8C-77307E81F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B89965-BC46-3C31-6CFB-11F0F4D008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89070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4A41A-C2D5-32D4-BDD3-DED6657D6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0A53ED-EB30-28F5-ECAC-3C1474DD53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CE50B5-3F8E-5438-1D5D-B9045E37E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(EU AI </a:t>
            </a:r>
            <a:r>
              <a:rPr lang="ko-KR" altLang="en-US"/>
              <a:t>이사회</a:t>
            </a:r>
            <a:r>
              <a:rPr lang="en-US" altLang="ko-KR"/>
              <a:t>, EU AI Board) </a:t>
            </a:r>
            <a:r>
              <a:rPr lang="ko-KR" altLang="en-US"/>
              <a:t>회원국의 관련 기관 대표</a:t>
            </a:r>
            <a:r>
              <a:rPr lang="en-US" altLang="ko-KR"/>
              <a:t>, </a:t>
            </a:r>
            <a:r>
              <a:rPr lang="ko-KR" altLang="en-US"/>
              <a:t>유럽 데이터 보호 감독관 및 </a:t>
            </a:r>
            <a:r>
              <a:rPr lang="en-US" altLang="ko-KR"/>
              <a:t>EU </a:t>
            </a:r>
            <a:r>
              <a:rPr lang="ko-KR" altLang="en-US"/>
              <a:t>집행위원회의 </a:t>
            </a:r>
          </a:p>
          <a:p>
            <a:r>
              <a:rPr lang="ko-KR" altLang="en-US"/>
              <a:t>고위급 대표로 구성</a:t>
            </a:r>
          </a:p>
          <a:p>
            <a:r>
              <a:rPr lang="en-US" altLang="ko-KR"/>
              <a:t>(EU AI </a:t>
            </a:r>
            <a:r>
              <a:rPr lang="ko-KR" altLang="en-US"/>
              <a:t>사무국</a:t>
            </a:r>
            <a:r>
              <a:rPr lang="en-US" altLang="ko-KR"/>
              <a:t>, EU AI Office) EU </a:t>
            </a:r>
            <a:r>
              <a:rPr lang="ko-KR" altLang="en-US"/>
              <a:t>집행위원회 내 기능적으로 독립된 기관으로 </a:t>
            </a:r>
            <a:r>
              <a:rPr lang="en-US" altLang="ko-KR"/>
              <a:t>EU </a:t>
            </a:r>
            <a:r>
              <a:rPr lang="ko-KR" altLang="en-US"/>
              <a:t>역내 </a:t>
            </a:r>
            <a:r>
              <a:rPr lang="en-US" altLang="ko-KR"/>
              <a:t>AI </a:t>
            </a:r>
            <a:r>
              <a:rPr lang="ko-KR" altLang="en-US"/>
              <a:t>전문지식과 </a:t>
            </a:r>
          </a:p>
          <a:p>
            <a:r>
              <a:rPr lang="ko-KR" altLang="en-US"/>
              <a:t>역량을 보유한 전문가로 구성</a:t>
            </a:r>
          </a:p>
          <a:p>
            <a:r>
              <a:rPr lang="en-US" altLang="ko-KR"/>
              <a:t>(</a:t>
            </a:r>
            <a:r>
              <a:rPr lang="ko-KR" altLang="en-US"/>
              <a:t>독립적인 과학전문가패널</a:t>
            </a:r>
            <a:r>
              <a:rPr lang="en-US" altLang="ko-KR"/>
              <a:t>, Scientific Panel) EU AI </a:t>
            </a:r>
            <a:r>
              <a:rPr lang="ko-KR" altLang="en-US"/>
              <a:t>사무소 활동을 지원하기 위한 독립적인 전문가로 </a:t>
            </a:r>
          </a:p>
          <a:p>
            <a:r>
              <a:rPr lang="ko-KR" altLang="en-US"/>
              <a:t>구성된 과학 패널</a:t>
            </a:r>
          </a:p>
          <a:p>
            <a:r>
              <a:rPr lang="en-US" altLang="ko-KR"/>
              <a:t>(</a:t>
            </a:r>
            <a:r>
              <a:rPr lang="ko-KR" altLang="en-US"/>
              <a:t>자문단</a:t>
            </a:r>
            <a:r>
              <a:rPr lang="en-US" altLang="ko-KR"/>
              <a:t>, Advisory Forum) </a:t>
            </a:r>
            <a:r>
              <a:rPr lang="ko-KR" altLang="en-US"/>
              <a:t>산업계</a:t>
            </a:r>
            <a:r>
              <a:rPr lang="en-US" altLang="ko-KR"/>
              <a:t>(</a:t>
            </a:r>
            <a:r>
              <a:rPr lang="ko-KR" altLang="en-US"/>
              <a:t>빅테크</a:t>
            </a:r>
            <a:r>
              <a:rPr lang="en-US" altLang="ko-KR"/>
              <a:t>, </a:t>
            </a:r>
            <a:r>
              <a:rPr lang="ko-KR" altLang="en-US"/>
              <a:t>스타트업</a:t>
            </a:r>
            <a:r>
              <a:rPr lang="en-US" altLang="ko-KR"/>
              <a:t>, </a:t>
            </a:r>
            <a:r>
              <a:rPr lang="ko-KR" altLang="en-US"/>
              <a:t>중소기업</a:t>
            </a:r>
            <a:r>
              <a:rPr lang="en-US" altLang="ko-KR"/>
              <a:t>), </a:t>
            </a:r>
            <a:r>
              <a:rPr lang="ko-KR" altLang="en-US"/>
              <a:t>학계</a:t>
            </a:r>
            <a:r>
              <a:rPr lang="en-US" altLang="ko-KR"/>
              <a:t>, </a:t>
            </a:r>
            <a:r>
              <a:rPr lang="ko-KR" altLang="en-US"/>
              <a:t>시민사회대표로 구성해 </a:t>
            </a:r>
            <a:r>
              <a:rPr lang="en-US" altLang="ko-KR"/>
              <a:t>EU AI </a:t>
            </a:r>
          </a:p>
          <a:p>
            <a:r>
              <a:rPr lang="ko-KR" altLang="en-US"/>
              <a:t>이사회에 기술적 전문지식과 의견 제공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19EE6E-3440-0935-F73C-6E677D93F8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6631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(EC</a:t>
            </a:r>
            <a:r>
              <a:rPr lang="ko-KR" altLang="en-US"/>
              <a:t>의 </a:t>
            </a:r>
            <a:r>
              <a:rPr lang="en-US" altLang="ko-KR"/>
              <a:t>AI </a:t>
            </a:r>
            <a:r>
              <a:rPr lang="ko-KR" altLang="en-US"/>
              <a:t>법안 제안</a:t>
            </a:r>
            <a:r>
              <a:rPr lang="en-US" altLang="ko-KR"/>
              <a:t>) 2021</a:t>
            </a:r>
            <a:r>
              <a:rPr lang="ko-KR" altLang="en-US"/>
              <a:t>년 </a:t>
            </a:r>
            <a:r>
              <a:rPr lang="en-US" altLang="ko-KR"/>
              <a:t>4</a:t>
            </a:r>
            <a:r>
              <a:rPr lang="ko-KR" altLang="en-US"/>
              <a:t>월</a:t>
            </a:r>
            <a:r>
              <a:rPr lang="en-US" altLang="ko-KR"/>
              <a:t>, EC</a:t>
            </a:r>
            <a:r>
              <a:rPr lang="ko-KR" altLang="en-US"/>
              <a:t>는 유럽의회와 </a:t>
            </a:r>
            <a:r>
              <a:rPr lang="en-US" altLang="ko-KR"/>
              <a:t>EU </a:t>
            </a:r>
            <a:r>
              <a:rPr lang="ko-KR" altLang="en-US"/>
              <a:t>이사회의 요구에 따라 </a:t>
            </a:r>
            <a:r>
              <a:rPr lang="en-US" altLang="ko-KR"/>
              <a:t>AI </a:t>
            </a:r>
            <a:r>
              <a:rPr lang="ko-KR" altLang="en-US"/>
              <a:t>개발과 활용에 </a:t>
            </a:r>
          </a:p>
          <a:p>
            <a:r>
              <a:rPr lang="ko-KR" altLang="en-US"/>
              <a:t>대한 신뢰 확보</a:t>
            </a:r>
            <a:r>
              <a:rPr lang="en-US" altLang="ko-KR"/>
              <a:t>, </a:t>
            </a:r>
            <a:r>
              <a:rPr lang="ko-KR" altLang="en-US"/>
              <a:t>기본권 보장</a:t>
            </a:r>
            <a:r>
              <a:rPr lang="en-US" altLang="ko-KR"/>
              <a:t>, </a:t>
            </a:r>
            <a:r>
              <a:rPr lang="ko-KR" altLang="en-US"/>
              <a:t>이용자 안전 강화 등을 목표로 하는 </a:t>
            </a:r>
            <a:r>
              <a:rPr lang="en-US" altLang="ko-KR"/>
              <a:t>AI </a:t>
            </a:r>
            <a:r>
              <a:rPr lang="ko-KR" altLang="en-US"/>
              <a:t>법안</a:t>
            </a:r>
            <a:r>
              <a:rPr lang="en-US" altLang="ko-KR"/>
              <a:t>(Artificial Intelligence Act)1 </a:t>
            </a:r>
            <a:r>
              <a:rPr lang="ko-KR" altLang="en-US"/>
              <a:t>제안</a:t>
            </a:r>
          </a:p>
          <a:p>
            <a:r>
              <a:rPr lang="ko-KR" altLang="en-US"/>
              <a:t> </a:t>
            </a:r>
            <a:r>
              <a:rPr lang="en-US" altLang="ko-KR"/>
              <a:t>: EC</a:t>
            </a:r>
            <a:r>
              <a:rPr lang="ko-KR" altLang="en-US"/>
              <a:t>는 </a:t>
            </a:r>
            <a:r>
              <a:rPr lang="en-US" altLang="ko-KR"/>
              <a:t>AI </a:t>
            </a:r>
            <a:r>
              <a:rPr lang="ko-KR" altLang="en-US"/>
              <a:t>이용에 따른 위험에 대처하기 위해</a:t>
            </a:r>
            <a:r>
              <a:rPr lang="en-US" altLang="ko-KR"/>
              <a:t>, </a:t>
            </a:r>
            <a:r>
              <a:rPr lang="ko-KR" altLang="en-US"/>
              <a:t>위험 수준에 비례한 접근방식을 채택하여 위험 수준을 ‘수용 </a:t>
            </a:r>
          </a:p>
          <a:p>
            <a:r>
              <a:rPr lang="ko-KR" altLang="en-US"/>
              <a:t>불가 위험’</a:t>
            </a:r>
            <a:r>
              <a:rPr lang="en-US" altLang="ko-KR"/>
              <a:t>, ‘</a:t>
            </a:r>
            <a:r>
              <a:rPr lang="ko-KR" altLang="en-US"/>
              <a:t>고위험’</a:t>
            </a:r>
            <a:r>
              <a:rPr lang="en-US" altLang="ko-KR"/>
              <a:t>, ‘</a:t>
            </a:r>
            <a:r>
              <a:rPr lang="ko-KR" altLang="en-US"/>
              <a:t>최소위험’으로 분류하여 규제 방향을 설정</a:t>
            </a:r>
          </a:p>
          <a:p>
            <a:endParaRPr lang="ko-KR" altLang="en-US"/>
          </a:p>
          <a:p>
            <a:r>
              <a:rPr lang="en-US" altLang="ko-KR"/>
              <a:t>(EU </a:t>
            </a:r>
            <a:r>
              <a:rPr lang="ko-KR" altLang="en-US"/>
              <a:t>이사회의 </a:t>
            </a:r>
            <a:r>
              <a:rPr lang="en-US" altLang="ko-KR"/>
              <a:t>AI </a:t>
            </a:r>
            <a:r>
              <a:rPr lang="ko-KR" altLang="en-US"/>
              <a:t>법안 검토</a:t>
            </a:r>
            <a:r>
              <a:rPr lang="en-US" altLang="ko-KR"/>
              <a:t>) 2022</a:t>
            </a:r>
            <a:r>
              <a:rPr lang="ko-KR" altLang="en-US"/>
              <a:t>년 </a:t>
            </a:r>
            <a:r>
              <a:rPr lang="en-US" altLang="ko-KR"/>
              <a:t>12</a:t>
            </a:r>
            <a:r>
              <a:rPr lang="ko-KR" altLang="en-US"/>
              <a:t>월</a:t>
            </a:r>
            <a:r>
              <a:rPr lang="en-US" altLang="ko-KR"/>
              <a:t>, EU </a:t>
            </a:r>
            <a:r>
              <a:rPr lang="ko-KR" altLang="en-US"/>
              <a:t>이사회는 </a:t>
            </a:r>
            <a:r>
              <a:rPr lang="en-US" altLang="ko-KR"/>
              <a:t>EC</a:t>
            </a:r>
            <a:r>
              <a:rPr lang="ko-KR" altLang="en-US"/>
              <a:t>가 제안한 </a:t>
            </a:r>
            <a:r>
              <a:rPr lang="en-US" altLang="ko-KR"/>
              <a:t>AI </a:t>
            </a:r>
            <a:r>
              <a:rPr lang="ko-KR" altLang="en-US"/>
              <a:t>법안을 검토하고</a:t>
            </a:r>
            <a:r>
              <a:rPr lang="en-US" altLang="ko-KR"/>
              <a:t>, </a:t>
            </a:r>
            <a:r>
              <a:rPr lang="ko-KR" altLang="en-US"/>
              <a:t>목표</a:t>
            </a:r>
            <a:r>
              <a:rPr lang="en-US" altLang="ko-KR"/>
              <a:t>, </a:t>
            </a:r>
          </a:p>
          <a:p>
            <a:r>
              <a:rPr lang="ko-KR" altLang="en-US"/>
              <a:t>정의</a:t>
            </a:r>
            <a:r>
              <a:rPr lang="en-US" altLang="ko-KR"/>
              <a:t>, </a:t>
            </a:r>
            <a:r>
              <a:rPr lang="ko-KR" altLang="en-US"/>
              <a:t>규제</a:t>
            </a:r>
            <a:r>
              <a:rPr lang="en-US" altLang="ko-KR"/>
              <a:t>, </a:t>
            </a:r>
            <a:r>
              <a:rPr lang="ko-KR" altLang="en-US"/>
              <a:t>적용 대상 등에 관한 입장문</a:t>
            </a:r>
            <a:r>
              <a:rPr lang="en-US" altLang="ko-KR"/>
              <a:t>2, 3</a:t>
            </a:r>
            <a:r>
              <a:rPr lang="ko-KR" altLang="en-US"/>
              <a:t>을 발표하면서 법안 목표를 제시</a:t>
            </a:r>
          </a:p>
          <a:p>
            <a:r>
              <a:rPr lang="ko-KR" altLang="en-US"/>
              <a:t> </a:t>
            </a:r>
            <a:r>
              <a:rPr lang="en-US" altLang="ko-KR"/>
              <a:t>: AI</a:t>
            </a:r>
            <a:r>
              <a:rPr lang="ko-KR" altLang="en-US"/>
              <a:t>법 제정의 목표는 유럽을 신뢰할 수 있는 글로벌 </a:t>
            </a:r>
            <a:r>
              <a:rPr lang="en-US" altLang="ko-KR"/>
              <a:t>AI </a:t>
            </a:r>
            <a:r>
              <a:rPr lang="ko-KR" altLang="en-US"/>
              <a:t>허브로 만들고</a:t>
            </a:r>
            <a:r>
              <a:rPr lang="en-US" altLang="ko-KR"/>
              <a:t>, AI</a:t>
            </a:r>
            <a:r>
              <a:rPr lang="ko-KR" altLang="en-US"/>
              <a:t>를 사용할 때의 위험과 이점이 </a:t>
            </a:r>
          </a:p>
          <a:p>
            <a:r>
              <a:rPr lang="ko-KR" altLang="en-US"/>
              <a:t>균형을 이루는데 초점을 둠</a:t>
            </a:r>
          </a:p>
          <a:p>
            <a:endParaRPr lang="ko-KR" altLang="en-US"/>
          </a:p>
          <a:p>
            <a:r>
              <a:rPr lang="en-US" altLang="ko-KR"/>
              <a:t>(</a:t>
            </a:r>
            <a:r>
              <a:rPr lang="ko-KR" altLang="en-US"/>
              <a:t>유럽의회의 </a:t>
            </a:r>
            <a:r>
              <a:rPr lang="en-US" altLang="ko-KR"/>
              <a:t>AI </a:t>
            </a:r>
            <a:r>
              <a:rPr lang="ko-KR" altLang="en-US"/>
              <a:t>법안 검토 및 수정</a:t>
            </a:r>
            <a:r>
              <a:rPr lang="en-US" altLang="ko-KR"/>
              <a:t>) 2023</a:t>
            </a:r>
            <a:r>
              <a:rPr lang="ko-KR" altLang="en-US"/>
              <a:t>년 </a:t>
            </a:r>
            <a:r>
              <a:rPr lang="en-US" altLang="ko-KR"/>
              <a:t>6</a:t>
            </a:r>
            <a:r>
              <a:rPr lang="ko-KR" altLang="en-US"/>
              <a:t>월 </a:t>
            </a:r>
            <a:r>
              <a:rPr lang="en-US" altLang="ko-KR"/>
              <a:t>14</a:t>
            </a:r>
            <a:r>
              <a:rPr lang="ko-KR" altLang="en-US"/>
              <a:t>일</a:t>
            </a:r>
            <a:r>
              <a:rPr lang="en-US" altLang="ko-KR"/>
              <a:t>, </a:t>
            </a:r>
            <a:r>
              <a:rPr lang="ko-KR" altLang="en-US"/>
              <a:t>유럽의회는 </a:t>
            </a:r>
            <a:r>
              <a:rPr lang="en-US" altLang="ko-KR"/>
              <a:t>EC</a:t>
            </a:r>
            <a:r>
              <a:rPr lang="ko-KR" altLang="en-US"/>
              <a:t>가 제안한 </a:t>
            </a:r>
            <a:r>
              <a:rPr lang="en-US" altLang="ko-KR"/>
              <a:t>AI </a:t>
            </a:r>
            <a:r>
              <a:rPr lang="ko-KR" altLang="en-US"/>
              <a:t>법안을 검토	</a:t>
            </a:r>
          </a:p>
          <a:p>
            <a:r>
              <a:rPr lang="ko-KR" altLang="en-US"/>
              <a:t>하고</a:t>
            </a:r>
            <a:r>
              <a:rPr lang="en-US" altLang="ko-KR"/>
              <a:t>, </a:t>
            </a:r>
            <a:r>
              <a:rPr lang="ko-KR" altLang="en-US"/>
              <a:t>생성형 </a:t>
            </a:r>
            <a:r>
              <a:rPr lang="en-US" altLang="ko-KR"/>
              <a:t>AI </a:t>
            </a:r>
            <a:r>
              <a:rPr lang="ko-KR" altLang="en-US"/>
              <a:t>관련 사항을 추가한 </a:t>
            </a:r>
            <a:r>
              <a:rPr lang="en-US" altLang="ko-KR"/>
              <a:t>AI </a:t>
            </a:r>
            <a:r>
              <a:rPr lang="ko-KR" altLang="en-US"/>
              <a:t>법안</a:t>
            </a:r>
            <a:r>
              <a:rPr lang="en-US" altLang="ko-KR"/>
              <a:t>(</a:t>
            </a:r>
            <a:r>
              <a:rPr lang="ko-KR" altLang="en-US"/>
              <a:t>수정안</a:t>
            </a:r>
            <a:r>
              <a:rPr lang="en-US" altLang="ko-KR"/>
              <a:t>)4</a:t>
            </a:r>
            <a:r>
              <a:rPr lang="ko-KR" altLang="en-US"/>
              <a:t>에 대해 본회의에서 투표를 진행하여 가결</a:t>
            </a:r>
          </a:p>
          <a:p>
            <a:r>
              <a:rPr lang="en-US" altLang="ko-KR"/>
              <a:t>: </a:t>
            </a:r>
            <a:r>
              <a:rPr lang="ko-KR" altLang="en-US"/>
              <a:t>유럽의회는 </a:t>
            </a:r>
            <a:r>
              <a:rPr lang="en-US" altLang="ko-KR"/>
              <a:t>1</a:t>
            </a:r>
            <a:r>
              <a:rPr lang="ko-KR" altLang="en-US"/>
              <a:t>년 이상 </a:t>
            </a:r>
            <a:r>
              <a:rPr lang="en-US" altLang="ko-KR"/>
              <a:t>AI </a:t>
            </a:r>
            <a:r>
              <a:rPr lang="ko-KR" altLang="en-US"/>
              <a:t>법안을 검토하는 상황에서 챗</a:t>
            </a:r>
            <a:r>
              <a:rPr lang="en-US" altLang="ko-KR"/>
              <a:t>GPT</a:t>
            </a:r>
            <a:r>
              <a:rPr lang="ko-KR" altLang="en-US"/>
              <a:t>에 관한 이슈가 긴급하게 대두되면서 </a:t>
            </a:r>
            <a:r>
              <a:rPr lang="en-US" altLang="ko-KR"/>
              <a:t>AI </a:t>
            </a:r>
            <a:r>
              <a:rPr lang="ko-KR" altLang="en-US"/>
              <a:t>규제에 </a:t>
            </a:r>
          </a:p>
          <a:p>
            <a:r>
              <a:rPr lang="ko-KR" altLang="en-US"/>
              <a:t>대한 사항을 담은 </a:t>
            </a:r>
            <a:r>
              <a:rPr lang="en-US" altLang="ko-KR"/>
              <a:t>AI </a:t>
            </a:r>
            <a:r>
              <a:rPr lang="ko-KR" altLang="en-US"/>
              <a:t>법안을 본회의 투표에 부쳐 법안을 신속 가결</a:t>
            </a:r>
          </a:p>
          <a:p>
            <a:r>
              <a:rPr lang="ko-KR" altLang="en-US"/>
              <a:t>유럽의회에서 가결된 </a:t>
            </a:r>
            <a:r>
              <a:rPr lang="en-US" altLang="ko-KR"/>
              <a:t>AI </a:t>
            </a:r>
            <a:r>
              <a:rPr lang="ko-KR" altLang="en-US"/>
              <a:t>법률 수정법안은 </a:t>
            </a:r>
            <a:r>
              <a:rPr lang="en-US" altLang="ko-KR"/>
              <a:t>AI</a:t>
            </a:r>
            <a:r>
              <a:rPr lang="ko-KR" altLang="en-US"/>
              <a:t>의 인간과 윤리적 영향에 대한 유럽 규제 접근방식을 제시</a:t>
            </a:r>
          </a:p>
          <a:p>
            <a:endParaRPr lang="ko-KR" altLang="en-US"/>
          </a:p>
          <a:p>
            <a:r>
              <a:rPr lang="en-US" altLang="ko-KR"/>
              <a:t>(</a:t>
            </a:r>
            <a:r>
              <a:rPr lang="ko-KR" altLang="en-US"/>
              <a:t>협의</a:t>
            </a:r>
            <a:r>
              <a:rPr lang="en-US" altLang="ko-KR"/>
              <a:t>) EC, </a:t>
            </a:r>
            <a:r>
              <a:rPr lang="ko-KR" altLang="en-US"/>
              <a:t>유럽의회</a:t>
            </a:r>
            <a:r>
              <a:rPr lang="en-US" altLang="ko-KR"/>
              <a:t>, EU </a:t>
            </a:r>
            <a:r>
              <a:rPr lang="ko-KR" altLang="en-US"/>
              <a:t>이사회는 합의를 통해 법률 최종안을 마련하기 위해 약 </a:t>
            </a:r>
            <a:r>
              <a:rPr lang="en-US" altLang="ko-KR"/>
              <a:t>6</a:t>
            </a:r>
            <a:r>
              <a:rPr lang="ko-KR" altLang="en-US"/>
              <a:t>개월에 걸친 </a:t>
            </a:r>
          </a:p>
          <a:p>
            <a:r>
              <a:rPr lang="ko-KR" altLang="en-US"/>
              <a:t>협의를 거쳐 </a:t>
            </a:r>
            <a:r>
              <a:rPr lang="en-US" altLang="ko-KR"/>
              <a:t>2023</a:t>
            </a:r>
            <a:r>
              <a:rPr lang="ko-KR" altLang="en-US"/>
              <a:t>년 </a:t>
            </a:r>
            <a:r>
              <a:rPr lang="en-US" altLang="ko-KR"/>
              <a:t>12</a:t>
            </a:r>
            <a:r>
              <a:rPr lang="ko-KR" altLang="en-US"/>
              <a:t>월에 이르러 정치적인 합의에 도달</a:t>
            </a:r>
          </a:p>
          <a:p>
            <a:r>
              <a:rPr lang="ko-KR" altLang="en-US"/>
              <a:t> </a:t>
            </a:r>
            <a:r>
              <a:rPr lang="en-US" altLang="ko-KR"/>
              <a:t>: </a:t>
            </a:r>
            <a:r>
              <a:rPr lang="ko-KR" altLang="en-US"/>
              <a:t>일반적으로 </a:t>
            </a:r>
            <a:r>
              <a:rPr lang="en-US" altLang="ko-KR"/>
              <a:t>EU</a:t>
            </a:r>
            <a:r>
              <a:rPr lang="ko-KR" altLang="en-US"/>
              <a:t>는 주요 </a:t>
            </a:r>
            <a:r>
              <a:rPr lang="en-US" altLang="ko-KR"/>
              <a:t>3</a:t>
            </a:r>
            <a:r>
              <a:rPr lang="ko-KR" altLang="en-US"/>
              <a:t>개 조직</a:t>
            </a:r>
            <a:r>
              <a:rPr lang="en-US" altLang="ko-KR"/>
              <a:t>(EC, EU </a:t>
            </a:r>
            <a:r>
              <a:rPr lang="ko-KR" altLang="en-US"/>
              <a:t>이사회</a:t>
            </a:r>
            <a:r>
              <a:rPr lang="en-US" altLang="ko-KR"/>
              <a:t>, </a:t>
            </a:r>
            <a:r>
              <a:rPr lang="ko-KR" altLang="en-US"/>
              <a:t>유럽의회</a:t>
            </a:r>
            <a:r>
              <a:rPr lang="en-US" altLang="ko-KR"/>
              <a:t>)</a:t>
            </a:r>
            <a:r>
              <a:rPr lang="ko-KR" altLang="en-US"/>
              <a:t>이 </a:t>
            </a:r>
            <a:r>
              <a:rPr lang="en-US" altLang="ko-KR"/>
              <a:t>3</a:t>
            </a:r>
            <a:r>
              <a:rPr lang="ko-KR" altLang="en-US"/>
              <a:t>자 협상을 진행하여 새로운 법안에 대한 </a:t>
            </a:r>
          </a:p>
          <a:p>
            <a:r>
              <a:rPr lang="ko-KR" altLang="en-US"/>
              <a:t>절충안을 마련하여 최종적으로 법률 제정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8937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D4194-D1D2-D030-A99C-E7A628921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08470D-D647-7147-9A72-F0047A535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BB5266-D026-6A46-8297-3ECDA3F2B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제</a:t>
            </a:r>
            <a:r>
              <a:rPr lang="en-US" altLang="ko-KR" b="1" dirty="0"/>
              <a:t>1</a:t>
            </a:r>
            <a:r>
              <a:rPr lang="ko-KR" altLang="en-US" b="1" dirty="0"/>
              <a:t>장</a:t>
            </a:r>
            <a:r>
              <a:rPr lang="en-US" altLang="ko-KR" b="1" dirty="0"/>
              <a:t>: </a:t>
            </a:r>
            <a:r>
              <a:rPr lang="ko-KR" altLang="en-US" b="1" dirty="0"/>
              <a:t>일반 조항</a:t>
            </a:r>
            <a:r>
              <a:rPr lang="en-US" altLang="ko-KR" sz="1100" dirty="0"/>
              <a:t>(General Provisions) </a:t>
            </a:r>
            <a:r>
              <a:rPr lang="en-US" altLang="ko-KR" dirty="0"/>
              <a:t>: </a:t>
            </a:r>
            <a:r>
              <a:rPr lang="ko-KR" altLang="en-US" dirty="0"/>
              <a:t>목적</a:t>
            </a:r>
            <a:r>
              <a:rPr lang="en-US" altLang="ko-KR" dirty="0"/>
              <a:t>, </a:t>
            </a:r>
            <a:r>
              <a:rPr lang="ko-KR" altLang="en-US" dirty="0"/>
              <a:t>정의</a:t>
            </a:r>
            <a:r>
              <a:rPr lang="en-US" altLang="ko-KR" dirty="0"/>
              <a:t>, </a:t>
            </a:r>
            <a:r>
              <a:rPr lang="ko-KR" altLang="en-US" dirty="0"/>
              <a:t>적용 범위</a:t>
            </a:r>
            <a:endParaRPr lang="en-US" altLang="ko-KR" dirty="0"/>
          </a:p>
          <a:p>
            <a:r>
              <a:rPr lang="ko-KR" altLang="en-US" b="1" dirty="0"/>
              <a:t>제</a:t>
            </a:r>
            <a:r>
              <a:rPr lang="en-US" altLang="ko-KR" b="1" dirty="0"/>
              <a:t>2</a:t>
            </a:r>
            <a:r>
              <a:rPr lang="ko-KR" altLang="en-US" b="1" dirty="0"/>
              <a:t>장</a:t>
            </a:r>
            <a:r>
              <a:rPr lang="en-US" altLang="ko-KR" b="1" dirty="0"/>
              <a:t>: </a:t>
            </a:r>
            <a:r>
              <a:rPr lang="ko-KR" altLang="en-US" b="1" dirty="0"/>
              <a:t>금지된 </a:t>
            </a:r>
            <a:r>
              <a:rPr lang="en-US" altLang="ko-KR" b="1" dirty="0"/>
              <a:t>AI </a:t>
            </a:r>
            <a:r>
              <a:rPr lang="ko-KR" altLang="en-US" b="1" dirty="0"/>
              <a:t>관행</a:t>
            </a:r>
            <a:r>
              <a:rPr lang="en-US" altLang="ko-KR" sz="1100" dirty="0"/>
              <a:t>(Prohibited AI Practices) </a:t>
            </a:r>
            <a:r>
              <a:rPr lang="en-US" altLang="ko-KR" dirty="0"/>
              <a:t>: </a:t>
            </a:r>
            <a:r>
              <a:rPr lang="ko-KR" altLang="en-US" dirty="0"/>
              <a:t>시민의 안전과 권리를 위협하는 </a:t>
            </a:r>
            <a:r>
              <a:rPr lang="en-US" altLang="ko-KR" dirty="0"/>
              <a:t>AI </a:t>
            </a:r>
            <a:r>
              <a:rPr lang="ko-KR" altLang="en-US" dirty="0"/>
              <a:t>기술 금지</a:t>
            </a:r>
            <a:r>
              <a:rPr lang="en-US" altLang="ko-KR" dirty="0"/>
              <a:t>)</a:t>
            </a:r>
          </a:p>
          <a:p>
            <a:r>
              <a:rPr lang="ko-KR" altLang="en-US" b="1" dirty="0"/>
              <a:t>제</a:t>
            </a:r>
            <a:r>
              <a:rPr lang="en-US" altLang="ko-KR" b="1" dirty="0"/>
              <a:t>3</a:t>
            </a:r>
            <a:r>
              <a:rPr lang="ko-KR" altLang="en-US" b="1" dirty="0"/>
              <a:t>장</a:t>
            </a:r>
            <a:r>
              <a:rPr lang="en-US" altLang="ko-KR" b="1" dirty="0"/>
              <a:t>: </a:t>
            </a:r>
            <a:r>
              <a:rPr lang="ko-KR" altLang="en-US" b="1" dirty="0"/>
              <a:t>고위험 </a:t>
            </a:r>
            <a:r>
              <a:rPr lang="en-US" altLang="ko-KR" b="1" dirty="0"/>
              <a:t>AI </a:t>
            </a:r>
            <a:r>
              <a:rPr lang="ko-KR" altLang="en-US" b="1" dirty="0"/>
              <a:t>시스템에 대한 규정</a:t>
            </a:r>
            <a:r>
              <a:rPr lang="en-US" altLang="ko-KR" sz="1100" dirty="0"/>
              <a:t>(High-Risk AI Systems) </a:t>
            </a:r>
            <a:r>
              <a:rPr lang="en-US" altLang="ko-KR" dirty="0"/>
              <a:t>: </a:t>
            </a:r>
            <a:r>
              <a:rPr lang="ko-KR" altLang="en-US" dirty="0"/>
              <a:t>시장 진입 전 적합성 평가</a:t>
            </a:r>
            <a:r>
              <a:rPr lang="en-US" altLang="ko-KR" dirty="0"/>
              <a:t>, </a:t>
            </a:r>
            <a:r>
              <a:rPr lang="ko-KR" altLang="en-US" dirty="0"/>
              <a:t>위험 관리 시스템 등 의무</a:t>
            </a:r>
            <a:endParaRPr lang="en-US" altLang="ko-KR" dirty="0"/>
          </a:p>
          <a:p>
            <a:r>
              <a:rPr lang="ko-KR" altLang="en-US" b="1" dirty="0"/>
              <a:t>제</a:t>
            </a:r>
            <a:r>
              <a:rPr lang="en-US" altLang="ko-KR" b="1" dirty="0"/>
              <a:t>4</a:t>
            </a:r>
            <a:r>
              <a:rPr lang="ko-KR" altLang="en-US" b="1" dirty="0"/>
              <a:t>장</a:t>
            </a:r>
            <a:r>
              <a:rPr lang="en-US" altLang="ko-KR" b="1" dirty="0"/>
              <a:t>: AI </a:t>
            </a:r>
            <a:r>
              <a:rPr lang="ko-KR" altLang="en-US" b="1" dirty="0"/>
              <a:t>시스템의 투명성 의무</a:t>
            </a:r>
            <a:r>
              <a:rPr lang="en-US" altLang="ko-KR" sz="1100" dirty="0"/>
              <a:t>(Transparency Obligations) </a:t>
            </a:r>
            <a:r>
              <a:rPr lang="en-US" altLang="ko-KR" dirty="0"/>
              <a:t>: </a:t>
            </a:r>
            <a:r>
              <a:rPr lang="ko-KR" altLang="en-US" dirty="0" err="1"/>
              <a:t>딥페이크</a:t>
            </a:r>
            <a:r>
              <a:rPr lang="en-US" altLang="ko-KR" dirty="0"/>
              <a:t>, </a:t>
            </a:r>
            <a:r>
              <a:rPr lang="ko-KR" altLang="en-US" dirty="0" err="1"/>
              <a:t>챗봇</a:t>
            </a:r>
            <a:r>
              <a:rPr lang="ko-KR" altLang="en-US" dirty="0"/>
              <a:t> 등 인간과의 상호작용 공개</a:t>
            </a:r>
            <a:endParaRPr lang="en-US" altLang="ko-KR" dirty="0"/>
          </a:p>
          <a:p>
            <a:r>
              <a:rPr lang="ko-KR" altLang="en-US" b="1" dirty="0"/>
              <a:t>제</a:t>
            </a:r>
            <a:r>
              <a:rPr lang="en-US" altLang="ko-KR" b="1" dirty="0"/>
              <a:t>5</a:t>
            </a:r>
            <a:r>
              <a:rPr lang="ko-KR" altLang="en-US" b="1" dirty="0"/>
              <a:t>장</a:t>
            </a:r>
            <a:r>
              <a:rPr lang="en-US" altLang="ko-KR" b="1" dirty="0"/>
              <a:t>: </a:t>
            </a:r>
            <a:r>
              <a:rPr lang="ko-KR" altLang="en-US" b="1" dirty="0"/>
              <a:t>범용 </a:t>
            </a:r>
            <a:r>
              <a:rPr lang="en-US" altLang="ko-KR" b="1" dirty="0"/>
              <a:t>AI </a:t>
            </a:r>
            <a:r>
              <a:rPr lang="ko-KR" altLang="en-US" b="1" dirty="0"/>
              <a:t>모델</a:t>
            </a:r>
            <a:r>
              <a:rPr lang="en-US" altLang="ko-KR" b="1" dirty="0"/>
              <a:t>(GPAI) </a:t>
            </a:r>
            <a:r>
              <a:rPr lang="ko-KR" altLang="en-US" b="1" dirty="0"/>
              <a:t>규칙</a:t>
            </a:r>
            <a:r>
              <a:rPr lang="en-US" altLang="ko-KR" sz="1100" dirty="0"/>
              <a:t>(General Purpose AI Models) </a:t>
            </a:r>
            <a:r>
              <a:rPr lang="en-US" altLang="ko-KR" dirty="0"/>
              <a:t>: </a:t>
            </a:r>
            <a:r>
              <a:rPr lang="ko-KR" altLang="en-US" dirty="0"/>
              <a:t>시스템적 위험이 있는 모델에 대한 의무</a:t>
            </a:r>
            <a:endParaRPr lang="en-US" altLang="ko-KR" dirty="0"/>
          </a:p>
          <a:p>
            <a:r>
              <a:rPr lang="ko-KR" altLang="en-US" b="1" dirty="0"/>
              <a:t>제</a:t>
            </a:r>
            <a:r>
              <a:rPr lang="en-US" altLang="ko-KR" b="1" dirty="0"/>
              <a:t>6</a:t>
            </a:r>
            <a:r>
              <a:rPr lang="ko-KR" altLang="en-US" b="1" dirty="0"/>
              <a:t>장</a:t>
            </a:r>
            <a:r>
              <a:rPr lang="en-US" altLang="ko-KR" b="1" dirty="0"/>
              <a:t>: </a:t>
            </a:r>
            <a:r>
              <a:rPr lang="ko-KR" altLang="en-US" b="1" dirty="0"/>
              <a:t>거버넌스 및 실행 기구</a:t>
            </a:r>
            <a:r>
              <a:rPr lang="en-US" altLang="ko-KR" sz="1100" dirty="0"/>
              <a:t>(Governance and Enforcement) </a:t>
            </a:r>
            <a:r>
              <a:rPr lang="en-US" altLang="ko-KR" dirty="0"/>
              <a:t>: AI </a:t>
            </a:r>
            <a:r>
              <a:rPr lang="ko-KR" altLang="en-US" dirty="0"/>
              <a:t>사무소</a:t>
            </a:r>
            <a:r>
              <a:rPr lang="en-US" altLang="ko-KR" dirty="0"/>
              <a:t>, </a:t>
            </a:r>
            <a:r>
              <a:rPr lang="ko-KR" altLang="en-US" dirty="0"/>
              <a:t>국가 감독 기관</a:t>
            </a:r>
            <a:endParaRPr lang="en-US" altLang="ko-KR" dirty="0"/>
          </a:p>
          <a:p>
            <a:r>
              <a:rPr lang="ko-KR" altLang="en-US" b="1" dirty="0"/>
              <a:t>제</a:t>
            </a:r>
            <a:r>
              <a:rPr lang="en-US" altLang="ko-KR" b="1" dirty="0"/>
              <a:t>7</a:t>
            </a:r>
            <a:r>
              <a:rPr lang="ko-KR" altLang="en-US" b="1" dirty="0"/>
              <a:t>장</a:t>
            </a:r>
            <a:r>
              <a:rPr lang="en-US" altLang="ko-KR" b="1" dirty="0"/>
              <a:t>: EU </a:t>
            </a:r>
            <a:r>
              <a:rPr lang="ko-KR" altLang="en-US" b="1" dirty="0"/>
              <a:t>수준의 거버넌스 및 지원</a:t>
            </a:r>
          </a:p>
          <a:p>
            <a:r>
              <a:rPr lang="ko-KR" altLang="en-US" b="1" dirty="0"/>
              <a:t>제</a:t>
            </a:r>
            <a:r>
              <a:rPr lang="en-US" altLang="ko-KR" b="1" dirty="0"/>
              <a:t>8</a:t>
            </a:r>
            <a:r>
              <a:rPr lang="ko-KR" altLang="en-US" b="1" dirty="0"/>
              <a:t>장</a:t>
            </a:r>
            <a:r>
              <a:rPr lang="en-US" altLang="ko-KR" b="1" dirty="0"/>
              <a:t>: </a:t>
            </a:r>
            <a:r>
              <a:rPr lang="ko-KR" altLang="en-US" b="1" dirty="0"/>
              <a:t>혁신 지원 및 </a:t>
            </a:r>
            <a:r>
              <a:rPr lang="ko-KR" altLang="en-US" b="1" dirty="0" err="1"/>
              <a:t>샌드박스</a:t>
            </a:r>
            <a:r>
              <a:rPr lang="en-US" altLang="ko-KR" sz="1100" dirty="0"/>
              <a:t>(Innovation Measures) </a:t>
            </a:r>
            <a:r>
              <a:rPr lang="en-US" altLang="ko-KR" dirty="0"/>
              <a:t>: </a:t>
            </a:r>
            <a:r>
              <a:rPr lang="ko-KR" altLang="en-US" dirty="0"/>
              <a:t>규제 </a:t>
            </a:r>
            <a:r>
              <a:rPr lang="ko-KR" altLang="en-US" dirty="0" err="1"/>
              <a:t>샌드박스</a:t>
            </a:r>
            <a:r>
              <a:rPr lang="en-US" altLang="ko-KR" dirty="0"/>
              <a:t>, </a:t>
            </a:r>
            <a:r>
              <a:rPr lang="ko-KR" altLang="en-US" dirty="0"/>
              <a:t>중소기업 지원</a:t>
            </a:r>
            <a:endParaRPr lang="en-US" altLang="ko-KR" dirty="0"/>
          </a:p>
          <a:p>
            <a:r>
              <a:rPr lang="ko-KR" altLang="en-US" b="1" dirty="0"/>
              <a:t>제</a:t>
            </a:r>
            <a:r>
              <a:rPr lang="en-US" altLang="ko-KR" b="1" dirty="0"/>
              <a:t>9</a:t>
            </a:r>
            <a:r>
              <a:rPr lang="ko-KR" altLang="en-US" b="1" dirty="0"/>
              <a:t>장</a:t>
            </a:r>
            <a:r>
              <a:rPr lang="en-US" altLang="ko-KR" b="1" dirty="0"/>
              <a:t>: </a:t>
            </a:r>
            <a:r>
              <a:rPr lang="ko-KR" altLang="en-US" b="1" dirty="0"/>
              <a:t>조치 이행 및 위반 시 처벌</a:t>
            </a:r>
            <a:r>
              <a:rPr lang="en-US" altLang="ko-KR" sz="1100" dirty="0"/>
              <a:t>(Enforcement and Penalties) </a:t>
            </a:r>
            <a:r>
              <a:rPr lang="en-US" altLang="ko-KR" dirty="0"/>
              <a:t>: </a:t>
            </a:r>
            <a:r>
              <a:rPr lang="ko-KR" altLang="en-US" dirty="0"/>
              <a:t>벌금 부과 기준</a:t>
            </a:r>
            <a:endParaRPr lang="en-US" altLang="ko-KR" dirty="0"/>
          </a:p>
          <a:p>
            <a:r>
              <a:rPr lang="ko-KR" altLang="en-US" b="1" dirty="0"/>
              <a:t>제</a:t>
            </a:r>
            <a:r>
              <a:rPr lang="en-US" altLang="ko-KR" b="1" dirty="0"/>
              <a:t>10</a:t>
            </a:r>
            <a:r>
              <a:rPr lang="ko-KR" altLang="en-US" b="1" dirty="0"/>
              <a:t>장</a:t>
            </a:r>
            <a:r>
              <a:rPr lang="en-US" altLang="ko-KR" b="1" dirty="0"/>
              <a:t>: </a:t>
            </a:r>
            <a:r>
              <a:rPr lang="ko-KR" altLang="en-US" b="1" dirty="0"/>
              <a:t>조약 준수 및 인권</a:t>
            </a:r>
            <a:r>
              <a:rPr lang="en-US" altLang="ko-KR" sz="1100" dirty="0"/>
              <a:t>(Convention on Human Rights)</a:t>
            </a:r>
            <a:endParaRPr lang="en-US" altLang="ko-KR" dirty="0"/>
          </a:p>
          <a:p>
            <a:r>
              <a:rPr lang="ko-KR" altLang="en-US" b="1" dirty="0"/>
              <a:t>제</a:t>
            </a:r>
            <a:r>
              <a:rPr lang="en-US" altLang="ko-KR" b="1" dirty="0"/>
              <a:t>11</a:t>
            </a:r>
            <a:r>
              <a:rPr lang="ko-KR" altLang="en-US" b="1" dirty="0"/>
              <a:t>장</a:t>
            </a:r>
            <a:r>
              <a:rPr lang="en-US" altLang="ko-KR" b="1" dirty="0"/>
              <a:t>: </a:t>
            </a:r>
            <a:r>
              <a:rPr lang="ko-KR" altLang="en-US" b="1" dirty="0"/>
              <a:t>위임 입법</a:t>
            </a:r>
            <a:r>
              <a:rPr lang="en-US" altLang="ko-KR" sz="1100" dirty="0"/>
              <a:t>(Delegated Acts)</a:t>
            </a:r>
          </a:p>
          <a:p>
            <a:r>
              <a:rPr lang="ko-KR" altLang="en-US" b="1" dirty="0"/>
              <a:t>제</a:t>
            </a:r>
            <a:r>
              <a:rPr lang="en-US" altLang="ko-KR" b="1" dirty="0"/>
              <a:t>12</a:t>
            </a:r>
            <a:r>
              <a:rPr lang="ko-KR" altLang="en-US" b="1" dirty="0"/>
              <a:t>장</a:t>
            </a:r>
            <a:r>
              <a:rPr lang="en-US" altLang="ko-KR" b="1" dirty="0"/>
              <a:t>: </a:t>
            </a:r>
            <a:r>
              <a:rPr lang="ko-KR" altLang="en-US" b="1" dirty="0"/>
              <a:t>최종 조항</a:t>
            </a:r>
            <a:r>
              <a:rPr lang="en-US" altLang="ko-KR" sz="1100" dirty="0"/>
              <a:t>(Final Provisions)</a:t>
            </a:r>
          </a:p>
          <a:p>
            <a:r>
              <a:rPr lang="ko-KR" altLang="en-US" b="1" dirty="0"/>
              <a:t>제</a:t>
            </a:r>
            <a:r>
              <a:rPr lang="en-US" altLang="ko-KR" b="1" dirty="0"/>
              <a:t>13</a:t>
            </a:r>
            <a:r>
              <a:rPr lang="ko-KR" altLang="en-US" b="1" dirty="0"/>
              <a:t>장</a:t>
            </a:r>
            <a:r>
              <a:rPr lang="en-US" altLang="ko-KR" b="1" dirty="0"/>
              <a:t>: </a:t>
            </a:r>
            <a:r>
              <a:rPr lang="ko-KR" altLang="en-US" b="1" dirty="0"/>
              <a:t>경과 조치</a:t>
            </a:r>
            <a:r>
              <a:rPr lang="en-US" altLang="ko-KR" sz="1100" dirty="0"/>
              <a:t>(Transitional Provisions)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A49346-AF59-2623-D911-7D5C8A1C0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50671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6654B-4A95-2F3B-5A27-2CE2C1C2F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5805C22-69EE-409D-8C20-C74C9FDD95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893761-B2F3-573E-E9F0-72CEBB82B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57B5D1-D753-BD20-9BFB-6D82951479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30810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72353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01661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777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23413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777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56305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19147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83537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한국 법제에 대한 시사점</a:t>
            </a:r>
          </a:p>
          <a:p>
            <a:endParaRPr lang="ko-KR" altLang="en-US" dirty="0"/>
          </a:p>
          <a:p>
            <a:r>
              <a:rPr lang="en-US" altLang="ko-KR" dirty="0"/>
              <a:t>EU AI Act</a:t>
            </a:r>
            <a:r>
              <a:rPr lang="ko-KR" altLang="en-US" dirty="0"/>
              <a:t>는 단순한 기술 규제를 넘어 인간 존엄성 보장이라는 가치 지향적 프레임워크를 구축했다는 점에서 의의가 크며</a:t>
            </a:r>
            <a:r>
              <a:rPr lang="en-US" altLang="ko-KR" dirty="0"/>
              <a:t>, AI </a:t>
            </a:r>
            <a:r>
              <a:rPr lang="ko-KR" altLang="en-US" dirty="0"/>
              <a:t>기술의 윤리적 사용을 촉진하는 동시에 글로벌 기업들의 전략적 대응을 요구하는 촉매제 역할을 할 전망이다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한국의 입법 동향은 혁신 지원과 규제 완화에 초점을 맞추고 있다</a:t>
            </a:r>
            <a:r>
              <a:rPr lang="en-US" altLang="ko-KR" dirty="0"/>
              <a:t>. 2024</a:t>
            </a:r>
            <a:r>
              <a:rPr lang="ko-KR" altLang="en-US" dirty="0"/>
              <a:t>년 발의된 「인공지능산업 육성 및 신뢰 기반 조성 등에 관한 법률</a:t>
            </a:r>
            <a:r>
              <a:rPr lang="en-US" altLang="ko-KR" dirty="0"/>
              <a:t>(</a:t>
            </a:r>
            <a:r>
              <a:rPr lang="ko-KR" altLang="en-US" dirty="0"/>
              <a:t>가칭 “</a:t>
            </a:r>
            <a:r>
              <a:rPr lang="en-US" altLang="ko-KR" dirty="0"/>
              <a:t>AI </a:t>
            </a:r>
            <a:r>
              <a:rPr lang="ko-KR" altLang="en-US" dirty="0"/>
              <a:t>기본법”</a:t>
            </a:r>
            <a:r>
              <a:rPr lang="en-US" altLang="ko-KR" dirty="0"/>
              <a:t>)</a:t>
            </a:r>
            <a:r>
              <a:rPr lang="ko-KR" altLang="en-US" dirty="0"/>
              <a:t>」은 </a:t>
            </a:r>
            <a:r>
              <a:rPr lang="en-US" altLang="ko-KR" dirty="0"/>
              <a:t>EU</a:t>
            </a:r>
            <a:r>
              <a:rPr lang="ko-KR" altLang="en-US" dirty="0"/>
              <a:t>의 </a:t>
            </a:r>
            <a:r>
              <a:rPr lang="en-US" altLang="ko-KR" dirty="0"/>
              <a:t>'</a:t>
            </a:r>
            <a:r>
              <a:rPr lang="ko-KR" altLang="en-US" dirty="0"/>
              <a:t>고위험</a:t>
            </a:r>
            <a:r>
              <a:rPr lang="en-US" altLang="ko-KR" dirty="0"/>
              <a:t>' </a:t>
            </a:r>
            <a:r>
              <a:rPr lang="ko-KR" altLang="en-US" dirty="0"/>
              <a:t>개념 대신 </a:t>
            </a:r>
            <a:r>
              <a:rPr lang="en-US" altLang="ko-KR" dirty="0"/>
              <a:t>'</a:t>
            </a:r>
            <a:r>
              <a:rPr lang="ko-KR" altLang="en-US" dirty="0" err="1"/>
              <a:t>고영향</a:t>
            </a:r>
            <a:r>
              <a:rPr lang="en-US" altLang="ko-KR" dirty="0"/>
              <a:t>'</a:t>
            </a:r>
            <a:r>
              <a:rPr lang="ko-KR" altLang="en-US" dirty="0"/>
              <a:t>이라는 가치중립적 용어를 사용하며</a:t>
            </a:r>
            <a:r>
              <a:rPr lang="en-US" altLang="ko-KR" dirty="0"/>
              <a:t>, </a:t>
            </a:r>
            <a:r>
              <a:rPr lang="ko-KR" altLang="en-US" dirty="0"/>
              <a:t>생성형 </a:t>
            </a:r>
            <a:r>
              <a:rPr lang="en-US" altLang="ko-KR" dirty="0"/>
              <a:t>AI</a:t>
            </a:r>
            <a:r>
              <a:rPr lang="ko-KR" altLang="en-US" dirty="0"/>
              <a:t>에 대한 안전성 확보 의무를 명시하고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“</a:t>
            </a:r>
            <a:r>
              <a:rPr lang="ko-KR" altLang="en-US" dirty="0" err="1"/>
              <a:t>고영향</a:t>
            </a:r>
            <a:r>
              <a:rPr lang="ko-KR" altLang="en-US" dirty="0"/>
              <a:t> </a:t>
            </a:r>
            <a:r>
              <a:rPr lang="en-US" altLang="ko-KR" dirty="0"/>
              <a:t>AI”</a:t>
            </a:r>
            <a:r>
              <a:rPr lang="ko-KR" altLang="en-US" dirty="0"/>
              <a:t>의 정의 및 그 규제 대상의 범위는 </a:t>
            </a:r>
            <a:r>
              <a:rPr lang="en-US" altLang="ko-KR" dirty="0"/>
              <a:t>AI </a:t>
            </a:r>
            <a:r>
              <a:rPr lang="ko-KR" altLang="en-US" dirty="0"/>
              <a:t>기본법상 가장 민감한 규범 영역 중 하나이다</a:t>
            </a:r>
            <a:r>
              <a:rPr lang="en-US" altLang="ko-KR" dirty="0"/>
              <a:t>. “</a:t>
            </a:r>
            <a:r>
              <a:rPr lang="ko-KR" altLang="en-US" dirty="0" err="1"/>
              <a:t>고영향</a:t>
            </a:r>
            <a:r>
              <a:rPr lang="ko-KR" altLang="en-US" dirty="0"/>
              <a:t> </a:t>
            </a:r>
            <a:r>
              <a:rPr lang="en-US" altLang="ko-KR" dirty="0"/>
              <a:t>AI”</a:t>
            </a:r>
            <a:r>
              <a:rPr lang="ko-KR" altLang="en-US" dirty="0"/>
              <a:t>의 개념은 지나치게 추상적이어서 사업자의 예측가능성을 저해하고</a:t>
            </a:r>
            <a:r>
              <a:rPr lang="en-US" altLang="ko-KR" dirty="0"/>
              <a:t>, </a:t>
            </a:r>
            <a:r>
              <a:rPr lang="ko-KR" altLang="en-US" dirty="0"/>
              <a:t>긍정적인 영향까지 포함되어 불필요한 규제 범위 확장을 초래할 수 있다는 점에서 여전히 해결과제로 남아있다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EU AI Act</a:t>
            </a:r>
            <a:r>
              <a:rPr lang="ko-KR" altLang="en-US" dirty="0"/>
              <a:t>의 위험 분류 체계에 비추어 볼 때</a:t>
            </a:r>
            <a:r>
              <a:rPr lang="en-US" altLang="ko-KR" dirty="0"/>
              <a:t>, </a:t>
            </a:r>
            <a:r>
              <a:rPr lang="ko-KR" altLang="en-US" dirty="0"/>
              <a:t>우리 역시 ‘</a:t>
            </a:r>
            <a:r>
              <a:rPr lang="ko-KR" altLang="en-US" dirty="0" err="1"/>
              <a:t>고영향’이라는</a:t>
            </a:r>
            <a:r>
              <a:rPr lang="ko-KR" altLang="en-US" dirty="0"/>
              <a:t> 용어를 ‘</a:t>
            </a:r>
            <a:r>
              <a:rPr lang="ko-KR" altLang="en-US" dirty="0" err="1"/>
              <a:t>고위험’으로</a:t>
            </a:r>
            <a:r>
              <a:rPr lang="ko-KR" altLang="en-US" dirty="0"/>
              <a:t> 전환하는 것이 바람직해 보인다</a:t>
            </a:r>
            <a:r>
              <a:rPr lang="en-US" altLang="ko-KR" dirty="0"/>
              <a:t>. </a:t>
            </a:r>
            <a:r>
              <a:rPr lang="ko-KR" altLang="en-US" dirty="0"/>
              <a:t>설령 “</a:t>
            </a:r>
            <a:r>
              <a:rPr lang="ko-KR" altLang="en-US" dirty="0" err="1"/>
              <a:t>고영향</a:t>
            </a:r>
            <a:r>
              <a:rPr lang="ko-KR" altLang="en-US" dirty="0"/>
              <a:t> </a:t>
            </a:r>
            <a:r>
              <a:rPr lang="en-US" altLang="ko-KR" dirty="0"/>
              <a:t>AI”</a:t>
            </a:r>
            <a:r>
              <a:rPr lang="ko-KR" altLang="en-US" dirty="0"/>
              <a:t>의 개념을 유지하는 경우라도</a:t>
            </a:r>
            <a:r>
              <a:rPr lang="en-US" altLang="ko-KR" dirty="0"/>
              <a:t>, EU</a:t>
            </a:r>
            <a:r>
              <a:rPr lang="ko-KR" altLang="en-US" dirty="0"/>
              <a:t>처럼 구체적 위험 시나리오와 분야별로 유형화하거나</a:t>
            </a:r>
            <a:r>
              <a:rPr lang="en-US" altLang="ko-KR" dirty="0"/>
              <a:t>, </a:t>
            </a:r>
            <a:r>
              <a:rPr lang="ko-KR" altLang="en-US" dirty="0"/>
              <a:t>판단 기준에 대한 시행령이나 가이드라인을 통해 규범의 구체성과 실효성을 담보할 필요가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미국 </a:t>
            </a:r>
            <a:r>
              <a:rPr lang="en-US" altLang="ko-KR" dirty="0"/>
              <a:t>NIST</a:t>
            </a:r>
            <a:r>
              <a:rPr lang="ko-KR" altLang="en-US" dirty="0"/>
              <a:t>의 </a:t>
            </a:r>
            <a:r>
              <a:rPr lang="en-US" altLang="ko-KR" dirty="0"/>
              <a:t>AI </a:t>
            </a:r>
            <a:r>
              <a:rPr lang="ko-KR" altLang="en-US" dirty="0"/>
              <a:t>위험관리 프레임워크</a:t>
            </a:r>
            <a:r>
              <a:rPr lang="en-US" altLang="ko-KR" dirty="0"/>
              <a:t>(RMF)</a:t>
            </a:r>
            <a:r>
              <a:rPr lang="ko-KR" altLang="en-US" dirty="0"/>
              <a:t>처럼</a:t>
            </a:r>
            <a:r>
              <a:rPr lang="en-US" altLang="ko-KR" dirty="0"/>
              <a:t>, </a:t>
            </a:r>
            <a:r>
              <a:rPr lang="ko-KR" altLang="en-US" dirty="0"/>
              <a:t>위험 평가와 관리에 대한 실질적 가이드라인을 도입해 사업자가 자율적으로 위험을 식별</a:t>
            </a:r>
            <a:r>
              <a:rPr lang="en-US" altLang="ko-KR" dirty="0"/>
              <a:t>·</a:t>
            </a:r>
            <a:r>
              <a:rPr lang="ko-KR" altLang="en-US" dirty="0"/>
              <a:t>관리할 수 있도록 지원하는 것이 바람직하다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NIST</a:t>
            </a:r>
            <a:r>
              <a:rPr lang="ko-KR" altLang="en-US" dirty="0"/>
              <a:t>의 </a:t>
            </a:r>
            <a:r>
              <a:rPr lang="en-US" altLang="ko-KR" dirty="0"/>
              <a:t>AI RMF</a:t>
            </a:r>
            <a:r>
              <a:rPr lang="ko-KR" altLang="en-US" dirty="0"/>
              <a:t>는 미국 정부가 </a:t>
            </a:r>
            <a:r>
              <a:rPr lang="en-US" altLang="ko-KR" dirty="0"/>
              <a:t>2023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/>
              <a:t>월에 공식 발표한 </a:t>
            </a:r>
            <a:r>
              <a:rPr lang="en-US" altLang="ko-KR" dirty="0"/>
              <a:t>AI </a:t>
            </a:r>
            <a:r>
              <a:rPr lang="ko-KR" altLang="en-US" dirty="0"/>
              <a:t>리스크 관리 프레임워크로</a:t>
            </a:r>
            <a:r>
              <a:rPr lang="en-US" altLang="ko-KR" dirty="0"/>
              <a:t>, AI </a:t>
            </a:r>
            <a:r>
              <a:rPr lang="ko-KR" altLang="en-US" dirty="0"/>
              <a:t>시스템이 초래할 수 있는 다양한 위험을 체계적으로 파악하고 완화할 수 있는 방법론을 제시한다</a:t>
            </a:r>
            <a:r>
              <a:rPr lang="en-US" altLang="ko-KR" dirty="0"/>
              <a:t>. </a:t>
            </a:r>
            <a:r>
              <a:rPr lang="ko-KR" altLang="en-US" dirty="0"/>
              <a:t>이는 규제나 강제규범이 아닌 비의무적</a:t>
            </a:r>
            <a:r>
              <a:rPr lang="en-US" altLang="ko-KR" dirty="0"/>
              <a:t>(voluntary) </a:t>
            </a:r>
            <a:r>
              <a:rPr lang="ko-KR" altLang="en-US" dirty="0"/>
              <a:t>가이드라인</a:t>
            </a:r>
            <a:r>
              <a:rPr lang="en-US" altLang="ko-KR" dirty="0"/>
              <a:t>, </a:t>
            </a:r>
            <a:r>
              <a:rPr lang="ko-KR" altLang="en-US" dirty="0"/>
              <a:t>다양한 조직들이 자신의 기술과 목적에 맞게 자율적으로 적용할 수 있도록 설계되었다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NIST</a:t>
            </a:r>
            <a:r>
              <a:rPr lang="ko-KR" altLang="en-US" dirty="0"/>
              <a:t>의 </a:t>
            </a:r>
            <a:r>
              <a:rPr lang="en-US" altLang="ko-KR" dirty="0"/>
              <a:t>AI RMF</a:t>
            </a:r>
            <a:r>
              <a:rPr lang="ko-KR" altLang="en-US" dirty="0"/>
              <a:t>는 크게 두 부분으로 구성됩니다</a:t>
            </a:r>
            <a:r>
              <a:rPr lang="en-US" altLang="ko-KR" dirty="0"/>
              <a:t>. </a:t>
            </a:r>
            <a:r>
              <a:rPr lang="ko-KR" altLang="en-US" dirty="0"/>
              <a:t>먼저 기반 요소</a:t>
            </a:r>
            <a:r>
              <a:rPr lang="en-US" altLang="ko-KR" dirty="0"/>
              <a:t>(foundation layer)</a:t>
            </a:r>
            <a:r>
              <a:rPr lang="ko-KR" altLang="en-US" dirty="0"/>
              <a:t>에서는 ‘신뢰할 수 있는 </a:t>
            </a:r>
            <a:r>
              <a:rPr lang="en-US" altLang="ko-KR" dirty="0"/>
              <a:t>AI’</a:t>
            </a:r>
            <a:r>
              <a:rPr lang="ko-KR" altLang="en-US" dirty="0"/>
              <a:t>를 정의하고</a:t>
            </a:r>
            <a:r>
              <a:rPr lang="en-US" altLang="ko-KR" dirty="0"/>
              <a:t>, </a:t>
            </a:r>
            <a:r>
              <a:rPr lang="ko-KR" altLang="en-US" dirty="0"/>
              <a:t>위험이 무엇인지</a:t>
            </a:r>
            <a:r>
              <a:rPr lang="en-US" altLang="ko-KR" dirty="0"/>
              <a:t>, </a:t>
            </a:r>
            <a:r>
              <a:rPr lang="ko-KR" altLang="en-US" dirty="0"/>
              <a:t>그리고 왜 위험을 관리해야 하는지를 설명한다</a:t>
            </a:r>
            <a:r>
              <a:rPr lang="en-US" altLang="ko-KR" dirty="0"/>
              <a:t>. NIST</a:t>
            </a:r>
            <a:r>
              <a:rPr lang="ko-KR" altLang="en-US" dirty="0"/>
              <a:t>가 제시하는 ‘신뢰할 수 있는 </a:t>
            </a:r>
            <a:r>
              <a:rPr lang="en-US" altLang="ko-KR" dirty="0"/>
              <a:t>AI’</a:t>
            </a:r>
            <a:r>
              <a:rPr lang="ko-KR" altLang="en-US" dirty="0"/>
              <a:t>의 </a:t>
            </a:r>
            <a:r>
              <a:rPr lang="en-US" altLang="ko-KR" dirty="0"/>
              <a:t>7</a:t>
            </a:r>
            <a:r>
              <a:rPr lang="ko-KR" altLang="en-US" dirty="0"/>
              <a:t>가지 핵심 속성은</a:t>
            </a:r>
            <a:r>
              <a:rPr lang="en-US" altLang="ko-KR" dirty="0"/>
              <a:t>, Valid and Reliable (</a:t>
            </a:r>
            <a:r>
              <a:rPr lang="ko-KR" altLang="en-US" dirty="0"/>
              <a:t>타당하고 신뢰 가능한</a:t>
            </a:r>
            <a:r>
              <a:rPr lang="en-US" altLang="ko-KR" dirty="0"/>
              <a:t>), Safe (</a:t>
            </a:r>
            <a:r>
              <a:rPr lang="ko-KR" altLang="en-US" dirty="0"/>
              <a:t>안전한</a:t>
            </a:r>
            <a:r>
              <a:rPr lang="en-US" altLang="ko-KR" dirty="0"/>
              <a:t>), Secure and Resilient (</a:t>
            </a:r>
            <a:r>
              <a:rPr lang="ko-KR" altLang="en-US" dirty="0"/>
              <a:t>보안적이고 복원력 있는</a:t>
            </a:r>
            <a:r>
              <a:rPr lang="en-US" altLang="ko-KR" dirty="0"/>
              <a:t>), Accountable and Transparent (</a:t>
            </a:r>
            <a:r>
              <a:rPr lang="ko-KR" altLang="en-US" dirty="0"/>
              <a:t>책임 있고 투명한</a:t>
            </a:r>
            <a:r>
              <a:rPr lang="en-US" altLang="ko-KR" dirty="0"/>
              <a:t>), Explainable and Interpretable (</a:t>
            </a:r>
            <a:r>
              <a:rPr lang="ko-KR" altLang="en-US" dirty="0"/>
              <a:t>설명 가능하고 해석 가능한</a:t>
            </a:r>
            <a:r>
              <a:rPr lang="en-US" altLang="ko-KR" dirty="0"/>
              <a:t>), Privacy-Enhanced (</a:t>
            </a:r>
            <a:r>
              <a:rPr lang="ko-KR" altLang="en-US" dirty="0"/>
              <a:t>프라이버시 보호 강화</a:t>
            </a:r>
            <a:r>
              <a:rPr lang="en-US" altLang="ko-KR" dirty="0"/>
              <a:t>), Fair with Harm Mitigation (</a:t>
            </a:r>
            <a:r>
              <a:rPr lang="ko-KR" altLang="en-US" dirty="0"/>
              <a:t>공정하고 해악 최소화</a:t>
            </a:r>
            <a:r>
              <a:rPr lang="en-US" altLang="ko-KR" dirty="0"/>
              <a:t>)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다음으로 핵심 요소</a:t>
            </a:r>
            <a:r>
              <a:rPr lang="en-US" altLang="ko-KR" dirty="0"/>
              <a:t>(core functions)</a:t>
            </a:r>
            <a:r>
              <a:rPr lang="ko-KR" altLang="en-US" dirty="0"/>
              <a:t>란 </a:t>
            </a:r>
            <a:r>
              <a:rPr lang="en-US" altLang="ko-KR" dirty="0"/>
              <a:t>AI </a:t>
            </a:r>
            <a:r>
              <a:rPr lang="ko-KR" altLang="en-US" dirty="0"/>
              <a:t>위험을 관리하기 위한 </a:t>
            </a:r>
            <a:r>
              <a:rPr lang="en-US" altLang="ko-KR" dirty="0"/>
              <a:t>4</a:t>
            </a:r>
            <a:r>
              <a:rPr lang="ko-KR" altLang="en-US" dirty="0"/>
              <a:t>단계의 기능요소로 이루어진다</a:t>
            </a:r>
            <a:r>
              <a:rPr lang="en-US" altLang="ko-KR" dirty="0"/>
              <a:t>. </a:t>
            </a:r>
            <a:r>
              <a:rPr lang="ko-KR" altLang="en-US" dirty="0"/>
              <a:t>핵심 기능은 </a:t>
            </a:r>
            <a:r>
              <a:rPr lang="en-US" altLang="ko-KR" dirty="0"/>
              <a:t>AI </a:t>
            </a:r>
            <a:r>
              <a:rPr lang="ko-KR" altLang="en-US" dirty="0"/>
              <a:t>시스템이 작동하는 환경과 그에 따른 위험요소를 식별하는 </a:t>
            </a:r>
            <a:r>
              <a:rPr lang="en-US" altLang="ko-KR" dirty="0"/>
              <a:t>Map(</a:t>
            </a:r>
            <a:r>
              <a:rPr lang="ko-KR" altLang="en-US" dirty="0"/>
              <a:t>매핑</a:t>
            </a:r>
            <a:r>
              <a:rPr lang="en-US" altLang="ko-KR" dirty="0"/>
              <a:t>), </a:t>
            </a:r>
            <a:r>
              <a:rPr lang="ko-KR" altLang="en-US" dirty="0"/>
              <a:t>위험의 규모와 영향을 정량</a:t>
            </a:r>
            <a:r>
              <a:rPr lang="en-US" altLang="ko-KR" dirty="0"/>
              <a:t>·</a:t>
            </a:r>
            <a:r>
              <a:rPr lang="ko-KR" altLang="en-US" dirty="0"/>
              <a:t>정성적으로 분석하는 </a:t>
            </a:r>
            <a:r>
              <a:rPr lang="en-US" altLang="ko-KR" dirty="0"/>
              <a:t>Measure(</a:t>
            </a:r>
            <a:r>
              <a:rPr lang="ko-KR" altLang="en-US" dirty="0"/>
              <a:t>측정</a:t>
            </a:r>
            <a:r>
              <a:rPr lang="en-US" altLang="ko-KR" dirty="0"/>
              <a:t>), </a:t>
            </a:r>
            <a:r>
              <a:rPr lang="ko-KR" altLang="en-US" dirty="0"/>
              <a:t>위험을 줄이기 위한 전략적 조치 수행을 의미하는 </a:t>
            </a:r>
            <a:r>
              <a:rPr lang="en-US" altLang="ko-KR" dirty="0"/>
              <a:t>Manage(</a:t>
            </a:r>
            <a:r>
              <a:rPr lang="ko-KR" altLang="en-US" dirty="0"/>
              <a:t>관리</a:t>
            </a:r>
            <a:r>
              <a:rPr lang="en-US" altLang="ko-KR" dirty="0"/>
              <a:t>), </a:t>
            </a:r>
            <a:r>
              <a:rPr lang="ko-KR" altLang="en-US" dirty="0"/>
              <a:t>조직 전체의 </a:t>
            </a:r>
            <a:r>
              <a:rPr lang="en-US" altLang="ko-KR" dirty="0"/>
              <a:t>AI </a:t>
            </a:r>
            <a:r>
              <a:rPr lang="ko-KR" altLang="en-US" dirty="0"/>
              <a:t>리스크 관리체계 정착 및 책임 분배인 </a:t>
            </a:r>
            <a:r>
              <a:rPr lang="en-US" altLang="ko-KR" dirty="0"/>
              <a:t>Governance(</a:t>
            </a:r>
            <a:r>
              <a:rPr lang="ko-KR" altLang="en-US" dirty="0"/>
              <a:t>거버넌스</a:t>
            </a:r>
            <a:r>
              <a:rPr lang="en-US" altLang="ko-KR" dirty="0"/>
              <a:t>)</a:t>
            </a:r>
            <a:r>
              <a:rPr lang="ko-KR" altLang="en-US" dirty="0"/>
              <a:t>를 말한다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NIST AI RMF</a:t>
            </a:r>
            <a:r>
              <a:rPr lang="ko-KR" altLang="en-US" dirty="0"/>
              <a:t>는 법적 구속력 없이도 신뢰 가능한 </a:t>
            </a:r>
            <a:r>
              <a:rPr lang="en-US" altLang="ko-KR" dirty="0"/>
              <a:t>AI </a:t>
            </a:r>
            <a:r>
              <a:rPr lang="ko-KR" altLang="en-US" dirty="0"/>
              <a:t>구현을 위한 표준화된 로드맵을 제시한다는 점에서 글로벌 </a:t>
            </a:r>
            <a:r>
              <a:rPr lang="en-US" altLang="ko-KR" dirty="0"/>
              <a:t>AI </a:t>
            </a:r>
            <a:r>
              <a:rPr lang="ko-KR" altLang="en-US" dirty="0"/>
              <a:t>거버넌스의 핵심 참고자료로 평가받고 있다</a:t>
            </a:r>
            <a:r>
              <a:rPr lang="en-US" altLang="ko-KR" dirty="0"/>
              <a:t>. </a:t>
            </a:r>
            <a:r>
              <a:rPr lang="ko-KR" altLang="en-US" dirty="0"/>
              <a:t>특히 </a:t>
            </a:r>
            <a:r>
              <a:rPr lang="en-US" altLang="ko-KR" dirty="0"/>
              <a:t>AI </a:t>
            </a:r>
            <a:r>
              <a:rPr lang="ko-KR" altLang="en-US" dirty="0"/>
              <a:t>기술의 빠른 발전 속도를 고려할 때</a:t>
            </a:r>
            <a:r>
              <a:rPr lang="en-US" altLang="ko-KR" dirty="0"/>
              <a:t>, </a:t>
            </a:r>
            <a:r>
              <a:rPr lang="ko-KR" altLang="en-US" dirty="0"/>
              <a:t>법적 규제가 미처 손을 대지 못하는 영역에서 기업 및 개발자들이 자율적으로 위험을 통제할 수 있는 유연한 도구로서의 가치가 매우 크다</a:t>
            </a:r>
            <a:r>
              <a:rPr lang="en-US" altLang="ko-KR" dirty="0"/>
              <a:t>. </a:t>
            </a:r>
            <a:r>
              <a:rPr lang="ko-KR" altLang="en-US" dirty="0"/>
              <a:t>이를 참고하여</a:t>
            </a:r>
            <a:r>
              <a:rPr lang="en-US" altLang="ko-KR" dirty="0"/>
              <a:t>, </a:t>
            </a:r>
            <a:r>
              <a:rPr lang="ko-KR" altLang="en-US" dirty="0"/>
              <a:t>한국 </a:t>
            </a:r>
            <a:r>
              <a:rPr lang="en-US" altLang="ko-KR" dirty="0"/>
              <a:t>AI </a:t>
            </a:r>
            <a:r>
              <a:rPr lang="ko-KR" altLang="en-US" dirty="0"/>
              <a:t>기본법의 “</a:t>
            </a:r>
            <a:r>
              <a:rPr lang="ko-KR" altLang="en-US" dirty="0" err="1"/>
              <a:t>고영향</a:t>
            </a:r>
            <a:r>
              <a:rPr lang="ko-KR" altLang="en-US" dirty="0"/>
              <a:t> </a:t>
            </a:r>
            <a:r>
              <a:rPr lang="en-US" altLang="ko-KR" dirty="0"/>
              <a:t>AI” </a:t>
            </a:r>
            <a:r>
              <a:rPr lang="ko-KR" altLang="en-US" dirty="0"/>
              <a:t>개념의 모호성 문제를 해결하는데 참고하고 자율규제와 내부 점검 체계의 강화 수단으로 활용할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출처 </a:t>
            </a:r>
            <a:r>
              <a:rPr lang="en-US" altLang="ko-KR" dirty="0"/>
              <a:t>: </a:t>
            </a:r>
            <a:r>
              <a:rPr lang="ko-KR" altLang="en-US" dirty="0"/>
              <a:t>법률신문</a:t>
            </a:r>
            <a:r>
              <a:rPr lang="en-US" altLang="ko-KR" dirty="0"/>
              <a:t>(https://www.lawtimes.co.kr)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1821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A8E23B-F0E9-4B10-94D7-7B62E5D5A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3AE85C-2281-4817-BE9E-E6379D56E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44FFC9-8220-4157-8FB9-B25881CE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AEC6EB-1CAC-407E-A433-9F1281F33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A763EE-8B06-49EF-BA75-35242781B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3365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25E23A-E0A9-405C-BF0A-72BB9BC2D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5C189B-AC77-4437-A885-00263F09D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1F04B-0F89-4984-9B60-50DD8A1D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0816CC-AD95-4546-836F-99AE91EB7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98C12F-B0EA-454A-9466-FB5385C4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7920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CB79D1-AC4B-4787-927B-7EF46AEC5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FE35A6-ADA7-460C-AD7C-E673C1AB6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5B3825-AED0-4BEC-8D29-A59AAF0A9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25B07A-C113-4D8C-AAD6-1F78E6203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2BFBAE-DB5F-4B83-8E75-53207E96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2697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C1C0A-A78B-45D5-9F40-6304D25CF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8295CC-148A-49C5-BA79-715ED4E992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B625EC-A024-4315-8018-96A5CB50E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00DF5A-7454-4574-9FCF-BBC4B35AE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2026-03-19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57DC97-CB44-47BC-8498-13D5714AD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BA68A6-A6A4-4AA7-9B5F-AD1C2BE99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099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4293F2-83B6-4772-815A-482DFE6D6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216F97-1748-4816-93E4-789F4F1DA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7BC754-21C2-4480-B8F5-2140DB2F8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553287-7BF8-49FB-BBC0-3047D7B46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52FC25-6EEE-4A5C-9987-C04EE2E3A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DBDE308-CFCC-483A-9595-29641FDE2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2026-03-19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E4ADEA9-B683-4228-9FF6-75C7425C7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9DCC2C-3148-46EA-B7FA-F74F95D23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81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846B0E-E1A6-4B9C-BA80-B584DABCE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03AF5E-E832-4276-AE70-9E3E7AB0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2026-03-19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3FCB58-064A-4A54-BC72-316F290E5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13771E-66FF-4CA8-834B-1D35A3F8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424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35B767-EE4D-42B6-BBC9-74C9E2F1C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2026-03-19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73DE23-3160-4BA4-BDC1-ACAD5B7A6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EC72F6-E106-4BD4-A7F1-BC1902A6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9362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26D8B5-8345-435E-AFEB-C09E0979A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9E06DC-C929-478D-AAF2-410E633B0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1758E4-78E1-499E-8896-E37973A78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FCE34F-58CF-45FD-9F50-7B9FDC91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2026-03-19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65251D-ABF8-4225-9230-1693511BF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1C334E-FAAE-47A5-B5C9-161A817A0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0626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02F8B-0C86-4553-A00F-6F778D101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A742D9B-53A2-45A2-A5C8-A11B564B74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0507A6-9901-4336-A6F6-09232163D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D2DAA8-0379-4F60-8838-3E74EF8D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2026-03-19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E97A47-FDF3-42CD-B879-95FD6CC58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62C005-1AAF-47C9-BE8B-09888906E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919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8819-EE1A-40B9-B541-4A40C2F8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2FB293-A2FD-462C-9283-CE0131E4D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C85D8E-73F1-4886-87EF-0DBE95FF7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38E4AA-6BDD-4A8E-952E-88E4A2290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D0FCA-0A1B-471D-8171-8B29E57E6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7352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9D0B9C-E5E5-4E95-A480-EFEF19BDF3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66BA4C-4BE6-4FC2-8155-FC9E164D0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CBCAB0-916F-41EE-8276-8909FF58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4E6C37-A87A-49FE-B81E-BF7C19008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D10F43-0418-4CDD-8426-7D12DC366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7677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A9B92D0-C80B-40BB-8085-14F763244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08BACE-8542-441D-BA7E-B549B97A9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CADE8F-D911-4205-BE5B-EC32974BE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043F6-4F4D-4CB6-B54F-64438BCF3E22}" type="datetimeFigureOut">
              <a:rPr lang="ko-KR" altLang="en-US" smtClean="0"/>
              <a:t>2026-03-19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36DF68-EC07-408B-851E-4B231E488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AB029D-F13F-4D80-83D8-1332C6361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424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yangguibee/AIG" TargetMode="External"/><Relationship Id="rId5" Type="http://schemas.openxmlformats.org/officeDocument/2006/relationships/hyperlink" Target="mailto:heejung.yang@bok.or.kr" TargetMode="External"/><Relationship Id="rId4" Type="http://schemas.openxmlformats.org/officeDocument/2006/relationships/hyperlink" Target="mailto:guibee@konkuk.ac.k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5AF8E-A806-1C68-09C1-6F93D2D8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48F682-6301-4D68-A1E2-FD20DE47E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720" y="2721452"/>
            <a:ext cx="3703258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F3E0DE-7586-70A7-661C-B8451F1B477E}"/>
              </a:ext>
            </a:extLst>
          </p:cNvPr>
          <p:cNvSpPr txBox="1"/>
          <p:nvPr/>
        </p:nvSpPr>
        <p:spPr>
          <a:xfrm>
            <a:off x="1268935" y="131389"/>
            <a:ext cx="37032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건국대학교 공학대학원 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</a:rPr>
              <a:t>AI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전공</a:t>
            </a:r>
            <a:endParaRPr lang="en-US" altLang="ko-K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그림 4" descr="텍스트, 폰트, 디자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0CAF15-BF6C-89C1-7946-F972B78DA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15" y="131389"/>
            <a:ext cx="1150720" cy="381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EC39D6-0EF0-B229-5081-12D7CBCE4A69}"/>
              </a:ext>
            </a:extLst>
          </p:cNvPr>
          <p:cNvSpPr txBox="1"/>
          <p:nvPr/>
        </p:nvSpPr>
        <p:spPr>
          <a:xfrm>
            <a:off x="1684789" y="2753771"/>
            <a:ext cx="86693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/>
              <a:t>AI </a:t>
            </a:r>
            <a:r>
              <a:rPr lang="ko-KR" altLang="en-US" sz="4400" b="1" dirty="0"/>
              <a:t>거버넌스 </a:t>
            </a:r>
            <a:r>
              <a:rPr lang="en-US" altLang="ko-KR" sz="4400" b="1" dirty="0"/>
              <a:t>: </a:t>
            </a:r>
            <a:r>
              <a:rPr lang="ko-KR" altLang="en-US" sz="4400" b="1" dirty="0"/>
              <a:t>관련 법과 국제표준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060427-D4E6-EABB-B166-EA68CCD6E4B4}"/>
              </a:ext>
            </a:extLst>
          </p:cNvPr>
          <p:cNvSpPr txBox="1"/>
          <p:nvPr/>
        </p:nvSpPr>
        <p:spPr>
          <a:xfrm>
            <a:off x="7122243" y="5283819"/>
            <a:ext cx="31390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2026</a:t>
            </a:r>
            <a:r>
              <a:rPr lang="ko-KR" altLang="en-US" sz="2400" b="1" dirty="0"/>
              <a:t>년 </a:t>
            </a:r>
            <a:r>
              <a:rPr lang="en-US" altLang="ko-KR" sz="2400" b="1" dirty="0"/>
              <a:t>1</a:t>
            </a:r>
            <a:r>
              <a:rPr lang="ko-KR" altLang="en-US" sz="2400" b="1" dirty="0"/>
              <a:t>학기 양희정</a:t>
            </a:r>
            <a:endParaRPr lang="en-US" altLang="ko-KR" sz="2400" b="1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7396F36-C076-0E42-DE70-544C319D2214}"/>
              </a:ext>
            </a:extLst>
          </p:cNvPr>
          <p:cNvCxnSpPr>
            <a:cxnSpLocks/>
          </p:cNvCxnSpPr>
          <p:nvPr/>
        </p:nvCxnSpPr>
        <p:spPr>
          <a:xfrm>
            <a:off x="1768651" y="3523212"/>
            <a:ext cx="839675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9582E5-F7B8-A99B-63B2-DDFA65998CB5}"/>
              </a:ext>
            </a:extLst>
          </p:cNvPr>
          <p:cNvSpPr txBox="1"/>
          <p:nvPr/>
        </p:nvSpPr>
        <p:spPr>
          <a:xfrm>
            <a:off x="8105205" y="5653151"/>
            <a:ext cx="2156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>
                <a:hlinkClick r:id="rId4"/>
              </a:rPr>
              <a:t>guibee@konkuk.ac.kr</a:t>
            </a:r>
            <a:endParaRPr lang="en-US" altLang="ko-KR" sz="1400" dirty="0"/>
          </a:p>
          <a:p>
            <a:pPr algn="r"/>
            <a:r>
              <a:rPr lang="en-US" altLang="ko-KR" sz="1400" dirty="0">
                <a:hlinkClick r:id="rId5"/>
              </a:rPr>
              <a:t>heejung.yang@bok.or.kr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EAD115-078E-E2E8-1F41-902AD1D1CA4F}"/>
              </a:ext>
            </a:extLst>
          </p:cNvPr>
          <p:cNvSpPr txBox="1"/>
          <p:nvPr/>
        </p:nvSpPr>
        <p:spPr>
          <a:xfrm>
            <a:off x="5673129" y="3523212"/>
            <a:ext cx="45881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hlinkClick r:id="rId6"/>
              </a:rPr>
              <a:t>https://github.com/yangguibee/AIG</a:t>
            </a:r>
            <a:endParaRPr lang="en-US" altLang="ko-KR" sz="2000" b="1" dirty="0"/>
          </a:p>
          <a:p>
            <a:endParaRPr lang="en-US" altLang="ko-KR" sz="2000" b="1" dirty="0"/>
          </a:p>
          <a:p>
            <a:endParaRPr lang="ko-KR" alt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19B286-40D1-466A-8738-FC70802ED0E7}"/>
              </a:ext>
            </a:extLst>
          </p:cNvPr>
          <p:cNvSpPr txBox="1"/>
          <p:nvPr/>
        </p:nvSpPr>
        <p:spPr>
          <a:xfrm>
            <a:off x="10424869" y="2846103"/>
            <a:ext cx="12426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rgbClr val="C00000"/>
                </a:solidFill>
              </a:rPr>
              <a:t>제</a:t>
            </a:r>
            <a:r>
              <a:rPr lang="en-US" altLang="ko-KR" sz="3200" b="1" dirty="0">
                <a:solidFill>
                  <a:srgbClr val="C00000"/>
                </a:solidFill>
              </a:rPr>
              <a:t>3</a:t>
            </a:r>
            <a:r>
              <a:rPr lang="ko-KR" altLang="en-US" sz="3200" b="1" dirty="0">
                <a:solidFill>
                  <a:srgbClr val="C00000"/>
                </a:solidFill>
              </a:rPr>
              <a:t>강</a:t>
            </a:r>
          </a:p>
        </p:txBody>
      </p:sp>
    </p:spTree>
    <p:extLst>
      <p:ext uri="{BB962C8B-B14F-4D97-AF65-F5344CB8AC3E}">
        <p14:creationId xmlns:p14="http://schemas.microsoft.com/office/powerpoint/2010/main" val="106007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6F453-B458-CA3C-258E-CC1732EC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9F8CE8-020B-44F0-B6A5-83F5C7558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83E127-B4EB-1785-F44E-CAC209D0C03F}"/>
              </a:ext>
            </a:extLst>
          </p:cNvPr>
          <p:cNvSpPr txBox="1"/>
          <p:nvPr/>
        </p:nvSpPr>
        <p:spPr>
          <a:xfrm>
            <a:off x="600930" y="194519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계획</a:t>
            </a:r>
          </a:p>
        </p:txBody>
      </p:sp>
      <p:pic>
        <p:nvPicPr>
          <p:cNvPr id="5" name="그림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0D3306-80B9-3F00-5A7F-FFAF1E98C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36" y="1003025"/>
            <a:ext cx="10749064" cy="5313615"/>
          </a:xfrm>
          <a:prstGeom prst="rect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29B1CE6A-827F-C148-5646-CBDB1EFA23BD}"/>
              </a:ext>
            </a:extLst>
          </p:cNvPr>
          <p:cNvSpPr/>
          <p:nvPr/>
        </p:nvSpPr>
        <p:spPr>
          <a:xfrm>
            <a:off x="640404" y="1930012"/>
            <a:ext cx="10830128" cy="345232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3346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D493D-3350-8DDE-9921-7DC7DEBA5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3B05EE-8576-BC2F-94A2-F8804A365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B56943-0E4D-9022-D1CC-22CF01198F39}"/>
              </a:ext>
            </a:extLst>
          </p:cNvPr>
          <p:cNvSpPr txBox="1"/>
          <p:nvPr/>
        </p:nvSpPr>
        <p:spPr>
          <a:xfrm>
            <a:off x="2589985" y="1285355"/>
            <a:ext cx="24529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AI </a:t>
            </a:r>
            <a:r>
              <a:rPr lang="ko-KR" altLang="en-US" sz="2400" b="1" dirty="0"/>
              <a:t>거버넌스①②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14B07-F78D-0253-5252-0DFBA57F37BC}"/>
              </a:ext>
            </a:extLst>
          </p:cNvPr>
          <p:cNvSpPr txBox="1"/>
          <p:nvPr/>
        </p:nvSpPr>
        <p:spPr>
          <a:xfrm>
            <a:off x="2589985" y="1834596"/>
            <a:ext cx="23150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EU AI Act③ ④</a:t>
            </a:r>
            <a:endParaRPr lang="ko-KR" alt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E2030-66AE-D504-0C65-BBC0BE35E5EF}"/>
              </a:ext>
            </a:extLst>
          </p:cNvPr>
          <p:cNvSpPr txBox="1"/>
          <p:nvPr/>
        </p:nvSpPr>
        <p:spPr>
          <a:xfrm>
            <a:off x="2589985" y="2383837"/>
            <a:ext cx="2883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KOR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AI</a:t>
            </a:r>
            <a:r>
              <a:rPr lang="ko-KR" altLang="en-US" sz="2400" b="1" dirty="0"/>
              <a:t>기본법⑤⑥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012DCF-DFDE-0291-3FB5-C8CA55401C3B}"/>
              </a:ext>
            </a:extLst>
          </p:cNvPr>
          <p:cNvSpPr txBox="1"/>
          <p:nvPr/>
        </p:nvSpPr>
        <p:spPr>
          <a:xfrm>
            <a:off x="2589985" y="2933079"/>
            <a:ext cx="2415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Case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Study⑦⑧</a:t>
            </a:r>
            <a:endParaRPr lang="ko-KR" altLang="en-US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EC03C-0090-F7A6-E089-5960FD9FB209}"/>
              </a:ext>
            </a:extLst>
          </p:cNvPr>
          <p:cNvSpPr txBox="1"/>
          <p:nvPr/>
        </p:nvSpPr>
        <p:spPr>
          <a:xfrm>
            <a:off x="1053612" y="2106392"/>
            <a:ext cx="914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AI </a:t>
            </a:r>
            <a:r>
              <a:rPr lang="ko-KR" altLang="en-US" sz="2400" b="1" dirty="0"/>
              <a:t>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67046E-560F-CFFA-113F-1D9A9FF25D8E}"/>
              </a:ext>
            </a:extLst>
          </p:cNvPr>
          <p:cNvSpPr txBox="1"/>
          <p:nvPr/>
        </p:nvSpPr>
        <p:spPr>
          <a:xfrm>
            <a:off x="441453" y="4713549"/>
            <a:ext cx="1837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AI </a:t>
            </a:r>
            <a:r>
              <a:rPr lang="ko-KR" altLang="en-US" sz="2400" b="1" dirty="0"/>
              <a:t>국제표준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7BF7-62FA-7818-FD34-C3885784B2AB}"/>
              </a:ext>
            </a:extLst>
          </p:cNvPr>
          <p:cNvSpPr txBox="1"/>
          <p:nvPr/>
        </p:nvSpPr>
        <p:spPr>
          <a:xfrm>
            <a:off x="3236720" y="6156339"/>
            <a:ext cx="2415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Case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Study</a:t>
            </a:r>
            <a:r>
              <a:rPr lang="ko-KR" altLang="en-US" sz="2400" b="1" dirty="0"/>
              <a:t>⑦⑧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AFDC6D-EA54-113D-3A24-038A0C0C1BA8}"/>
              </a:ext>
            </a:extLst>
          </p:cNvPr>
          <p:cNvSpPr txBox="1"/>
          <p:nvPr/>
        </p:nvSpPr>
        <p:spPr>
          <a:xfrm>
            <a:off x="3236720" y="3721136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개인정보보호①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24E79F-F8F3-0DB1-E253-014B979025FD}"/>
              </a:ext>
            </a:extLst>
          </p:cNvPr>
          <p:cNvSpPr txBox="1"/>
          <p:nvPr/>
        </p:nvSpPr>
        <p:spPr>
          <a:xfrm>
            <a:off x="3236720" y="420817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지식재산권②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C5A458-BC48-C20A-4C93-4EE293F7C525}"/>
              </a:ext>
            </a:extLst>
          </p:cNvPr>
          <p:cNvSpPr txBox="1"/>
          <p:nvPr/>
        </p:nvSpPr>
        <p:spPr>
          <a:xfrm>
            <a:off x="3236720" y="469521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책임법③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96A502-651B-15E7-1EB5-47B5BCCB6DE6}"/>
              </a:ext>
            </a:extLst>
          </p:cNvPr>
          <p:cNvSpPr txBox="1"/>
          <p:nvPr/>
        </p:nvSpPr>
        <p:spPr>
          <a:xfrm>
            <a:off x="3236720" y="5669300"/>
            <a:ext cx="19030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ISO/IEC</a:t>
            </a:r>
            <a:r>
              <a:rPr lang="ko-KR" altLang="en-US" sz="2400" b="1" dirty="0"/>
              <a:t>⑤⑥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B455BD-4EB9-0CCE-AC73-84333274AF50}"/>
              </a:ext>
            </a:extLst>
          </p:cNvPr>
          <p:cNvSpPr txBox="1"/>
          <p:nvPr/>
        </p:nvSpPr>
        <p:spPr>
          <a:xfrm>
            <a:off x="3236720" y="5182259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글로벌 규제④</a:t>
            </a:r>
          </a:p>
        </p:txBody>
      </p: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DF42A3C2-6FBF-D99C-96EC-443655ED5F14}"/>
              </a:ext>
            </a:extLst>
          </p:cNvPr>
          <p:cNvCxnSpPr>
            <a:stCxn id="8" idx="3"/>
            <a:endCxn id="4" idx="1"/>
          </p:cNvCxnSpPr>
          <p:nvPr/>
        </p:nvCxnSpPr>
        <p:spPr>
          <a:xfrm flipV="1">
            <a:off x="1967645" y="1516188"/>
            <a:ext cx="622340" cy="821037"/>
          </a:xfrm>
          <a:prstGeom prst="curvedConnector3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0F2827C1-CAE3-03FF-0782-5B66445A34CB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 flipV="1">
            <a:off x="1967645" y="2065429"/>
            <a:ext cx="622340" cy="271796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2F819FC1-7DBC-FE37-E7E6-1EF96C9D912D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1967645" y="2337225"/>
            <a:ext cx="622340" cy="277445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AF1AFCF4-06C3-695A-0E0E-CDAA3109938F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1967645" y="2337225"/>
            <a:ext cx="622340" cy="826687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9061310C-BE42-E67C-4051-2A1D77C843D1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2278815" y="3951969"/>
            <a:ext cx="957905" cy="992413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2FD31F0C-2CFD-E2A3-C798-8DC417C4A8A7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 flipV="1">
            <a:off x="2278815" y="4439010"/>
            <a:ext cx="957905" cy="505372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구부러짐 32">
            <a:extLst>
              <a:ext uri="{FF2B5EF4-FFF2-40B4-BE49-F238E27FC236}">
                <a16:creationId xmlns:a16="http://schemas.microsoft.com/office/drawing/2014/main" id="{CD2B2603-D6FA-0E20-7730-3CE7F2CED473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 flipV="1">
            <a:off x="2278815" y="4926051"/>
            <a:ext cx="957905" cy="1833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구부러짐 35">
            <a:extLst>
              <a:ext uri="{FF2B5EF4-FFF2-40B4-BE49-F238E27FC236}">
                <a16:creationId xmlns:a16="http://schemas.microsoft.com/office/drawing/2014/main" id="{FEC31CBA-191D-02B0-1EB4-C53DE70165EE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2278815" y="4944382"/>
            <a:ext cx="957905" cy="468710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구부러짐 38">
            <a:extLst>
              <a:ext uri="{FF2B5EF4-FFF2-40B4-BE49-F238E27FC236}">
                <a16:creationId xmlns:a16="http://schemas.microsoft.com/office/drawing/2014/main" id="{FD9CB859-D481-16B9-B1DA-433B4C19442E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>
          <a:xfrm>
            <a:off x="2278815" y="4944382"/>
            <a:ext cx="957905" cy="95575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구부러짐 41">
            <a:extLst>
              <a:ext uri="{FF2B5EF4-FFF2-40B4-BE49-F238E27FC236}">
                <a16:creationId xmlns:a16="http://schemas.microsoft.com/office/drawing/2014/main" id="{ED0FF77A-460F-EA59-8413-BA5794B460F1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2278815" y="4944382"/>
            <a:ext cx="957905" cy="1442790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D8C4D769-7FCC-61CE-8C54-099B4CAF9FDF}"/>
              </a:ext>
            </a:extLst>
          </p:cNvPr>
          <p:cNvGrpSpPr/>
          <p:nvPr/>
        </p:nvGrpSpPr>
        <p:grpSpPr>
          <a:xfrm>
            <a:off x="5473660" y="962892"/>
            <a:ext cx="4609329" cy="1748072"/>
            <a:chOff x="5473660" y="962892"/>
            <a:chExt cx="4609329" cy="1748072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46258CA8-9C12-ED22-9CAD-9C5481B1AF22}"/>
                </a:ext>
              </a:extLst>
            </p:cNvPr>
            <p:cNvGrpSpPr/>
            <p:nvPr/>
          </p:nvGrpSpPr>
          <p:grpSpPr>
            <a:xfrm>
              <a:off x="6096000" y="962892"/>
              <a:ext cx="3986989" cy="1748072"/>
              <a:chOff x="6096000" y="962892"/>
              <a:chExt cx="3986989" cy="1748072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56140AF-916D-7E2D-A518-5FC225909E40}"/>
                  </a:ext>
                </a:extLst>
              </p:cNvPr>
              <p:cNvSpPr txBox="1"/>
              <p:nvPr/>
            </p:nvSpPr>
            <p:spPr>
              <a:xfrm>
                <a:off x="6096000" y="962892"/>
                <a:ext cx="3212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1. AI</a:t>
                </a:r>
                <a:r>
                  <a:rPr lang="ko-KR" altLang="en-US" dirty="0"/>
                  <a:t> 투명성 확보 가이드라인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BACBBB3-C8E5-9151-E750-E13C37C39937}"/>
                  </a:ext>
                </a:extLst>
              </p:cNvPr>
              <p:cNvSpPr txBox="1"/>
              <p:nvPr/>
            </p:nvSpPr>
            <p:spPr>
              <a:xfrm>
                <a:off x="6096000" y="1996947"/>
                <a:ext cx="39869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4. </a:t>
                </a:r>
                <a:r>
                  <a:rPr lang="ko-KR" altLang="en-US" dirty="0"/>
                  <a:t>고영향 </a:t>
                </a:r>
                <a:r>
                  <a:rPr lang="en-US" altLang="ko-KR" dirty="0"/>
                  <a:t>AI</a:t>
                </a:r>
                <a:r>
                  <a:rPr lang="ko-KR" altLang="en-US" dirty="0"/>
                  <a:t> 사업자 책무 가이드라인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3A30C5C-44BC-A9DB-E8B8-BB4167D3C24D}"/>
                  </a:ext>
                </a:extLst>
              </p:cNvPr>
              <p:cNvSpPr txBox="1"/>
              <p:nvPr/>
            </p:nvSpPr>
            <p:spPr>
              <a:xfrm>
                <a:off x="6096000" y="1307577"/>
                <a:ext cx="3212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2. AI</a:t>
                </a:r>
                <a:r>
                  <a:rPr lang="ko-KR" altLang="en-US" dirty="0"/>
                  <a:t> 안전성 확보 가이드라인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954E14E-DBD0-FAB8-C9F5-DC6258AF3079}"/>
                  </a:ext>
                </a:extLst>
              </p:cNvPr>
              <p:cNvSpPr txBox="1"/>
              <p:nvPr/>
            </p:nvSpPr>
            <p:spPr>
              <a:xfrm>
                <a:off x="6096000" y="1652262"/>
                <a:ext cx="3212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3. </a:t>
                </a:r>
                <a:r>
                  <a:rPr lang="ko-KR" altLang="en-US" dirty="0"/>
                  <a:t>고영향 </a:t>
                </a:r>
                <a:r>
                  <a:rPr lang="en-US" altLang="ko-KR" dirty="0"/>
                  <a:t>AI</a:t>
                </a:r>
                <a:r>
                  <a:rPr lang="ko-KR" altLang="en-US" dirty="0"/>
                  <a:t> 판단 가이드라인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AF4CFB8-3662-66DC-CD5C-15D4581747CC}"/>
                  </a:ext>
                </a:extLst>
              </p:cNvPr>
              <p:cNvSpPr txBox="1"/>
              <p:nvPr/>
            </p:nvSpPr>
            <p:spPr>
              <a:xfrm>
                <a:off x="6096000" y="2341632"/>
                <a:ext cx="29001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5. AI</a:t>
                </a:r>
                <a:r>
                  <a:rPr lang="ko-KR" altLang="en-US" dirty="0"/>
                  <a:t> 영향평가 가이드라인</a:t>
                </a:r>
              </a:p>
            </p:txBody>
          </p:sp>
        </p:grpSp>
        <p:sp>
          <p:nvSpPr>
            <p:cNvPr id="66" name="왼쪽 중괄호 65">
              <a:extLst>
                <a:ext uri="{FF2B5EF4-FFF2-40B4-BE49-F238E27FC236}">
                  <a16:creationId xmlns:a16="http://schemas.microsoft.com/office/drawing/2014/main" id="{09BD34B1-BC01-00EB-71CF-4CA3A16484EE}"/>
                </a:ext>
              </a:extLst>
            </p:cNvPr>
            <p:cNvSpPr/>
            <p:nvPr/>
          </p:nvSpPr>
          <p:spPr>
            <a:xfrm>
              <a:off x="5862537" y="1147558"/>
              <a:ext cx="233463" cy="1375681"/>
            </a:xfrm>
            <a:prstGeom prst="lef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67" name="연결선: 구부러짐 66">
              <a:extLst>
                <a:ext uri="{FF2B5EF4-FFF2-40B4-BE49-F238E27FC236}">
                  <a16:creationId xmlns:a16="http://schemas.microsoft.com/office/drawing/2014/main" id="{9552A930-E597-31F9-4DDA-4AACC0B63222}"/>
                </a:ext>
              </a:extLst>
            </p:cNvPr>
            <p:cNvCxnSpPr>
              <a:cxnSpLocks/>
              <a:stCxn id="6" idx="3"/>
              <a:endCxn id="66" idx="1"/>
            </p:cNvCxnSpPr>
            <p:nvPr/>
          </p:nvCxnSpPr>
          <p:spPr>
            <a:xfrm flipV="1">
              <a:off x="5473660" y="1835399"/>
              <a:ext cx="388877" cy="779271"/>
            </a:xfrm>
            <a:prstGeom prst="curvedConnector3">
              <a:avLst>
                <a:gd name="adj1" fmla="val 50000"/>
              </a:avLst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6E08F9BE-2115-1C74-49A8-FFCA1B201611}"/>
              </a:ext>
            </a:extLst>
          </p:cNvPr>
          <p:cNvSpPr txBox="1"/>
          <p:nvPr/>
        </p:nvSpPr>
        <p:spPr>
          <a:xfrm>
            <a:off x="486799" y="187001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구성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223F18F-B407-0E7F-FB9F-CC1A54CB8AC0}"/>
              </a:ext>
            </a:extLst>
          </p:cNvPr>
          <p:cNvGrpSpPr/>
          <p:nvPr/>
        </p:nvGrpSpPr>
        <p:grpSpPr>
          <a:xfrm>
            <a:off x="5139805" y="3268237"/>
            <a:ext cx="6655191" cy="2862322"/>
            <a:chOff x="5139805" y="3268237"/>
            <a:chExt cx="6655191" cy="286232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17B5F04-8CA4-3BA8-586E-EC3CFCB9287F}"/>
                </a:ext>
              </a:extLst>
            </p:cNvPr>
            <p:cNvSpPr txBox="1"/>
            <p:nvPr/>
          </p:nvSpPr>
          <p:spPr>
            <a:xfrm>
              <a:off x="6096000" y="3268237"/>
              <a:ext cx="5698996" cy="28623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1. </a:t>
              </a:r>
              <a:r>
                <a:rPr lang="ko-KR" altLang="en-US" dirty="0"/>
                <a:t>준비 단계 </a:t>
              </a:r>
              <a:r>
                <a:rPr lang="en-US" altLang="ko-KR" dirty="0"/>
                <a:t>: ISO/IEC 22989 (</a:t>
              </a:r>
              <a:r>
                <a:rPr lang="ko-KR" altLang="en-US" dirty="0"/>
                <a:t>개념 및 용어</a:t>
              </a:r>
              <a:r>
                <a:rPr lang="en-US" altLang="ko-KR" dirty="0"/>
                <a:t>) </a:t>
              </a:r>
            </a:p>
            <a:p>
              <a:r>
                <a:rPr lang="en-US" altLang="ko-KR" dirty="0"/>
                <a:t>                  ISO/IEC 23053 (ML </a:t>
              </a:r>
              <a:r>
                <a:rPr lang="ko-KR" altLang="en-US" dirty="0"/>
                <a:t>프레임워크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2. </a:t>
              </a:r>
              <a:r>
                <a:rPr lang="ko-KR" altLang="en-US" dirty="0"/>
                <a:t>방향 설정 </a:t>
              </a:r>
              <a:r>
                <a:rPr lang="en-US" altLang="ko-KR" dirty="0"/>
                <a:t>: ISO/IEC 38507 (AI </a:t>
              </a:r>
              <a:r>
                <a:rPr lang="ko-KR" altLang="en-US" dirty="0"/>
                <a:t>거버넌스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3. </a:t>
              </a:r>
              <a:r>
                <a:rPr lang="ko-KR" altLang="en-US" dirty="0"/>
                <a:t>시스템 구축 </a:t>
              </a:r>
              <a:r>
                <a:rPr lang="en-US" altLang="ko-KR" dirty="0"/>
                <a:t>: ISO/IEC 42001 (AI </a:t>
              </a:r>
              <a:r>
                <a:rPr lang="ko-KR" altLang="en-US" dirty="0"/>
                <a:t>경영시스템</a:t>
              </a:r>
              <a:r>
                <a:rPr lang="en-US" altLang="ko-KR" dirty="0"/>
                <a:t>) </a:t>
              </a:r>
            </a:p>
            <a:p>
              <a:r>
                <a:rPr lang="en-US" altLang="ko-KR" dirty="0"/>
                <a:t>                     ISO/IEC 25059 (AI </a:t>
              </a:r>
              <a:r>
                <a:rPr lang="ko-KR" altLang="en-US" dirty="0"/>
                <a:t>시스템 품질 모델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4. </a:t>
              </a:r>
              <a:r>
                <a:rPr lang="ko-KR" altLang="en-US" dirty="0"/>
                <a:t>실행 및 관리 </a:t>
              </a:r>
              <a:r>
                <a:rPr lang="en-US" altLang="ko-KR" dirty="0"/>
                <a:t>: ISO/IEC 5259 (</a:t>
              </a:r>
              <a:r>
                <a:rPr lang="ko-KR" altLang="en-US" dirty="0"/>
                <a:t>데이터 품질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                 ISO/IEC 23894 (</a:t>
              </a:r>
              <a:r>
                <a:rPr lang="ko-KR" altLang="en-US" dirty="0"/>
                <a:t>리스크 관리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                 ISO/IEC 27090/27091 (</a:t>
              </a:r>
              <a:r>
                <a:rPr lang="ko-KR" altLang="en-US" dirty="0"/>
                <a:t>정보 보호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5. </a:t>
              </a:r>
              <a:r>
                <a:rPr lang="ko-KR" altLang="en-US" dirty="0"/>
                <a:t>검증 및 개선 </a:t>
              </a:r>
              <a:r>
                <a:rPr lang="en-US" altLang="ko-KR" dirty="0"/>
                <a:t>: ISO/IEC 24029 (</a:t>
              </a:r>
              <a:r>
                <a:rPr lang="ko-KR" altLang="en-US" dirty="0"/>
                <a:t>분석적 평가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                 ISO/IEC 24028 (</a:t>
              </a:r>
              <a:r>
                <a:rPr lang="ko-KR" altLang="en-US" dirty="0"/>
                <a:t>신뢰성 편향</a:t>
              </a:r>
              <a:r>
                <a:rPr lang="en-US" altLang="ko-KR" dirty="0"/>
                <a:t>)</a:t>
              </a:r>
            </a:p>
          </p:txBody>
        </p:sp>
        <p:sp>
          <p:nvSpPr>
            <p:cNvPr id="19" name="왼쪽 중괄호 18">
              <a:extLst>
                <a:ext uri="{FF2B5EF4-FFF2-40B4-BE49-F238E27FC236}">
                  <a16:creationId xmlns:a16="http://schemas.microsoft.com/office/drawing/2014/main" id="{E43CB37F-61B0-1B45-6B28-FCA0EEC00999}"/>
                </a:ext>
              </a:extLst>
            </p:cNvPr>
            <p:cNvSpPr/>
            <p:nvPr/>
          </p:nvSpPr>
          <p:spPr>
            <a:xfrm>
              <a:off x="5862537" y="3449844"/>
              <a:ext cx="233463" cy="2206499"/>
            </a:xfrm>
            <a:prstGeom prst="lef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20" name="연결선: 구부러짐 19">
              <a:extLst>
                <a:ext uri="{FF2B5EF4-FFF2-40B4-BE49-F238E27FC236}">
                  <a16:creationId xmlns:a16="http://schemas.microsoft.com/office/drawing/2014/main" id="{9BE293F5-BB91-8FB0-9BBC-9680A78EB124}"/>
                </a:ext>
              </a:extLst>
            </p:cNvPr>
            <p:cNvCxnSpPr>
              <a:cxnSpLocks/>
              <a:endCxn id="19" idx="1"/>
            </p:cNvCxnSpPr>
            <p:nvPr/>
          </p:nvCxnSpPr>
          <p:spPr>
            <a:xfrm flipV="1">
              <a:off x="5139805" y="4553094"/>
              <a:ext cx="722732" cy="1347039"/>
            </a:xfrm>
            <a:prstGeom prst="curvedConnector3">
              <a:avLst>
                <a:gd name="adj1" fmla="val 50000"/>
              </a:avLst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4106597-5500-FEA9-7554-53512EECAC2A}"/>
              </a:ext>
            </a:extLst>
          </p:cNvPr>
          <p:cNvSpPr/>
          <p:nvPr/>
        </p:nvSpPr>
        <p:spPr>
          <a:xfrm>
            <a:off x="2597269" y="1807632"/>
            <a:ext cx="1844945" cy="553559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843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C69E4-758A-C78E-A53D-3910B909E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5A76F52-7E58-453D-EF02-1043B80A3F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56" y="116149"/>
            <a:ext cx="2806070" cy="2990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162636-D8A9-8842-AD3F-C0ABC4B93B15}"/>
              </a:ext>
            </a:extLst>
          </p:cNvPr>
          <p:cNvSpPr txBox="1"/>
          <p:nvPr/>
        </p:nvSpPr>
        <p:spPr>
          <a:xfrm>
            <a:off x="1118300" y="1103181"/>
            <a:ext cx="152958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/>
              <a:t>2</a:t>
            </a:r>
            <a:r>
              <a:rPr lang="ko-KR" altLang="en-US" sz="2400" b="1" dirty="0"/>
              <a:t>강</a:t>
            </a:r>
            <a:r>
              <a:rPr lang="en-US" altLang="ko-KR" sz="2400" b="1" dirty="0"/>
              <a:t>.</a:t>
            </a:r>
          </a:p>
          <a:p>
            <a:pPr algn="ctr"/>
            <a:endParaRPr lang="en-US" altLang="ko-KR" sz="1200" b="1" dirty="0"/>
          </a:p>
          <a:p>
            <a:pPr algn="ctr"/>
            <a:r>
              <a:rPr lang="en-US" altLang="ko-KR" sz="2400" b="1" dirty="0"/>
              <a:t>AI </a:t>
            </a:r>
            <a:r>
              <a:rPr lang="ko-KR" altLang="en-US" sz="2400" b="1" dirty="0" err="1"/>
              <a:t>법규제</a:t>
            </a:r>
            <a:endParaRPr lang="en-US" altLang="ko-KR" sz="2400" b="1" dirty="0"/>
          </a:p>
          <a:p>
            <a:pPr algn="ctr"/>
            <a:r>
              <a:rPr lang="ko-KR" altLang="en-US" sz="2400" b="1" dirty="0"/>
              <a:t>기초이론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684369-3B9B-4D82-9605-18EA811CC114}"/>
              </a:ext>
            </a:extLst>
          </p:cNvPr>
          <p:cNvSpPr txBox="1"/>
          <p:nvPr/>
        </p:nvSpPr>
        <p:spPr>
          <a:xfrm>
            <a:off x="3547483" y="661508"/>
            <a:ext cx="3350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AI </a:t>
            </a:r>
            <a:r>
              <a:rPr lang="ko-KR" altLang="en-US" sz="3200" b="1" dirty="0"/>
              <a:t>거버넌스 연구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C58842-FF94-44C6-AF15-895D9C278F52}"/>
              </a:ext>
            </a:extLst>
          </p:cNvPr>
          <p:cNvSpPr txBox="1"/>
          <p:nvPr/>
        </p:nvSpPr>
        <p:spPr>
          <a:xfrm>
            <a:off x="3864903" y="1411519"/>
            <a:ext cx="63482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0000FF"/>
                </a:solidFill>
              </a:rPr>
              <a:t>인공지능 거버넌스와 정책형성과정 연구</a:t>
            </a:r>
            <a:r>
              <a:rPr lang="en-US" altLang="ko-KR" b="1" dirty="0"/>
              <a:t>(</a:t>
            </a:r>
            <a:r>
              <a:rPr lang="ko-KR" altLang="en-US" b="1" dirty="0"/>
              <a:t>김지원</a:t>
            </a:r>
            <a:r>
              <a:rPr lang="en-US" altLang="ko-KR" b="1" dirty="0"/>
              <a:t>, 2024)</a:t>
            </a:r>
            <a:endParaRPr lang="en-US" altLang="ko-KR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D18125-ADC5-4CE6-90DE-A105B0EC3A66}"/>
              </a:ext>
            </a:extLst>
          </p:cNvPr>
          <p:cNvSpPr txBox="1"/>
          <p:nvPr/>
        </p:nvSpPr>
        <p:spPr>
          <a:xfrm>
            <a:off x="3905490" y="2784994"/>
            <a:ext cx="79752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</a:t>
            </a:r>
            <a:r>
              <a:rPr lang="en-US" altLang="ko-KR" sz="2000" b="1" dirty="0"/>
              <a:t>(AI)</a:t>
            </a:r>
            <a:r>
              <a:rPr lang="ko-KR" altLang="en-US" sz="2000" b="1" dirty="0"/>
              <a:t>시대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인공지능기본법과 윤리에 관한 연구</a:t>
            </a:r>
            <a:r>
              <a:rPr lang="en-US" altLang="ko-KR" b="1" dirty="0"/>
              <a:t>(</a:t>
            </a:r>
            <a:r>
              <a:rPr lang="ko-KR" altLang="en-US" b="1" dirty="0"/>
              <a:t>김경동</a:t>
            </a:r>
            <a:r>
              <a:rPr lang="en-US" altLang="ko-KR" b="1" dirty="0"/>
              <a:t>, 2025)</a:t>
            </a:r>
            <a:endParaRPr lang="en-US" altLang="ko-KR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EAA007-842E-4CBF-9C73-5C109215DBA8}"/>
              </a:ext>
            </a:extLst>
          </p:cNvPr>
          <p:cNvSpPr txBox="1"/>
          <p:nvPr/>
        </p:nvSpPr>
        <p:spPr>
          <a:xfrm>
            <a:off x="3905490" y="4111898"/>
            <a:ext cx="72731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인공지능기술 </a:t>
            </a:r>
            <a:r>
              <a:rPr lang="ko-KR" altLang="en-US" sz="2000" b="1" dirty="0">
                <a:solidFill>
                  <a:srgbClr val="C00000"/>
                </a:solidFill>
              </a:rPr>
              <a:t>윤리성 인식 척도개발 </a:t>
            </a:r>
            <a:r>
              <a:rPr lang="ko-KR" altLang="en-US" sz="2000" b="1" dirty="0"/>
              <a:t>연구</a:t>
            </a:r>
            <a:r>
              <a:rPr lang="en-US" altLang="ko-KR" b="1" dirty="0"/>
              <a:t>(</a:t>
            </a:r>
            <a:r>
              <a:rPr lang="ko-KR" altLang="en-US" b="1" dirty="0"/>
              <a:t>김도연</a:t>
            </a:r>
            <a:r>
              <a:rPr lang="en-US" altLang="ko-KR" b="1" dirty="0"/>
              <a:t>, </a:t>
            </a:r>
            <a:r>
              <a:rPr lang="ko-KR" altLang="en-US" b="1" dirty="0"/>
              <a:t>고영화</a:t>
            </a:r>
            <a:r>
              <a:rPr lang="en-US" altLang="ko-KR" b="1" dirty="0"/>
              <a:t>, 2022)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EB5622-D913-4D14-B970-C1E1E9E943F5}"/>
              </a:ext>
            </a:extLst>
          </p:cNvPr>
          <p:cNvSpPr txBox="1"/>
          <p:nvPr/>
        </p:nvSpPr>
        <p:spPr>
          <a:xfrm>
            <a:off x="3905490" y="3448446"/>
            <a:ext cx="5198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인공지능의 윤리와 법의 접점</a:t>
            </a:r>
            <a:r>
              <a:rPr lang="en-US" altLang="ko-KR" b="1" dirty="0"/>
              <a:t>(</a:t>
            </a:r>
            <a:r>
              <a:rPr lang="ko-KR" altLang="en-US" b="1" dirty="0"/>
              <a:t>원상철</a:t>
            </a:r>
            <a:r>
              <a:rPr lang="en-US" altLang="ko-KR" b="1" dirty="0"/>
              <a:t>, 2024)</a:t>
            </a:r>
            <a:endParaRPr lang="en-US" altLang="ko-KR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6508D6-ABBD-4457-86E7-07DAA3257DB7}"/>
              </a:ext>
            </a:extLst>
          </p:cNvPr>
          <p:cNvSpPr txBox="1"/>
          <p:nvPr/>
        </p:nvSpPr>
        <p:spPr>
          <a:xfrm>
            <a:off x="3905490" y="5438803"/>
            <a:ext cx="58528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 로봇의 </a:t>
            </a:r>
            <a:r>
              <a:rPr lang="ko-KR" altLang="en-US" sz="2000" b="1" dirty="0">
                <a:solidFill>
                  <a:srgbClr val="C00000"/>
                </a:solidFill>
              </a:rPr>
              <a:t>위험성 유형별 측정지표 </a:t>
            </a:r>
            <a:r>
              <a:rPr lang="ko-KR" altLang="en-US" sz="2000" b="1" dirty="0"/>
              <a:t>개발과 </a:t>
            </a:r>
            <a:endParaRPr lang="en-US" altLang="ko-KR" sz="2000" b="1" dirty="0"/>
          </a:p>
          <a:p>
            <a:r>
              <a:rPr lang="ko-KR" altLang="en-US" sz="2000" b="1" dirty="0"/>
              <a:t>인공지능 윤리원칙 관계성 연구</a:t>
            </a:r>
            <a:r>
              <a:rPr lang="en-US" altLang="ko-KR" b="1" dirty="0"/>
              <a:t>(</a:t>
            </a:r>
            <a:r>
              <a:rPr lang="ko-KR" altLang="en-US" b="1" dirty="0"/>
              <a:t>송현경</a:t>
            </a:r>
            <a:r>
              <a:rPr lang="en-US" altLang="ko-KR" b="1" dirty="0"/>
              <a:t>, 2024)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CDE278-6775-4E6D-8EE3-F47AA33E3484}"/>
              </a:ext>
            </a:extLst>
          </p:cNvPr>
          <p:cNvSpPr txBox="1"/>
          <p:nvPr/>
        </p:nvSpPr>
        <p:spPr>
          <a:xfrm>
            <a:off x="3905490" y="4775350"/>
            <a:ext cx="65453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 </a:t>
            </a:r>
            <a:r>
              <a:rPr lang="ko-KR" altLang="en-US" sz="2000" b="1" dirty="0">
                <a:solidFill>
                  <a:srgbClr val="C00000"/>
                </a:solidFill>
              </a:rPr>
              <a:t>윤리원칙 분류 </a:t>
            </a:r>
            <a:r>
              <a:rPr lang="ko-KR" altLang="en-US" sz="2000" b="1" dirty="0"/>
              <a:t>모형 및 </a:t>
            </a:r>
            <a:r>
              <a:rPr lang="ko-KR" altLang="en-US" sz="2000" b="1" dirty="0">
                <a:solidFill>
                  <a:srgbClr val="C00000"/>
                </a:solidFill>
              </a:rPr>
              <a:t>윤리 측정지표 </a:t>
            </a:r>
            <a:r>
              <a:rPr lang="ko-KR" altLang="en-US" sz="2000" b="1" dirty="0"/>
              <a:t>개발과 </a:t>
            </a:r>
            <a:endParaRPr lang="en-US" altLang="ko-KR" sz="2000" b="1" dirty="0"/>
          </a:p>
          <a:p>
            <a:r>
              <a:rPr lang="ko-KR" altLang="en-US" sz="2000" b="1" dirty="0"/>
              <a:t>신뢰성에 관한 연구</a:t>
            </a:r>
            <a:r>
              <a:rPr lang="en-US" altLang="ko-KR" b="1" dirty="0"/>
              <a:t>(</a:t>
            </a:r>
            <a:r>
              <a:rPr lang="ko-KR" altLang="en-US" b="1" dirty="0"/>
              <a:t>소순주</a:t>
            </a:r>
            <a:r>
              <a:rPr lang="en-US" altLang="ko-KR" b="1" dirty="0"/>
              <a:t>, 2023)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D3CB53-3AF2-431F-9908-E20E85F9AE7F}"/>
              </a:ext>
            </a:extLst>
          </p:cNvPr>
          <p:cNvSpPr txBox="1"/>
          <p:nvPr/>
        </p:nvSpPr>
        <p:spPr>
          <a:xfrm>
            <a:off x="3905490" y="2068062"/>
            <a:ext cx="66688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 윤리와 저작권의 규제체계 연구</a:t>
            </a:r>
            <a:r>
              <a:rPr lang="en-US" altLang="ko-KR" b="1" dirty="0"/>
              <a:t>(</a:t>
            </a:r>
            <a:r>
              <a:rPr lang="ko-KR" altLang="en-US" b="1" dirty="0"/>
              <a:t>신용우</a:t>
            </a:r>
            <a:r>
              <a:rPr lang="en-US" altLang="ko-KR" b="1" dirty="0"/>
              <a:t>, 2024)</a:t>
            </a:r>
            <a:endParaRPr lang="en-US" altLang="ko-KR" sz="20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D74421-2C7D-4DB0-A7D1-8D369315EB66}"/>
              </a:ext>
            </a:extLst>
          </p:cNvPr>
          <p:cNvSpPr txBox="1"/>
          <p:nvPr/>
        </p:nvSpPr>
        <p:spPr>
          <a:xfrm>
            <a:off x="3392291" y="1419197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【1】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2B5998-AEE1-41D1-AEBF-30FE047CD017}"/>
              </a:ext>
            </a:extLst>
          </p:cNvPr>
          <p:cNvSpPr txBox="1"/>
          <p:nvPr/>
        </p:nvSpPr>
        <p:spPr>
          <a:xfrm>
            <a:off x="3392291" y="2068062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【2】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954ED-F12A-4F04-B1A2-15E29CF99C5B}"/>
              </a:ext>
            </a:extLst>
          </p:cNvPr>
          <p:cNvSpPr txBox="1"/>
          <p:nvPr/>
        </p:nvSpPr>
        <p:spPr>
          <a:xfrm>
            <a:off x="3392291" y="2807576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【3】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3641AC-BA55-48F1-9EF7-54AE4C3FDBF1}"/>
              </a:ext>
            </a:extLst>
          </p:cNvPr>
          <p:cNvSpPr txBox="1"/>
          <p:nvPr/>
        </p:nvSpPr>
        <p:spPr>
          <a:xfrm>
            <a:off x="3392291" y="3437155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【4】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6B2F47-F5E2-4B4C-A061-B4B539D21574}"/>
              </a:ext>
            </a:extLst>
          </p:cNvPr>
          <p:cNvSpPr txBox="1"/>
          <p:nvPr/>
        </p:nvSpPr>
        <p:spPr>
          <a:xfrm>
            <a:off x="3392291" y="4103036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【5】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B8AEDF-58FB-4E50-8E5A-7B2771420A64}"/>
              </a:ext>
            </a:extLst>
          </p:cNvPr>
          <p:cNvSpPr txBox="1"/>
          <p:nvPr/>
        </p:nvSpPr>
        <p:spPr>
          <a:xfrm>
            <a:off x="3392291" y="4790705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【6】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4A3763-E9E6-485F-83F1-31A94A6166CA}"/>
              </a:ext>
            </a:extLst>
          </p:cNvPr>
          <p:cNvSpPr txBox="1"/>
          <p:nvPr/>
        </p:nvSpPr>
        <p:spPr>
          <a:xfrm>
            <a:off x="3392291" y="5438802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【7】</a:t>
            </a:r>
          </a:p>
        </p:txBody>
      </p:sp>
    </p:spTree>
    <p:extLst>
      <p:ext uri="{BB962C8B-B14F-4D97-AF65-F5344CB8AC3E}">
        <p14:creationId xmlns:p14="http://schemas.microsoft.com/office/powerpoint/2010/main" val="1775549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96F6B-86C3-552E-EBB0-93F941349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B9DEFF-6E09-79F1-037F-FC58CEBE9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5066"/>
            <a:ext cx="2725502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EF92E0-23BE-F52B-8FD0-6B1D6D8006D4}"/>
              </a:ext>
            </a:extLst>
          </p:cNvPr>
          <p:cNvSpPr txBox="1"/>
          <p:nvPr/>
        </p:nvSpPr>
        <p:spPr>
          <a:xfrm>
            <a:off x="486799" y="187001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정책</a:t>
            </a:r>
            <a:r>
              <a:rPr lang="en-US" altLang="ko-KR" sz="3200" b="1" dirty="0"/>
              <a:t> </a:t>
            </a:r>
            <a:r>
              <a:rPr lang="ko-KR" altLang="en-US" sz="3200" b="1" dirty="0"/>
              <a:t>연구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449A60-011D-3D46-CC83-AE0B1A31ECCC}"/>
              </a:ext>
            </a:extLst>
          </p:cNvPr>
          <p:cNvSpPr txBox="1"/>
          <p:nvPr/>
        </p:nvSpPr>
        <p:spPr>
          <a:xfrm>
            <a:off x="318361" y="2748745"/>
            <a:ext cx="2729593" cy="37548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행정과 정부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2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행정의 환경과 제도적 맥락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3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행정학의 접근방법과 이론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4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중앙정부와 행정조직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5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지방정부와 지방자치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6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공공기관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7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시민사회와 시민단체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8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행정 수단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9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행정조직관리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10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인적자원관리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11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재정관리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12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전자정부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13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행정윤리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14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공공정책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15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공공서비스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16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정부규제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17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정부의 혁신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7D323FA-3592-EB31-AF67-02876BAC197F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97356" y="933711"/>
            <a:ext cx="1440000" cy="1800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F4BAB38-C3EC-61DF-EF91-70CBBC9B0986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627102" y="948745"/>
            <a:ext cx="1440000" cy="1800000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73E1A5E-642E-ED8F-6E28-85713EAD3A7F}"/>
              </a:ext>
            </a:extLst>
          </p:cNvPr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9232399" y="933711"/>
            <a:ext cx="1440000" cy="1800000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92F4508-9ADE-6F17-99D1-8E206807CDD1}"/>
              </a:ext>
            </a:extLst>
          </p:cNvPr>
          <p:cNvSpPr txBox="1"/>
          <p:nvPr/>
        </p:nvSpPr>
        <p:spPr>
          <a:xfrm>
            <a:off x="4512029" y="2748745"/>
            <a:ext cx="3110147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과학적 연구의 의미와 논리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2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과학적 연구의 목적과 유형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3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과학적 연구의 절차와 계획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4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연구문제와 개념적 준거틀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5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문헌 검토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6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인과관계의 추론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7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설명적 연구의 조사설계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8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기술적 연구의 조사설계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9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질적 연구의 조사설계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10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개념과 측정도구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11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표본추출의 논리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12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자료수집방법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13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자료분석방법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14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연구보고서 작성과 연구진실성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A4AD1A-6A61-D7A3-9BCE-0F1642287A7B}"/>
              </a:ext>
            </a:extLst>
          </p:cNvPr>
          <p:cNvSpPr txBox="1"/>
          <p:nvPr/>
        </p:nvSpPr>
        <p:spPr>
          <a:xfrm>
            <a:off x="9086252" y="2748745"/>
            <a:ext cx="2619948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부 정책연구의 기초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정책학의 연구대상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2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시장실패와 정부실패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3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정책유형과 정책수단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2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부 환경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제도와 행위자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환경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제도와 정책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2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정책과정의 행위자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3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권력관계의 고전모형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4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정책네트워크와 거버넌스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3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부 정책과정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정책과정과 정책의제설정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2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정책결정모형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3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정책집행론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4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정책평가와 정책변동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4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부 정책분석 ㆍ 평가방법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정책분석과 문제구조화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2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목표설정과 대안분석</a:t>
            </a:r>
          </a:p>
          <a:p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>
                <a:solidFill>
                  <a:srgbClr val="000000"/>
                </a:solidFill>
                <a:latin typeface="+mn-ea"/>
              </a:rPr>
              <a:t>3</a:t>
            </a:r>
            <a:r>
              <a:rPr lang="ko-KR" altLang="en-US" sz="1400" kern="0" spc="-60">
                <a:solidFill>
                  <a:srgbClr val="000000"/>
                </a:solidFill>
                <a:latin typeface="+mn-ea"/>
              </a:rPr>
              <a:t>장 정책평가연구의 방법</a:t>
            </a:r>
          </a:p>
        </p:txBody>
      </p:sp>
    </p:spTree>
    <p:extLst>
      <p:ext uri="{BB962C8B-B14F-4D97-AF65-F5344CB8AC3E}">
        <p14:creationId xmlns:p14="http://schemas.microsoft.com/office/powerpoint/2010/main" val="1228610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2644D-339B-C914-72D4-B1854E220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5E1C1AA-1915-C11D-451D-0C10294A93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914" y="1203649"/>
            <a:ext cx="4450702" cy="43014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D2571C-DEB5-B5F3-A192-00E50638052D}"/>
              </a:ext>
            </a:extLst>
          </p:cNvPr>
          <p:cNvSpPr txBox="1"/>
          <p:nvPr/>
        </p:nvSpPr>
        <p:spPr>
          <a:xfrm>
            <a:off x="4373960" y="2767280"/>
            <a:ext cx="314861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/>
              <a:t>3</a:t>
            </a:r>
            <a:r>
              <a:rPr lang="ko-KR" altLang="en-US" sz="3200" b="1" dirty="0"/>
              <a:t>강</a:t>
            </a:r>
            <a:r>
              <a:rPr lang="en-US" altLang="ko-KR" sz="3200" b="1" dirty="0"/>
              <a:t>.</a:t>
            </a:r>
          </a:p>
          <a:p>
            <a:pPr algn="ctr"/>
            <a:endParaRPr lang="en-US" altLang="ko-KR" sz="1600" b="1" dirty="0"/>
          </a:p>
          <a:p>
            <a:pPr algn="ctr"/>
            <a:r>
              <a:rPr lang="en-US" altLang="ko-KR" sz="3200" b="1" dirty="0"/>
              <a:t>EU AI Act (1/2)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644475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5571C-A942-9918-D39E-11B2E3C9B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1E7388-5C51-42C1-727A-A7A44C83C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296" y="144814"/>
            <a:ext cx="2311361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DC1F13-DCCC-F00A-5B72-35AF3985B590}"/>
              </a:ext>
            </a:extLst>
          </p:cNvPr>
          <p:cNvSpPr txBox="1"/>
          <p:nvPr/>
        </p:nvSpPr>
        <p:spPr>
          <a:xfrm>
            <a:off x="556764" y="314265"/>
            <a:ext cx="16706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/>
              <a:t>EU </a:t>
            </a:r>
            <a:r>
              <a:rPr lang="ko-KR" altLang="en-US" sz="3200" b="1"/>
              <a:t>조직</a:t>
            </a:r>
            <a:endParaRPr lang="ko-KR" altLang="en-US" sz="32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9B46A93-15F0-72DC-5691-F23B9F8309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072" y="229789"/>
            <a:ext cx="8057780" cy="54752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28896F-DA48-070D-0FD2-8D4E76FDC1FF}"/>
              </a:ext>
            </a:extLst>
          </p:cNvPr>
          <p:cNvSpPr txBox="1"/>
          <p:nvPr/>
        </p:nvSpPr>
        <p:spPr>
          <a:xfrm>
            <a:off x="556764" y="1068491"/>
            <a:ext cx="51844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EU</a:t>
            </a:r>
            <a:r>
              <a:rPr lang="ko-KR" altLang="en-US"/>
              <a:t>는 주요 </a:t>
            </a:r>
            <a:r>
              <a:rPr lang="en-US" altLang="ko-KR"/>
              <a:t>3</a:t>
            </a:r>
            <a:r>
              <a:rPr lang="ko-KR" altLang="en-US"/>
              <a:t>개 조직</a:t>
            </a:r>
            <a:r>
              <a:rPr lang="en-US" altLang="ko-KR"/>
              <a:t>(EC, EU </a:t>
            </a:r>
            <a:r>
              <a:rPr lang="ko-KR" altLang="en-US"/>
              <a:t>이사회</a:t>
            </a:r>
            <a:r>
              <a:rPr lang="en-US" altLang="ko-KR"/>
              <a:t>, </a:t>
            </a:r>
            <a:r>
              <a:rPr lang="ko-KR" altLang="en-US"/>
              <a:t>유럽의회</a:t>
            </a:r>
            <a:r>
              <a:rPr lang="en-US" altLang="ko-KR"/>
              <a:t>)</a:t>
            </a:r>
            <a:r>
              <a:rPr lang="ko-KR" altLang="en-US"/>
              <a:t>이 </a:t>
            </a:r>
            <a:endParaRPr lang="en-US" altLang="ko-KR"/>
          </a:p>
          <a:p>
            <a:r>
              <a:rPr lang="en-US" altLang="ko-KR"/>
              <a:t>3</a:t>
            </a:r>
            <a:r>
              <a:rPr lang="ko-KR" altLang="en-US"/>
              <a:t>자 협상을 진행하여 새로운 법안에 대한 </a:t>
            </a:r>
          </a:p>
          <a:p>
            <a:r>
              <a:rPr lang="ko-KR" altLang="en-US"/>
              <a:t>절충안을 마련하여 최종적으로 법률 제정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8F1950-D9B3-4037-A315-8DF63BCFC9F1}"/>
              </a:ext>
            </a:extLst>
          </p:cNvPr>
          <p:cNvSpPr txBox="1"/>
          <p:nvPr/>
        </p:nvSpPr>
        <p:spPr>
          <a:xfrm>
            <a:off x="72887" y="5759079"/>
            <a:ext cx="717279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0000FF"/>
                </a:solidFill>
              </a:rPr>
              <a:t>유럽 이사회</a:t>
            </a:r>
            <a:r>
              <a:rPr lang="en-US" altLang="ko-KR" sz="1400" dirty="0">
                <a:solidFill>
                  <a:srgbClr val="0000FF"/>
                </a:solidFill>
              </a:rPr>
              <a:t>(European Council) : EU </a:t>
            </a:r>
            <a:r>
              <a:rPr lang="ko-KR" altLang="en-US" sz="1400" dirty="0">
                <a:solidFill>
                  <a:srgbClr val="0000FF"/>
                </a:solidFill>
              </a:rPr>
              <a:t>회원국 정상</a:t>
            </a:r>
            <a:r>
              <a:rPr lang="en-US" altLang="ko-KR" sz="1400" dirty="0">
                <a:solidFill>
                  <a:srgbClr val="0000FF"/>
                </a:solidFill>
              </a:rPr>
              <a:t>(</a:t>
            </a:r>
            <a:r>
              <a:rPr lang="ko-KR" altLang="en-US" sz="1400" dirty="0">
                <a:solidFill>
                  <a:srgbClr val="0000FF"/>
                </a:solidFill>
              </a:rPr>
              <a:t>대통령</a:t>
            </a:r>
            <a:r>
              <a:rPr lang="en-US" altLang="ko-KR" sz="1400" dirty="0">
                <a:solidFill>
                  <a:srgbClr val="0000FF"/>
                </a:solidFill>
              </a:rPr>
              <a:t>·</a:t>
            </a:r>
            <a:r>
              <a:rPr lang="ko-KR" altLang="en-US" sz="1400" dirty="0">
                <a:solidFill>
                  <a:srgbClr val="0000FF"/>
                </a:solidFill>
              </a:rPr>
              <a:t>총리</a:t>
            </a:r>
            <a:r>
              <a:rPr lang="en-US" altLang="ko-KR" sz="1400" dirty="0">
                <a:solidFill>
                  <a:srgbClr val="0000FF"/>
                </a:solidFill>
              </a:rPr>
              <a:t>) + EU </a:t>
            </a:r>
            <a:r>
              <a:rPr lang="ko-KR" altLang="en-US" sz="1400" dirty="0">
                <a:solidFill>
                  <a:srgbClr val="0000FF"/>
                </a:solidFill>
              </a:rPr>
              <a:t>집행위원회 위원장</a:t>
            </a:r>
          </a:p>
          <a:p>
            <a:r>
              <a:rPr lang="ko-KR" altLang="en-US" sz="1400" dirty="0">
                <a:solidFill>
                  <a:srgbClr val="0000FF"/>
                </a:solidFill>
              </a:rPr>
              <a:t>유럽 의회</a:t>
            </a:r>
            <a:r>
              <a:rPr lang="en-US" altLang="ko-KR" sz="1400" dirty="0">
                <a:solidFill>
                  <a:srgbClr val="0000FF"/>
                </a:solidFill>
              </a:rPr>
              <a:t>(European Parliament) : EU</a:t>
            </a:r>
            <a:r>
              <a:rPr lang="ko-KR" altLang="en-US" sz="1400" dirty="0">
                <a:solidFill>
                  <a:srgbClr val="0000FF"/>
                </a:solidFill>
              </a:rPr>
              <a:t>시민들이 직접선출</a:t>
            </a:r>
          </a:p>
          <a:p>
            <a:r>
              <a:rPr lang="en-US" altLang="ko-KR" sz="1400" dirty="0">
                <a:solidFill>
                  <a:srgbClr val="0000FF"/>
                </a:solidFill>
              </a:rPr>
              <a:t>EU </a:t>
            </a:r>
            <a:r>
              <a:rPr lang="ko-KR" altLang="en-US" sz="1400" dirty="0">
                <a:solidFill>
                  <a:srgbClr val="0000FF"/>
                </a:solidFill>
              </a:rPr>
              <a:t>이사회</a:t>
            </a:r>
            <a:r>
              <a:rPr lang="en-US" altLang="ko-KR" sz="1400" dirty="0">
                <a:solidFill>
                  <a:srgbClr val="0000FF"/>
                </a:solidFill>
              </a:rPr>
              <a:t>(Council of the European Union) : </a:t>
            </a:r>
            <a:r>
              <a:rPr lang="ko-KR" altLang="en-US" sz="1400" dirty="0">
                <a:solidFill>
                  <a:srgbClr val="0000FF"/>
                </a:solidFill>
              </a:rPr>
              <a:t>회원국 각 정부의 장관들</a:t>
            </a:r>
            <a:r>
              <a:rPr lang="en-US" altLang="ko-KR" sz="1400" dirty="0">
                <a:solidFill>
                  <a:srgbClr val="0000FF"/>
                </a:solidFill>
              </a:rPr>
              <a:t>(</a:t>
            </a:r>
            <a:r>
              <a:rPr lang="ko-KR" altLang="en-US" sz="1400" dirty="0">
                <a:solidFill>
                  <a:srgbClr val="0000FF"/>
                </a:solidFill>
              </a:rPr>
              <a:t>각료</a:t>
            </a:r>
            <a:r>
              <a:rPr lang="en-US" altLang="ko-KR" sz="1400" dirty="0">
                <a:solidFill>
                  <a:srgbClr val="0000FF"/>
                </a:solidFill>
              </a:rPr>
              <a:t>)</a:t>
            </a:r>
          </a:p>
          <a:p>
            <a:r>
              <a:rPr lang="en-US" altLang="ko-KR" sz="1400" dirty="0">
                <a:solidFill>
                  <a:srgbClr val="0000FF"/>
                </a:solidFill>
              </a:rPr>
              <a:t>EU </a:t>
            </a:r>
            <a:r>
              <a:rPr lang="ko-KR" altLang="en-US" sz="1400" dirty="0">
                <a:solidFill>
                  <a:srgbClr val="0000FF"/>
                </a:solidFill>
              </a:rPr>
              <a:t>집행위원회</a:t>
            </a:r>
            <a:r>
              <a:rPr lang="en-US" altLang="ko-KR" sz="1400" dirty="0">
                <a:solidFill>
                  <a:srgbClr val="0000FF"/>
                </a:solidFill>
              </a:rPr>
              <a:t>(European Commission) : </a:t>
            </a:r>
            <a:r>
              <a:rPr lang="ko-KR" altLang="en-US" sz="1400" dirty="0">
                <a:solidFill>
                  <a:srgbClr val="0000FF"/>
                </a:solidFill>
              </a:rPr>
              <a:t>각 회원국 한 명씩 추천한 집행기관</a:t>
            </a:r>
          </a:p>
        </p:txBody>
      </p:sp>
    </p:spTree>
    <p:extLst>
      <p:ext uri="{BB962C8B-B14F-4D97-AF65-F5344CB8AC3E}">
        <p14:creationId xmlns:p14="http://schemas.microsoft.com/office/powerpoint/2010/main" val="672447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08413-F8D8-57DA-756A-A9FBBD2E3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40F95A-0B36-6BB6-DC0B-3E0811E71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296" y="144814"/>
            <a:ext cx="2311361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C7BA2E-F3AA-8FEA-ADFB-0FFEE174D3D1}"/>
              </a:ext>
            </a:extLst>
          </p:cNvPr>
          <p:cNvSpPr txBox="1"/>
          <p:nvPr/>
        </p:nvSpPr>
        <p:spPr>
          <a:xfrm>
            <a:off x="556764" y="314265"/>
            <a:ext cx="16706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/>
              <a:t>EU </a:t>
            </a:r>
            <a:r>
              <a:rPr lang="ko-KR" altLang="en-US" sz="3200" b="1"/>
              <a:t>조직</a:t>
            </a:r>
            <a:endParaRPr lang="ko-KR" altLang="en-US" sz="3200" b="1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6DC15F0-DF5E-A337-19E7-572251F6EC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387" y="1068492"/>
            <a:ext cx="9879527" cy="5386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F03FB3B-4A0F-D077-3BA1-6282FE21022D}"/>
              </a:ext>
            </a:extLst>
          </p:cNvPr>
          <p:cNvSpPr txBox="1"/>
          <p:nvPr/>
        </p:nvSpPr>
        <p:spPr>
          <a:xfrm>
            <a:off x="9206305" y="6455230"/>
            <a:ext cx="17556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/>
              <a:t>&lt;</a:t>
            </a:r>
            <a:r>
              <a:rPr lang="ko-KR" altLang="en-US" sz="1000"/>
              <a:t>출처</a:t>
            </a:r>
            <a:r>
              <a:rPr lang="en-US" altLang="ko-KR" sz="1000"/>
              <a:t>&gt; Novelli et al., 2024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3873676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162D-A79E-E8BA-4895-166EF2C3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8C1349-8AF9-4DA0-958A-74FAE389A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296" y="144814"/>
            <a:ext cx="2311361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670A96-1BC7-4A28-A07E-C664DA439FD8}"/>
              </a:ext>
            </a:extLst>
          </p:cNvPr>
          <p:cNvSpPr txBox="1"/>
          <p:nvPr/>
        </p:nvSpPr>
        <p:spPr>
          <a:xfrm>
            <a:off x="556764" y="31426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/>
              <a:t>추진경과</a:t>
            </a:r>
            <a:endParaRPr lang="ko-KR" altLang="en-US" sz="32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4E8BA59-FB79-00BD-D8D0-EB46F9A08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925" y="1174046"/>
            <a:ext cx="10786150" cy="5369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230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639A8-B7C4-AEC4-BC24-A4D54910C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659AB5-AFD2-F1B7-15A9-8834FEFF3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296" y="144814"/>
            <a:ext cx="2311361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E062AD-FFBA-324A-0D08-EC1CEC79D19A}"/>
              </a:ext>
            </a:extLst>
          </p:cNvPr>
          <p:cNvSpPr txBox="1"/>
          <p:nvPr/>
        </p:nvSpPr>
        <p:spPr>
          <a:xfrm>
            <a:off x="556764" y="31426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법률체계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5F490EB-6CF0-9996-293C-D7D310A944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581" y="144814"/>
            <a:ext cx="8244655" cy="66189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0B8D02-5555-89D7-5241-A546D05A6C1B}"/>
              </a:ext>
            </a:extLst>
          </p:cNvPr>
          <p:cNvSpPr txBox="1"/>
          <p:nvPr/>
        </p:nvSpPr>
        <p:spPr>
          <a:xfrm>
            <a:off x="160543" y="1053278"/>
            <a:ext cx="3140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113</a:t>
            </a:r>
            <a:r>
              <a:rPr lang="ko-KR" altLang="en-US" dirty="0"/>
              <a:t>개 규정과 </a:t>
            </a:r>
            <a:r>
              <a:rPr lang="en-US" altLang="ko-KR" dirty="0"/>
              <a:t>13</a:t>
            </a:r>
            <a:r>
              <a:rPr lang="ko-KR" altLang="en-US" dirty="0"/>
              <a:t>개의 부속서</a:t>
            </a:r>
          </a:p>
        </p:txBody>
      </p:sp>
    </p:spTree>
    <p:extLst>
      <p:ext uri="{BB962C8B-B14F-4D97-AF65-F5344CB8AC3E}">
        <p14:creationId xmlns:p14="http://schemas.microsoft.com/office/powerpoint/2010/main" val="2922836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FB8A6-B378-947A-105A-E33CB519A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0AF0BC-5913-0783-658E-DE6EF55B9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296" y="144814"/>
            <a:ext cx="6869733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0DA401-2AB3-5A15-655E-8A4AE57351B9}"/>
              </a:ext>
            </a:extLst>
          </p:cNvPr>
          <p:cNvSpPr txBox="1"/>
          <p:nvPr/>
        </p:nvSpPr>
        <p:spPr>
          <a:xfrm>
            <a:off x="556764" y="314265"/>
            <a:ext cx="61013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/>
              <a:t>위험 등급별 순차적 </a:t>
            </a:r>
            <a:r>
              <a:rPr lang="en-US" altLang="ko-KR" sz="3200" b="1"/>
              <a:t>AI</a:t>
            </a:r>
            <a:r>
              <a:rPr lang="ko-KR" altLang="en-US" sz="3200" b="1"/>
              <a:t>법의 발효</a:t>
            </a:r>
            <a:endParaRPr lang="ko-KR" altLang="en-US" sz="32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FAD091C-71AC-E3FE-551B-3D5D68968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85" y="1202149"/>
            <a:ext cx="10722429" cy="534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617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0A66D14-7729-CA48-6359-AD15123F0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915" y="201596"/>
            <a:ext cx="9198427" cy="407064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D4AD268-2C67-F874-AFE9-09D545C81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687" y="4261359"/>
            <a:ext cx="9198427" cy="2498669"/>
          </a:xfrm>
          <a:prstGeom prst="rect">
            <a:avLst/>
          </a:prstGeom>
        </p:spPr>
      </p:pic>
      <p:pic>
        <p:nvPicPr>
          <p:cNvPr id="8" name="그림 7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ABCBB8-AAD7-235F-02CF-0F22D7201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39" y="0"/>
            <a:ext cx="2744047" cy="9236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0352112-9582-1348-7B2B-1CF416A9B05F}"/>
              </a:ext>
            </a:extLst>
          </p:cNvPr>
          <p:cNvSpPr txBox="1"/>
          <p:nvPr/>
        </p:nvSpPr>
        <p:spPr>
          <a:xfrm>
            <a:off x="371707" y="169451"/>
            <a:ext cx="2380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/>
              <a:t>조항별 시행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03499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162D-A79E-E8BA-4895-166EF2C3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BC6EB1-AEA3-4BC3-8991-F658F9228FB1}"/>
              </a:ext>
            </a:extLst>
          </p:cNvPr>
          <p:cNvSpPr txBox="1"/>
          <p:nvPr/>
        </p:nvSpPr>
        <p:spPr>
          <a:xfrm>
            <a:off x="1940792" y="2008488"/>
            <a:ext cx="8085868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(</a:t>
            </a:r>
            <a:r>
              <a:rPr lang="ko-KR" altLang="en-US" sz="2000" b="1" dirty="0"/>
              <a:t>위험 기반 접근법</a:t>
            </a:r>
            <a:r>
              <a:rPr lang="en-US" altLang="ko-KR" sz="2000" b="1" dirty="0"/>
              <a:t>)</a:t>
            </a:r>
            <a:r>
              <a:rPr lang="en-US" altLang="ko-KR" sz="2000" dirty="0"/>
              <a:t> AI </a:t>
            </a:r>
            <a:r>
              <a:rPr lang="ko-KR" altLang="en-US" sz="2000" dirty="0"/>
              <a:t>시스템을 위험 수준에 따라 분류하고</a:t>
            </a:r>
            <a:r>
              <a:rPr lang="en-US" altLang="ko-KR" sz="2000" dirty="0"/>
              <a:t>, </a:t>
            </a:r>
          </a:p>
          <a:p>
            <a:r>
              <a:rPr lang="en-US" altLang="ko-KR" sz="2000" dirty="0"/>
              <a:t>                         </a:t>
            </a:r>
            <a:r>
              <a:rPr lang="ko-KR" altLang="en-US" sz="2000" dirty="0"/>
              <a:t>고위험 </a:t>
            </a:r>
            <a:r>
              <a:rPr lang="en-US" altLang="ko-KR" sz="2000" dirty="0"/>
              <a:t>AI </a:t>
            </a:r>
            <a:r>
              <a:rPr lang="ko-KR" altLang="en-US" sz="2000" dirty="0"/>
              <a:t>시스템에 대해 엄격한 규제를 적용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/>
              <a:t>                       </a:t>
            </a:r>
            <a:r>
              <a:rPr lang="ko-KR" altLang="en-US" sz="2000" dirty="0"/>
              <a:t>① 허용불가 위험 </a:t>
            </a:r>
            <a:r>
              <a:rPr lang="en-US" altLang="ko-KR" sz="2000" dirty="0"/>
              <a:t>(Unacceptable Risk) </a:t>
            </a:r>
          </a:p>
          <a:p>
            <a:r>
              <a:rPr lang="en-US" altLang="ko-KR" sz="2000" dirty="0"/>
              <a:t>                       ② </a:t>
            </a:r>
            <a:r>
              <a:rPr lang="ko-KR" altLang="en-US" sz="2000" dirty="0"/>
              <a:t>고위험 </a:t>
            </a:r>
            <a:r>
              <a:rPr lang="en-US" altLang="ko-KR" sz="2000" dirty="0"/>
              <a:t>(High-Risk)</a:t>
            </a:r>
          </a:p>
          <a:p>
            <a:r>
              <a:rPr lang="en-US" altLang="ko-KR" sz="2000" dirty="0"/>
              <a:t>                       ③ </a:t>
            </a:r>
            <a:r>
              <a:rPr lang="ko-KR" altLang="en-US" sz="2000" dirty="0"/>
              <a:t>제한적 위험 </a:t>
            </a:r>
            <a:r>
              <a:rPr lang="en-US" altLang="ko-KR" sz="2000" dirty="0"/>
              <a:t>(Limited Risk) </a:t>
            </a:r>
          </a:p>
          <a:p>
            <a:r>
              <a:rPr lang="en-US" altLang="ko-KR" sz="2000" dirty="0"/>
              <a:t>                       ④ </a:t>
            </a:r>
            <a:r>
              <a:rPr lang="ko-KR" altLang="en-US" sz="2000" dirty="0"/>
              <a:t>최소 위험 </a:t>
            </a:r>
            <a:r>
              <a:rPr lang="en-US" altLang="ko-KR" sz="2000" dirty="0"/>
              <a:t>(Minimal Risk)</a:t>
            </a:r>
          </a:p>
          <a:p>
            <a:endParaRPr lang="ko-KR" altLang="en-US" sz="2000" dirty="0"/>
          </a:p>
          <a:p>
            <a:r>
              <a:rPr lang="en-US" altLang="ko-KR" sz="2000" b="1" dirty="0"/>
              <a:t>(</a:t>
            </a:r>
            <a:r>
              <a:rPr lang="ko-KR" altLang="en-US" sz="2000" b="1" dirty="0"/>
              <a:t>금지된 </a:t>
            </a:r>
            <a:r>
              <a:rPr lang="en-US" altLang="ko-KR" sz="2000" b="1" dirty="0"/>
              <a:t>AI </a:t>
            </a:r>
            <a:r>
              <a:rPr lang="ko-KR" altLang="en-US" sz="2000" b="1" dirty="0"/>
              <a:t>규정</a:t>
            </a:r>
            <a:r>
              <a:rPr lang="en-US" altLang="ko-KR" sz="2000" b="1" dirty="0"/>
              <a:t>)</a:t>
            </a:r>
            <a:r>
              <a:rPr lang="en-US" altLang="ko-KR" sz="2000" dirty="0"/>
              <a:t> </a:t>
            </a:r>
            <a:r>
              <a:rPr lang="ko-KR" altLang="en-US" sz="2000" dirty="0"/>
              <a:t>기본권을 침해하는 특정 </a:t>
            </a:r>
            <a:r>
              <a:rPr lang="en-US" altLang="ko-KR" sz="2000" dirty="0"/>
              <a:t>AI </a:t>
            </a:r>
            <a:r>
              <a:rPr lang="ko-KR" altLang="en-US" sz="2000" dirty="0"/>
              <a:t>사용을 명시적으로 금지</a:t>
            </a:r>
          </a:p>
          <a:p>
            <a:endParaRPr lang="en-US" altLang="ko-KR" sz="2000" dirty="0"/>
          </a:p>
          <a:p>
            <a:r>
              <a:rPr lang="en-US" altLang="ko-KR" sz="2000" b="1" dirty="0"/>
              <a:t>(</a:t>
            </a:r>
            <a:r>
              <a:rPr lang="ko-KR" altLang="en-US" sz="2000" b="1" dirty="0"/>
              <a:t>거버넌스 체계</a:t>
            </a:r>
            <a:r>
              <a:rPr lang="en-US" altLang="ko-KR" sz="2000" b="1" dirty="0"/>
              <a:t>) </a:t>
            </a:r>
            <a:r>
              <a:rPr lang="en-US" altLang="ko-KR" sz="2000" dirty="0"/>
              <a:t>AI </a:t>
            </a:r>
            <a:r>
              <a:rPr lang="ko-KR" altLang="en-US" sz="2000" dirty="0"/>
              <a:t>규제를 위한 </a:t>
            </a:r>
            <a:r>
              <a:rPr lang="en-US" altLang="ko-KR" sz="2000" dirty="0"/>
              <a:t>EU </a:t>
            </a:r>
            <a:r>
              <a:rPr lang="ko-KR" altLang="en-US" sz="2000" dirty="0"/>
              <a:t>차원의 거버넌스 구조를 수립</a:t>
            </a:r>
          </a:p>
        </p:txBody>
      </p:sp>
      <p:pic>
        <p:nvPicPr>
          <p:cNvPr id="6" name="그림 5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8C1349-8AF9-4DA0-958A-74FAE389A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675306"/>
            <a:ext cx="4328625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670A96-1BC7-4A28-A07E-C664DA439FD8}"/>
              </a:ext>
            </a:extLst>
          </p:cNvPr>
          <p:cNvSpPr txBox="1"/>
          <p:nvPr/>
        </p:nvSpPr>
        <p:spPr>
          <a:xfrm>
            <a:off x="773148" y="844757"/>
            <a:ext cx="3841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EU AI Act </a:t>
            </a:r>
            <a:r>
              <a:rPr lang="ko-KR" altLang="en-US" sz="3200" b="1" dirty="0"/>
              <a:t>주요내용</a:t>
            </a:r>
          </a:p>
        </p:txBody>
      </p:sp>
    </p:spTree>
    <p:extLst>
      <p:ext uri="{BB962C8B-B14F-4D97-AF65-F5344CB8AC3E}">
        <p14:creationId xmlns:p14="http://schemas.microsoft.com/office/powerpoint/2010/main" val="1289456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162D-A79E-E8BA-4895-166EF2C3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BC6EB1-AEA3-4BC3-8991-F658F9228FB1}"/>
              </a:ext>
            </a:extLst>
          </p:cNvPr>
          <p:cNvSpPr txBox="1"/>
          <p:nvPr/>
        </p:nvSpPr>
        <p:spPr>
          <a:xfrm>
            <a:off x="763163" y="1461310"/>
            <a:ext cx="1066567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위험성 기반의 규제</a:t>
            </a:r>
            <a:endParaRPr lang="en-US" altLang="ko-KR" sz="2000" b="1" dirty="0"/>
          </a:p>
          <a:p>
            <a:r>
              <a:rPr lang="ko-KR" altLang="en-US" sz="2000" dirty="0"/>
              <a:t>위험 개념의 통일성 도모</a:t>
            </a:r>
            <a:r>
              <a:rPr lang="en-US" altLang="ko-KR" sz="2000" dirty="0"/>
              <a:t>, </a:t>
            </a:r>
            <a:r>
              <a:rPr lang="ko-KR" altLang="en-US" sz="2000" dirty="0"/>
              <a:t>위험성의 강도와 범위에 비례하여 규제의 유형을 분류하여 규정</a:t>
            </a:r>
          </a:p>
          <a:p>
            <a:endParaRPr lang="en-US" altLang="ko-KR" sz="2000" b="1" dirty="0"/>
          </a:p>
          <a:p>
            <a:r>
              <a:rPr lang="en-US" altLang="ko-KR" sz="2000" b="1" dirty="0"/>
              <a:t>AI </a:t>
            </a:r>
            <a:r>
              <a:rPr lang="ko-KR" altLang="en-US" sz="2000" b="1" dirty="0"/>
              <a:t>규범의 포괄적 규범</a:t>
            </a:r>
            <a:endParaRPr lang="en-US" altLang="ko-KR" sz="2000" b="1" dirty="0"/>
          </a:p>
          <a:p>
            <a:r>
              <a:rPr lang="en-US" altLang="ko-KR" sz="2000" dirty="0"/>
              <a:t>27</a:t>
            </a:r>
            <a:r>
              <a:rPr lang="ko-KR" altLang="en-US" sz="2000" dirty="0"/>
              <a:t>개 회원국 시장에서의 </a:t>
            </a:r>
            <a:r>
              <a:rPr lang="en-US" altLang="ko-KR" sz="2000" dirty="0"/>
              <a:t>AI </a:t>
            </a:r>
            <a:r>
              <a:rPr lang="ko-KR" altLang="en-US" sz="2000" dirty="0"/>
              <a:t>관련 규정을 통일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b="1" dirty="0"/>
              <a:t>DSA, DMA, DGA</a:t>
            </a:r>
            <a:r>
              <a:rPr lang="ko-KR" altLang="en-US" sz="2000" b="1" dirty="0"/>
              <a:t>와 상호보완적 역할</a:t>
            </a:r>
          </a:p>
          <a:p>
            <a:r>
              <a:rPr lang="ko-KR" altLang="en-US" sz="2000" dirty="0"/>
              <a:t>디지털 서비스법</a:t>
            </a:r>
            <a:r>
              <a:rPr lang="en-US" altLang="ko-KR" sz="2000" dirty="0"/>
              <a:t>(DSA) : </a:t>
            </a:r>
            <a:r>
              <a:rPr lang="ko-KR" altLang="en-US" sz="2000" dirty="0"/>
              <a:t>온라인 플랫폼의 투명성과 책임을 강화하여 사용자 보호</a:t>
            </a:r>
            <a:endParaRPr lang="en-US" altLang="ko-KR" sz="2000" dirty="0"/>
          </a:p>
          <a:p>
            <a:r>
              <a:rPr lang="en-US" altLang="ko-KR" sz="2000" dirty="0"/>
              <a:t>                               </a:t>
            </a:r>
            <a:r>
              <a:rPr lang="ko-KR" altLang="en-US" sz="2000" dirty="0"/>
              <a:t>콘텐츠 관리</a:t>
            </a:r>
            <a:r>
              <a:rPr lang="en-US" altLang="ko-KR" sz="2000" dirty="0"/>
              <a:t>, </a:t>
            </a:r>
            <a:r>
              <a:rPr lang="ko-KR" altLang="en-US" sz="2000" dirty="0"/>
              <a:t>광고의 투명성</a:t>
            </a:r>
            <a:r>
              <a:rPr lang="en-US" altLang="ko-KR" sz="2000" dirty="0"/>
              <a:t>, </a:t>
            </a:r>
            <a:r>
              <a:rPr lang="ko-KR" altLang="en-US" sz="2000" dirty="0"/>
              <a:t>사용자 권리 강화 등</a:t>
            </a:r>
          </a:p>
          <a:p>
            <a:r>
              <a:rPr lang="ko-KR" altLang="en-US" sz="2000" dirty="0"/>
              <a:t>디지털 시장법</a:t>
            </a:r>
            <a:r>
              <a:rPr lang="en-US" altLang="ko-KR" sz="2000" dirty="0"/>
              <a:t>(DMA) : </a:t>
            </a:r>
            <a:r>
              <a:rPr lang="ko-KR" altLang="en-US" sz="2000" dirty="0"/>
              <a:t>대형 기술 회사의 시장 지배력을 제한하고 공정한 경쟁 촉진</a:t>
            </a:r>
            <a:endParaRPr lang="en-US" altLang="ko-KR" sz="2000" dirty="0"/>
          </a:p>
          <a:p>
            <a:r>
              <a:rPr lang="en-US" altLang="ko-KR" sz="2000" dirty="0"/>
              <a:t>                             </a:t>
            </a:r>
            <a:r>
              <a:rPr lang="ko-KR" altLang="en-US" sz="2000" dirty="0"/>
              <a:t>시장 지배적인 플랫폼에 대한 규제 강화</a:t>
            </a:r>
            <a:r>
              <a:rPr lang="en-US" altLang="ko-KR" sz="2000" dirty="0"/>
              <a:t>, </a:t>
            </a:r>
            <a:r>
              <a:rPr lang="ko-KR" altLang="en-US" sz="2000" dirty="0"/>
              <a:t>경쟁 촉진 정책 실행 등</a:t>
            </a:r>
          </a:p>
          <a:p>
            <a:r>
              <a:rPr lang="ko-KR" altLang="en-US" sz="2000" dirty="0"/>
              <a:t>디지털 </a:t>
            </a:r>
            <a:r>
              <a:rPr lang="ko-KR" altLang="en-US" sz="2000" dirty="0" err="1"/>
              <a:t>거버넌스법</a:t>
            </a:r>
            <a:r>
              <a:rPr lang="en-US" altLang="ko-KR" sz="2000" dirty="0"/>
              <a:t>(DGA) : </a:t>
            </a:r>
            <a:r>
              <a:rPr lang="ko-KR" altLang="en-US" sz="2000" dirty="0"/>
              <a:t>데이터 접근성</a:t>
            </a:r>
            <a:r>
              <a:rPr lang="en-US" altLang="ko-KR" sz="2000" dirty="0"/>
              <a:t>/</a:t>
            </a:r>
            <a:r>
              <a:rPr lang="ko-KR" altLang="en-US" sz="2000" dirty="0"/>
              <a:t>공유 개선하여 데이터 주도형 혁신을 지원</a:t>
            </a:r>
            <a:endParaRPr lang="en-US" altLang="ko-KR" sz="2000" dirty="0"/>
          </a:p>
          <a:p>
            <a:r>
              <a:rPr lang="ko-KR" altLang="en-US" sz="2000" dirty="0"/>
              <a:t>                                  데이터 접근 및 재사용을 위한 거버넌스 구조 확립</a:t>
            </a:r>
            <a:r>
              <a:rPr lang="en-US" altLang="ko-KR" sz="2000" dirty="0"/>
              <a:t>, </a:t>
            </a:r>
          </a:p>
          <a:p>
            <a:r>
              <a:rPr lang="en-US" altLang="ko-KR" sz="2000" dirty="0"/>
              <a:t>                                  </a:t>
            </a:r>
            <a:r>
              <a:rPr lang="ko-KR" altLang="en-US" sz="2000" dirty="0"/>
              <a:t>데이터 보안과 개인정보 보호 강화 등</a:t>
            </a:r>
          </a:p>
        </p:txBody>
      </p:sp>
      <p:pic>
        <p:nvPicPr>
          <p:cNvPr id="6" name="그림 5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8C1349-8AF9-4DA0-958A-74FAE389A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18" y="319318"/>
            <a:ext cx="3665511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670A96-1BC7-4A28-A07E-C664DA439FD8}"/>
              </a:ext>
            </a:extLst>
          </p:cNvPr>
          <p:cNvSpPr txBox="1"/>
          <p:nvPr/>
        </p:nvSpPr>
        <p:spPr>
          <a:xfrm>
            <a:off x="689386" y="488769"/>
            <a:ext cx="30203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EU AI Act </a:t>
            </a:r>
            <a:r>
              <a:rPr lang="ko-KR" altLang="en-US" sz="3200" b="1" dirty="0"/>
              <a:t>특징</a:t>
            </a:r>
          </a:p>
        </p:txBody>
      </p:sp>
    </p:spTree>
    <p:extLst>
      <p:ext uri="{BB962C8B-B14F-4D97-AF65-F5344CB8AC3E}">
        <p14:creationId xmlns:p14="http://schemas.microsoft.com/office/powerpoint/2010/main" val="203074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162D-A79E-E8BA-4895-166EF2C3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1572974-C4BE-4140-B05E-5874E5207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98" y="573437"/>
            <a:ext cx="11093112" cy="57957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BC6EB1-AEA3-4BC3-8991-F658F9228FB1}"/>
              </a:ext>
            </a:extLst>
          </p:cNvPr>
          <p:cNvSpPr txBox="1"/>
          <p:nvPr/>
        </p:nvSpPr>
        <p:spPr>
          <a:xfrm>
            <a:off x="6647432" y="6382318"/>
            <a:ext cx="51350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/>
              <a:t>&lt;</a:t>
            </a:r>
            <a:r>
              <a:rPr lang="ko-KR" altLang="en-US" sz="1000" dirty="0"/>
              <a:t>출처</a:t>
            </a:r>
            <a:r>
              <a:rPr lang="en-US" altLang="ko-KR" sz="1000" dirty="0"/>
              <a:t>&gt; Díaz-Rodríguez et al., 2023</a:t>
            </a:r>
            <a:endParaRPr lang="ko-KR" altLang="en-US" sz="1000" dirty="0"/>
          </a:p>
        </p:txBody>
      </p:sp>
      <p:pic>
        <p:nvPicPr>
          <p:cNvPr id="6" name="그림 5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8C1349-8AF9-4DA0-958A-74FAE389A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919" y="319318"/>
            <a:ext cx="3344424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670A96-1BC7-4A28-A07E-C664DA439FD8}"/>
              </a:ext>
            </a:extLst>
          </p:cNvPr>
          <p:cNvSpPr txBox="1"/>
          <p:nvPr/>
        </p:nvSpPr>
        <p:spPr>
          <a:xfrm>
            <a:off x="689386" y="488769"/>
            <a:ext cx="27911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위험기반 구분</a:t>
            </a:r>
          </a:p>
        </p:txBody>
      </p:sp>
    </p:spTree>
    <p:extLst>
      <p:ext uri="{BB962C8B-B14F-4D97-AF65-F5344CB8AC3E}">
        <p14:creationId xmlns:p14="http://schemas.microsoft.com/office/powerpoint/2010/main" val="1290762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162D-A79E-E8BA-4895-166EF2C3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BC6EB1-AEA3-4BC3-8991-F658F9228FB1}"/>
              </a:ext>
            </a:extLst>
          </p:cNvPr>
          <p:cNvSpPr txBox="1"/>
          <p:nvPr/>
        </p:nvSpPr>
        <p:spPr>
          <a:xfrm>
            <a:off x="299139" y="1399749"/>
            <a:ext cx="11593721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인간 존엄성을 침해하거나 사회적 차별을 유발하는 </a:t>
            </a:r>
            <a:r>
              <a:rPr lang="en-US" altLang="ko-KR" dirty="0"/>
              <a:t>AI </a:t>
            </a:r>
            <a:r>
              <a:rPr lang="ko-KR" altLang="en-US" dirty="0"/>
              <a:t>시스템은 인간의 건강</a:t>
            </a:r>
            <a:r>
              <a:rPr lang="en-US" altLang="ko-KR" dirty="0"/>
              <a:t>, </a:t>
            </a:r>
            <a:r>
              <a:rPr lang="ko-KR" altLang="en-US" dirty="0"/>
              <a:t>안전</a:t>
            </a:r>
            <a:r>
              <a:rPr lang="en-US" altLang="ko-KR" dirty="0"/>
              <a:t>, </a:t>
            </a:r>
            <a:r>
              <a:rPr lang="ko-KR" altLang="en-US" dirty="0"/>
              <a:t>기본권 등에 중대한 위험을 초래할 수 있어 명문으로 규정된 특별한 예외가 없는 한 절대적으로 금지</a:t>
            </a:r>
          </a:p>
          <a:p>
            <a:endParaRPr lang="en-US" altLang="ko-KR" dirty="0"/>
          </a:p>
          <a:p>
            <a:r>
              <a:rPr lang="ko-KR" altLang="en-US" sz="1600" dirty="0"/>
              <a:t>① </a:t>
            </a:r>
            <a:r>
              <a:rPr lang="en-US" altLang="ko-KR" sz="1600" dirty="0"/>
              <a:t>AI </a:t>
            </a:r>
            <a:r>
              <a:rPr lang="ko-KR" altLang="en-US" sz="1600" dirty="0"/>
              <a:t>시스템이 인간의 잠재의식을 이용하거나 의도적으로 조작을 이용하여 사람이 정보에 기반한 의사결정을 내릴 능력을 </a:t>
            </a:r>
            <a:endParaRPr lang="en-US" altLang="ko-KR" sz="1600" dirty="0"/>
          </a:p>
          <a:p>
            <a:r>
              <a:rPr lang="en-US" altLang="ko-KR" sz="1600" dirty="0"/>
              <a:t>    </a:t>
            </a:r>
            <a:r>
              <a:rPr lang="ko-KR" altLang="en-US" sz="1600" dirty="0"/>
              <a:t>현저하게 저해하여 심각한 피해를 초래하거나 초래할 가능성이 있는 의사결정을 내리는데 사용되는 경우</a:t>
            </a:r>
            <a:r>
              <a:rPr lang="en-US" altLang="ko-KR" sz="1600" dirty="0"/>
              <a:t> </a:t>
            </a:r>
          </a:p>
          <a:p>
            <a:r>
              <a:rPr lang="en-US" altLang="ko-KR" sz="1600" dirty="0"/>
              <a:t>② AI </a:t>
            </a:r>
            <a:r>
              <a:rPr lang="ko-KR" altLang="en-US" sz="1600" dirty="0"/>
              <a:t>시스템이 사람 혹은 특정 집단의 취약성</a:t>
            </a:r>
            <a:r>
              <a:rPr lang="en-US" altLang="ko-KR" sz="1600" dirty="0"/>
              <a:t>(</a:t>
            </a:r>
            <a:r>
              <a:rPr lang="ko-KR" altLang="en-US" sz="1600" dirty="0"/>
              <a:t>연령</a:t>
            </a:r>
            <a:r>
              <a:rPr lang="en-US" altLang="ko-KR" sz="1600" dirty="0"/>
              <a:t>, </a:t>
            </a:r>
            <a:r>
              <a:rPr lang="ko-KR" altLang="en-US" sz="1600" dirty="0"/>
              <a:t>장애</a:t>
            </a:r>
            <a:r>
              <a:rPr lang="en-US" altLang="ko-KR" sz="1600" dirty="0"/>
              <a:t>, </a:t>
            </a:r>
            <a:r>
              <a:rPr lang="ko-KR" altLang="en-US" sz="1600" dirty="0"/>
              <a:t>사회적 또는 경제적 상황 등</a:t>
            </a:r>
            <a:r>
              <a:rPr lang="en-US" altLang="ko-KR" sz="1600" dirty="0"/>
              <a:t>)</a:t>
            </a:r>
            <a:r>
              <a:rPr lang="ko-KR" altLang="en-US" sz="1600" dirty="0"/>
              <a:t>을 악용하여 </a:t>
            </a:r>
            <a:endParaRPr lang="en-US" altLang="ko-KR" sz="1600" dirty="0"/>
          </a:p>
          <a:p>
            <a:r>
              <a:rPr lang="en-US" altLang="ko-KR" sz="1600" dirty="0"/>
              <a:t>    </a:t>
            </a:r>
            <a:r>
              <a:rPr lang="ko-KR" altLang="en-US" sz="1600" dirty="0"/>
              <a:t>사람의 행동을 심각하게 왜곡하여 심각한 피해를 초래하거나 초래할 가능성이 있는 경우</a:t>
            </a:r>
            <a:r>
              <a:rPr lang="en-US" altLang="ko-KR" sz="1600" dirty="0"/>
              <a:t> </a:t>
            </a:r>
          </a:p>
          <a:p>
            <a:r>
              <a:rPr lang="en-US" altLang="ko-KR" sz="1600" dirty="0"/>
              <a:t>③ AI </a:t>
            </a:r>
            <a:r>
              <a:rPr lang="ko-KR" altLang="en-US" sz="1600" dirty="0"/>
              <a:t>시스템이 일정 기간 사회적 행동이나 알려진</a:t>
            </a:r>
            <a:r>
              <a:rPr lang="en-US" altLang="ko-KR" sz="1600" dirty="0"/>
              <a:t>, </a:t>
            </a:r>
            <a:r>
              <a:rPr lang="ko-KR" altLang="en-US" sz="1600" dirty="0"/>
              <a:t>추론된 또는 예측된 개인 또는 성격적 특성을 기반으로 </a:t>
            </a:r>
            <a:endParaRPr lang="en-US" altLang="ko-KR" sz="1600" dirty="0"/>
          </a:p>
          <a:p>
            <a:r>
              <a:rPr lang="en-US" altLang="ko-KR" sz="1600" dirty="0"/>
              <a:t>    </a:t>
            </a:r>
            <a:r>
              <a:rPr lang="ko-KR" altLang="en-US" sz="1600" dirty="0"/>
              <a:t>자연인 또는 집단을 평가하거나 분류하는 경우</a:t>
            </a:r>
            <a:r>
              <a:rPr lang="en-US" altLang="ko-KR" sz="1600" dirty="0"/>
              <a:t> </a:t>
            </a:r>
          </a:p>
          <a:p>
            <a:r>
              <a:rPr lang="en-US" altLang="ko-KR" sz="1600" dirty="0"/>
              <a:t>④ AI </a:t>
            </a:r>
            <a:r>
              <a:rPr lang="ko-KR" altLang="en-US" sz="1600" dirty="0"/>
              <a:t>시스템이 인터넷이나 </a:t>
            </a:r>
            <a:r>
              <a:rPr lang="en-US" altLang="ko-KR" sz="1600" dirty="0"/>
              <a:t>CCTV </a:t>
            </a:r>
            <a:r>
              <a:rPr lang="ko-KR" altLang="en-US" sz="1600" dirty="0"/>
              <a:t>영상에서 얼굴 이미지를 비대상으로 스크랩하여 </a:t>
            </a:r>
            <a:endParaRPr lang="en-US" altLang="ko-KR" sz="1600" dirty="0"/>
          </a:p>
          <a:p>
            <a:r>
              <a:rPr lang="en-US" altLang="ko-KR" sz="1600" dirty="0"/>
              <a:t>   </a:t>
            </a:r>
            <a:r>
              <a:rPr lang="ko-KR" altLang="en-US" sz="1600" dirty="0"/>
              <a:t>얼굴 인식 데이터베이스를 생성하거나 확장하기 위해 사용되는 경우</a:t>
            </a:r>
            <a:endParaRPr lang="en-US" altLang="ko-KR" sz="1600" dirty="0"/>
          </a:p>
          <a:p>
            <a:r>
              <a:rPr lang="en-US" altLang="ko-KR" sz="1600" dirty="0"/>
              <a:t>⑤ </a:t>
            </a:r>
            <a:r>
              <a:rPr lang="ko-KR" altLang="en-US" sz="1600" dirty="0"/>
              <a:t>생체인식 데이터를 기반으로 개별 자연인을 분류하여 인종</a:t>
            </a:r>
            <a:r>
              <a:rPr lang="en-US" altLang="ko-KR" sz="1600" dirty="0"/>
              <a:t>, </a:t>
            </a:r>
            <a:r>
              <a:rPr lang="ko-KR" altLang="en-US" sz="1600" dirty="0"/>
              <a:t>정치적 의견</a:t>
            </a:r>
            <a:r>
              <a:rPr lang="en-US" altLang="ko-KR" sz="1600" dirty="0"/>
              <a:t>, </a:t>
            </a:r>
            <a:r>
              <a:rPr lang="ko-KR" altLang="en-US" sz="1600" dirty="0"/>
              <a:t>노조 가입</a:t>
            </a:r>
            <a:r>
              <a:rPr lang="en-US" altLang="ko-KR" sz="1600" dirty="0"/>
              <a:t>, </a:t>
            </a:r>
          </a:p>
          <a:p>
            <a:r>
              <a:rPr lang="en-US" altLang="ko-KR" sz="1600" dirty="0"/>
              <a:t>    </a:t>
            </a:r>
            <a:r>
              <a:rPr lang="ko-KR" altLang="en-US" sz="1600" dirty="0"/>
              <a:t>종교 또는 철학적 신념</a:t>
            </a:r>
            <a:r>
              <a:rPr lang="en-US" altLang="ko-KR" sz="1600" dirty="0"/>
              <a:t>, </a:t>
            </a:r>
            <a:r>
              <a:rPr lang="ko-KR" altLang="en-US" sz="1600" dirty="0"/>
              <a:t>성생활 또는 성적 지향을 추론하거나 유추하는 경우</a:t>
            </a:r>
            <a:endParaRPr lang="en-US" altLang="ko-KR" sz="1600" dirty="0"/>
          </a:p>
          <a:p>
            <a:r>
              <a:rPr lang="en-US" altLang="ko-KR" sz="1600" dirty="0"/>
              <a:t>⑥ </a:t>
            </a:r>
            <a:r>
              <a:rPr lang="ko-KR" altLang="en-US" sz="1600" dirty="0"/>
              <a:t>직장과 교육기관에서 자연인의 감정을 추론하기 위해 </a:t>
            </a:r>
            <a:r>
              <a:rPr lang="en-US" altLang="ko-KR" sz="1600" dirty="0"/>
              <a:t>AI </a:t>
            </a:r>
            <a:r>
              <a:rPr lang="ko-KR" altLang="en-US" sz="1600" dirty="0"/>
              <a:t>시스템을 사용하는 경우</a:t>
            </a:r>
            <a:endParaRPr lang="en-US" altLang="ko-KR" sz="1600" dirty="0"/>
          </a:p>
          <a:p>
            <a:r>
              <a:rPr lang="ko-KR" altLang="en-US" sz="1600" dirty="0"/>
              <a:t>⑦ 법 집행 목적을 위해 공개적으로 접근 가능한 공간에서 </a:t>
            </a:r>
            <a:r>
              <a:rPr lang="en-US" altLang="ko-KR" sz="1600" dirty="0"/>
              <a:t>'</a:t>
            </a:r>
            <a:r>
              <a:rPr lang="ko-KR" altLang="en-US" sz="1600" dirty="0"/>
              <a:t>실시간</a:t>
            </a:r>
            <a:r>
              <a:rPr lang="en-US" altLang="ko-KR" sz="1600" dirty="0"/>
              <a:t>' </a:t>
            </a:r>
            <a:r>
              <a:rPr lang="ko-KR" altLang="en-US" sz="1600" dirty="0"/>
              <a:t>원격 생체인식 식별 시스템을 사용하는 경우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dirty="0"/>
              <a:t>수용불가 </a:t>
            </a:r>
            <a:r>
              <a:rPr lang="en-US" altLang="ko-KR" dirty="0"/>
              <a:t>AI </a:t>
            </a:r>
            <a:r>
              <a:rPr lang="ko-KR" altLang="en-US" dirty="0"/>
              <a:t>시스템 관련 규정을 위반한 경우 </a:t>
            </a:r>
            <a:endParaRPr lang="en-US" altLang="ko-KR" dirty="0"/>
          </a:p>
          <a:p>
            <a:r>
              <a:rPr lang="ko-KR" altLang="en-US" dirty="0"/>
              <a:t>최대 </a:t>
            </a:r>
            <a:r>
              <a:rPr lang="en-US" altLang="ko-KR" dirty="0"/>
              <a:t>3,500</a:t>
            </a:r>
            <a:r>
              <a:rPr lang="ko-KR" altLang="en-US" dirty="0"/>
              <a:t>만 유로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518</a:t>
            </a:r>
            <a:r>
              <a:rPr lang="ko-KR" altLang="en-US" dirty="0"/>
              <a:t>억 원</a:t>
            </a:r>
            <a:r>
              <a:rPr lang="en-US" altLang="ko-KR" dirty="0"/>
              <a:t>)</a:t>
            </a:r>
            <a:r>
              <a:rPr lang="ko-KR" altLang="en-US" dirty="0"/>
              <a:t>와 </a:t>
            </a:r>
            <a:r>
              <a:rPr lang="ko-KR" altLang="en-US" dirty="0" err="1"/>
              <a:t>직전년</a:t>
            </a:r>
            <a:r>
              <a:rPr lang="ko-KR" altLang="en-US" dirty="0"/>
              <a:t> 회계연도 기준 전 글로벌 연 매출액의 최대 </a:t>
            </a:r>
            <a:r>
              <a:rPr lang="en-US" altLang="ko-KR" dirty="0"/>
              <a:t>7% </a:t>
            </a:r>
            <a:r>
              <a:rPr lang="ko-KR" altLang="en-US" dirty="0"/>
              <a:t>중 더 큰 벌금 부과</a:t>
            </a:r>
          </a:p>
        </p:txBody>
      </p:sp>
      <p:pic>
        <p:nvPicPr>
          <p:cNvPr id="6" name="그림 5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8C1349-8AF9-4DA0-958A-74FAE389A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36" y="158775"/>
            <a:ext cx="6058461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670A96-1BC7-4A28-A07E-C664DA439FD8}"/>
              </a:ext>
            </a:extLst>
          </p:cNvPr>
          <p:cNvSpPr txBox="1"/>
          <p:nvPr/>
        </p:nvSpPr>
        <p:spPr>
          <a:xfrm>
            <a:off x="523105" y="328226"/>
            <a:ext cx="55226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① </a:t>
            </a:r>
            <a:r>
              <a:rPr lang="ko-KR" altLang="en-US" sz="3200" b="1" dirty="0"/>
              <a:t>허용불가 위험</a:t>
            </a:r>
            <a:r>
              <a:rPr lang="en-US" altLang="ko-KR" b="1" dirty="0"/>
              <a:t>(Unacceptable Risk)</a:t>
            </a:r>
            <a:endParaRPr lang="en-US" altLang="ko-KR" sz="3200" b="1" dirty="0"/>
          </a:p>
        </p:txBody>
      </p:sp>
    </p:spTree>
    <p:extLst>
      <p:ext uri="{BB962C8B-B14F-4D97-AF65-F5344CB8AC3E}">
        <p14:creationId xmlns:p14="http://schemas.microsoft.com/office/powerpoint/2010/main" val="1915315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162D-A79E-E8BA-4895-166EF2C3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8C1349-8AF9-4DA0-958A-74FAE389A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36" y="158775"/>
            <a:ext cx="6058461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670A96-1BC7-4A28-A07E-C664DA439FD8}"/>
              </a:ext>
            </a:extLst>
          </p:cNvPr>
          <p:cNvSpPr txBox="1"/>
          <p:nvPr/>
        </p:nvSpPr>
        <p:spPr>
          <a:xfrm>
            <a:off x="523105" y="328226"/>
            <a:ext cx="55226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① </a:t>
            </a:r>
            <a:r>
              <a:rPr lang="ko-KR" altLang="en-US" sz="3200" b="1" dirty="0"/>
              <a:t>허용불가 위험</a:t>
            </a:r>
            <a:r>
              <a:rPr lang="en-US" altLang="ko-KR" b="1" dirty="0"/>
              <a:t>(Unacceptable Risk)</a:t>
            </a:r>
            <a:endParaRPr lang="en-US" altLang="ko-KR" sz="32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AE08D31-4C9F-4B30-BC15-B59F028EA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871" y="1082452"/>
            <a:ext cx="10019655" cy="5616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876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162D-A79E-E8BA-4895-166EF2C3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BC6EB1-AEA3-4BC3-8991-F658F9228FB1}"/>
              </a:ext>
            </a:extLst>
          </p:cNvPr>
          <p:cNvSpPr txBox="1"/>
          <p:nvPr/>
        </p:nvSpPr>
        <p:spPr>
          <a:xfrm>
            <a:off x="299139" y="1174462"/>
            <a:ext cx="1176954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부속서 </a:t>
            </a:r>
            <a:r>
              <a:rPr lang="en-US" altLang="ko-KR" dirty="0"/>
              <a:t>Ⅲ</a:t>
            </a:r>
            <a:r>
              <a:rPr lang="ko-KR" altLang="en-US" dirty="0"/>
              <a:t>에서 </a:t>
            </a:r>
            <a:r>
              <a:rPr lang="en-US" altLang="ko-KR" dirty="0"/>
              <a:t>AI</a:t>
            </a:r>
            <a:r>
              <a:rPr lang="ko-KR" altLang="en-US" dirty="0"/>
              <a:t>법에 따라 </a:t>
            </a:r>
            <a:r>
              <a:rPr lang="en-US" altLang="ko-KR" dirty="0"/>
              <a:t>AI </a:t>
            </a:r>
            <a:r>
              <a:rPr lang="ko-KR" altLang="en-US" dirty="0"/>
              <a:t>시스템을 ‘</a:t>
            </a:r>
            <a:r>
              <a:rPr lang="ko-KR" altLang="en-US" dirty="0" err="1"/>
              <a:t>고위험’으로</a:t>
            </a:r>
            <a:r>
              <a:rPr lang="ko-KR" altLang="en-US" dirty="0"/>
              <a:t> 분류할 수 있는 </a:t>
            </a:r>
            <a:r>
              <a:rPr lang="en-US" altLang="ko-KR" dirty="0"/>
              <a:t>Case</a:t>
            </a:r>
            <a:r>
              <a:rPr lang="ko-KR" altLang="en-US" dirty="0"/>
              <a:t>를 열거</a:t>
            </a:r>
          </a:p>
          <a:p>
            <a:endParaRPr lang="en-US" altLang="ko-KR" dirty="0"/>
          </a:p>
          <a:p>
            <a:r>
              <a:rPr lang="ko-KR" altLang="en-US" dirty="0"/>
              <a:t>의료기기 및 생체인식</a:t>
            </a:r>
            <a:r>
              <a:rPr lang="en-US" altLang="ko-KR" dirty="0"/>
              <a:t>, </a:t>
            </a:r>
            <a:r>
              <a:rPr lang="ko-KR" altLang="en-US" dirty="0"/>
              <a:t>교통시설 등 중요 인프라</a:t>
            </a:r>
            <a:r>
              <a:rPr lang="en-US" altLang="ko-KR" dirty="0"/>
              <a:t>, </a:t>
            </a:r>
            <a:r>
              <a:rPr lang="ko-KR" altLang="en-US" dirty="0"/>
              <a:t>교육</a:t>
            </a:r>
            <a:r>
              <a:rPr lang="en-US" altLang="ko-KR" dirty="0"/>
              <a:t>, </a:t>
            </a:r>
            <a:r>
              <a:rPr lang="ko-KR" altLang="en-US" dirty="0"/>
              <a:t>필수 서비스</a:t>
            </a:r>
            <a:r>
              <a:rPr lang="en-US" altLang="ko-KR" dirty="0"/>
              <a:t>, </a:t>
            </a:r>
            <a:r>
              <a:rPr lang="ko-KR" altLang="en-US" dirty="0"/>
              <a:t>법 집행에 사용되는 경우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생체인식</a:t>
            </a:r>
            <a:r>
              <a:rPr lang="en-US" altLang="ko-KR" dirty="0"/>
              <a:t>, </a:t>
            </a:r>
            <a:r>
              <a:rPr lang="ko-KR" altLang="en-US" dirty="0"/>
              <a:t>금융사기 탐지 등에 사용되는 </a:t>
            </a:r>
            <a:r>
              <a:rPr lang="en-US" altLang="ko-KR" dirty="0"/>
              <a:t>AI</a:t>
            </a:r>
            <a:r>
              <a:rPr lang="ko-KR" altLang="en-US" dirty="0"/>
              <a:t>에는 몇 가지 예외가 적용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고위험 </a:t>
            </a:r>
            <a:r>
              <a:rPr lang="en-US" altLang="ko-KR" dirty="0"/>
              <a:t>AI </a:t>
            </a:r>
            <a:r>
              <a:rPr lang="ko-KR" altLang="en-US" dirty="0"/>
              <a:t>시스템 공급자와 운영자</a:t>
            </a:r>
            <a:r>
              <a:rPr lang="en-US" altLang="ko-KR" dirty="0"/>
              <a:t>, </a:t>
            </a:r>
            <a:r>
              <a:rPr lang="ko-KR" altLang="en-US" dirty="0"/>
              <a:t>수입업자</a:t>
            </a:r>
            <a:r>
              <a:rPr lang="en-US" altLang="ko-KR" dirty="0"/>
              <a:t>, </a:t>
            </a:r>
            <a:r>
              <a:rPr lang="ko-KR" altLang="en-US" dirty="0"/>
              <a:t>유통업자에게 의무가 부과되며 </a:t>
            </a:r>
            <a:endParaRPr lang="en-US" altLang="ko-KR" dirty="0"/>
          </a:p>
          <a:p>
            <a:r>
              <a:rPr lang="ko-KR" altLang="en-US" dirty="0"/>
              <a:t>공공 서비스에 활용하거나 자연인의 신용도를 평가하는 경우에는 ‘기본권 영향평가’ 수행 필요</a:t>
            </a:r>
          </a:p>
          <a:p>
            <a:endParaRPr lang="ko-KR" altLang="en-US" dirty="0"/>
          </a:p>
          <a:p>
            <a:r>
              <a:rPr lang="ko-KR" altLang="en-US" dirty="0"/>
              <a:t>고위험 </a:t>
            </a:r>
            <a:r>
              <a:rPr lang="en-US" altLang="ko-KR" dirty="0"/>
              <a:t>AI </a:t>
            </a:r>
            <a:r>
              <a:rPr lang="ko-KR" altLang="en-US" dirty="0"/>
              <a:t>시스템 관련 규정을 위반한 경우 </a:t>
            </a:r>
            <a:endParaRPr lang="en-US" altLang="ko-KR" dirty="0"/>
          </a:p>
          <a:p>
            <a:r>
              <a:rPr lang="ko-KR" altLang="en-US" dirty="0"/>
              <a:t>최대 </a:t>
            </a:r>
            <a:r>
              <a:rPr lang="en-US" altLang="ko-KR" dirty="0"/>
              <a:t>1,500</a:t>
            </a:r>
            <a:r>
              <a:rPr lang="ko-KR" altLang="en-US" dirty="0"/>
              <a:t>만 유로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222</a:t>
            </a:r>
            <a:r>
              <a:rPr lang="ko-KR" altLang="en-US" dirty="0"/>
              <a:t>억 원</a:t>
            </a:r>
            <a:r>
              <a:rPr lang="en-US" altLang="ko-KR" dirty="0"/>
              <a:t>)</a:t>
            </a:r>
            <a:r>
              <a:rPr lang="ko-KR" altLang="en-US" dirty="0"/>
              <a:t>와 </a:t>
            </a:r>
            <a:r>
              <a:rPr lang="ko-KR" altLang="en-US" dirty="0" err="1"/>
              <a:t>직전년</a:t>
            </a:r>
            <a:r>
              <a:rPr lang="ko-KR" altLang="en-US" dirty="0"/>
              <a:t> 회계연도 기준 전 글로벌 연 매출액의 최대 </a:t>
            </a:r>
            <a:r>
              <a:rPr lang="en-US" altLang="ko-KR" dirty="0"/>
              <a:t>3% </a:t>
            </a:r>
            <a:r>
              <a:rPr lang="ko-KR" altLang="en-US" dirty="0"/>
              <a:t>중 더 큰 벌금 부과</a:t>
            </a:r>
            <a:endParaRPr lang="en-US" altLang="ko-KR" dirty="0"/>
          </a:p>
        </p:txBody>
      </p:sp>
      <p:pic>
        <p:nvPicPr>
          <p:cNvPr id="6" name="그림 5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8C1349-8AF9-4DA0-958A-74FAE389A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37" y="158775"/>
            <a:ext cx="3831792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670A96-1BC7-4A28-A07E-C664DA439FD8}"/>
              </a:ext>
            </a:extLst>
          </p:cNvPr>
          <p:cNvSpPr txBox="1"/>
          <p:nvPr/>
        </p:nvSpPr>
        <p:spPr>
          <a:xfrm>
            <a:off x="523105" y="328226"/>
            <a:ext cx="32095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② </a:t>
            </a:r>
            <a:r>
              <a:rPr lang="ko-KR" altLang="en-US" sz="3200" b="1" dirty="0"/>
              <a:t>고위험</a:t>
            </a:r>
            <a:r>
              <a:rPr lang="en-US" altLang="ko-KR" b="1" dirty="0"/>
              <a:t>(High-Risk)</a:t>
            </a:r>
            <a:endParaRPr lang="en-US" altLang="ko-KR" sz="3200" b="1" dirty="0"/>
          </a:p>
        </p:txBody>
      </p:sp>
    </p:spTree>
    <p:extLst>
      <p:ext uri="{BB962C8B-B14F-4D97-AF65-F5344CB8AC3E}">
        <p14:creationId xmlns:p14="http://schemas.microsoft.com/office/powerpoint/2010/main" val="2382399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162D-A79E-E8BA-4895-166EF2C3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8C1349-8AF9-4DA0-958A-74FAE389A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37" y="158775"/>
            <a:ext cx="3831792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670A96-1BC7-4A28-A07E-C664DA439FD8}"/>
              </a:ext>
            </a:extLst>
          </p:cNvPr>
          <p:cNvSpPr txBox="1"/>
          <p:nvPr/>
        </p:nvSpPr>
        <p:spPr>
          <a:xfrm>
            <a:off x="523105" y="328226"/>
            <a:ext cx="32095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② </a:t>
            </a:r>
            <a:r>
              <a:rPr lang="ko-KR" altLang="en-US" sz="3200" b="1" dirty="0"/>
              <a:t>고위험</a:t>
            </a:r>
            <a:r>
              <a:rPr lang="en-US" altLang="ko-KR" b="1" dirty="0"/>
              <a:t>(High-Risk)</a:t>
            </a:r>
            <a:endParaRPr lang="en-US" altLang="ko-KR" sz="32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F222457-7036-4EB1-B5EC-C62AA0178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8105" y="158775"/>
            <a:ext cx="7840519" cy="654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8088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162D-A79E-E8BA-4895-166EF2C3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BC6EB1-AEA3-4BC3-8991-F658F9228FB1}"/>
              </a:ext>
            </a:extLst>
          </p:cNvPr>
          <p:cNvSpPr txBox="1"/>
          <p:nvPr/>
        </p:nvSpPr>
        <p:spPr>
          <a:xfrm>
            <a:off x="299139" y="1174462"/>
            <a:ext cx="1176954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사람과 상호작용하는 </a:t>
            </a:r>
            <a:r>
              <a:rPr lang="en-US" altLang="ko-KR" dirty="0"/>
              <a:t>AI </a:t>
            </a:r>
            <a:r>
              <a:rPr lang="ko-KR" altLang="en-US" dirty="0"/>
              <a:t>시스템 중에서 </a:t>
            </a:r>
            <a:r>
              <a:rPr lang="ko-KR" altLang="en-US" dirty="0" err="1"/>
              <a:t>딥페이크와</a:t>
            </a:r>
            <a:r>
              <a:rPr lang="ko-KR" altLang="en-US" dirty="0"/>
              <a:t> 같이 비인격화</a:t>
            </a:r>
            <a:r>
              <a:rPr lang="en-US" altLang="ko-KR" dirty="0"/>
              <a:t>, </a:t>
            </a:r>
            <a:r>
              <a:rPr lang="ko-KR" altLang="en-US" dirty="0"/>
              <a:t>기만</a:t>
            </a:r>
            <a:r>
              <a:rPr lang="en-US" altLang="ko-KR" dirty="0"/>
              <a:t>, </a:t>
            </a:r>
            <a:r>
              <a:rPr lang="ko-KR" altLang="en-US" dirty="0"/>
              <a:t>조작 등의 문제를 일으킬 수 있는 기술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→ </a:t>
            </a:r>
            <a:r>
              <a:rPr lang="ko-KR" altLang="en-US" u="sng" dirty="0"/>
              <a:t>투명성 의무</a:t>
            </a:r>
            <a:r>
              <a:rPr lang="en-US" altLang="ko-KR" dirty="0"/>
              <a:t>*</a:t>
            </a:r>
            <a:r>
              <a:rPr lang="ko-KR" altLang="en-US" dirty="0"/>
              <a:t> 부과 </a:t>
            </a:r>
            <a:r>
              <a:rPr lang="en-US" altLang="ko-KR" dirty="0"/>
              <a:t>: </a:t>
            </a:r>
          </a:p>
          <a:p>
            <a:r>
              <a:rPr lang="en-US" altLang="ko-KR" sz="1400" dirty="0"/>
              <a:t>     * </a:t>
            </a:r>
            <a:r>
              <a:rPr lang="ko-KR" altLang="en-US" sz="1400" dirty="0"/>
              <a:t>시스템 제공자가 </a:t>
            </a:r>
            <a:r>
              <a:rPr lang="en-US" altLang="ko-KR" sz="1400" dirty="0"/>
              <a:t>AI </a:t>
            </a:r>
            <a:r>
              <a:rPr lang="ko-KR" altLang="en-US" sz="1400" dirty="0"/>
              <a:t>사용 상황과 맥락을 고려하여</a:t>
            </a:r>
            <a:r>
              <a:rPr lang="en-US" altLang="ko-KR" sz="1400" dirty="0"/>
              <a:t>, </a:t>
            </a:r>
            <a:r>
              <a:rPr lang="ko-KR" altLang="en-US" sz="1400" dirty="0"/>
              <a:t>상대방이 </a:t>
            </a:r>
            <a:r>
              <a:rPr lang="en-US" altLang="ko-KR" sz="1400" dirty="0"/>
              <a:t>AI </a:t>
            </a:r>
            <a:r>
              <a:rPr lang="ko-KR" altLang="en-US" sz="1400" dirty="0"/>
              <a:t>시스템과 상호작용하고 있다는 사실을 인식할 수 있도록 고지</a:t>
            </a:r>
            <a:endParaRPr lang="en-US" altLang="ko-KR" sz="1400" dirty="0"/>
          </a:p>
          <a:p>
            <a:endParaRPr lang="en-US" altLang="ko-KR" dirty="0"/>
          </a:p>
          <a:p>
            <a:r>
              <a:rPr lang="ko-KR" altLang="en-US" dirty="0"/>
              <a:t>생성형 </a:t>
            </a:r>
            <a:r>
              <a:rPr lang="en-US" altLang="ko-KR" dirty="0"/>
              <a:t>AI</a:t>
            </a:r>
            <a:r>
              <a:rPr lang="ko-KR" altLang="en-US" dirty="0"/>
              <a:t>의 경우 콘텐츠 출처 표시</a:t>
            </a:r>
            <a:r>
              <a:rPr lang="en-US" altLang="ko-KR" dirty="0"/>
              <a:t>, </a:t>
            </a:r>
            <a:r>
              <a:rPr lang="ko-KR" altLang="en-US" dirty="0" err="1"/>
              <a:t>챗봇은</a:t>
            </a:r>
            <a:r>
              <a:rPr lang="ko-KR" altLang="en-US" dirty="0"/>
              <a:t> </a:t>
            </a:r>
            <a:r>
              <a:rPr lang="en-US" altLang="ko-KR" dirty="0"/>
              <a:t>AI </a:t>
            </a:r>
            <a:r>
              <a:rPr lang="ko-KR" altLang="en-US" dirty="0"/>
              <a:t>상호작용 여부 고지 의무</a:t>
            </a:r>
            <a:r>
              <a:rPr lang="en-US" altLang="ko-KR" dirty="0"/>
              <a:t>, </a:t>
            </a:r>
            <a:r>
              <a:rPr lang="ko-KR" altLang="en-US" dirty="0" err="1"/>
              <a:t>딥페이크</a:t>
            </a:r>
            <a:r>
              <a:rPr lang="ko-KR" altLang="en-US" dirty="0"/>
              <a:t> 영상에는 </a:t>
            </a:r>
            <a:r>
              <a:rPr lang="en-US" altLang="ko-KR" dirty="0"/>
              <a:t>"AI </a:t>
            </a:r>
            <a:r>
              <a:rPr lang="ko-KR" altLang="en-US" dirty="0"/>
              <a:t>생성</a:t>
            </a:r>
            <a:r>
              <a:rPr lang="en-US" altLang="ko-KR" dirty="0"/>
              <a:t>" </a:t>
            </a:r>
            <a:r>
              <a:rPr lang="ko-KR" altLang="en-US" dirty="0"/>
              <a:t>라벨 부착</a:t>
            </a:r>
            <a:endParaRPr lang="en-US" altLang="ko-KR" dirty="0"/>
          </a:p>
        </p:txBody>
      </p:sp>
      <p:pic>
        <p:nvPicPr>
          <p:cNvPr id="6" name="그림 5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8C1349-8AF9-4DA0-958A-74FAE389A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37" y="158775"/>
            <a:ext cx="5109160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670A96-1BC7-4A28-A07E-C664DA439FD8}"/>
              </a:ext>
            </a:extLst>
          </p:cNvPr>
          <p:cNvSpPr txBox="1"/>
          <p:nvPr/>
        </p:nvSpPr>
        <p:spPr>
          <a:xfrm>
            <a:off x="523105" y="328226"/>
            <a:ext cx="44524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③ </a:t>
            </a:r>
            <a:r>
              <a:rPr lang="ko-KR" altLang="en-US" sz="3200" b="1" dirty="0"/>
              <a:t>제한적 위험</a:t>
            </a:r>
            <a:r>
              <a:rPr lang="en-US" altLang="ko-KR" b="1" dirty="0"/>
              <a:t>(Limited Risk)</a:t>
            </a:r>
            <a:endParaRPr lang="en-US" altLang="ko-KR" sz="32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44D43-84CC-4569-B5BC-9A0213E47DB5}"/>
              </a:ext>
            </a:extLst>
          </p:cNvPr>
          <p:cNvSpPr txBox="1"/>
          <p:nvPr/>
        </p:nvSpPr>
        <p:spPr>
          <a:xfrm>
            <a:off x="299139" y="2895600"/>
            <a:ext cx="1133515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합성 콘텐츠</a:t>
            </a:r>
            <a:r>
              <a:rPr lang="en-US" altLang="ko-KR" dirty="0"/>
              <a:t>(</a:t>
            </a:r>
            <a:r>
              <a:rPr lang="ko-KR" altLang="en-US" dirty="0"/>
              <a:t>오디오</a:t>
            </a:r>
            <a:r>
              <a:rPr lang="en-US" altLang="ko-KR" dirty="0"/>
              <a:t>, </a:t>
            </a:r>
            <a:r>
              <a:rPr lang="ko-KR" altLang="en-US" dirty="0"/>
              <a:t>이미지</a:t>
            </a:r>
            <a:r>
              <a:rPr lang="en-US" altLang="ko-KR" dirty="0"/>
              <a:t>, </a:t>
            </a:r>
            <a:r>
              <a:rPr lang="ko-KR" altLang="en-US" dirty="0"/>
              <a:t>동영상</a:t>
            </a:r>
            <a:r>
              <a:rPr lang="en-US" altLang="ko-KR" dirty="0"/>
              <a:t>, </a:t>
            </a:r>
            <a:r>
              <a:rPr lang="ko-KR" altLang="en-US" dirty="0"/>
              <a:t>텍스트 등</a:t>
            </a:r>
            <a:r>
              <a:rPr lang="en-US" altLang="ko-KR" dirty="0"/>
              <a:t>)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생성하는 </a:t>
            </a:r>
            <a:r>
              <a:rPr lang="en-US" altLang="ko-KR" dirty="0"/>
              <a:t>AI </a:t>
            </a:r>
            <a:r>
              <a:rPr lang="ko-KR" altLang="en-US" dirty="0"/>
              <a:t>시스템의 공급자는 </a:t>
            </a:r>
            <a:endParaRPr lang="en-US" altLang="ko-KR" dirty="0"/>
          </a:p>
          <a:p>
            <a:r>
              <a:rPr lang="ko-KR" altLang="en-US" dirty="0"/>
              <a:t>결과물을 </a:t>
            </a:r>
            <a:r>
              <a:rPr lang="ko-KR" altLang="en-US" dirty="0" err="1"/>
              <a:t>기계판독이</a:t>
            </a:r>
            <a:r>
              <a:rPr lang="ko-KR" altLang="en-US" dirty="0"/>
              <a:t> 가능한 형태로 표시하고</a:t>
            </a:r>
            <a:r>
              <a:rPr lang="en-US" altLang="ko-KR" dirty="0"/>
              <a:t>, </a:t>
            </a:r>
            <a:r>
              <a:rPr lang="ko-KR" altLang="en-US" dirty="0"/>
              <a:t>인공적 생성이나 조작을 판별할 수 있도록 해야 함</a:t>
            </a:r>
          </a:p>
          <a:p>
            <a:endParaRPr lang="ko-KR" altLang="en-US" dirty="0"/>
          </a:p>
          <a:p>
            <a:r>
              <a:rPr lang="ko-KR" altLang="en-US" dirty="0"/>
              <a:t>인증기관</a:t>
            </a:r>
            <a:r>
              <a:rPr lang="en-US" altLang="ko-KR" dirty="0"/>
              <a:t>, </a:t>
            </a:r>
            <a:r>
              <a:rPr lang="ko-KR" altLang="en-US" dirty="0"/>
              <a:t>관할 당국에 부정확</a:t>
            </a:r>
            <a:r>
              <a:rPr lang="en-US" altLang="ko-KR" dirty="0"/>
              <a:t>, </a:t>
            </a:r>
            <a:r>
              <a:rPr lang="ko-KR" altLang="en-US" dirty="0"/>
              <a:t>불완전</a:t>
            </a:r>
            <a:r>
              <a:rPr lang="en-US" altLang="ko-KR" dirty="0"/>
              <a:t>, </a:t>
            </a:r>
            <a:r>
              <a:rPr lang="ko-KR" altLang="en-US" dirty="0"/>
              <a:t>오해의 소지가 있는 정보를 제공한 경우 </a:t>
            </a:r>
            <a:endParaRPr lang="en-US" altLang="ko-KR" dirty="0"/>
          </a:p>
          <a:p>
            <a:r>
              <a:rPr lang="ko-KR" altLang="en-US" dirty="0"/>
              <a:t>최대 </a:t>
            </a:r>
            <a:r>
              <a:rPr lang="en-US" altLang="ko-KR" dirty="0"/>
              <a:t>750</a:t>
            </a:r>
            <a:r>
              <a:rPr lang="ko-KR" altLang="en-US" dirty="0"/>
              <a:t>만 유로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112</a:t>
            </a:r>
            <a:r>
              <a:rPr lang="ko-KR" altLang="en-US" dirty="0"/>
              <a:t>억원</a:t>
            </a:r>
            <a:r>
              <a:rPr lang="en-US" altLang="ko-KR" dirty="0"/>
              <a:t>) </a:t>
            </a:r>
            <a:r>
              <a:rPr lang="ko-KR" altLang="en-US" dirty="0"/>
              <a:t>또는 </a:t>
            </a:r>
            <a:r>
              <a:rPr lang="ko-KR" altLang="en-US" dirty="0" err="1"/>
              <a:t>직전년</a:t>
            </a:r>
            <a:r>
              <a:rPr lang="ko-KR" altLang="en-US" dirty="0"/>
              <a:t> 회계연도 기준 글로벌 연 매출액의 최대 </a:t>
            </a:r>
            <a:r>
              <a:rPr lang="en-US" altLang="ko-KR" dirty="0"/>
              <a:t>1% </a:t>
            </a:r>
            <a:r>
              <a:rPr lang="ko-KR" altLang="en-US" dirty="0"/>
              <a:t>중 더 큰 벌금 부과</a:t>
            </a:r>
          </a:p>
        </p:txBody>
      </p:sp>
    </p:spTree>
    <p:extLst>
      <p:ext uri="{BB962C8B-B14F-4D97-AF65-F5344CB8AC3E}">
        <p14:creationId xmlns:p14="http://schemas.microsoft.com/office/powerpoint/2010/main" val="2936313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162D-A79E-E8BA-4895-166EF2C3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BC6EB1-AEA3-4BC3-8991-F658F9228FB1}"/>
              </a:ext>
            </a:extLst>
          </p:cNvPr>
          <p:cNvSpPr txBox="1"/>
          <p:nvPr/>
        </p:nvSpPr>
        <p:spPr>
          <a:xfrm>
            <a:off x="299139" y="1174462"/>
            <a:ext cx="117695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스팸 필터</a:t>
            </a:r>
            <a:r>
              <a:rPr lang="en-US" altLang="ko-KR" dirty="0"/>
              <a:t>, </a:t>
            </a:r>
            <a:r>
              <a:rPr lang="ko-KR" altLang="en-US" dirty="0"/>
              <a:t>비디오 게임 등 일상적 기술에 기반한 </a:t>
            </a:r>
            <a:r>
              <a:rPr lang="ko-KR" altLang="en-US" dirty="0" err="1"/>
              <a:t>저위험</a:t>
            </a:r>
            <a:r>
              <a:rPr lang="ko-KR" altLang="en-US" dirty="0"/>
              <a:t> </a:t>
            </a:r>
            <a:r>
              <a:rPr lang="en-US" altLang="ko-KR" dirty="0"/>
              <a:t>AI </a:t>
            </a:r>
            <a:r>
              <a:rPr lang="ko-KR" altLang="en-US" dirty="0"/>
              <a:t>시스템에 대해서는 규제가 적용되지 않음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다만 거버넌스 메커니즘을 포함한 명확한 목표와 성과지표에 기초한 자발적인 행동 강령</a:t>
            </a:r>
            <a:r>
              <a:rPr lang="en-US" altLang="ko-KR" dirty="0"/>
              <a:t>(Code of Conduct) </a:t>
            </a:r>
            <a:r>
              <a:rPr lang="ko-KR" altLang="en-US" dirty="0"/>
              <a:t>작성이 권장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영향력이 큰 </a:t>
            </a:r>
            <a:r>
              <a:rPr lang="en-US" altLang="ko-KR" dirty="0"/>
              <a:t>GPAI </a:t>
            </a:r>
            <a:r>
              <a:rPr lang="ko-KR" altLang="en-US" dirty="0"/>
              <a:t>모델에는 훨씬 더 엄격한 의무를 부과</a:t>
            </a:r>
            <a:endParaRPr lang="en-US" altLang="ko-KR" dirty="0"/>
          </a:p>
        </p:txBody>
      </p:sp>
      <p:pic>
        <p:nvPicPr>
          <p:cNvPr id="6" name="그림 5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8C1349-8AF9-4DA0-958A-74FAE389A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36" y="158775"/>
            <a:ext cx="4885795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670A96-1BC7-4A28-A07E-C664DA439FD8}"/>
              </a:ext>
            </a:extLst>
          </p:cNvPr>
          <p:cNvSpPr txBox="1"/>
          <p:nvPr/>
        </p:nvSpPr>
        <p:spPr>
          <a:xfrm>
            <a:off x="523105" y="328226"/>
            <a:ext cx="42659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④ </a:t>
            </a:r>
            <a:r>
              <a:rPr lang="ko-KR" altLang="en-US" sz="3200" b="1" dirty="0"/>
              <a:t>최소 위험</a:t>
            </a:r>
            <a:r>
              <a:rPr lang="en-US" altLang="ko-KR" b="1" dirty="0"/>
              <a:t>(Minimal Risk)</a:t>
            </a:r>
            <a:endParaRPr lang="en-US" altLang="ko-KR" sz="3200" b="1" dirty="0"/>
          </a:p>
        </p:txBody>
      </p:sp>
    </p:spTree>
    <p:extLst>
      <p:ext uri="{BB962C8B-B14F-4D97-AF65-F5344CB8AC3E}">
        <p14:creationId xmlns:p14="http://schemas.microsoft.com/office/powerpoint/2010/main" val="4054537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162D-A79E-E8BA-4895-166EF2C3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BC6EB1-AEA3-4BC3-8991-F658F9228FB1}"/>
              </a:ext>
            </a:extLst>
          </p:cNvPr>
          <p:cNvSpPr txBox="1"/>
          <p:nvPr/>
        </p:nvSpPr>
        <p:spPr>
          <a:xfrm>
            <a:off x="299139" y="1174462"/>
            <a:ext cx="117695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새롭게 마련된 </a:t>
            </a:r>
            <a:r>
              <a:rPr lang="en-US" altLang="ko-KR" dirty="0"/>
              <a:t>AI </a:t>
            </a:r>
            <a:r>
              <a:rPr lang="ko-KR" altLang="en-US" dirty="0"/>
              <a:t>기본법은 </a:t>
            </a:r>
            <a:r>
              <a:rPr lang="en-US" altLang="ko-KR" dirty="0"/>
              <a:t>EU</a:t>
            </a:r>
            <a:r>
              <a:rPr lang="ko-KR" altLang="en-US" dirty="0"/>
              <a:t>와 유사한 위험기반 규제</a:t>
            </a:r>
            <a:r>
              <a:rPr lang="en-US" altLang="ko-KR" dirty="0"/>
              <a:t>, </a:t>
            </a:r>
            <a:r>
              <a:rPr lang="ko-KR" altLang="en-US" dirty="0"/>
              <a:t>일본식 유연성</a:t>
            </a:r>
            <a:r>
              <a:rPr lang="en-US" altLang="ko-KR" dirty="0"/>
              <a:t>, </a:t>
            </a:r>
            <a:r>
              <a:rPr lang="ko-KR" altLang="en-US" dirty="0"/>
              <a:t>미국 </a:t>
            </a:r>
            <a:r>
              <a:rPr lang="en-US" altLang="ko-KR" dirty="0"/>
              <a:t>NIST</a:t>
            </a:r>
            <a:r>
              <a:rPr lang="ko-KR" altLang="en-US" dirty="0"/>
              <a:t>의 위험관리 프레임워크 등 글로벌 스탠다드를 적극적으로 수용하고 있다</a:t>
            </a:r>
            <a:r>
              <a:rPr lang="en-US" altLang="ko-KR" dirty="0"/>
              <a:t>. </a:t>
            </a:r>
            <a:r>
              <a:rPr lang="ko-KR" altLang="en-US" dirty="0"/>
              <a:t>그러나 우리 법제는 여전히 통합적 조정 기능의 부재</a:t>
            </a:r>
            <a:r>
              <a:rPr lang="en-US" altLang="ko-KR" dirty="0"/>
              <a:t>, </a:t>
            </a:r>
            <a:r>
              <a:rPr lang="ko-KR" altLang="en-US" dirty="0" err="1"/>
              <a:t>고영향</a:t>
            </a:r>
            <a:r>
              <a:rPr lang="ko-KR" altLang="en-US" dirty="0"/>
              <a:t> </a:t>
            </a:r>
            <a:r>
              <a:rPr lang="en-US" altLang="ko-KR" dirty="0"/>
              <a:t>AI </a:t>
            </a:r>
            <a:r>
              <a:rPr lang="ko-KR" altLang="en-US" dirty="0"/>
              <a:t>개념의 불명확성</a:t>
            </a:r>
            <a:r>
              <a:rPr lang="en-US" altLang="ko-KR" dirty="0"/>
              <a:t>, </a:t>
            </a:r>
            <a:r>
              <a:rPr lang="ko-KR" altLang="en-US" dirty="0"/>
              <a:t>개인정보 보호와 </a:t>
            </a:r>
            <a:r>
              <a:rPr lang="en-US" altLang="ko-KR" dirty="0"/>
              <a:t>AI </a:t>
            </a:r>
            <a:r>
              <a:rPr lang="ko-KR" altLang="en-US" dirty="0"/>
              <a:t>개발 간 균형 부족 등의 한계가 존재한다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AI </a:t>
            </a:r>
            <a:r>
              <a:rPr lang="ko-KR" altLang="en-US" dirty="0"/>
              <a:t>거버넌스는 해외 주요국의 선진 사례를 참고하되</a:t>
            </a:r>
            <a:r>
              <a:rPr lang="en-US" altLang="ko-KR" dirty="0"/>
              <a:t>, </a:t>
            </a:r>
            <a:r>
              <a:rPr lang="ko-KR" altLang="en-US" dirty="0"/>
              <a:t>우리 사회의 특수성과 미래지향적 비전을 반영한 ‘포용적이고 신뢰받는 </a:t>
            </a:r>
            <a:r>
              <a:rPr lang="en-US" altLang="ko-KR" dirty="0"/>
              <a:t>AI </a:t>
            </a:r>
            <a:r>
              <a:rPr lang="ko-KR" altLang="en-US" dirty="0"/>
              <a:t>거버넌스 체계’ 구축이 무엇보다 중요하다</a:t>
            </a:r>
            <a:r>
              <a:rPr lang="en-US" altLang="ko-KR" dirty="0"/>
              <a:t>. </a:t>
            </a:r>
            <a:r>
              <a:rPr lang="ko-KR" altLang="en-US" dirty="0"/>
              <a:t>특히 급변하는 기술 환경에 대응할 수 있도록 산업계</a:t>
            </a:r>
            <a:r>
              <a:rPr lang="en-US" altLang="ko-KR" dirty="0"/>
              <a:t>·</a:t>
            </a:r>
            <a:r>
              <a:rPr lang="ko-KR" altLang="en-US" dirty="0"/>
              <a:t>시민사회</a:t>
            </a:r>
            <a:r>
              <a:rPr lang="en-US" altLang="ko-KR" dirty="0"/>
              <a:t>·</a:t>
            </a:r>
            <a:r>
              <a:rPr lang="ko-KR" altLang="en-US" dirty="0"/>
              <a:t>정부가 모두 참여하는 입법 체계를 정립하여</a:t>
            </a:r>
            <a:r>
              <a:rPr lang="en-US" altLang="ko-KR" dirty="0"/>
              <a:t>, </a:t>
            </a:r>
            <a:r>
              <a:rPr lang="ko-KR" altLang="en-US" dirty="0"/>
              <a:t>이해관계자 간 상시 협의와 정책 조정</a:t>
            </a:r>
            <a:r>
              <a:rPr lang="en-US" altLang="ko-KR" dirty="0"/>
              <a:t>, </a:t>
            </a:r>
            <a:r>
              <a:rPr lang="ko-KR" altLang="en-US" dirty="0"/>
              <a:t>국제 표준 논의 참여가 이루어질 수 있도록 해야 한다</a:t>
            </a:r>
            <a:r>
              <a:rPr lang="en-US" altLang="ko-KR" dirty="0"/>
              <a:t>.</a:t>
            </a:r>
          </a:p>
        </p:txBody>
      </p:sp>
      <p:pic>
        <p:nvPicPr>
          <p:cNvPr id="6" name="그림 5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8C1349-8AF9-4DA0-958A-74FAE389A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36" y="158775"/>
            <a:ext cx="4885795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670A96-1BC7-4A28-A07E-C664DA439FD8}"/>
              </a:ext>
            </a:extLst>
          </p:cNvPr>
          <p:cNvSpPr txBox="1"/>
          <p:nvPr/>
        </p:nvSpPr>
        <p:spPr>
          <a:xfrm>
            <a:off x="523105" y="328226"/>
            <a:ext cx="41713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AI </a:t>
            </a:r>
            <a:r>
              <a:rPr lang="ko-KR" altLang="en-US" sz="3200" b="1" dirty="0"/>
              <a:t>거버넌스의 방향성</a:t>
            </a:r>
            <a:endParaRPr lang="en-US" altLang="ko-KR" sz="3200" b="1" dirty="0"/>
          </a:p>
        </p:txBody>
      </p:sp>
    </p:spTree>
    <p:extLst>
      <p:ext uri="{BB962C8B-B14F-4D97-AF65-F5344CB8AC3E}">
        <p14:creationId xmlns:p14="http://schemas.microsoft.com/office/powerpoint/2010/main" val="512716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7605</TotalTime>
  <Words>2866</Words>
  <Application>Microsoft Office PowerPoint</Application>
  <PresentationFormat>와이드스크린</PresentationFormat>
  <Paragraphs>286</Paragraphs>
  <Slides>22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양희정</dc:creator>
  <cp:lastModifiedBy>양 희정</cp:lastModifiedBy>
  <cp:revision>250</cp:revision>
  <cp:lastPrinted>2026-03-11T07:44:21Z</cp:lastPrinted>
  <dcterms:created xsi:type="dcterms:W3CDTF">2026-02-24T07:28:13Z</dcterms:created>
  <dcterms:modified xsi:type="dcterms:W3CDTF">2026-03-19T05:45:28Z</dcterms:modified>
</cp:coreProperties>
</file>