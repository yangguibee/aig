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-84" y="-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8872" cy="5143500"/>
          </a:xfrm>
          <a:prstGeom prst="rect">
            <a:avLst/>
          </a:prstGeom>
          <a:solidFill>
            <a:srgbClr val="00C9B1"/>
          </a:solidFill>
          <a:ln w="12700">
            <a:solidFill>
              <a:srgbClr val="00C9B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" y="0"/>
            <a:ext cx="9025128" cy="804672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54864"/>
            <a:ext cx="6858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+mn-ea"/>
                <a:cs typeface="Arial Black" pitchFamily="34" charset="-120"/>
              </a:rPr>
              <a:t>음악AI를 둘러싼 저작권침해문제 및 이에 대한 개선방안</a:t>
            </a:r>
            <a:endParaRPr lang="en-US" sz="2200" dirty="0">
              <a:latin typeface="+mn-ea"/>
            </a:endParaRPr>
          </a:p>
        </p:txBody>
      </p:sp>
      <p:sp>
        <p:nvSpPr>
          <p:cNvPr id="5" name="Text 3"/>
          <p:cNvSpPr/>
          <p:nvPr/>
        </p:nvSpPr>
        <p:spPr>
          <a:xfrm>
            <a:off x="274320" y="4754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송미나 (2025)  |  서울대학교 법학과 </a:t>
            </a:r>
            <a:r>
              <a:rPr lang="en-US" sz="1000" dirty="0" err="1">
                <a:solidFill>
                  <a:srgbClr val="00C9B1"/>
                </a:solidFill>
                <a:latin typeface="+mn-ea"/>
                <a:cs typeface="Calibri" pitchFamily="34" charset="-120"/>
              </a:rPr>
              <a:t>지식재산전공</a:t>
            </a:r>
            <a:r>
              <a:rPr lang="en-US" sz="1000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000" dirty="0" err="1" smtClean="0">
                <a:solidFill>
                  <a:srgbClr val="00C9B1"/>
                </a:solidFill>
                <a:latin typeface="+mn-ea"/>
                <a:cs typeface="Calibri" pitchFamily="34" charset="-120"/>
              </a:rPr>
              <a:t>석사학위논문</a:t>
            </a:r>
            <a:endParaRPr lang="en-US" sz="1000" dirty="0">
              <a:latin typeface="+mn-ea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2743200" cy="14813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96112"/>
            <a:ext cx="2743200" cy="292608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9052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연구 배경 &amp; 목적</a:t>
            </a:r>
            <a:endParaRPr lang="en-US" sz="1100" dirty="0">
              <a:latin typeface="+mn-ea"/>
            </a:endParaRPr>
          </a:p>
        </p:txBody>
      </p:sp>
      <p:sp>
        <p:nvSpPr>
          <p:cNvPr id="9" name="Text 7"/>
          <p:cNvSpPr/>
          <p:nvPr/>
        </p:nvSpPr>
        <p:spPr>
          <a:xfrm>
            <a:off x="256032" y="1225296"/>
            <a:ext cx="25786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ChatGPT·Suno 등 음악 생성 AI 확산
→ AI 학습 데이터 저작권 침해 현실화
</a:t>
            </a:r>
            <a:r>
              <a:rPr lang="en-US" sz="1000" dirty="0">
                <a:solidFill>
                  <a:srgbClr val="FF0000"/>
                </a:solidFill>
                <a:latin typeface="+mn-ea"/>
                <a:cs typeface="Calibri" pitchFamily="34" charset="-120"/>
              </a:rPr>
              <a:t>한국: TDM 면책규정 없어 법적 불확실성</a:t>
            </a:r>
            <a:r>
              <a:rPr lang="en-US" sz="1000" dirty="0">
                <a:solidFill>
                  <a:srgbClr val="F59E0B"/>
                </a:solidFill>
                <a:latin typeface="+mn-ea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인공지능기본법·EU AI Act 참고</a:t>
            </a:r>
            <a:endParaRPr lang="en-US" sz="1000" dirty="0">
              <a:latin typeface="+mn-ea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개선방안 제시 목적</a:t>
            </a:r>
            <a:endParaRPr lang="en-US" sz="1000" dirty="0">
              <a:latin typeface="+mn-ea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108960" y="896112"/>
            <a:ext cx="2926080" cy="14813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896112"/>
            <a:ext cx="2926080" cy="292608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90525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핵심 쟁점: UMG v. Suno (2024)</a:t>
            </a:r>
            <a:endParaRPr lang="en-US" sz="1100" dirty="0">
              <a:latin typeface="+mn-ea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182112" y="124358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+mn-ea"/>
                <a:cs typeface="Calibri" pitchFamily="34" charset="-120"/>
              </a:rPr>
              <a:t>원고  </a:t>
            </a:r>
            <a:endParaRPr lang="en-US" sz="950" dirty="0">
              <a:latin typeface="+mn-ea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785616" y="12435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음원 무단복제 → 과적합으로 원곡 유사 출력</a:t>
            </a:r>
            <a:endParaRPr lang="en-US" sz="950" dirty="0">
              <a:latin typeface="+mn-ea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182112" y="151790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B82F6"/>
                </a:solidFill>
                <a:latin typeface="+mn-ea"/>
                <a:cs typeface="Calibri" pitchFamily="34" charset="-120"/>
              </a:rPr>
              <a:t>피고  </a:t>
            </a:r>
            <a:endParaRPr lang="en-US" sz="950" dirty="0">
              <a:latin typeface="+mn-ea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785616" y="15179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통계 패턴 분석일 뿐, 공정이용 항변</a:t>
            </a:r>
            <a:endParaRPr lang="en-US" sz="950" dirty="0">
              <a:latin typeface="+mn-ea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82112" y="179222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쟁점①  </a:t>
            </a:r>
            <a:endParaRPr lang="en-US" sz="950" dirty="0">
              <a:latin typeface="+mn-ea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785616" y="17922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ML 학습단계 복제행위의 저작권 침해 여부</a:t>
            </a:r>
            <a:endParaRPr lang="en-US" sz="950" dirty="0">
              <a:latin typeface="+mn-ea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182112" y="20665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쟁점②  </a:t>
            </a:r>
            <a:endParaRPr lang="en-US" sz="950" dirty="0">
              <a:latin typeface="+mn-ea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785616" y="206654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 smtClean="0">
                <a:solidFill>
                  <a:srgbClr val="CBD5E1"/>
                </a:solidFill>
                <a:latin typeface="+mn-ea"/>
                <a:cs typeface="Calibri" pitchFamily="34" charset="-120"/>
              </a:rPr>
              <a:t>공정이용</a:t>
            </a:r>
            <a:r>
              <a:rPr lang="en-US" sz="950" dirty="0" smtClean="0">
                <a:solidFill>
                  <a:srgbClr val="CBD5E1"/>
                </a:solidFill>
                <a:latin typeface="+mn-ea"/>
                <a:cs typeface="Calibri" pitchFamily="34" charset="-120"/>
              </a:rPr>
              <a:t> 4요소 </a:t>
            </a:r>
            <a:r>
              <a:rPr lang="en-US" sz="950" dirty="0" err="1" smtClean="0">
                <a:solidFill>
                  <a:srgbClr val="CBD5E1"/>
                </a:solidFill>
                <a:latin typeface="+mn-ea"/>
                <a:cs typeface="Calibri" pitchFamily="34" charset="-120"/>
              </a:rPr>
              <a:t>충족</a:t>
            </a:r>
            <a:r>
              <a:rPr lang="en-US" sz="950" dirty="0" smtClean="0">
                <a:solidFill>
                  <a:srgbClr val="CBD5E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rgbClr val="CBD5E1"/>
                </a:solidFill>
                <a:latin typeface="+mn-ea"/>
                <a:cs typeface="Calibri" pitchFamily="34" charset="-120"/>
              </a:rPr>
              <a:t>여부</a:t>
            </a:r>
            <a:endParaRPr lang="en-US" sz="950" dirty="0">
              <a:latin typeface="+mn-ea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217920" y="896112"/>
            <a:ext cx="2788920" cy="1481328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896112"/>
            <a:ext cx="2788920" cy="292608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91072" y="90525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각국 TDM 면책규정 비교</a:t>
            </a:r>
            <a:endParaRPr lang="en-US" sz="1100" dirty="0">
              <a:latin typeface="+mn-ea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91072" y="1234440"/>
            <a:ext cx="54864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12344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일본</a:t>
            </a:r>
            <a:endParaRPr lang="en-US" sz="950" dirty="0">
              <a:latin typeface="+mn-ea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1234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면책 폭넓게 인정 (영리·불법 포함)</a:t>
            </a:r>
            <a:endParaRPr lang="en-US" sz="950" dirty="0">
              <a:latin typeface="+mn-ea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291072" y="1508760"/>
            <a:ext cx="54864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50876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EU</a:t>
            </a:r>
            <a:endParaRPr lang="en-US" sz="950" dirty="0">
              <a:latin typeface="+mn-ea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03720" y="15087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AI Act 발효 — TDM 일부 허용</a:t>
            </a:r>
            <a:endParaRPr lang="en-US" sz="950" dirty="0">
              <a:latin typeface="+mn-ea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291072" y="1783080"/>
            <a:ext cx="54864" cy="20116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178308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이스라엘</a:t>
            </a:r>
            <a:endParaRPr lang="en-US" sz="950" dirty="0">
              <a:latin typeface="+mn-ea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903720" y="17830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공정이용 범주 인정 의견 발표</a:t>
            </a:r>
            <a:endParaRPr lang="en-US" sz="950" dirty="0">
              <a:latin typeface="+mn-ea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291072" y="2057400"/>
            <a:ext cx="54864" cy="20116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205740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87171"/>
                </a:solidFill>
                <a:latin typeface="+mn-ea"/>
                <a:cs typeface="Calibri" pitchFamily="34" charset="-120"/>
              </a:rPr>
              <a:t>한국</a:t>
            </a:r>
            <a:endParaRPr lang="en-US" sz="950" dirty="0">
              <a:latin typeface="+mn-ea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903720" y="20574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+mn-ea"/>
                <a:cs typeface="Calibri" pitchFamily="34" charset="-120"/>
              </a:rPr>
              <a:t>공정이용 조항만 의존 — 불확실</a:t>
            </a:r>
            <a:endParaRPr lang="en-US" sz="950" dirty="0">
              <a:latin typeface="+mn-ea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82880" y="2523744"/>
            <a:ext cx="1810512" cy="14173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82880" y="2523744"/>
            <a:ext cx="1810512" cy="256032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5328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①  TDM 면책규정 도입</a:t>
            </a:r>
            <a:endParaRPr lang="en-US" sz="1000" dirty="0">
              <a:latin typeface="+mn-ea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274320" y="283464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일본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과 </a:t>
            </a:r>
            <a:r>
              <a:rPr 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EU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등을</a:t>
            </a:r>
            <a:r>
              <a:rPr lang="en-US" sz="100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참고하여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AI 학습단계 저작물 이용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면책규정 신설 필요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084832" y="2523744"/>
            <a:ext cx="1810512" cy="14173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84832" y="2523744"/>
            <a:ext cx="1810512" cy="256032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176272" y="25328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+mn-ea"/>
                <a:cs typeface="Calibri" pitchFamily="34" charset="-120"/>
              </a:rPr>
              <a:t>②  </a:t>
            </a:r>
            <a:r>
              <a:rPr lang="ko-KR" altLang="en-US" sz="1000" b="1" dirty="0" smtClean="0">
                <a:solidFill>
                  <a:srgbClr val="3B82F6"/>
                </a:solidFill>
                <a:latin typeface="+mn-ea"/>
                <a:cs typeface="Calibri" pitchFamily="34" charset="-120"/>
              </a:rPr>
              <a:t>공정이용 </a:t>
            </a:r>
            <a:r>
              <a:rPr lang="en-US" altLang="ko-KR" sz="1000" b="1" dirty="0" smtClean="0">
                <a:solidFill>
                  <a:srgbClr val="3B82F6"/>
                </a:solidFill>
                <a:latin typeface="+mn-ea"/>
                <a:cs typeface="Calibri" pitchFamily="34" charset="-120"/>
              </a:rPr>
              <a:t>4</a:t>
            </a:r>
            <a:r>
              <a:rPr lang="ko-KR" altLang="en-US" sz="1000" b="1" dirty="0" smtClean="0">
                <a:solidFill>
                  <a:srgbClr val="3B82F6"/>
                </a:solidFill>
                <a:latin typeface="+mn-ea"/>
                <a:cs typeface="Calibri" pitchFamily="34" charset="-120"/>
              </a:rPr>
              <a:t>요소</a:t>
            </a:r>
            <a:endParaRPr lang="en-US" sz="1000" dirty="0">
              <a:latin typeface="+mn-ea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2176272" y="283464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fontAlgn="base" latinLnBrk="1"/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이용의 목적과 성격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저작물의 성격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이용된 부분의 양과 중요성</a:t>
            </a:r>
            <a:r>
              <a:rPr lang="en-US" altLang="ko-KR" sz="1000" dirty="0" smtClean="0">
                <a:solidFill>
                  <a:schemeClr val="bg1"/>
                </a:solidFill>
                <a:latin typeface="+mn-ea"/>
              </a:rPr>
              <a:t>, </a:t>
            </a:r>
            <a:r>
              <a:rPr lang="ko-KR" altLang="en-US" sz="1000" dirty="0" smtClean="0">
                <a:solidFill>
                  <a:schemeClr val="bg1"/>
                </a:solidFill>
                <a:latin typeface="+mn-ea"/>
              </a:rPr>
              <a:t>잠재적 시장에 미치는 영향</a:t>
            </a:r>
            <a:endParaRPr lang="ko-KR" alt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986784" y="2523744"/>
            <a:ext cx="1810512" cy="14173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986784" y="2523744"/>
            <a:ext cx="1810512" cy="256032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78224" y="2532888"/>
            <a:ext cx="1627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+mn-ea"/>
                <a:cs typeface="Calibri" pitchFamily="34" charset="-120"/>
              </a:rPr>
              <a:t>③  인공지능기본법 연계</a:t>
            </a:r>
            <a:endParaRPr lang="en-US" sz="1000" dirty="0">
              <a:latin typeface="+mn-ea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4078224" y="2834640"/>
            <a:ext cx="16276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저작권법 개정과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통합적 법제 정비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(저작권 보호 규정 미비)</a:t>
            </a:r>
            <a:endParaRPr lang="en-US" sz="10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888736" y="2523744"/>
            <a:ext cx="3108960" cy="1417320"/>
          </a:xfrm>
          <a:prstGeom prst="rect">
            <a:avLst/>
          </a:prstGeom>
          <a:solidFill>
            <a:srgbClr val="112236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888736" y="2523744"/>
            <a:ext cx="3108960" cy="256032"/>
          </a:xfrm>
          <a:prstGeom prst="rect">
            <a:avLst/>
          </a:prstGeom>
          <a:solidFill>
            <a:srgbClr val="0D2A45"/>
          </a:solidFill>
          <a:ln w="12700">
            <a:solidFill>
              <a:srgbClr val="0D2A4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80176" y="253288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9B1"/>
                </a:solidFill>
                <a:latin typeface="+mn-ea"/>
                <a:cs typeface="Calibri" pitchFamily="34" charset="-120"/>
              </a:rPr>
              <a:t>논문 평가 &amp; 연구계획</a:t>
            </a:r>
            <a:endParaRPr lang="en-US" sz="1000" dirty="0">
              <a:latin typeface="+mn-ea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980176" y="2852928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+</a:t>
            </a:r>
            <a:endParaRPr lang="en-US" sz="1000" dirty="0">
              <a:latin typeface="+mn-ea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181344" y="28529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실제 소송 중심 — 구체적·실증적 분석</a:t>
            </a:r>
            <a:endParaRPr lang="en-US" sz="9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980176" y="3108960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+</a:t>
            </a:r>
            <a:endParaRPr lang="en-US" sz="1000" dirty="0">
              <a:latin typeface="+mn-ea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181344" y="30815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공정이용</a:t>
            </a:r>
            <a:r>
              <a:rPr lang="en-US" sz="95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4요소를 </a:t>
            </a:r>
            <a:r>
              <a:rPr lang="en-US" sz="95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양측</a:t>
            </a:r>
            <a:r>
              <a:rPr lang="en-US" sz="95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균형</a:t>
            </a:r>
            <a:r>
              <a:rPr lang="en-US" sz="95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있게</a:t>
            </a:r>
            <a:r>
              <a:rPr lang="en-US" sz="950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en-US" sz="950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검토</a:t>
            </a:r>
            <a:endParaRPr lang="en-US" sz="9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980176" y="3364992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+mn-ea"/>
                <a:cs typeface="Calibri" pitchFamily="34" charset="-120"/>
              </a:rPr>
              <a:t>+</a:t>
            </a:r>
            <a:endParaRPr lang="en-US" sz="1000" dirty="0">
              <a:latin typeface="+mn-ea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181344" y="33101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인공지능기본법·EU AI Act 최신 법제 반영</a:t>
            </a:r>
            <a:endParaRPr lang="en-US" sz="9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980176" y="3621024"/>
            <a:ext cx="201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+mn-ea"/>
                <a:cs typeface="Calibri" pitchFamily="34" charset="-120"/>
              </a:rPr>
              <a:t>-</a:t>
            </a:r>
            <a:endParaRPr lang="en-US" sz="1000" dirty="0">
              <a:latin typeface="+mn-ea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6181344" y="3538728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+mn-ea"/>
                <a:cs typeface="Calibri" pitchFamily="34" charset="-120"/>
              </a:rPr>
              <a:t>음악 AI에만 한정 (이미지·텍스트·영상 미흡)</a:t>
            </a:r>
            <a:endParaRPr lang="en-US" sz="95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888736" y="3858768"/>
            <a:ext cx="3108960" cy="91440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0176" y="39684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향후</a:t>
            </a:r>
            <a:r>
              <a:rPr lang="en-US" sz="950" b="1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 </a:t>
            </a:r>
            <a:r>
              <a:rPr lang="ko-KR" altLang="en-US" sz="950" b="1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연구 계획</a:t>
            </a:r>
            <a:r>
              <a:rPr lang="en-US" sz="950" b="1" dirty="0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: </a:t>
            </a:r>
            <a:r>
              <a:rPr lang="en-US" sz="950" b="1" dirty="0" err="1" smtClean="0">
                <a:solidFill>
                  <a:schemeClr val="bg1"/>
                </a:solidFill>
                <a:latin typeface="+mn-ea"/>
                <a:cs typeface="Calibri" pitchFamily="34" charset="-120"/>
              </a:rPr>
              <a:t>이미지</a:t>
            </a:r>
            <a:r>
              <a:rPr lang="en-US" sz="950" b="1" dirty="0" err="1">
                <a:solidFill>
                  <a:schemeClr val="bg1"/>
                </a:solidFill>
                <a:latin typeface="+mn-ea"/>
                <a:cs typeface="Calibri" pitchFamily="34" charset="-120"/>
              </a:rPr>
              <a:t>·텍스트·영상</a:t>
            </a:r>
            <a:r>
              <a:rPr lang="en-US" sz="950" b="1" dirty="0">
                <a:solidFill>
                  <a:schemeClr val="bg1"/>
                </a:solidFill>
                <a:latin typeface="+mn-ea"/>
                <a:cs typeface="Calibri" pitchFamily="34" charset="-120"/>
              </a:rPr>
              <a:t> AI로 확장 — TDM 입법 논의 기여 연구 수행 계획</a:t>
            </a:r>
            <a:endParaRPr lang="en-US" sz="9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18872" y="4663440"/>
            <a:ext cx="9025128" cy="480060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4690872"/>
            <a:ext cx="8595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err="1" smtClean="0">
                <a:solidFill>
                  <a:srgbClr val="64748B"/>
                </a:solidFill>
                <a:latin typeface="+mn-ea"/>
                <a:cs typeface="Calibri" pitchFamily="34" charset="-120"/>
              </a:rPr>
              <a:t>발표자</a:t>
            </a:r>
            <a:r>
              <a:rPr lang="en-US" sz="950" dirty="0">
                <a:solidFill>
                  <a:srgbClr val="64748B"/>
                </a:solidFill>
                <a:latin typeface="+mn-ea"/>
                <a:cs typeface="Calibri" pitchFamily="34" charset="-120"/>
              </a:rPr>
              <a:t>: 김준수 202476701</a:t>
            </a:r>
            <a:endParaRPr lang="en-US" sz="950" dirty="0">
              <a:latin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221</Words>
  <Application>Microsoft Office PowerPoint</Application>
  <PresentationFormat>화면 슬라이드 쇼(16:9)</PresentationFormat>
  <Paragraphs>45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Theme</vt:lpstr>
      <vt:lpstr>슬라이드 1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8</cp:revision>
  <dcterms:created xsi:type="dcterms:W3CDTF">2026-06-04T02:52:35Z</dcterms:created>
  <dcterms:modified xsi:type="dcterms:W3CDTF">2026-06-04T02:59:33Z</dcterms:modified>
</cp:coreProperties>
</file>