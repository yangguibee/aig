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256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027023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3분 발표 대본]
(15초) 제가 리뷰한 논문은 고려대 김태훈의 2026년 2월 박사학위논문, '주요국의 소버린 AI 전략 비교 분석을 통한 한국형 AI 모델에 관한 연구'입니다.
(50초) 먼저 연구 결과입니다. 저자는 AI 주권을 다섯 개의 축으로 나누어 보는 분석틀을 만들고, 9개국의 전략을 확장형·규범특화형·혼합형 세 가지로 분류했습니다. 핵심 발견은 '소버린 AI 트릴레마'인데, 자립성과 글로벌 호환성, 비용효율성을 동시에 잡기 어렵다는 것이고, 한국은 그 사이에서 불균형한 하이브리드 상태에 있다고 진단합니다. 해법으로는 완전한 자립 대신 선택적 자율성과 통제된 개방을 결합해, 한국이 강한 반도체와 제조 데이터를 글로벌 가치사슬의 병목으로 만들자는 K-SAI 모델을 제안합니다.
(45초) 제 평가입니다. 가장 큰 기여는 그동안 기술 확보 문제로만 보던 AI 주권을 국가 거버넌스 설계의 문제로 넓혀 재정의했다는 점이고, 다섯 축 분석틀이 다른 전략기술 분야에도 쓸 수 있을 만큼 범용적이라는 점입니다. 다만 한계도 분명합니다. 정성적 비교와 인터뷰 중심이라 정량적 검증이 약하고, K-SAI 모델을 제안했지만 그 성과를 측정할 지표가 빠져 있으며, 산업별로 데이터 주권이 어떻게 달라지는지는 후속 과제로 남겨두었습니다.
(50초) 그래서 제 연구 계획은 이 논문이 남긴 빈자리에서 출발합니다. 첫째, 다섯 축 분석틀을 특정 산업 단위로 좁혀서 데이터와 인프라의 자립·개방 경계를 어떻게 설계할지 분석하려 합니다. 둘째, 논문에 부족했던 정량 평가를 보완해 AI의 신뢰성과 설명가능성을 점검하는 거버넌스 지표와 모니터링 방법을 제안하고자 합니다. 셋째, EU AI Act나 ISO·IEEE 같은 국제 규범과 비교해 한국형 모델이 상호운용성을 갖추는 방안을 함께 살펴볼 계획입니다.
(10초) 정리하면, 이 논문은 국가 단위의 AI 주권 담론을 체계적으로 정리했고, 저는 이를 산업 현장의 데이터 거버넌스 문제로 좁혀 실증하는 것을 다음 단계로 삼으려 합니다.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544"/>
        </a:solidFill>
        <a:effectLst/>
      </p:bgPr>
    </p:bg>
    <p:spTree>
      <p:nvGrpSpPr>
        <p:cNvPr id="1" name=""/>
        <p:cNvGrpSpPr/>
        <p:nvPr/>
      </p:nvGrpSpPr>
      <p:grpSpPr>
        <a:xfrm>
          <a:off x="0" y="0"/>
          <a:ext cx="0" cy="0"/>
          <a:chOff x="0" y="0"/>
          <a:chExt cx="0" cy="0"/>
        </a:xfrm>
      </p:grpSpPr>
      <p:sp>
        <p:nvSpPr>
          <p:cNvPr id="2" name="Text 0"/>
          <p:cNvSpPr/>
          <p:nvPr/>
        </p:nvSpPr>
        <p:spPr>
          <a:xfrm>
            <a:off x="457200" y="256032"/>
            <a:ext cx="11247120" cy="457200"/>
          </a:xfrm>
          <a:prstGeom prst="rect">
            <a:avLst/>
          </a:prstGeom>
          <a:noFill/>
          <a:ln/>
        </p:spPr>
        <p:txBody>
          <a:bodyPr wrap="square" lIns="0" tIns="0" rIns="0" bIns="0" rtlCol="0" anchor="ctr"/>
          <a:lstStyle/>
          <a:p>
            <a:pPr marL="0" indent="0" algn="l">
              <a:buNone/>
            </a:pPr>
            <a:r>
              <a:rPr lang="en-US" sz="2100" b="1" dirty="0" err="1">
                <a:solidFill>
                  <a:srgbClr val="FFFFFF"/>
                </a:solidFill>
                <a:latin typeface="Calibri" pitchFamily="34" charset="0"/>
                <a:ea typeface="Calibri" pitchFamily="34" charset="-122"/>
                <a:cs typeface="Calibri" pitchFamily="34" charset="-120"/>
              </a:rPr>
              <a:t>주요국의</a:t>
            </a:r>
            <a:r>
              <a:rPr lang="en-US" sz="2100" b="1" dirty="0">
                <a:solidFill>
                  <a:srgbClr val="FFFFFF"/>
                </a:solidFill>
                <a:latin typeface="Calibri" pitchFamily="34" charset="0"/>
                <a:ea typeface="Calibri" pitchFamily="34" charset="-122"/>
                <a:cs typeface="Calibri" pitchFamily="34" charset="-120"/>
              </a:rPr>
              <a:t> 소버린 AI 전략 비교 분석을 통한 한국형 AI 모델에 관한 연구</a:t>
            </a:r>
            <a:endParaRPr lang="en-US" sz="2100" dirty="0"/>
          </a:p>
        </p:txBody>
      </p:sp>
      <p:sp>
        <p:nvSpPr>
          <p:cNvPr id="3" name="Text 1"/>
          <p:cNvSpPr/>
          <p:nvPr/>
        </p:nvSpPr>
        <p:spPr>
          <a:xfrm>
            <a:off x="457200" y="713232"/>
            <a:ext cx="11247120" cy="292608"/>
          </a:xfrm>
          <a:prstGeom prst="rect">
            <a:avLst/>
          </a:prstGeom>
          <a:noFill/>
          <a:ln/>
        </p:spPr>
        <p:txBody>
          <a:bodyPr wrap="square" lIns="0" tIns="0" rIns="0" bIns="0" rtlCol="0" anchor="ctr"/>
          <a:lstStyle/>
          <a:p>
            <a:pPr marL="0" indent="0" algn="l">
              <a:buNone/>
            </a:pPr>
            <a:r>
              <a:rPr lang="en-US" sz="1100" dirty="0">
                <a:solidFill>
                  <a:srgbClr val="CFE0F5"/>
                </a:solidFill>
                <a:latin typeface="Calibri" pitchFamily="34" charset="0"/>
                <a:ea typeface="Calibri" pitchFamily="34" charset="-122"/>
                <a:cs typeface="Calibri" pitchFamily="34" charset="-120"/>
              </a:rPr>
              <a:t>김태훈 · 고려대학교 기술경영전문대학원 박사학위논문 · 2026년 2월</a:t>
            </a:r>
            <a:endParaRPr lang="en-US" sz="1100" dirty="0"/>
          </a:p>
        </p:txBody>
      </p:sp>
      <p:sp>
        <p:nvSpPr>
          <p:cNvPr id="4" name="Shape 2"/>
          <p:cNvSpPr/>
          <p:nvPr/>
        </p:nvSpPr>
        <p:spPr>
          <a:xfrm>
            <a:off x="457200" y="1207008"/>
            <a:ext cx="4069080" cy="5074920"/>
          </a:xfrm>
          <a:prstGeom prst="roundRect">
            <a:avLst>
              <a:gd name="adj" fmla="val 2022"/>
            </a:avLst>
          </a:prstGeom>
          <a:solidFill>
            <a:srgbClr val="F4F7FB"/>
          </a:solidFill>
          <a:ln/>
          <a:effectLst>
            <a:outerShdw blurRad="88900" dist="25400" dir="5400000" algn="bl" rotWithShape="0">
              <a:srgbClr val="000000">
                <a:alpha val="18000"/>
              </a:srgbClr>
            </a:outerShdw>
          </a:effectLst>
        </p:spPr>
        <p:txBody>
          <a:bodyPr/>
          <a:lstStyle/>
          <a:p>
            <a:endParaRPr lang="ko-KR" altLang="en-US"/>
          </a:p>
        </p:txBody>
      </p:sp>
      <p:sp>
        <p:nvSpPr>
          <p:cNvPr id="5" name="Text 3"/>
          <p:cNvSpPr/>
          <p:nvPr/>
        </p:nvSpPr>
        <p:spPr>
          <a:xfrm>
            <a:off x="685800" y="1371600"/>
            <a:ext cx="3611880" cy="365760"/>
          </a:xfrm>
          <a:prstGeom prst="rect">
            <a:avLst/>
          </a:prstGeom>
          <a:noFill/>
          <a:ln/>
        </p:spPr>
        <p:txBody>
          <a:bodyPr wrap="square" lIns="0" tIns="0" rIns="0" bIns="0" rtlCol="0" anchor="ctr"/>
          <a:lstStyle/>
          <a:p>
            <a:pPr marL="0" indent="0" algn="l">
              <a:buNone/>
            </a:pPr>
            <a:r>
              <a:rPr lang="en-US" sz="1400" b="1" dirty="0">
                <a:solidFill>
                  <a:srgbClr val="1A2336"/>
                </a:solidFill>
                <a:latin typeface="Calibri" pitchFamily="34" charset="0"/>
                <a:ea typeface="Calibri" pitchFamily="34" charset="-122"/>
                <a:cs typeface="Calibri" pitchFamily="34" charset="-120"/>
              </a:rPr>
              <a:t>① 연구 결과 (논문 핵심)</a:t>
            </a:r>
            <a:endParaRPr lang="en-US" sz="1400" dirty="0"/>
          </a:p>
        </p:txBody>
      </p:sp>
      <p:pic>
        <p:nvPicPr>
          <p:cNvPr id="6" name="Image 0" descr="preencoded.png"/>
          <p:cNvPicPr>
            <a:picLocks noChangeAspect="1"/>
          </p:cNvPicPr>
          <p:nvPr/>
        </p:nvPicPr>
        <p:blipFill>
          <a:blip r:embed="rId3"/>
          <a:stretch>
            <a:fillRect/>
          </a:stretch>
        </p:blipFill>
        <p:spPr>
          <a:xfrm>
            <a:off x="713232" y="1892808"/>
            <a:ext cx="310896" cy="310896"/>
          </a:xfrm>
          <a:prstGeom prst="rect">
            <a:avLst/>
          </a:prstGeom>
        </p:spPr>
      </p:pic>
      <p:sp>
        <p:nvSpPr>
          <p:cNvPr id="7" name="Text 4"/>
          <p:cNvSpPr/>
          <p:nvPr/>
        </p:nvSpPr>
        <p:spPr>
          <a:xfrm>
            <a:off x="1133856" y="1828800"/>
            <a:ext cx="3154680" cy="310896"/>
          </a:xfrm>
          <a:prstGeom prst="rect">
            <a:avLst/>
          </a:prstGeom>
          <a:noFill/>
          <a:ln/>
        </p:spPr>
        <p:txBody>
          <a:bodyPr wrap="square" lIns="0" tIns="0" rIns="0" bIns="0" rtlCol="0" anchor="ctr"/>
          <a:lstStyle/>
          <a:p>
            <a:pPr marL="0" indent="0" algn="l">
              <a:buNone/>
            </a:pPr>
            <a:r>
              <a:rPr lang="en-US" sz="1250" b="1" dirty="0">
                <a:solidFill>
                  <a:srgbClr val="1A2336"/>
                </a:solidFill>
                <a:latin typeface="Calibri" pitchFamily="34" charset="0"/>
                <a:ea typeface="Calibri" pitchFamily="34" charset="-122"/>
                <a:cs typeface="Calibri" pitchFamily="34" charset="-120"/>
              </a:rPr>
              <a:t>5축 분석틀 제시</a:t>
            </a:r>
            <a:endParaRPr lang="en-US" sz="1250" dirty="0"/>
          </a:p>
        </p:txBody>
      </p:sp>
      <p:sp>
        <p:nvSpPr>
          <p:cNvPr id="8" name="Text 5"/>
          <p:cNvSpPr/>
          <p:nvPr/>
        </p:nvSpPr>
        <p:spPr>
          <a:xfrm>
            <a:off x="1133856" y="2157984"/>
            <a:ext cx="3154680" cy="676656"/>
          </a:xfrm>
          <a:prstGeom prst="rect">
            <a:avLst/>
          </a:prstGeom>
          <a:noFill/>
          <a:ln/>
        </p:spPr>
        <p:txBody>
          <a:bodyPr wrap="square" lIns="0" tIns="0" rIns="0" bIns="0" rtlCol="0" anchor="t"/>
          <a:lstStyle/>
          <a:p>
            <a:pPr marL="0" indent="0" algn="l">
              <a:lnSpc>
                <a:spcPct val="100000"/>
              </a:lnSpc>
              <a:buNone/>
            </a:pPr>
            <a:r>
              <a:rPr lang="en-US" sz="1000" dirty="0">
                <a:solidFill>
                  <a:srgbClr val="5A6577"/>
                </a:solidFill>
                <a:latin typeface="Calibri" pitchFamily="34" charset="0"/>
                <a:ea typeface="Calibri" pitchFamily="34" charset="-122"/>
                <a:cs typeface="Calibri" pitchFamily="34" charset="-120"/>
              </a:rPr>
              <a:t>AI 주권을 자본·인프라, 인재·R&amp;D, 산업·생태계, 정책·법규, 지정학·안보의 다섯 축으로 나누어 통합적으로 진단함</a:t>
            </a:r>
            <a:endParaRPr lang="en-US" sz="1000" dirty="0"/>
          </a:p>
        </p:txBody>
      </p:sp>
      <p:pic>
        <p:nvPicPr>
          <p:cNvPr id="9" name="Image 1" descr="preencoded.png"/>
          <p:cNvPicPr>
            <a:picLocks noChangeAspect="1"/>
          </p:cNvPicPr>
          <p:nvPr/>
        </p:nvPicPr>
        <p:blipFill>
          <a:blip r:embed="rId4"/>
          <a:stretch>
            <a:fillRect/>
          </a:stretch>
        </p:blipFill>
        <p:spPr>
          <a:xfrm>
            <a:off x="713232" y="2953512"/>
            <a:ext cx="310896" cy="310896"/>
          </a:xfrm>
          <a:prstGeom prst="rect">
            <a:avLst/>
          </a:prstGeom>
        </p:spPr>
      </p:pic>
      <p:sp>
        <p:nvSpPr>
          <p:cNvPr id="10" name="Text 6"/>
          <p:cNvSpPr/>
          <p:nvPr/>
        </p:nvSpPr>
        <p:spPr>
          <a:xfrm>
            <a:off x="1133856" y="2889504"/>
            <a:ext cx="3154680" cy="310896"/>
          </a:xfrm>
          <a:prstGeom prst="rect">
            <a:avLst/>
          </a:prstGeom>
          <a:noFill/>
          <a:ln/>
        </p:spPr>
        <p:txBody>
          <a:bodyPr wrap="square" lIns="0" tIns="0" rIns="0" bIns="0" rtlCol="0" anchor="ctr"/>
          <a:lstStyle/>
          <a:p>
            <a:pPr marL="0" indent="0" algn="l">
              <a:buNone/>
            </a:pPr>
            <a:r>
              <a:rPr lang="en-US" sz="1250" b="1" dirty="0">
                <a:solidFill>
                  <a:srgbClr val="1A2336"/>
                </a:solidFill>
                <a:latin typeface="Calibri" pitchFamily="34" charset="0"/>
                <a:ea typeface="Calibri" pitchFamily="34" charset="-122"/>
                <a:cs typeface="Calibri" pitchFamily="34" charset="-120"/>
              </a:rPr>
              <a:t>3대 전략유형 도출</a:t>
            </a:r>
            <a:endParaRPr lang="en-US" sz="1250" dirty="0"/>
          </a:p>
        </p:txBody>
      </p:sp>
      <p:sp>
        <p:nvSpPr>
          <p:cNvPr id="11" name="Text 7"/>
          <p:cNvSpPr/>
          <p:nvPr/>
        </p:nvSpPr>
        <p:spPr>
          <a:xfrm>
            <a:off x="1133856" y="3218688"/>
            <a:ext cx="3154680" cy="676656"/>
          </a:xfrm>
          <a:prstGeom prst="rect">
            <a:avLst/>
          </a:prstGeom>
          <a:noFill/>
          <a:ln/>
        </p:spPr>
        <p:txBody>
          <a:bodyPr wrap="square" lIns="0" tIns="0" rIns="0" bIns="0" rtlCol="0" anchor="t"/>
          <a:lstStyle/>
          <a:p>
            <a:pPr marL="0" indent="0" algn="l">
              <a:lnSpc>
                <a:spcPct val="100000"/>
              </a:lnSpc>
              <a:buNone/>
            </a:pPr>
            <a:r>
              <a:rPr lang="en-US" sz="1000" dirty="0">
                <a:solidFill>
                  <a:srgbClr val="5A6577"/>
                </a:solidFill>
                <a:latin typeface="Calibri" pitchFamily="34" charset="0"/>
                <a:ea typeface="Calibri" pitchFamily="34" charset="-122"/>
                <a:cs typeface="Calibri" pitchFamily="34" charset="-120"/>
              </a:rPr>
              <a:t>9개국을 비교해 확장형(Scale-up), 규범특화형(Value-up), 혼합형(Hybrid)으로 유형화하고 전문가 인터뷰로 검증함</a:t>
            </a:r>
            <a:endParaRPr lang="en-US" sz="1000" dirty="0"/>
          </a:p>
        </p:txBody>
      </p:sp>
      <p:pic>
        <p:nvPicPr>
          <p:cNvPr id="12" name="Image 2" descr="preencoded.png"/>
          <p:cNvPicPr>
            <a:picLocks noChangeAspect="1"/>
          </p:cNvPicPr>
          <p:nvPr/>
        </p:nvPicPr>
        <p:blipFill>
          <a:blip r:embed="rId5"/>
          <a:stretch>
            <a:fillRect/>
          </a:stretch>
        </p:blipFill>
        <p:spPr>
          <a:xfrm>
            <a:off x="713232" y="4014216"/>
            <a:ext cx="310896" cy="310896"/>
          </a:xfrm>
          <a:prstGeom prst="rect">
            <a:avLst/>
          </a:prstGeom>
        </p:spPr>
      </p:pic>
      <p:sp>
        <p:nvSpPr>
          <p:cNvPr id="13" name="Text 8"/>
          <p:cNvSpPr/>
          <p:nvPr/>
        </p:nvSpPr>
        <p:spPr>
          <a:xfrm>
            <a:off x="1133856" y="3950208"/>
            <a:ext cx="3154680" cy="310896"/>
          </a:xfrm>
          <a:prstGeom prst="rect">
            <a:avLst/>
          </a:prstGeom>
          <a:noFill/>
          <a:ln/>
        </p:spPr>
        <p:txBody>
          <a:bodyPr wrap="square" lIns="0" tIns="0" rIns="0" bIns="0" rtlCol="0" anchor="ctr"/>
          <a:lstStyle/>
          <a:p>
            <a:pPr marL="0" indent="0" algn="l">
              <a:buNone/>
            </a:pPr>
            <a:r>
              <a:rPr lang="en-US" sz="1250" b="1" dirty="0">
                <a:solidFill>
                  <a:srgbClr val="1A2336"/>
                </a:solidFill>
                <a:latin typeface="Calibri" pitchFamily="34" charset="0"/>
                <a:ea typeface="Calibri" pitchFamily="34" charset="-122"/>
                <a:cs typeface="Calibri" pitchFamily="34" charset="-120"/>
              </a:rPr>
              <a:t>소버린 AI 트릴레마</a:t>
            </a:r>
            <a:endParaRPr lang="en-US" sz="1250" dirty="0"/>
          </a:p>
        </p:txBody>
      </p:sp>
      <p:sp>
        <p:nvSpPr>
          <p:cNvPr id="14" name="Text 9"/>
          <p:cNvSpPr/>
          <p:nvPr/>
        </p:nvSpPr>
        <p:spPr>
          <a:xfrm>
            <a:off x="1133856" y="4279392"/>
            <a:ext cx="3154680" cy="676656"/>
          </a:xfrm>
          <a:prstGeom prst="rect">
            <a:avLst/>
          </a:prstGeom>
          <a:noFill/>
          <a:ln/>
        </p:spPr>
        <p:txBody>
          <a:bodyPr wrap="square" lIns="0" tIns="0" rIns="0" bIns="0" rtlCol="0" anchor="t"/>
          <a:lstStyle/>
          <a:p>
            <a:pPr marL="0" indent="0" algn="l">
              <a:lnSpc>
                <a:spcPct val="100000"/>
              </a:lnSpc>
              <a:buNone/>
            </a:pPr>
            <a:r>
              <a:rPr lang="en-US" sz="1000" dirty="0">
                <a:solidFill>
                  <a:srgbClr val="5A6577"/>
                </a:solidFill>
                <a:latin typeface="Calibri" pitchFamily="34" charset="0"/>
                <a:ea typeface="Calibri" pitchFamily="34" charset="-122"/>
                <a:cs typeface="Calibri" pitchFamily="34" charset="-120"/>
              </a:rPr>
              <a:t>자립성·글로벌 호환성·비용효율성의 동시 충족이 어려우며, 한국은 '불균형한 하이브리드'에 머물러 있음</a:t>
            </a:r>
            <a:endParaRPr lang="en-US" sz="1000" dirty="0"/>
          </a:p>
        </p:txBody>
      </p:sp>
      <p:pic>
        <p:nvPicPr>
          <p:cNvPr id="15" name="Image 3" descr="preencoded.png"/>
          <p:cNvPicPr>
            <a:picLocks noChangeAspect="1"/>
          </p:cNvPicPr>
          <p:nvPr/>
        </p:nvPicPr>
        <p:blipFill>
          <a:blip r:embed="rId6"/>
          <a:stretch>
            <a:fillRect/>
          </a:stretch>
        </p:blipFill>
        <p:spPr>
          <a:xfrm>
            <a:off x="713232" y="5074920"/>
            <a:ext cx="310896" cy="310896"/>
          </a:xfrm>
          <a:prstGeom prst="rect">
            <a:avLst/>
          </a:prstGeom>
        </p:spPr>
      </p:pic>
      <p:sp>
        <p:nvSpPr>
          <p:cNvPr id="16" name="Text 10"/>
          <p:cNvSpPr/>
          <p:nvPr/>
        </p:nvSpPr>
        <p:spPr>
          <a:xfrm>
            <a:off x="1133856" y="5010912"/>
            <a:ext cx="3154680" cy="310896"/>
          </a:xfrm>
          <a:prstGeom prst="rect">
            <a:avLst/>
          </a:prstGeom>
          <a:noFill/>
          <a:ln/>
        </p:spPr>
        <p:txBody>
          <a:bodyPr wrap="square" lIns="0" tIns="0" rIns="0" bIns="0" rtlCol="0" anchor="ctr"/>
          <a:lstStyle/>
          <a:p>
            <a:pPr marL="0" indent="0" algn="l">
              <a:buNone/>
            </a:pPr>
            <a:r>
              <a:rPr lang="en-US" sz="1250" b="1" dirty="0">
                <a:solidFill>
                  <a:srgbClr val="1A2336"/>
                </a:solidFill>
                <a:latin typeface="Calibri" pitchFamily="34" charset="0"/>
                <a:ea typeface="Calibri" pitchFamily="34" charset="-122"/>
                <a:cs typeface="Calibri" pitchFamily="34" charset="-120"/>
              </a:rPr>
              <a:t>K-SAI 실행모델 제안</a:t>
            </a:r>
            <a:endParaRPr lang="en-US" sz="1250" dirty="0"/>
          </a:p>
        </p:txBody>
      </p:sp>
      <p:sp>
        <p:nvSpPr>
          <p:cNvPr id="17" name="Text 11"/>
          <p:cNvSpPr/>
          <p:nvPr/>
        </p:nvSpPr>
        <p:spPr>
          <a:xfrm>
            <a:off x="1133856" y="5340096"/>
            <a:ext cx="3154680" cy="676656"/>
          </a:xfrm>
          <a:prstGeom prst="rect">
            <a:avLst/>
          </a:prstGeom>
          <a:noFill/>
          <a:ln/>
        </p:spPr>
        <p:txBody>
          <a:bodyPr wrap="square" lIns="0" tIns="0" rIns="0" bIns="0" rtlCol="0" anchor="t"/>
          <a:lstStyle/>
          <a:p>
            <a:pPr marL="0" indent="0" algn="l">
              <a:lnSpc>
                <a:spcPct val="100000"/>
              </a:lnSpc>
              <a:buNone/>
            </a:pPr>
            <a:r>
              <a:rPr lang="en-US" sz="1000" dirty="0">
                <a:solidFill>
                  <a:srgbClr val="5A6577"/>
                </a:solidFill>
                <a:latin typeface="Calibri" pitchFamily="34" charset="0"/>
                <a:ea typeface="Calibri" pitchFamily="34" charset="-122"/>
                <a:cs typeface="Calibri" pitchFamily="34" charset="-120"/>
              </a:rPr>
              <a:t>완전 자립 대신 '선택적 자율성 + 통제된 개방'을 택해, 반도체·제조 데이터를 글로벌 가치사슬의 병목으로 삼는 전략임</a:t>
            </a:r>
            <a:endParaRPr lang="en-US" sz="1000" dirty="0"/>
          </a:p>
        </p:txBody>
      </p:sp>
      <p:sp>
        <p:nvSpPr>
          <p:cNvPr id="18" name="Shape 12"/>
          <p:cNvSpPr/>
          <p:nvPr/>
        </p:nvSpPr>
        <p:spPr>
          <a:xfrm>
            <a:off x="4754880" y="1207008"/>
            <a:ext cx="3383280" cy="5074920"/>
          </a:xfrm>
          <a:prstGeom prst="roundRect">
            <a:avLst>
              <a:gd name="adj" fmla="val 2432"/>
            </a:avLst>
          </a:prstGeom>
          <a:solidFill>
            <a:srgbClr val="1E335C"/>
          </a:solidFill>
          <a:ln/>
          <a:effectLst>
            <a:outerShdw blurRad="88900" dist="25400" dir="5400000" algn="bl" rotWithShape="0">
              <a:srgbClr val="000000">
                <a:alpha val="18000"/>
              </a:srgbClr>
            </a:outerShdw>
          </a:effectLst>
        </p:spPr>
        <p:txBody>
          <a:bodyPr/>
          <a:lstStyle/>
          <a:p>
            <a:endParaRPr lang="ko-KR" altLang="en-US"/>
          </a:p>
        </p:txBody>
      </p:sp>
      <p:sp>
        <p:nvSpPr>
          <p:cNvPr id="19" name="Text 13"/>
          <p:cNvSpPr/>
          <p:nvPr/>
        </p:nvSpPr>
        <p:spPr>
          <a:xfrm>
            <a:off x="4983480" y="1371600"/>
            <a:ext cx="2926080" cy="36576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② 나의 평가</a:t>
            </a:r>
            <a:endParaRPr lang="en-US" sz="1400" dirty="0"/>
          </a:p>
        </p:txBody>
      </p:sp>
      <p:pic>
        <p:nvPicPr>
          <p:cNvPr id="20" name="Image 4" descr="preencoded.png"/>
          <p:cNvPicPr>
            <a:picLocks noChangeAspect="1"/>
          </p:cNvPicPr>
          <p:nvPr/>
        </p:nvPicPr>
        <p:blipFill>
          <a:blip r:embed="rId7"/>
          <a:stretch>
            <a:fillRect/>
          </a:stretch>
        </p:blipFill>
        <p:spPr>
          <a:xfrm>
            <a:off x="4992624" y="1865376"/>
            <a:ext cx="256032" cy="256032"/>
          </a:xfrm>
          <a:prstGeom prst="rect">
            <a:avLst/>
          </a:prstGeom>
        </p:spPr>
      </p:pic>
      <p:sp>
        <p:nvSpPr>
          <p:cNvPr id="21" name="Text 14"/>
          <p:cNvSpPr/>
          <p:nvPr/>
        </p:nvSpPr>
        <p:spPr>
          <a:xfrm>
            <a:off x="5321808" y="1847088"/>
            <a:ext cx="2651760" cy="292608"/>
          </a:xfrm>
          <a:prstGeom prst="rect">
            <a:avLst/>
          </a:prstGeom>
          <a:noFill/>
          <a:ln/>
        </p:spPr>
        <p:txBody>
          <a:bodyPr wrap="square" lIns="0" tIns="0" rIns="0" bIns="0" rtlCol="0" anchor="ctr"/>
          <a:lstStyle/>
          <a:p>
            <a:pPr marL="0" indent="0">
              <a:buNone/>
            </a:pPr>
            <a:r>
              <a:rPr lang="en-US" sz="1200" b="1" dirty="0">
                <a:solidFill>
                  <a:srgbClr val="8FE3C9"/>
                </a:solidFill>
                <a:latin typeface="Calibri" pitchFamily="34" charset="0"/>
                <a:ea typeface="Calibri" pitchFamily="34" charset="-122"/>
                <a:cs typeface="Calibri" pitchFamily="34" charset="-120"/>
              </a:rPr>
              <a:t>기여 · 강점</a:t>
            </a:r>
            <a:endParaRPr lang="en-US" sz="1200" dirty="0"/>
          </a:p>
        </p:txBody>
      </p:sp>
      <p:sp>
        <p:nvSpPr>
          <p:cNvPr id="22" name="Text 15"/>
          <p:cNvSpPr/>
          <p:nvPr/>
        </p:nvSpPr>
        <p:spPr>
          <a:xfrm>
            <a:off x="5010912" y="2194560"/>
            <a:ext cx="2926080" cy="1417320"/>
          </a:xfrm>
          <a:prstGeom prst="rect">
            <a:avLst/>
          </a:prstGeom>
          <a:noFill/>
          <a:ln/>
        </p:spPr>
        <p:txBody>
          <a:bodyPr wrap="square" lIns="0" tIns="0" rIns="0" bIns="0" rtlCol="0" anchor="t"/>
          <a:lstStyle/>
          <a:p>
            <a:pPr marL="342900" indent="-342900" algn="l">
              <a:spcAft>
                <a:spcPts val="600"/>
              </a:spcAft>
              <a:buSzPct val="100000"/>
              <a:buChar char="•"/>
            </a:pPr>
            <a:r>
              <a:rPr lang="en-US" sz="1030" dirty="0">
                <a:solidFill>
                  <a:srgbClr val="CFE0F5"/>
                </a:solidFill>
                <a:latin typeface="Calibri" pitchFamily="34" charset="0"/>
                <a:ea typeface="Calibri" pitchFamily="34" charset="-122"/>
                <a:cs typeface="Calibri" pitchFamily="34" charset="-120"/>
              </a:rPr>
              <a:t>기술 확보 문제로 좁게 보던 'AI 주권'을 국가 거버넌스 설계의 문제로 넓혀 재정의함</a:t>
            </a:r>
            <a:endParaRPr lang="en-US" sz="1030" dirty="0"/>
          </a:p>
          <a:p>
            <a:pPr marL="342900" indent="-342900" algn="l">
              <a:spcAft>
                <a:spcPts val="600"/>
              </a:spcAft>
              <a:buSzPct val="100000"/>
              <a:buChar char="•"/>
            </a:pPr>
            <a:r>
              <a:rPr lang="en-US" sz="1030" dirty="0">
                <a:solidFill>
                  <a:srgbClr val="CFE0F5"/>
                </a:solidFill>
                <a:latin typeface="Calibri" pitchFamily="34" charset="0"/>
                <a:ea typeface="Calibri" pitchFamily="34" charset="-122"/>
                <a:cs typeface="Calibri" pitchFamily="34" charset="-120"/>
              </a:rPr>
              <a:t>5축 분석틀이 반도체·디지털 주권 등 다른 전략기술 분야로도 확장될 수 있는 범용성을 지님</a:t>
            </a:r>
            <a:endParaRPr lang="en-US" sz="1030" dirty="0"/>
          </a:p>
          <a:p>
            <a:pPr marL="342900" indent="-342900" algn="l">
              <a:spcAft>
                <a:spcPts val="600"/>
              </a:spcAft>
              <a:buSzPct val="100000"/>
              <a:buChar char="•"/>
            </a:pPr>
            <a:r>
              <a:rPr lang="en-US" sz="1030" dirty="0">
                <a:solidFill>
                  <a:srgbClr val="CFE0F5"/>
                </a:solidFill>
                <a:latin typeface="Calibri" pitchFamily="34" charset="0"/>
                <a:ea typeface="Calibri" pitchFamily="34" charset="-122"/>
                <a:cs typeface="Calibri" pitchFamily="34" charset="-120"/>
              </a:rPr>
              <a:t>전문가 인터뷰를 통해 유형 분류가 실제 정책 현장과 잘 맞는다는 점을 입증함</a:t>
            </a:r>
            <a:endParaRPr lang="en-US" sz="1030" dirty="0"/>
          </a:p>
        </p:txBody>
      </p:sp>
      <p:pic>
        <p:nvPicPr>
          <p:cNvPr id="23" name="Image 5" descr="preencoded.png"/>
          <p:cNvPicPr>
            <a:picLocks noChangeAspect="1"/>
          </p:cNvPicPr>
          <p:nvPr/>
        </p:nvPicPr>
        <p:blipFill>
          <a:blip r:embed="rId8"/>
          <a:stretch>
            <a:fillRect/>
          </a:stretch>
        </p:blipFill>
        <p:spPr>
          <a:xfrm>
            <a:off x="4992624" y="3749040"/>
            <a:ext cx="256032" cy="256032"/>
          </a:xfrm>
          <a:prstGeom prst="rect">
            <a:avLst/>
          </a:prstGeom>
        </p:spPr>
      </p:pic>
      <p:sp>
        <p:nvSpPr>
          <p:cNvPr id="24" name="Text 16"/>
          <p:cNvSpPr/>
          <p:nvPr/>
        </p:nvSpPr>
        <p:spPr>
          <a:xfrm>
            <a:off x="5321808" y="3730752"/>
            <a:ext cx="2651760" cy="292608"/>
          </a:xfrm>
          <a:prstGeom prst="rect">
            <a:avLst/>
          </a:prstGeom>
          <a:noFill/>
          <a:ln/>
        </p:spPr>
        <p:txBody>
          <a:bodyPr wrap="square" lIns="0" tIns="0" rIns="0" bIns="0" rtlCol="0" anchor="ctr"/>
          <a:lstStyle/>
          <a:p>
            <a:pPr marL="0" indent="0">
              <a:buNone/>
            </a:pPr>
            <a:r>
              <a:rPr lang="en-US" sz="1200" b="1" dirty="0">
                <a:solidFill>
                  <a:srgbClr val="F0C57A"/>
                </a:solidFill>
                <a:latin typeface="Calibri" pitchFamily="34" charset="0"/>
                <a:ea typeface="Calibri" pitchFamily="34" charset="-122"/>
                <a:cs typeface="Calibri" pitchFamily="34" charset="-120"/>
              </a:rPr>
              <a:t>한계 · 아쉬운 점</a:t>
            </a:r>
            <a:endParaRPr lang="en-US" sz="1200" dirty="0"/>
          </a:p>
        </p:txBody>
      </p:sp>
      <p:sp>
        <p:nvSpPr>
          <p:cNvPr id="25" name="Text 17"/>
          <p:cNvSpPr/>
          <p:nvPr/>
        </p:nvSpPr>
        <p:spPr>
          <a:xfrm>
            <a:off x="5010912" y="4059936"/>
            <a:ext cx="2926080" cy="1554480"/>
          </a:xfrm>
          <a:prstGeom prst="rect">
            <a:avLst/>
          </a:prstGeom>
          <a:noFill/>
          <a:ln/>
        </p:spPr>
        <p:txBody>
          <a:bodyPr wrap="square" lIns="0" tIns="0" rIns="0" bIns="0" rtlCol="0" anchor="t"/>
          <a:lstStyle/>
          <a:p>
            <a:pPr marL="342900" indent="-342900" algn="l">
              <a:spcAft>
                <a:spcPts val="600"/>
              </a:spcAft>
              <a:buSzPct val="100000"/>
              <a:buChar char="•"/>
            </a:pPr>
            <a:r>
              <a:rPr lang="en-US" sz="1030" dirty="0">
                <a:solidFill>
                  <a:srgbClr val="CFE0F5"/>
                </a:solidFill>
                <a:latin typeface="Calibri" pitchFamily="34" charset="0"/>
                <a:ea typeface="Calibri" pitchFamily="34" charset="-122"/>
                <a:cs typeface="Calibri" pitchFamily="34" charset="-120"/>
              </a:rPr>
              <a:t>정성적 비교와 인터뷰가 중심이어서, 정량 지표에 근거한 검증이 상대적으로 약함</a:t>
            </a:r>
            <a:endParaRPr lang="en-US" sz="1030" dirty="0"/>
          </a:p>
          <a:p>
            <a:pPr marL="342900" indent="-342900" algn="l">
              <a:spcAft>
                <a:spcPts val="600"/>
              </a:spcAft>
              <a:buSzPct val="100000"/>
              <a:buChar char="•"/>
            </a:pPr>
            <a:r>
              <a:rPr lang="en-US" sz="1030" dirty="0">
                <a:solidFill>
                  <a:srgbClr val="CFE0F5"/>
                </a:solidFill>
                <a:latin typeface="Calibri" pitchFamily="34" charset="0"/>
                <a:ea typeface="Calibri" pitchFamily="34" charset="-122"/>
                <a:cs typeface="Calibri" pitchFamily="34" charset="-120"/>
              </a:rPr>
              <a:t>K-SAI 모델을 제안했으나 그 실행 성과를 측정할 평가지표는 제시하지 못함</a:t>
            </a:r>
            <a:endParaRPr lang="en-US" sz="1030" dirty="0"/>
          </a:p>
          <a:p>
            <a:pPr marL="342900" indent="-342900" algn="l">
              <a:spcAft>
                <a:spcPts val="600"/>
              </a:spcAft>
              <a:buSzPct val="100000"/>
              <a:buChar char="•"/>
            </a:pPr>
            <a:r>
              <a:rPr lang="en-US" sz="1030" dirty="0">
                <a:solidFill>
                  <a:srgbClr val="CFE0F5"/>
                </a:solidFill>
                <a:latin typeface="Calibri" pitchFamily="34" charset="0"/>
                <a:ea typeface="Calibri" pitchFamily="34" charset="-122"/>
                <a:cs typeface="Calibri" pitchFamily="34" charset="-120"/>
              </a:rPr>
              <a:t>금융·의료처럼 산업별로 데이터 주권이 달라지는 양상은 후속 과제로 남김</a:t>
            </a:r>
            <a:endParaRPr lang="en-US" sz="1030" dirty="0"/>
          </a:p>
        </p:txBody>
      </p:sp>
      <p:sp>
        <p:nvSpPr>
          <p:cNvPr id="26" name="Shape 18"/>
          <p:cNvSpPr/>
          <p:nvPr/>
        </p:nvSpPr>
        <p:spPr>
          <a:xfrm>
            <a:off x="8366760" y="1207008"/>
            <a:ext cx="3364992" cy="5074920"/>
          </a:xfrm>
          <a:prstGeom prst="roundRect">
            <a:avLst>
              <a:gd name="adj" fmla="val 2446"/>
            </a:avLst>
          </a:prstGeom>
          <a:solidFill>
            <a:srgbClr val="2DB5A8"/>
          </a:solidFill>
          <a:ln/>
          <a:effectLst>
            <a:outerShdw blurRad="88900" dist="25400" dir="5400000" algn="bl" rotWithShape="0">
              <a:srgbClr val="000000">
                <a:alpha val="18000"/>
              </a:srgbClr>
            </a:outerShdw>
          </a:effectLst>
        </p:spPr>
        <p:txBody>
          <a:bodyPr/>
          <a:lstStyle/>
          <a:p>
            <a:endParaRPr lang="ko-KR" altLang="en-US"/>
          </a:p>
        </p:txBody>
      </p:sp>
      <p:sp>
        <p:nvSpPr>
          <p:cNvPr id="27" name="Text 19"/>
          <p:cNvSpPr/>
          <p:nvPr/>
        </p:nvSpPr>
        <p:spPr>
          <a:xfrm>
            <a:off x="8595360" y="1371600"/>
            <a:ext cx="2907792" cy="365760"/>
          </a:xfrm>
          <a:prstGeom prst="rect">
            <a:avLst/>
          </a:prstGeom>
          <a:noFill/>
          <a:ln/>
        </p:spPr>
        <p:txBody>
          <a:bodyPr wrap="square" lIns="0" tIns="0" rIns="0" bIns="0"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③ 나의 연구 계획</a:t>
            </a:r>
            <a:endParaRPr lang="en-US" sz="1400" dirty="0"/>
          </a:p>
        </p:txBody>
      </p:sp>
      <p:sp>
        <p:nvSpPr>
          <p:cNvPr id="28" name="Text 20"/>
          <p:cNvSpPr/>
          <p:nvPr/>
        </p:nvSpPr>
        <p:spPr>
          <a:xfrm>
            <a:off x="8595360" y="1737360"/>
            <a:ext cx="2907792" cy="310896"/>
          </a:xfrm>
          <a:prstGeom prst="rect">
            <a:avLst/>
          </a:prstGeom>
          <a:noFill/>
          <a:ln/>
        </p:spPr>
        <p:txBody>
          <a:bodyPr wrap="square" lIns="0" tIns="0" rIns="0" bIns="0" rtlCol="0" anchor="ctr"/>
          <a:lstStyle/>
          <a:p>
            <a:pPr marL="0" indent="0">
              <a:buNone/>
            </a:pPr>
            <a:r>
              <a:rPr lang="en-US" sz="1050" i="1" dirty="0">
                <a:solidFill>
                  <a:srgbClr val="06433D"/>
                </a:solidFill>
                <a:latin typeface="Calibri" pitchFamily="34" charset="0"/>
                <a:ea typeface="Calibri" pitchFamily="34" charset="-122"/>
                <a:cs typeface="Calibri" pitchFamily="34" charset="-120"/>
              </a:rPr>
              <a:t>논문이 후속 과제로 남긴 '산업별 데이터 주권'을 이어받아 연구함</a:t>
            </a:r>
            <a:endParaRPr lang="en-US" sz="1050" dirty="0"/>
          </a:p>
        </p:txBody>
      </p:sp>
      <p:sp>
        <p:nvSpPr>
          <p:cNvPr id="29" name="Shape 21"/>
          <p:cNvSpPr/>
          <p:nvPr/>
        </p:nvSpPr>
        <p:spPr>
          <a:xfrm>
            <a:off x="8604504" y="2185416"/>
            <a:ext cx="457200" cy="457200"/>
          </a:xfrm>
          <a:prstGeom prst="ellipse">
            <a:avLst/>
          </a:prstGeom>
          <a:solidFill>
            <a:srgbClr val="06433D"/>
          </a:solidFill>
          <a:ln/>
        </p:spPr>
        <p:txBody>
          <a:bodyPr/>
          <a:lstStyle/>
          <a:p>
            <a:endParaRPr lang="ko-KR" altLang="en-US"/>
          </a:p>
        </p:txBody>
      </p:sp>
      <p:pic>
        <p:nvPicPr>
          <p:cNvPr id="30" name="Image 6" descr="preencoded.png"/>
          <p:cNvPicPr>
            <a:picLocks noChangeAspect="1"/>
          </p:cNvPicPr>
          <p:nvPr/>
        </p:nvPicPr>
        <p:blipFill>
          <a:blip r:embed="rId9"/>
          <a:stretch>
            <a:fillRect/>
          </a:stretch>
        </p:blipFill>
        <p:spPr>
          <a:xfrm>
            <a:off x="8705088" y="2286000"/>
            <a:ext cx="256032" cy="256032"/>
          </a:xfrm>
          <a:prstGeom prst="rect">
            <a:avLst/>
          </a:prstGeom>
        </p:spPr>
      </p:pic>
      <p:sp>
        <p:nvSpPr>
          <p:cNvPr id="31" name="Text 22"/>
          <p:cNvSpPr/>
          <p:nvPr/>
        </p:nvSpPr>
        <p:spPr>
          <a:xfrm>
            <a:off x="9189720" y="2167128"/>
            <a:ext cx="2313432"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산업별 데이터 주권 진단</a:t>
            </a:r>
            <a:endParaRPr lang="en-US" sz="1250" dirty="0"/>
          </a:p>
        </p:txBody>
      </p:sp>
      <p:sp>
        <p:nvSpPr>
          <p:cNvPr id="32" name="Text 23"/>
          <p:cNvSpPr/>
          <p:nvPr/>
        </p:nvSpPr>
        <p:spPr>
          <a:xfrm>
            <a:off x="9189720" y="2624328"/>
            <a:ext cx="2313432" cy="822960"/>
          </a:xfrm>
          <a:prstGeom prst="rect">
            <a:avLst/>
          </a:prstGeom>
          <a:noFill/>
          <a:ln/>
        </p:spPr>
        <p:txBody>
          <a:bodyPr wrap="square" lIns="0" tIns="0" rIns="0" bIns="0" rtlCol="0" anchor="t"/>
          <a:lstStyle/>
          <a:p>
            <a:pPr marL="0" indent="0" algn="l">
              <a:lnSpc>
                <a:spcPct val="100000"/>
              </a:lnSpc>
              <a:buNone/>
            </a:pPr>
            <a:r>
              <a:rPr lang="en-US" sz="1000" dirty="0">
                <a:solidFill>
                  <a:srgbClr val="EAFBF7"/>
                </a:solidFill>
                <a:latin typeface="Calibri" pitchFamily="34" charset="0"/>
                <a:ea typeface="Calibri" pitchFamily="34" charset="-122"/>
                <a:cs typeface="Calibri" pitchFamily="34" charset="-120"/>
              </a:rPr>
              <a:t>논문의 5축 틀을 특정 산업 단위로 좁혀, 데이터·인프라의 자립과 개방 경계를 어떻게 설계할지 분석함</a:t>
            </a:r>
            <a:endParaRPr lang="en-US" sz="1000" dirty="0"/>
          </a:p>
        </p:txBody>
      </p:sp>
      <p:sp>
        <p:nvSpPr>
          <p:cNvPr id="33" name="Shape 24"/>
          <p:cNvSpPr/>
          <p:nvPr/>
        </p:nvSpPr>
        <p:spPr>
          <a:xfrm>
            <a:off x="8604504" y="3557016"/>
            <a:ext cx="457200" cy="457200"/>
          </a:xfrm>
          <a:prstGeom prst="ellipse">
            <a:avLst/>
          </a:prstGeom>
          <a:solidFill>
            <a:srgbClr val="06433D"/>
          </a:solidFill>
          <a:ln/>
        </p:spPr>
        <p:txBody>
          <a:bodyPr/>
          <a:lstStyle/>
          <a:p>
            <a:endParaRPr lang="ko-KR" altLang="en-US"/>
          </a:p>
        </p:txBody>
      </p:sp>
      <p:pic>
        <p:nvPicPr>
          <p:cNvPr id="34" name="Image 7" descr="preencoded.png"/>
          <p:cNvPicPr>
            <a:picLocks noChangeAspect="1"/>
          </p:cNvPicPr>
          <p:nvPr/>
        </p:nvPicPr>
        <p:blipFill>
          <a:blip r:embed="rId10"/>
          <a:stretch>
            <a:fillRect/>
          </a:stretch>
        </p:blipFill>
        <p:spPr>
          <a:xfrm>
            <a:off x="8705088" y="3657600"/>
            <a:ext cx="256032" cy="256032"/>
          </a:xfrm>
          <a:prstGeom prst="rect">
            <a:avLst/>
          </a:prstGeom>
        </p:spPr>
      </p:pic>
      <p:sp>
        <p:nvSpPr>
          <p:cNvPr id="35" name="Text 25"/>
          <p:cNvSpPr/>
          <p:nvPr/>
        </p:nvSpPr>
        <p:spPr>
          <a:xfrm>
            <a:off x="9189720" y="3538728"/>
            <a:ext cx="2313432"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거버넌스 측정 지표 설계</a:t>
            </a:r>
            <a:endParaRPr lang="en-US" sz="1250" dirty="0"/>
          </a:p>
        </p:txBody>
      </p:sp>
      <p:sp>
        <p:nvSpPr>
          <p:cNvPr id="36" name="Text 26"/>
          <p:cNvSpPr/>
          <p:nvPr/>
        </p:nvSpPr>
        <p:spPr>
          <a:xfrm>
            <a:off x="9189720" y="3995928"/>
            <a:ext cx="2313432" cy="822960"/>
          </a:xfrm>
          <a:prstGeom prst="rect">
            <a:avLst/>
          </a:prstGeom>
          <a:noFill/>
          <a:ln/>
        </p:spPr>
        <p:txBody>
          <a:bodyPr wrap="square" lIns="0" tIns="0" rIns="0" bIns="0" rtlCol="0" anchor="t"/>
          <a:lstStyle/>
          <a:p>
            <a:pPr marL="0" indent="0" algn="l">
              <a:lnSpc>
                <a:spcPct val="100000"/>
              </a:lnSpc>
              <a:buNone/>
            </a:pPr>
            <a:r>
              <a:rPr lang="en-US" sz="1000" dirty="0">
                <a:solidFill>
                  <a:srgbClr val="EAFBF7"/>
                </a:solidFill>
                <a:latin typeface="Calibri" pitchFamily="34" charset="0"/>
                <a:ea typeface="Calibri" pitchFamily="34" charset="-122"/>
                <a:cs typeface="Calibri" pitchFamily="34" charset="-120"/>
              </a:rPr>
              <a:t>논문에 부족했던 정량 평가를 보완해, AI 신뢰성·설명가능성을 점검하는 거버넌스 지표와 모니터링 방법을 제안함</a:t>
            </a:r>
            <a:endParaRPr lang="en-US" sz="1000" dirty="0"/>
          </a:p>
        </p:txBody>
      </p:sp>
      <p:sp>
        <p:nvSpPr>
          <p:cNvPr id="37" name="Shape 27"/>
          <p:cNvSpPr/>
          <p:nvPr/>
        </p:nvSpPr>
        <p:spPr>
          <a:xfrm>
            <a:off x="8604504" y="4928616"/>
            <a:ext cx="457200" cy="457200"/>
          </a:xfrm>
          <a:prstGeom prst="ellipse">
            <a:avLst/>
          </a:prstGeom>
          <a:solidFill>
            <a:srgbClr val="06433D"/>
          </a:solidFill>
          <a:ln/>
        </p:spPr>
        <p:txBody>
          <a:bodyPr/>
          <a:lstStyle/>
          <a:p>
            <a:endParaRPr lang="ko-KR" altLang="en-US"/>
          </a:p>
        </p:txBody>
      </p:sp>
      <p:pic>
        <p:nvPicPr>
          <p:cNvPr id="38" name="Image 8" descr="preencoded.png"/>
          <p:cNvPicPr>
            <a:picLocks noChangeAspect="1"/>
          </p:cNvPicPr>
          <p:nvPr/>
        </p:nvPicPr>
        <p:blipFill>
          <a:blip r:embed="rId11"/>
          <a:stretch>
            <a:fillRect/>
          </a:stretch>
        </p:blipFill>
        <p:spPr>
          <a:xfrm>
            <a:off x="8705088" y="5029200"/>
            <a:ext cx="256032" cy="256032"/>
          </a:xfrm>
          <a:prstGeom prst="rect">
            <a:avLst/>
          </a:prstGeom>
        </p:spPr>
      </p:pic>
      <p:sp>
        <p:nvSpPr>
          <p:cNvPr id="39" name="Text 28"/>
          <p:cNvSpPr/>
          <p:nvPr/>
        </p:nvSpPr>
        <p:spPr>
          <a:xfrm>
            <a:off x="9189720" y="4910328"/>
            <a:ext cx="2313432" cy="457200"/>
          </a:xfrm>
          <a:prstGeom prst="rect">
            <a:avLst/>
          </a:prstGeom>
          <a:noFill/>
          <a:ln/>
        </p:spPr>
        <p:txBody>
          <a:bodyPr wrap="square" lIns="0" tIns="0"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국제표준과의 정합성 검토</a:t>
            </a:r>
            <a:endParaRPr lang="en-US" sz="1250" dirty="0"/>
          </a:p>
        </p:txBody>
      </p:sp>
      <p:sp>
        <p:nvSpPr>
          <p:cNvPr id="40" name="Text 29"/>
          <p:cNvSpPr/>
          <p:nvPr/>
        </p:nvSpPr>
        <p:spPr>
          <a:xfrm>
            <a:off x="9189720" y="5367528"/>
            <a:ext cx="2313432" cy="822960"/>
          </a:xfrm>
          <a:prstGeom prst="rect">
            <a:avLst/>
          </a:prstGeom>
          <a:noFill/>
          <a:ln/>
        </p:spPr>
        <p:txBody>
          <a:bodyPr wrap="square" lIns="0" tIns="0" rIns="0" bIns="0" rtlCol="0" anchor="t"/>
          <a:lstStyle/>
          <a:p>
            <a:pPr marL="0" indent="0" algn="l">
              <a:lnSpc>
                <a:spcPct val="100000"/>
              </a:lnSpc>
              <a:buNone/>
            </a:pPr>
            <a:r>
              <a:rPr lang="en-US" sz="1000" dirty="0">
                <a:solidFill>
                  <a:srgbClr val="EAFBF7"/>
                </a:solidFill>
                <a:latin typeface="Calibri" pitchFamily="34" charset="0"/>
                <a:ea typeface="Calibri" pitchFamily="34" charset="-122"/>
                <a:cs typeface="Calibri" pitchFamily="34" charset="-120"/>
              </a:rPr>
              <a:t>EU AI Act, ISO/IEEE 등 국제 규범과 비교해 한국형 모델이 상호운용성을 갖추는 방안을 함께 살펴봄</a:t>
            </a:r>
            <a:endParaRPr lang="en-US" sz="1000" dirty="0"/>
          </a:p>
        </p:txBody>
      </p:sp>
      <p:sp>
        <p:nvSpPr>
          <p:cNvPr id="41" name="Text 30"/>
          <p:cNvSpPr/>
          <p:nvPr/>
        </p:nvSpPr>
        <p:spPr>
          <a:xfrm>
            <a:off x="457200" y="6437376"/>
            <a:ext cx="8229600" cy="292608"/>
          </a:xfrm>
          <a:prstGeom prst="rect">
            <a:avLst/>
          </a:prstGeom>
          <a:noFill/>
          <a:ln/>
        </p:spPr>
        <p:txBody>
          <a:bodyPr wrap="square" lIns="0" tIns="0" rIns="0" bIns="0" rtlCol="0" anchor="ctr"/>
          <a:lstStyle/>
          <a:p>
            <a:pPr marL="0" indent="0" algn="l">
              <a:buNone/>
            </a:pPr>
            <a:r>
              <a:rPr lang="en-US" sz="1000" dirty="0">
                <a:solidFill>
                  <a:srgbClr val="CFE0F5"/>
                </a:solidFill>
                <a:latin typeface="Calibri" pitchFamily="34" charset="0"/>
                <a:ea typeface="Calibri" pitchFamily="34" charset="-122"/>
                <a:cs typeface="Calibri" pitchFamily="34" charset="-120"/>
              </a:rPr>
              <a:t>발표자: </a:t>
            </a:r>
            <a:r>
              <a:rPr lang="ko-KR" altLang="en-US" sz="1000" dirty="0">
                <a:solidFill>
                  <a:srgbClr val="CFE0F5"/>
                </a:solidFill>
                <a:latin typeface="Calibri" pitchFamily="34" charset="0"/>
                <a:ea typeface="Calibri" pitchFamily="34" charset="-122"/>
                <a:cs typeface="Calibri" pitchFamily="34" charset="-120"/>
              </a:rPr>
              <a:t>이재이</a:t>
            </a:r>
            <a:r>
              <a:rPr lang="en-US" sz="1000" dirty="0">
                <a:solidFill>
                  <a:srgbClr val="CFE0F5"/>
                </a:solidFill>
                <a:latin typeface="Calibri" pitchFamily="34" charset="0"/>
                <a:ea typeface="Calibri" pitchFamily="34" charset="-122"/>
                <a:cs typeface="Calibri" pitchFamily="34" charset="-120"/>
              </a:rPr>
              <a:t>      학과: </a:t>
            </a:r>
            <a:r>
              <a:rPr lang="ko-KR" altLang="en-US" sz="1000" dirty="0">
                <a:solidFill>
                  <a:srgbClr val="CFE0F5"/>
                </a:solidFill>
                <a:latin typeface="Calibri" pitchFamily="34" charset="0"/>
                <a:ea typeface="Calibri" pitchFamily="34" charset="-122"/>
                <a:cs typeface="Calibri" pitchFamily="34" charset="-120"/>
              </a:rPr>
              <a:t>융합정보기술학과</a:t>
            </a:r>
            <a:r>
              <a:rPr lang="en-US" sz="1000" dirty="0">
                <a:solidFill>
                  <a:srgbClr val="CFE0F5"/>
                </a:solidFill>
                <a:latin typeface="Calibri" pitchFamily="34" charset="0"/>
                <a:ea typeface="Calibri" pitchFamily="34" charset="-122"/>
                <a:cs typeface="Calibri" pitchFamily="34" charset="-120"/>
              </a:rPr>
              <a:t> </a:t>
            </a:r>
            <a:r>
              <a:rPr lang="ko-KR" altLang="en-US" sz="1000" dirty="0">
                <a:solidFill>
                  <a:srgbClr val="CFE0F5"/>
                </a:solidFill>
                <a:latin typeface="Calibri" pitchFamily="34" charset="0"/>
                <a:ea typeface="Calibri" pitchFamily="34" charset="-122"/>
                <a:cs typeface="Calibri" pitchFamily="34" charset="-120"/>
              </a:rPr>
              <a:t>인공지능전공</a:t>
            </a:r>
            <a:r>
              <a:rPr lang="en-US" sz="1000" dirty="0">
                <a:solidFill>
                  <a:srgbClr val="CFE0F5"/>
                </a:solidFill>
                <a:latin typeface="Calibri" pitchFamily="34" charset="0"/>
                <a:ea typeface="Calibri" pitchFamily="34" charset="-122"/>
                <a:cs typeface="Calibri" pitchFamily="34" charset="-120"/>
              </a:rPr>
              <a:t>     학번: </a:t>
            </a:r>
            <a:r>
              <a:rPr lang="en-US" altLang="ko-KR" sz="1000" dirty="0">
                <a:solidFill>
                  <a:srgbClr val="CFE0F5"/>
                </a:solidFill>
                <a:latin typeface="Calibri" pitchFamily="34" charset="0"/>
                <a:ea typeface="Calibri" pitchFamily="34" charset="-122"/>
                <a:cs typeface="Calibri" pitchFamily="34" charset="-120"/>
              </a:rPr>
              <a:t>202476719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608</Words>
  <Application>Microsoft Office PowerPoint</Application>
  <PresentationFormat>와이드스크린</PresentationFormat>
  <Paragraphs>31</Paragraphs>
  <Slides>1</Slides>
  <Notes>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vt:i4>
      </vt:variant>
    </vt:vector>
  </HeadingPairs>
  <TitlesOfParts>
    <vt:vector size="4" baseType="lpstr">
      <vt:lpstr>Arial</vt:lpstr>
      <vt:lpstr>Calibri</vt:lpstr>
      <vt:lpstr>Office Theme</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소버린 AI 전략 논문 리뷰 - 결론</dc:title>
  <dc:subject>PptxGenJS Presentation</dc:subject>
  <dc:creator/>
  <cp:lastModifiedBy>Jay Lee</cp:lastModifiedBy>
  <cp:revision>4</cp:revision>
  <dcterms:created xsi:type="dcterms:W3CDTF">2026-06-09T16:31:18Z</dcterms:created>
  <dcterms:modified xsi:type="dcterms:W3CDTF">2026-06-11T07:47:11Z</dcterms:modified>
</cp:coreProperties>
</file>