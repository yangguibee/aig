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Noto Sans KR" panose="020B0200000000000000" pitchFamily="50" charset="-127"/>
      <p:regular r:id="rId4"/>
      <p:bold r:id="rId5"/>
    </p:embeddedFont>
    <p:embeddedFont>
      <p:font typeface="Urbanist" panose="020B0600000101010101" charset="0"/>
      <p:regular r:id="rId6"/>
      <p:bold r:id="rId7"/>
      <p:italic r:id="rId8"/>
      <p:boldItalic r:id="rId9"/>
    </p:embeddedFont>
    <p:embeddedFont>
      <p:font typeface="Urbanist Light" panose="020B0600000101010101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4955"/>
            <a:ext cx="54292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1444955"/>
            <a:ext cx="54292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26205"/>
            <a:ext cx="54292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0" y="3826205"/>
            <a:ext cx="54292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71500" y="310238"/>
            <a:ext cx="103822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MCP·A2A </a:t>
            </a:r>
            <a:r>
              <a:rPr lang="ko-KR" altLang="en-US" sz="2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기반 멀티 에이전트 </a:t>
            </a:r>
            <a:r>
              <a:rPr lang="en-US" altLang="ko-KR" sz="2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 </a:t>
            </a:r>
            <a:r>
              <a:rPr lang="ko-KR" altLang="en-US" sz="2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시스템의 도입과 보안 </a:t>
            </a:r>
            <a:r>
              <a:rPr lang="en-US" altLang="ko-KR" sz="2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· </a:t>
            </a:r>
            <a:r>
              <a:rPr lang="ko-KR" altLang="en-US" sz="2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거버넌스</a:t>
            </a:r>
            <a:endParaRPr sz="105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905568"/>
            <a:ext cx="1098477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500" dirty="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차세대 </a:t>
            </a:r>
            <a:r>
              <a:rPr lang="en-US" altLang="ko-KR" sz="1500" dirty="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AI </a:t>
            </a:r>
            <a:r>
              <a:rPr lang="ko-KR" altLang="en-US" sz="1500" dirty="0">
                <a:solidFill>
                  <a:srgbClr val="DAFFDE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시스템을 위한 종합적인 보안 및 거버넌스 프레임워크 제안 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09625" y="2263289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모델 아키텍처의 한계와 </a:t>
            </a:r>
            <a:r>
              <a:rPr lang="ko-KR" altLang="en-US" sz="1200" b="1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패러다임 전환</a:t>
            </a:r>
            <a:r>
              <a:rPr lang="ko-KR" altLang="en-US" sz="1200" b="1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LLM/RAG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→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MAS)</a:t>
            </a:r>
            <a:endParaRPr lang="en-US" altLang="ko-KR" sz="1200" i="0" u="none" strike="noStrike" cap="none" dirty="0">
              <a:solidFill>
                <a:schemeClr val="bg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보안 및 거버넌스 리스크의 대두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altLang="ko-KR" sz="1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MCP · A2A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MCP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·A2A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MAS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의 도입 및 운영 전반을 안전하게 통제할 수 있는</a:t>
            </a:r>
            <a:endParaRPr lang="en-US" altLang="ko-KR" sz="1200" i="0" u="none" strike="noStrike" cap="none" dirty="0">
              <a:solidFill>
                <a:schemeClr val="bg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구체적이고 실전적인 </a:t>
            </a:r>
            <a:r>
              <a:rPr lang="ko-KR" altLang="en-US" sz="1200" b="1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보안</a:t>
            </a:r>
            <a:r>
              <a:rPr lang="en-US" altLang="ko-KR" sz="1200" b="1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b="1" i="0" u="none" strike="noStrike" cap="none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거버넌스 프레임워크를 제안</a:t>
            </a:r>
            <a:endParaRPr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429375" y="225458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규제 및 데이터 권리 관련 법률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(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EU AI Act, GDPR,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PIPA)</a:t>
            </a: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정보보호 및 산업별 특화 국제 표준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(NIST AI RMF, ISO/IEC JTC1 SC42)</a:t>
            </a: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기술적 위협 모델 및 오픈소스</a:t>
            </a:r>
            <a:b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   (OWASP LLM Top 10,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MITRE ATLAS, </a:t>
            </a:r>
            <a:r>
              <a:rPr lang="en-US" altLang="ko-KR" sz="1200" dirty="0" err="1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OpenLineage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API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규격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6429375" y="4635830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MAS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환경에서 보안 규격과 거버넌스를 런타임 인프라에 결합하여 자율성에</a:t>
            </a:r>
            <a:b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따른 리스크를 통제할 수 있음을 아키텍처와 지표로 입증</a:t>
            </a:r>
            <a:endParaRPr lang="en-US" altLang="ko-KR" sz="1200" i="0" u="none" strike="noStrike" cap="none" dirty="0">
              <a:solidFill>
                <a:schemeClr val="bg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추상적 규범을 실행 가능한 실무 기술 스택으로 구체화한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것에 큰 감명을 받음</a:t>
            </a:r>
            <a:endParaRPr lang="en-US" altLang="ko-KR" sz="1200" i="0" u="none" strike="noStrike" cap="none" dirty="0">
              <a:solidFill>
                <a:schemeClr val="bg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가능성에 </a:t>
            </a:r>
            <a:r>
              <a:rPr lang="ko-KR" altLang="en-US" sz="120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대한 증명을 공학적으로 접근하여 논문 작성</a:t>
            </a:r>
            <a:endParaRPr lang="en-US" altLang="ko-KR" sz="1200" i="0" u="none" strike="noStrike" cap="none" dirty="0">
              <a:solidFill>
                <a:schemeClr val="bg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09625" y="1730705"/>
            <a:ext cx="154019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01.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연구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개요</a:t>
            </a:r>
            <a:endParaRPr dirty="0"/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0" y="168308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6429374" y="1730705"/>
            <a:ext cx="23174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02.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데이터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및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표준</a:t>
            </a:r>
            <a:endParaRPr dirty="0"/>
          </a:p>
        </p:txBody>
      </p:sp>
      <p:pic>
        <p:nvPicPr>
          <p:cNvPr id="99" name="Google Shape;99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953750" y="168308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809624" y="4111955"/>
            <a:ext cx="202066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03. </a:t>
            </a:r>
            <a:r>
              <a:rPr lang="ko-KR" alt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연구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방법론</a:t>
            </a:r>
            <a:endParaRPr dirty="0"/>
          </a:p>
        </p:txBody>
      </p:sp>
      <p:pic>
        <p:nvPicPr>
          <p:cNvPr id="101" name="Google Shape;10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0" y="406433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6429375" y="4111955"/>
            <a:ext cx="231743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04.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결론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및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향후</a:t>
            </a:r>
            <a:r>
              <a:rPr lang="en-US" sz="1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계획</a:t>
            </a:r>
            <a:endParaRPr dirty="0"/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953750" y="406433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81637" y="1811668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091862" y="181166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62587" y="419291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082337" y="419291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2;p13">
            <a:extLst>
              <a:ext uri="{FF2B5EF4-FFF2-40B4-BE49-F238E27FC236}">
                <a16:creationId xmlns:a16="http://schemas.microsoft.com/office/drawing/2014/main" id="{50C39E13-D3FA-E3E1-B449-39DBC30A6BB1}"/>
              </a:ext>
            </a:extLst>
          </p:cNvPr>
          <p:cNvSpPr txBox="1"/>
          <p:nvPr/>
        </p:nvSpPr>
        <p:spPr>
          <a:xfrm>
            <a:off x="809625" y="4648956"/>
            <a:ext cx="4953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아키텍처 분석 및 모델링 </a:t>
            </a:r>
            <a:r>
              <a:rPr lang="en-US" altLang="ko-KR" sz="1200" i="0" u="none" strike="noStrike" cap="none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(Architectural Modeling)</a:t>
            </a: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규제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-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기술 정합성 매핑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(Compliance Mapping)</a:t>
            </a: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선언적 정책 통제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(Policy-as-Code)</a:t>
            </a:r>
            <a:r>
              <a:rPr lang="en-US" altLang="ko-KR" sz="1200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</a:p>
          <a:p>
            <a:pPr lvl="0"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· </a:t>
            </a:r>
            <a:r>
              <a:rPr lang="ko-KR" altLang="en-US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수리적 무결성 검증 </a:t>
            </a:r>
            <a:r>
              <a:rPr lang="en-US" altLang="ko-KR" sz="1200" dirty="0">
                <a:solidFill>
                  <a:schemeClr val="bg1"/>
                </a:solidFill>
                <a:latin typeface="Noto Sans KR"/>
                <a:ea typeface="Noto Sans KR"/>
                <a:cs typeface="Noto Sans KR"/>
                <a:sym typeface="Noto Sans KR"/>
              </a:rPr>
              <a:t>(Mathematical Cryptographic Verification)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224</Words>
  <Application>Microsoft Office PowerPoint</Application>
  <PresentationFormat>와이드스크린</PresentationFormat>
  <Paragraphs>20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</vt:lpstr>
      <vt:lpstr>Arial</vt:lpstr>
      <vt:lpstr>Calibri</vt:lpstr>
      <vt:lpstr>Urbanist Light</vt:lpstr>
      <vt:lpstr>Urbanist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박병윤</cp:lastModifiedBy>
  <cp:revision>2</cp:revision>
  <dcterms:modified xsi:type="dcterms:W3CDTF">2026-06-06T11:08:51Z</dcterms:modified>
</cp:coreProperties>
</file>