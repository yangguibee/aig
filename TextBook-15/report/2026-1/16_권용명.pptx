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84" y="14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140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740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240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39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050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1806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872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464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4334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181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179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DE4DF-4009-49E1-8292-8CCBCCC892F1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A3819-3318-4286-9920-EE4AEB1E975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44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06327A-4E25-44D7-8009-3CCE213AC1B5}"/>
              </a:ext>
            </a:extLst>
          </p:cNvPr>
          <p:cNvSpPr txBox="1"/>
          <p:nvPr/>
        </p:nvSpPr>
        <p:spPr>
          <a:xfrm>
            <a:off x="158620" y="112166"/>
            <a:ext cx="874278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</a:rPr>
              <a:t>글로벌 </a:t>
            </a:r>
            <a:r>
              <a:rPr lang="en-US" altLang="ko-KR" sz="1600" dirty="0">
                <a:latin typeface="+mn-ea"/>
              </a:rPr>
              <a:t>AI </a:t>
            </a:r>
            <a:r>
              <a:rPr lang="ko-KR" altLang="en-US" sz="1600" dirty="0">
                <a:latin typeface="+mn-ea"/>
              </a:rPr>
              <a:t>규제 대응을 위한 </a:t>
            </a:r>
            <a:r>
              <a:rPr lang="en-US" altLang="ko-KR" sz="1600" dirty="0">
                <a:latin typeface="+mn-ea"/>
              </a:rPr>
              <a:t>ISO/IEC 42001:2023 </a:t>
            </a:r>
            <a:r>
              <a:rPr lang="ko-KR" altLang="en-US" sz="1600" dirty="0">
                <a:latin typeface="+mn-ea"/>
              </a:rPr>
              <a:t>표준 분석 및 발전 방향 연구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리뷰 논문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 err="1">
                <a:latin typeface="+mn-ea"/>
              </a:rPr>
              <a:t>김상일외</a:t>
            </a:r>
            <a:r>
              <a:rPr lang="en-US" altLang="ko-KR" sz="1600" dirty="0">
                <a:latin typeface="+mn-ea"/>
              </a:rPr>
              <a:t>, 2025)(P.1)</a:t>
            </a:r>
            <a:endParaRPr lang="en-US" altLang="ko-KR" sz="700" b="0" i="0" dirty="0">
              <a:effectLst/>
              <a:latin typeface="+mn-ea"/>
              <a:ea typeface="+mn-ea"/>
            </a:endParaRPr>
          </a:p>
        </p:txBody>
      </p:sp>
      <p:sp>
        <p:nvSpPr>
          <p:cNvPr id="28" name="사각형: 둥근 위쪽 모서리 27">
            <a:extLst>
              <a:ext uri="{FF2B5EF4-FFF2-40B4-BE49-F238E27FC236}">
                <a16:creationId xmlns:a16="http://schemas.microsoft.com/office/drawing/2014/main" id="{C9F82CC6-0420-4E98-918B-3E263AC5586F}"/>
              </a:ext>
            </a:extLst>
          </p:cNvPr>
          <p:cNvSpPr/>
          <p:nvPr/>
        </p:nvSpPr>
        <p:spPr>
          <a:xfrm>
            <a:off x="261296" y="1368166"/>
            <a:ext cx="3960000" cy="3776590"/>
          </a:xfrm>
          <a:prstGeom prst="round2SameRect">
            <a:avLst>
              <a:gd name="adj1" fmla="val 8063"/>
              <a:gd name="adj2" fmla="val 0"/>
            </a:avLst>
          </a:prstGeom>
          <a:solidFill>
            <a:srgbClr val="EF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•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연구 요약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: ISO/IEC 42001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표준의 고수준 구조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(HLS)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및 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Clause 4~10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요구사항을 분석하고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기존 정보보호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(27001),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품질경영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(9001)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표준과의 구조적 차별성과 통합 운영 타당성을 검토함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. (pp. 2, 8)</a:t>
            </a:r>
          </a:p>
          <a:p>
            <a:endParaRPr lang="en-US" altLang="ko-KR" sz="1400" dirty="0">
              <a:solidFill>
                <a:schemeClr val="tx1"/>
              </a:solidFill>
              <a:effectLst/>
              <a:latin typeface="+mn-ea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•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한계 평가 </a:t>
            </a:r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글로벌 규제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(EU AI Act)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대응을 표방하나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실무의 핵심인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 부속서</a:t>
            </a:r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(Annex A) 38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개 통제 항목의 구체적 매핑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과 구속력 있는 법적 의무 사항 간의 기술적 연계 분석이 누락됨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. (pp. 9, 11)</a:t>
            </a:r>
          </a:p>
          <a:p>
            <a:endParaRPr lang="en-US" altLang="ko-KR" sz="1400" dirty="0">
              <a:solidFill>
                <a:schemeClr val="tx1"/>
              </a:solidFill>
              <a:effectLst/>
              <a:latin typeface="+mn-ea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•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한계 평가 </a:t>
            </a:r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조직 관리 중심의 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42001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단일 표준에만 국한되어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개발 실무 지침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(ISO 42002)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및 적합성 평가 기준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(ISO 42003)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등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패밀리 표준군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을 포괄하는 통합 거버넌스 관점의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깊이가 부족함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9C62254B-CD87-44E2-86EA-7713037B5888}"/>
              </a:ext>
            </a:extLst>
          </p:cNvPr>
          <p:cNvSpPr/>
          <p:nvPr/>
        </p:nvSpPr>
        <p:spPr>
          <a:xfrm flipH="1">
            <a:off x="4744169" y="1368167"/>
            <a:ext cx="3960000" cy="3776590"/>
          </a:xfrm>
          <a:prstGeom prst="round2SameRect">
            <a:avLst>
              <a:gd name="adj1" fmla="val 8063"/>
              <a:gd name="adj2" fmla="val 0"/>
            </a:avLst>
          </a:prstGeom>
          <a:solidFill>
            <a:srgbClr val="EF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lvl="1"/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•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연구 주제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EU AI Act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및 국내 인공지능기본법 대응을 위한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ISO/IEC 42001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패밀리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표준군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(42001/42002/42003)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통합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컴플라이언스 프레임워크 설계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marL="0" lvl="1"/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 marL="0" lvl="1"/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•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연구 방법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법적 의무 사항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위험 관리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데이터 거버넌스 등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을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ISO 42001 Annex A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통제 항목 및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42002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개발 지침과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1:1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매핑하여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기업 내부 감사원이 즉시 활용 가능한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'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인증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증적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기반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자율 거버넌스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실무 체크리스트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'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개발</a:t>
            </a:r>
          </a:p>
          <a:p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52B3EC2-F3E7-4C6E-9A4C-53E78668F01A}"/>
              </a:ext>
            </a:extLst>
          </p:cNvPr>
          <p:cNvSpPr/>
          <p:nvPr/>
        </p:nvSpPr>
        <p:spPr>
          <a:xfrm>
            <a:off x="482834" y="753629"/>
            <a:ext cx="3516924" cy="592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연구 요약 및 한계 평가</a:t>
            </a:r>
            <a:endParaRPr lang="LID4096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E267A3C-D080-46D5-85B3-14804BA1677B}"/>
              </a:ext>
            </a:extLst>
          </p:cNvPr>
          <p:cNvSpPr/>
          <p:nvPr/>
        </p:nvSpPr>
        <p:spPr>
          <a:xfrm>
            <a:off x="4965707" y="753629"/>
            <a:ext cx="3516924" cy="592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본인의 향후 연구계획</a:t>
            </a:r>
            <a:endParaRPr lang="LID4096" dirty="0"/>
          </a:p>
        </p:txBody>
      </p:sp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85C55C7D-39B0-44CA-9A99-29812D7718DC}"/>
              </a:ext>
            </a:extLst>
          </p:cNvPr>
          <p:cNvSpPr/>
          <p:nvPr/>
        </p:nvSpPr>
        <p:spPr>
          <a:xfrm flipH="1">
            <a:off x="261291" y="5271484"/>
            <a:ext cx="8442873" cy="903705"/>
          </a:xfrm>
          <a:prstGeom prst="round2SameRect">
            <a:avLst>
              <a:gd name="adj1" fmla="val 8063"/>
              <a:gd name="adj2" fmla="val 0"/>
            </a:avLst>
          </a:prstGeom>
          <a:solidFill>
            <a:srgbClr val="EFF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lvl="1"/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종합</a:t>
            </a:r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결론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기술 규범적 요구사항과 국제 표준 통제 항목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(Annex A)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을</a:t>
            </a:r>
            <a:r>
              <a:rPr lang="en-US" altLang="ko-KR" sz="1400" dirty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유기적으로 연계한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인증 </a:t>
            </a:r>
            <a:r>
              <a:rPr lang="ko-KR" altLang="en-US" sz="1400" b="1" dirty="0" err="1">
                <a:solidFill>
                  <a:schemeClr val="tx1"/>
                </a:solidFill>
                <a:effectLst/>
                <a:latin typeface="+mn-ea"/>
              </a:rPr>
              <a:t>증적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 기반의 자율 거버넌스 체계 구축</a:t>
            </a:r>
            <a:r>
              <a:rPr lang="ko-KR" altLang="en-US" sz="1400" dirty="0">
                <a:solidFill>
                  <a:schemeClr val="tx1"/>
                </a:solidFill>
                <a:effectLst/>
                <a:latin typeface="+mn-ea"/>
              </a:rPr>
              <a:t>이 본 연구의 핵심 지향점임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A021E45A-4C1F-4CB0-A127-59BB3B3CF84C}"/>
              </a:ext>
            </a:extLst>
          </p:cNvPr>
          <p:cNvSpPr/>
          <p:nvPr/>
        </p:nvSpPr>
        <p:spPr>
          <a:xfrm flipH="1">
            <a:off x="5991388" y="6358504"/>
            <a:ext cx="2690159" cy="348417"/>
          </a:xfrm>
          <a:prstGeom prst="round2SameRect">
            <a:avLst>
              <a:gd name="adj1" fmla="val 8063"/>
              <a:gd name="adj2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lvl="1"/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발표자</a:t>
            </a:r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  <a:effectLst/>
                <a:latin typeface="+mn-ea"/>
              </a:rPr>
              <a:t>인공지능 전공</a:t>
            </a:r>
            <a:r>
              <a:rPr lang="en-US" altLang="ko-KR" sz="1400" b="1" dirty="0"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effectLst/>
                <a:latin typeface="+mn-ea"/>
              </a:rPr>
              <a:t>권용명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2023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267</Words>
  <Application>Microsoft Office PowerPoint</Application>
  <PresentationFormat>화면 슬라이드 쇼(4:3)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YongMyoung Kwon</dc:creator>
  <cp:lastModifiedBy>YongMyoung Kwon</cp:lastModifiedBy>
  <cp:revision>9</cp:revision>
  <dcterms:created xsi:type="dcterms:W3CDTF">2026-06-10T11:10:10Z</dcterms:created>
  <dcterms:modified xsi:type="dcterms:W3CDTF">2026-06-10T12:29:08Z</dcterms:modified>
</cp:coreProperties>
</file>