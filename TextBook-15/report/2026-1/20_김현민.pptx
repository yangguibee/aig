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84043"/>
            <a:ext cx="868680" cy="256032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E5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950" b="1" dirty="0" err="1">
                <a:solidFill>
                  <a:srgbClr val="1F56B3"/>
                </a:solidFill>
                <a:latin typeface="Malgun Gothic"/>
              </a:rPr>
              <a:t>논문</a:t>
            </a:r>
            <a:r>
              <a:rPr sz="950" b="1" dirty="0">
                <a:solidFill>
                  <a:srgbClr val="1F56B3"/>
                </a:solidFill>
                <a:latin typeface="Malgun Gothic"/>
              </a:rPr>
              <a:t> </a:t>
            </a:r>
            <a:r>
              <a:rPr sz="950" b="1" dirty="0" err="1">
                <a:solidFill>
                  <a:srgbClr val="1F56B3"/>
                </a:solidFill>
                <a:latin typeface="Malgun Gothic"/>
              </a:rPr>
              <a:t>리뷰</a:t>
            </a:r>
            <a:endParaRPr sz="950" b="1" dirty="0">
              <a:solidFill>
                <a:srgbClr val="1F56B3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65836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62239"/>
                </a:solidFill>
                <a:latin typeface="Malgun Gothic"/>
              </a:rPr>
              <a:t>AI 뉴스는 믿을 수 있을까?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8595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dirty="0" err="1">
                <a:solidFill>
                  <a:srgbClr val="5A6575"/>
                </a:solidFill>
                <a:latin typeface="Malgun Gothic"/>
              </a:rPr>
              <a:t>김동미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(2026)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박사학위논문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「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AI기반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뉴스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수용에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관한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도덕-기술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통합모형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(M-TAM)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연구</a:t>
            </a:r>
            <a:r>
              <a:rPr sz="1080" b="0" dirty="0">
                <a:solidFill>
                  <a:srgbClr val="5A6575"/>
                </a:solidFill>
                <a:latin typeface="Malgun Gothic"/>
              </a:rPr>
              <a:t>」 </a:t>
            </a:r>
            <a:r>
              <a:rPr sz="1080" b="0" dirty="0" err="1">
                <a:solidFill>
                  <a:srgbClr val="5A6575"/>
                </a:solidFill>
                <a:latin typeface="Malgun Gothic"/>
              </a:rPr>
              <a:t>리뷰</a:t>
            </a:r>
            <a:endParaRPr sz="1080" b="0" dirty="0">
              <a:solidFill>
                <a:srgbClr val="5A6575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5087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60" b="0">
                <a:solidFill>
                  <a:srgbClr val="5A6575"/>
                </a:solidFill>
                <a:latin typeface="Malgun Gothic"/>
              </a:rPr>
              <a:t>김현민(202576620)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1183112" cy="530352"/>
          </a:xfrm>
          <a:prstGeom prst="roundRect">
            <a:avLst/>
          </a:prstGeom>
          <a:solidFill>
            <a:srgbClr val="16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201168" rtlCol="0" anchor="ctr"/>
          <a:lstStyle/>
          <a:p>
            <a:pPr algn="ctr"/>
            <a:r>
              <a:rPr sz="1720" b="1" dirty="0" err="1">
                <a:solidFill>
                  <a:srgbClr val="FFFFFF"/>
                </a:solidFill>
                <a:latin typeface="Malgun Gothic"/>
              </a:rPr>
              <a:t>결론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: AI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뉴스의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쟁점은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“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만들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수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있는가”가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아니라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“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공적으로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믿고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승인할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수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720" b="1" dirty="0" err="1">
                <a:solidFill>
                  <a:srgbClr val="FFFFFF"/>
                </a:solidFill>
                <a:latin typeface="Malgun Gothic"/>
              </a:rPr>
              <a:t>있는가”이다</a:t>
            </a:r>
            <a:r>
              <a:rPr sz="1720" b="1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59152"/>
            <a:ext cx="324612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9152"/>
            <a:ext cx="100584" cy="2514600"/>
          </a:xfrm>
          <a:prstGeom prst="rect">
            <a:avLst/>
          </a:prstGeom>
          <a:solidFill>
            <a:srgbClr val="1F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295351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1F56B3"/>
                </a:solidFill>
                <a:latin typeface="Malgun Gothic"/>
              </a:rPr>
              <a:t>1. 논문이 제시한 핵심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834640"/>
            <a:ext cx="2935224" cy="1728615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1F56B3"/>
                </a:solidFill>
                <a:latin typeface="Malgun Gothic"/>
              </a:rPr>
              <a:t>• 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AI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뉴스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수용을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기술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채택이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아닌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제도적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승인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문제로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재정의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1F56B3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전국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성인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1,000명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온라인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조사와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PLS-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SEM으로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M-TAM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검증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1F56B3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공영방송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신뢰가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이용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의도로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이어지는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핵심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매개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역할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1F56B3"/>
                </a:solidFill>
                <a:latin typeface="Malgun Gothic"/>
              </a:rPr>
              <a:t>• 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AI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리터러시가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높을수록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위험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인식도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커지는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역설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확인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49624" y="2359152"/>
            <a:ext cx="4443984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468880"/>
            <a:ext cx="374903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C70BA"/>
                </a:solidFill>
                <a:latin typeface="Malgun Gothic"/>
              </a:rPr>
              <a:t>2. AI 뉴스 신뢰가 만들어지는 흐름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6427" y="2839737"/>
            <a:ext cx="1188720" cy="658368"/>
          </a:xfrm>
          <a:prstGeom prst="roundRect">
            <a:avLst/>
          </a:prstGeom>
          <a:solidFill>
            <a:srgbClr val="FFF7E6"/>
          </a:solidFill>
          <a:ln w="15240"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62239"/>
                </a:solidFill>
                <a:latin typeface="Malgun Gothic"/>
              </a:rPr>
              <a:t>도덕 가치</a:t>
            </a:r>
          </a:p>
          <a:p>
            <a:pPr algn="ctr">
              <a:spcAft>
                <a:spcPts val="0"/>
              </a:spcAft>
            </a:pPr>
            <a:r>
              <a:rPr sz="1080" b="1">
                <a:solidFill>
                  <a:srgbClr val="162239"/>
                </a:solidFill>
                <a:latin typeface="Malgun Gothic"/>
              </a:rPr>
              <a:t>AI 리터러시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2891" y="2839737"/>
            <a:ext cx="1207008" cy="658368"/>
          </a:xfrm>
          <a:prstGeom prst="roundRect">
            <a:avLst/>
          </a:prstGeom>
          <a:solidFill>
            <a:srgbClr val="E9F7FA"/>
          </a:solidFill>
          <a:ln w="15240">
            <a:solidFill>
              <a:srgbClr val="228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62239"/>
                </a:solidFill>
                <a:latin typeface="Malgun Gothic"/>
              </a:rPr>
              <a:t>혜택·위험</a:t>
            </a:r>
          </a:p>
          <a:p>
            <a:pPr algn="ctr">
              <a:spcAft>
                <a:spcPts val="0"/>
              </a:spcAft>
            </a:pPr>
            <a:r>
              <a:rPr sz="1080" b="1">
                <a:solidFill>
                  <a:srgbClr val="162239"/>
                </a:solidFill>
                <a:latin typeface="Malgun Gothic"/>
              </a:rPr>
              <a:t>동시 평가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7643" y="2839737"/>
            <a:ext cx="841248" cy="658368"/>
          </a:xfrm>
          <a:prstGeom prst="roundRect">
            <a:avLst/>
          </a:prstGeom>
          <a:solidFill>
            <a:srgbClr val="EAF7EE"/>
          </a:solidFill>
          <a:ln w="15240">
            <a:solidFill>
              <a:srgbClr val="2D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2239"/>
                </a:solidFill>
                <a:latin typeface="Malgun Gothic"/>
              </a:rPr>
              <a:t>신뢰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5147" y="3168921"/>
            <a:ext cx="237744" cy="0"/>
          </a:xfrm>
          <a:prstGeom prst="line">
            <a:avLst/>
          </a:prstGeom>
          <a:ln w="25400">
            <a:solidFill>
              <a:srgbClr val="5A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89899" y="3168921"/>
            <a:ext cx="237744" cy="0"/>
          </a:xfrm>
          <a:prstGeom prst="line">
            <a:avLst/>
          </a:prstGeom>
          <a:ln w="25400">
            <a:solidFill>
              <a:srgbClr val="5A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32499" y="3882153"/>
            <a:ext cx="2971800" cy="475488"/>
          </a:xfrm>
          <a:prstGeom prst="roundRect">
            <a:avLst/>
          </a:prstGeom>
          <a:solidFill>
            <a:srgbClr val="F6EFFF"/>
          </a:solidFill>
          <a:ln w="15240">
            <a:solidFill>
              <a:srgbClr val="862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2239"/>
                </a:solidFill>
                <a:latin typeface="Malgun Gothic"/>
              </a:rPr>
              <a:t>수신료 정당성 · 이용 의도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643011" y="3498105"/>
            <a:ext cx="896112" cy="384048"/>
          </a:xfrm>
          <a:prstGeom prst="line">
            <a:avLst/>
          </a:prstGeom>
          <a:ln w="25400">
            <a:solidFill>
              <a:srgbClr val="5A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19851" y="4430793"/>
            <a:ext cx="369417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30" b="0" dirty="0" err="1">
                <a:solidFill>
                  <a:srgbClr val="5A6575"/>
                </a:solidFill>
                <a:latin typeface="Malgun Gothic"/>
              </a:rPr>
              <a:t>핵심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해석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: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기술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품질만으로는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부족하고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,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공영방송에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대한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신뢰가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수용을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 </a:t>
            </a:r>
            <a:r>
              <a:rPr sz="930" b="0" dirty="0" err="1">
                <a:solidFill>
                  <a:srgbClr val="5A6575"/>
                </a:solidFill>
                <a:latin typeface="Malgun Gothic"/>
              </a:rPr>
              <a:t>결정한다</a:t>
            </a:r>
            <a:r>
              <a:rPr sz="930" b="0" dirty="0">
                <a:solidFill>
                  <a:srgbClr val="5A6575"/>
                </a:solidFill>
                <a:latin typeface="Malgun Gothic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2359152"/>
            <a:ext cx="329184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94192" y="2359152"/>
            <a:ext cx="100584" cy="2514600"/>
          </a:xfrm>
          <a:prstGeom prst="rect">
            <a:avLst/>
          </a:prstGeom>
          <a:solidFill>
            <a:srgbClr val="8F4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2468880"/>
            <a:ext cx="299923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8F4ABB"/>
                </a:solidFill>
                <a:latin typeface="Malgun Gothic"/>
              </a:rPr>
              <a:t>3. 리뷰자의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834640"/>
            <a:ext cx="2980944" cy="1728615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8F4AB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장점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: AI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거버넌스를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뉴스라는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생활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사례로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실증적으로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설명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8F4AB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장점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: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신뢰·정당성·도덕성을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수용모형에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포함한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점이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신선함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8F4AB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한계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: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설문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인식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중심이라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실제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오보율·정정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이력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등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운영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데이터는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부족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 dirty="0">
                <a:solidFill>
                  <a:srgbClr val="8F4AB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평가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: AI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도입보다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표시·검증·책임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체계가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먼저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설계되어야</a:t>
            </a:r>
            <a:r>
              <a:rPr sz="1200" b="0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62239"/>
                </a:solidFill>
                <a:latin typeface="Malgun Gothic"/>
              </a:rPr>
              <a:t>함</a:t>
            </a:r>
            <a:endParaRPr sz="1200" b="0" dirty="0">
              <a:solidFill>
                <a:srgbClr val="162239"/>
              </a:solidFill>
              <a:latin typeface="Malgun Gothi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193792"/>
            <a:ext cx="11183112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5554237"/>
            <a:ext cx="20116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0" b="1" dirty="0" err="1">
                <a:solidFill>
                  <a:srgbClr val="C93244"/>
                </a:solidFill>
                <a:latin typeface="Malgun Gothic"/>
              </a:rPr>
              <a:t>후속</a:t>
            </a:r>
            <a:r>
              <a:rPr sz="1420" b="1" dirty="0">
                <a:solidFill>
                  <a:srgbClr val="C93244"/>
                </a:solidFill>
                <a:latin typeface="Malgun Gothic"/>
              </a:rPr>
              <a:t> </a:t>
            </a:r>
            <a:r>
              <a:rPr sz="1420" b="1" dirty="0" err="1">
                <a:solidFill>
                  <a:srgbClr val="C93244"/>
                </a:solidFill>
                <a:latin typeface="Malgun Gothic"/>
              </a:rPr>
              <a:t>연구·제안</a:t>
            </a:r>
            <a:endParaRPr sz="1420" b="1" dirty="0">
              <a:solidFill>
                <a:srgbClr val="C93244"/>
              </a:solidFill>
              <a:latin typeface="Malgun Gothi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96312" y="5387095"/>
            <a:ext cx="1874519" cy="566928"/>
          </a:xfrm>
          <a:prstGeom prst="roundRect">
            <a:avLst/>
          </a:prstGeom>
          <a:solidFill>
            <a:srgbClr val="E5EFFF"/>
          </a:solidFill>
          <a:ln w="1524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940" b="1" dirty="0">
                <a:solidFill>
                  <a:srgbClr val="162239"/>
                </a:solidFill>
                <a:latin typeface="Malgun Gothic"/>
              </a:rPr>
              <a:t>AI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사용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표시</a:t>
            </a:r>
            <a:endParaRPr sz="940" b="1" dirty="0">
              <a:solidFill>
                <a:srgbClr val="162239"/>
              </a:solidFill>
              <a:latin typeface="Malgun Gothic"/>
            </a:endParaRPr>
          </a:p>
          <a:p>
            <a:pPr algn="ctr">
              <a:spcAft>
                <a:spcPts val="0"/>
              </a:spcAft>
            </a:pPr>
            <a:r>
              <a:rPr sz="940" b="1" dirty="0" err="1">
                <a:solidFill>
                  <a:srgbClr val="162239"/>
                </a:solidFill>
                <a:latin typeface="Malgun Gothic"/>
              </a:rPr>
              <a:t>어느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단계에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AI가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쓰였나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288" y="5387095"/>
            <a:ext cx="1892807" cy="566928"/>
          </a:xfrm>
          <a:prstGeom prst="roundRect">
            <a:avLst/>
          </a:prstGeom>
          <a:solidFill>
            <a:srgbClr val="FFF7E6"/>
          </a:solidFill>
          <a:ln w="15240"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62239"/>
                </a:solidFill>
                <a:latin typeface="Malgun Gothic"/>
              </a:rPr>
              <a:t>편집 책임</a:t>
            </a:r>
          </a:p>
          <a:p>
            <a:pPr algn="ctr">
              <a:spcAft>
                <a:spcPts val="0"/>
              </a:spcAft>
            </a:pPr>
            <a:r>
              <a:rPr sz="940" b="1">
                <a:solidFill>
                  <a:srgbClr val="162239"/>
                </a:solidFill>
                <a:latin typeface="Malgun Gothic"/>
              </a:rPr>
              <a:t>최종 검수자는 누구인가?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93408" y="5387095"/>
            <a:ext cx="1901952" cy="566928"/>
          </a:xfrm>
          <a:prstGeom prst="roundRect">
            <a:avLst/>
          </a:prstGeom>
          <a:solidFill>
            <a:srgbClr val="EAF7EE"/>
          </a:solidFill>
          <a:ln w="15240">
            <a:solidFill>
              <a:srgbClr val="2D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62239"/>
                </a:solidFill>
                <a:latin typeface="Malgun Gothic"/>
              </a:rPr>
              <a:t>오류 정정</a:t>
            </a:r>
          </a:p>
          <a:p>
            <a:pPr algn="ctr">
              <a:spcAft>
                <a:spcPts val="0"/>
              </a:spcAft>
            </a:pPr>
            <a:r>
              <a:rPr sz="940" b="1">
                <a:solidFill>
                  <a:srgbClr val="162239"/>
                </a:solidFill>
                <a:latin typeface="Malgun Gothic"/>
              </a:rPr>
              <a:t>오보·수정 이력을 남기는가?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5387095"/>
            <a:ext cx="2240280" cy="566928"/>
          </a:xfrm>
          <a:prstGeom prst="roundRect">
            <a:avLst/>
          </a:prstGeom>
          <a:solidFill>
            <a:srgbClr val="F6EFFF"/>
          </a:solidFill>
          <a:ln w="15240">
            <a:solidFill>
              <a:srgbClr val="862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0"/>
              </a:spcAft>
            </a:pPr>
            <a:r>
              <a:rPr sz="940" b="1" dirty="0" err="1">
                <a:solidFill>
                  <a:srgbClr val="162239"/>
                </a:solidFill>
                <a:latin typeface="Malgun Gothic"/>
              </a:rPr>
              <a:t>신뢰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변화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추적</a:t>
            </a:r>
            <a:endParaRPr sz="940" b="1" dirty="0">
              <a:solidFill>
                <a:srgbClr val="162239"/>
              </a:solidFill>
              <a:latin typeface="Malgun Gothic"/>
            </a:endParaRPr>
          </a:p>
          <a:p>
            <a:pPr algn="ctr">
              <a:spcAft>
                <a:spcPts val="0"/>
              </a:spcAft>
            </a:pPr>
            <a:r>
              <a:rPr sz="940" b="1" dirty="0" err="1">
                <a:solidFill>
                  <a:srgbClr val="162239"/>
                </a:solidFill>
                <a:latin typeface="Malgun Gothic"/>
              </a:rPr>
              <a:t>공영·민영·플랫폼</a:t>
            </a:r>
            <a:r>
              <a:rPr sz="940" b="1" dirty="0">
                <a:solidFill>
                  <a:srgbClr val="162239"/>
                </a:solidFill>
                <a:latin typeface="Malgun Gothic"/>
              </a:rPr>
              <a:t> </a:t>
            </a:r>
            <a:r>
              <a:rPr sz="940" b="1" dirty="0" err="1">
                <a:solidFill>
                  <a:srgbClr val="162239"/>
                </a:solidFill>
                <a:latin typeface="Malgun Gothic"/>
              </a:rPr>
              <a:t>비교</a:t>
            </a:r>
            <a:endParaRPr sz="940" b="1" dirty="0">
              <a:solidFill>
                <a:srgbClr val="162239"/>
              </a:solidFill>
              <a:latin typeface="Malgun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0352" y="6446520"/>
            <a:ext cx="4421082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80" b="0" dirty="0" err="1">
                <a:solidFill>
                  <a:srgbClr val="5A6575"/>
                </a:solidFill>
                <a:latin typeface="Malgun Gothic"/>
              </a:rPr>
              <a:t>자료</a:t>
            </a:r>
            <a:r>
              <a:rPr sz="780" b="0" dirty="0">
                <a:solidFill>
                  <a:srgbClr val="5A6575"/>
                </a:solidFill>
                <a:latin typeface="Malgun Gothic"/>
              </a:rPr>
              <a:t>: </a:t>
            </a:r>
            <a:r>
              <a:rPr lang="ko-KR" altLang="en-US" sz="800" dirty="0" err="1">
                <a:solidFill>
                  <a:srgbClr val="5A6575"/>
                </a:solidFill>
                <a:latin typeface="Malgun Gothic"/>
              </a:rPr>
              <a:t>김동미</a:t>
            </a:r>
            <a:r>
              <a:rPr lang="en-US" altLang="ko-KR" sz="800" dirty="0">
                <a:solidFill>
                  <a:srgbClr val="5A6575"/>
                </a:solidFill>
                <a:latin typeface="Malgun Gothic"/>
              </a:rPr>
              <a:t>(2026) </a:t>
            </a:r>
            <a:r>
              <a:rPr lang="ko-KR" altLang="en-US" sz="800" dirty="0">
                <a:solidFill>
                  <a:srgbClr val="5A6575"/>
                </a:solidFill>
                <a:latin typeface="Malgun Gothic"/>
              </a:rPr>
              <a:t>박사학위논문 「</a:t>
            </a:r>
            <a:r>
              <a:rPr lang="en" altLang="ko-KR" sz="800" dirty="0">
                <a:solidFill>
                  <a:srgbClr val="5A6575"/>
                </a:solidFill>
                <a:latin typeface="Malgun Gothic"/>
              </a:rPr>
              <a:t>AI</a:t>
            </a:r>
            <a:r>
              <a:rPr lang="ko-KR" altLang="en-US" sz="800" dirty="0">
                <a:solidFill>
                  <a:srgbClr val="5A6575"/>
                </a:solidFill>
                <a:latin typeface="Malgun Gothic"/>
              </a:rPr>
              <a:t>기반 뉴스 수용에 관한 도덕</a:t>
            </a:r>
            <a:r>
              <a:rPr lang="en-US" altLang="ko-KR" sz="800" dirty="0">
                <a:solidFill>
                  <a:srgbClr val="5A6575"/>
                </a:solidFill>
                <a:latin typeface="Malgun Gothic"/>
              </a:rPr>
              <a:t>-</a:t>
            </a:r>
            <a:r>
              <a:rPr lang="ko-KR" altLang="en-US" sz="800" dirty="0">
                <a:solidFill>
                  <a:srgbClr val="5A6575"/>
                </a:solidFill>
                <a:latin typeface="Malgun Gothic"/>
              </a:rPr>
              <a:t>기술 통합모형</a:t>
            </a:r>
            <a:r>
              <a:rPr lang="en-US" altLang="ko-KR" sz="800" dirty="0">
                <a:solidFill>
                  <a:srgbClr val="5A6575"/>
                </a:solidFill>
                <a:latin typeface="Malgun Gothic"/>
              </a:rPr>
              <a:t>(</a:t>
            </a:r>
            <a:r>
              <a:rPr lang="en" altLang="ko-KR" sz="800" dirty="0">
                <a:solidFill>
                  <a:srgbClr val="5A6575"/>
                </a:solidFill>
                <a:latin typeface="Malgun Gothic"/>
              </a:rPr>
              <a:t>M-TAM) </a:t>
            </a:r>
            <a:r>
              <a:rPr lang="ko-KR" altLang="en-US" sz="800" dirty="0">
                <a:solidFill>
                  <a:srgbClr val="5A6575"/>
                </a:solidFill>
                <a:latin typeface="Malgun Gothic"/>
              </a:rPr>
              <a:t>연구」 </a:t>
            </a:r>
            <a:endParaRPr sz="780" b="0" dirty="0">
              <a:solidFill>
                <a:srgbClr val="5A657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248</Words>
  <Application>Microsoft Macintosh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김현민</cp:lastModifiedBy>
  <cp:revision>2</cp:revision>
  <dcterms:created xsi:type="dcterms:W3CDTF">2013-01-27T09:14:16Z</dcterms:created>
  <dcterms:modified xsi:type="dcterms:W3CDTF">2026-06-11T08:30:07Z</dcterms:modified>
  <cp:category/>
</cp:coreProperties>
</file>