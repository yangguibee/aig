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65" autoAdjust="0"/>
    <p:restoredTop sz="94660"/>
  </p:normalViewPr>
  <p:slideViewPr>
    <p:cSldViewPr snapToGrid="0">
      <p:cViewPr varScale="1">
        <p:scale>
          <a:sx n="77" d="100"/>
          <a:sy n="77" d="100"/>
        </p:scale>
        <p:origin x="126" y="2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3EFC2E-6894-451B-9CD2-9A528A81521E}" type="datetimeFigureOut">
              <a:rPr lang="ko-KR" altLang="en-US" smtClean="0"/>
              <a:t>2026-06-11</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AAF579-AC2B-4830-AEA0-BF889CF2D6B6}" type="slidenum">
              <a:rPr lang="ko-KR" altLang="en-US" smtClean="0"/>
              <a:t>‹#›</a:t>
            </a:fld>
            <a:endParaRPr lang="ko-KR" altLang="en-US"/>
          </a:p>
        </p:txBody>
      </p:sp>
    </p:spTree>
    <p:extLst>
      <p:ext uri="{BB962C8B-B14F-4D97-AF65-F5344CB8AC3E}">
        <p14:creationId xmlns:p14="http://schemas.microsoft.com/office/powerpoint/2010/main" val="227967432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~10초】 안녕하십니까 유한나입니다. 지능형 AI CCTV 개인정보보호 방안 연구를 리뷰하겠습니다.
【서론 ~30초】 AI CCTV는 딥러닝으로 얼굴인식·이상행동 감지·동선 추적이 가능해 범죄 예방에 유용하지만, 모든 사람의 개인정보가 실시간 수집된다는 문제가 있습니다. EU는 공공장소 실시간 얼굴인식을 원칙 금지했지만 한국은 법적 정의조차 없고 관련법이 15개에 분산돼 있습니다.
【본론1 ~25초】 EU AI법 도입 시 세 분야가 바뀝니다. 공공안전은 동두천·부천 시스템 전면 재검토, 공항은 인천공항 스마트패스에 거부권 의무화, 금융·채용은 AI 결정 설명의무가 생깁니다.
【본론2 ~20초】 핵심 질문: AI CCTV가 잘못 판단했을 때 책임은 누가? 개인정보보호법 25조는 AI 분석 기능을 포섭 못하고, 법령 15개 분산에 보관기간도 제각각입니다. 전용 통합 법령 정비가 필요합니다.
【본론3 ~25초】 세 기술: ①딥러닝 익명화, ②GAN 합성데이터, ③암호화+워터마크. 정확도와 설명가능성의 딜레마가 있어 EU는 Human Oversight를 의무화했습니다.
【본론4 ~20초】 취약계층 보호를 위해 독립 영향평가 의무화, 이의제기권 명시, 접근성 지원, 공정성 정기 점검·공개를 제안합니다.
【결론 ~20초】 기술·법령·영향평가, 세 축이 동시에 작동해야 합니다. EU는 보호 우선, 한국은 성장과 균형. '기술과 법이 함께 뒷받침해야 AI 거버넌스의 진짜 목적'입니다.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4DEEC94-EDC6-72C5-508B-80E1855D5271}"/>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AE0011BA-2ACB-5C76-F5F4-DC853AF6B2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E0BE4139-9EB7-7E5F-7454-0EB16ADE3003}"/>
              </a:ext>
            </a:extLst>
          </p:cNvPr>
          <p:cNvSpPr>
            <a:spLocks noGrp="1"/>
          </p:cNvSpPr>
          <p:nvPr>
            <p:ph type="dt" sz="half" idx="10"/>
          </p:nvPr>
        </p:nvSpPr>
        <p:spPr/>
        <p:txBody>
          <a:bodyPr/>
          <a:lstStyle/>
          <a:p>
            <a:fld id="{1119A5B3-7801-4790-B20C-A223EF2C1A74}" type="datetimeFigureOut">
              <a:rPr lang="ko-KR" altLang="en-US" smtClean="0"/>
              <a:t>2026-06-11</a:t>
            </a:fld>
            <a:endParaRPr lang="ko-KR" altLang="en-US"/>
          </a:p>
        </p:txBody>
      </p:sp>
      <p:sp>
        <p:nvSpPr>
          <p:cNvPr id="5" name="바닥글 개체 틀 4">
            <a:extLst>
              <a:ext uri="{FF2B5EF4-FFF2-40B4-BE49-F238E27FC236}">
                <a16:creationId xmlns:a16="http://schemas.microsoft.com/office/drawing/2014/main" id="{418FBEE5-2778-0522-9A5B-64A3B2279A4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0A32CFF-F56A-7AF4-D481-2A1BF4B4955F}"/>
              </a:ext>
            </a:extLst>
          </p:cNvPr>
          <p:cNvSpPr>
            <a:spLocks noGrp="1"/>
          </p:cNvSpPr>
          <p:nvPr>
            <p:ph type="sldNum" sz="quarter" idx="12"/>
          </p:nvPr>
        </p:nvSpPr>
        <p:spPr/>
        <p:txBody>
          <a:bodyPr/>
          <a:lstStyle/>
          <a:p>
            <a:fld id="{8AE63A2E-C02F-4CBB-B0B1-965A04FCB570}" type="slidenum">
              <a:rPr lang="ko-KR" altLang="en-US" smtClean="0"/>
              <a:t>‹#›</a:t>
            </a:fld>
            <a:endParaRPr lang="ko-KR" altLang="en-US"/>
          </a:p>
        </p:txBody>
      </p:sp>
    </p:spTree>
    <p:extLst>
      <p:ext uri="{BB962C8B-B14F-4D97-AF65-F5344CB8AC3E}">
        <p14:creationId xmlns:p14="http://schemas.microsoft.com/office/powerpoint/2010/main" val="92889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E5A3AD1-9B86-D6D8-E179-098FA599E29E}"/>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67A0E121-7D56-FC81-03B8-077BD23890C0}"/>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32C7AFB-BC6E-7447-7C0A-45F954F60045}"/>
              </a:ext>
            </a:extLst>
          </p:cNvPr>
          <p:cNvSpPr>
            <a:spLocks noGrp="1"/>
          </p:cNvSpPr>
          <p:nvPr>
            <p:ph type="dt" sz="half" idx="10"/>
          </p:nvPr>
        </p:nvSpPr>
        <p:spPr/>
        <p:txBody>
          <a:bodyPr/>
          <a:lstStyle/>
          <a:p>
            <a:fld id="{1119A5B3-7801-4790-B20C-A223EF2C1A74}" type="datetimeFigureOut">
              <a:rPr lang="ko-KR" altLang="en-US" smtClean="0"/>
              <a:t>2026-06-11</a:t>
            </a:fld>
            <a:endParaRPr lang="ko-KR" altLang="en-US"/>
          </a:p>
        </p:txBody>
      </p:sp>
      <p:sp>
        <p:nvSpPr>
          <p:cNvPr id="5" name="바닥글 개체 틀 4">
            <a:extLst>
              <a:ext uri="{FF2B5EF4-FFF2-40B4-BE49-F238E27FC236}">
                <a16:creationId xmlns:a16="http://schemas.microsoft.com/office/drawing/2014/main" id="{E8C25788-74CC-FE47-46CF-334C69D6E84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53737132-ED65-0B57-81DB-5CDE09F1D2D1}"/>
              </a:ext>
            </a:extLst>
          </p:cNvPr>
          <p:cNvSpPr>
            <a:spLocks noGrp="1"/>
          </p:cNvSpPr>
          <p:nvPr>
            <p:ph type="sldNum" sz="quarter" idx="12"/>
          </p:nvPr>
        </p:nvSpPr>
        <p:spPr/>
        <p:txBody>
          <a:bodyPr/>
          <a:lstStyle/>
          <a:p>
            <a:fld id="{8AE63A2E-C02F-4CBB-B0B1-965A04FCB570}" type="slidenum">
              <a:rPr lang="ko-KR" altLang="en-US" smtClean="0"/>
              <a:t>‹#›</a:t>
            </a:fld>
            <a:endParaRPr lang="ko-KR" altLang="en-US"/>
          </a:p>
        </p:txBody>
      </p:sp>
    </p:spTree>
    <p:extLst>
      <p:ext uri="{BB962C8B-B14F-4D97-AF65-F5344CB8AC3E}">
        <p14:creationId xmlns:p14="http://schemas.microsoft.com/office/powerpoint/2010/main" val="709536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EB2A64C-3E64-94AA-BA07-AA7AA77518C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60BFDB47-DDDB-3A1A-297D-91D3AD65E9B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ACC319EB-7BEA-82A6-B45A-B9AF9C5625E8}"/>
              </a:ext>
            </a:extLst>
          </p:cNvPr>
          <p:cNvSpPr>
            <a:spLocks noGrp="1"/>
          </p:cNvSpPr>
          <p:nvPr>
            <p:ph type="dt" sz="half" idx="10"/>
          </p:nvPr>
        </p:nvSpPr>
        <p:spPr/>
        <p:txBody>
          <a:bodyPr/>
          <a:lstStyle/>
          <a:p>
            <a:fld id="{1119A5B3-7801-4790-B20C-A223EF2C1A74}" type="datetimeFigureOut">
              <a:rPr lang="ko-KR" altLang="en-US" smtClean="0"/>
              <a:t>2026-06-11</a:t>
            </a:fld>
            <a:endParaRPr lang="ko-KR" altLang="en-US"/>
          </a:p>
        </p:txBody>
      </p:sp>
      <p:sp>
        <p:nvSpPr>
          <p:cNvPr id="5" name="바닥글 개체 틀 4">
            <a:extLst>
              <a:ext uri="{FF2B5EF4-FFF2-40B4-BE49-F238E27FC236}">
                <a16:creationId xmlns:a16="http://schemas.microsoft.com/office/drawing/2014/main" id="{5F526DBF-5642-6962-B2D1-5A52CC9B712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7283477-2A4B-06E1-C105-DA56E84852C1}"/>
              </a:ext>
            </a:extLst>
          </p:cNvPr>
          <p:cNvSpPr>
            <a:spLocks noGrp="1"/>
          </p:cNvSpPr>
          <p:nvPr>
            <p:ph type="sldNum" sz="quarter" idx="12"/>
          </p:nvPr>
        </p:nvSpPr>
        <p:spPr/>
        <p:txBody>
          <a:bodyPr/>
          <a:lstStyle/>
          <a:p>
            <a:fld id="{8AE63A2E-C02F-4CBB-B0B1-965A04FCB570}" type="slidenum">
              <a:rPr lang="ko-KR" altLang="en-US" smtClean="0"/>
              <a:t>‹#›</a:t>
            </a:fld>
            <a:endParaRPr lang="ko-KR" altLang="en-US"/>
          </a:p>
        </p:txBody>
      </p:sp>
    </p:spTree>
    <p:extLst>
      <p:ext uri="{BB962C8B-B14F-4D97-AF65-F5344CB8AC3E}">
        <p14:creationId xmlns:p14="http://schemas.microsoft.com/office/powerpoint/2010/main" val="3694976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850D94F-8E60-7759-18F6-5AA599A45DB2}"/>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82DBE20-836C-154A-A7D4-F8ABDC7AA169}"/>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CA1002C0-0B4F-24FE-4D3D-CCEF6084CBB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8A43D65C-E5E0-3D07-DDE2-4AF0395C04F5}"/>
              </a:ext>
            </a:extLst>
          </p:cNvPr>
          <p:cNvSpPr>
            <a:spLocks noGrp="1"/>
          </p:cNvSpPr>
          <p:nvPr>
            <p:ph type="dt" sz="half" idx="10"/>
          </p:nvPr>
        </p:nvSpPr>
        <p:spPr/>
        <p:txBody>
          <a:bodyPr/>
          <a:lstStyle/>
          <a:p>
            <a:fld id="{1119A5B3-7801-4790-B20C-A223EF2C1A74}" type="datetimeFigureOut">
              <a:rPr lang="ko-KR" altLang="en-US" smtClean="0"/>
              <a:t>2026-06-11</a:t>
            </a:fld>
            <a:endParaRPr lang="ko-KR" altLang="en-US"/>
          </a:p>
        </p:txBody>
      </p:sp>
      <p:sp>
        <p:nvSpPr>
          <p:cNvPr id="6" name="바닥글 개체 틀 5">
            <a:extLst>
              <a:ext uri="{FF2B5EF4-FFF2-40B4-BE49-F238E27FC236}">
                <a16:creationId xmlns:a16="http://schemas.microsoft.com/office/drawing/2014/main" id="{91B517F2-078E-DE1C-15C1-5A2E5A7FD02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BEB995E-1FD5-0F54-27C0-42D300BB2BDD}"/>
              </a:ext>
            </a:extLst>
          </p:cNvPr>
          <p:cNvSpPr>
            <a:spLocks noGrp="1"/>
          </p:cNvSpPr>
          <p:nvPr>
            <p:ph type="sldNum" sz="quarter" idx="12"/>
          </p:nvPr>
        </p:nvSpPr>
        <p:spPr/>
        <p:txBody>
          <a:bodyPr/>
          <a:lstStyle/>
          <a:p>
            <a:fld id="{8AE63A2E-C02F-4CBB-B0B1-965A04FCB570}" type="slidenum">
              <a:rPr lang="ko-KR" altLang="en-US" smtClean="0"/>
              <a:t>‹#›</a:t>
            </a:fld>
            <a:endParaRPr lang="ko-KR" altLang="en-US"/>
          </a:p>
        </p:txBody>
      </p:sp>
    </p:spTree>
    <p:extLst>
      <p:ext uri="{BB962C8B-B14F-4D97-AF65-F5344CB8AC3E}">
        <p14:creationId xmlns:p14="http://schemas.microsoft.com/office/powerpoint/2010/main" val="302526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6E45151-4363-9F2A-9D81-FA7545FBD524}"/>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1DCA8D2C-1F8E-1A1B-D225-6D9FA00F86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2196476-BC32-0067-E536-0642B524AAD3}"/>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60F7DC50-6281-2258-2069-1860605F4E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23C7EC8-5038-5E97-6259-B23280D21603}"/>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B372DC39-78A0-F072-3832-783D028AE390}"/>
              </a:ext>
            </a:extLst>
          </p:cNvPr>
          <p:cNvSpPr>
            <a:spLocks noGrp="1"/>
          </p:cNvSpPr>
          <p:nvPr>
            <p:ph type="dt" sz="half" idx="10"/>
          </p:nvPr>
        </p:nvSpPr>
        <p:spPr/>
        <p:txBody>
          <a:bodyPr/>
          <a:lstStyle/>
          <a:p>
            <a:fld id="{1119A5B3-7801-4790-B20C-A223EF2C1A74}" type="datetimeFigureOut">
              <a:rPr lang="ko-KR" altLang="en-US" smtClean="0"/>
              <a:t>2026-06-11</a:t>
            </a:fld>
            <a:endParaRPr lang="ko-KR" altLang="en-US"/>
          </a:p>
        </p:txBody>
      </p:sp>
      <p:sp>
        <p:nvSpPr>
          <p:cNvPr id="8" name="바닥글 개체 틀 7">
            <a:extLst>
              <a:ext uri="{FF2B5EF4-FFF2-40B4-BE49-F238E27FC236}">
                <a16:creationId xmlns:a16="http://schemas.microsoft.com/office/drawing/2014/main" id="{2A0E463E-59C0-674E-0BCE-62620ED7A05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2D2F3DA2-F22B-E96B-E5A0-736BE7BD6BD4}"/>
              </a:ext>
            </a:extLst>
          </p:cNvPr>
          <p:cNvSpPr>
            <a:spLocks noGrp="1"/>
          </p:cNvSpPr>
          <p:nvPr>
            <p:ph type="sldNum" sz="quarter" idx="12"/>
          </p:nvPr>
        </p:nvSpPr>
        <p:spPr/>
        <p:txBody>
          <a:bodyPr/>
          <a:lstStyle/>
          <a:p>
            <a:fld id="{8AE63A2E-C02F-4CBB-B0B1-965A04FCB570}" type="slidenum">
              <a:rPr lang="ko-KR" altLang="en-US" smtClean="0"/>
              <a:t>‹#›</a:t>
            </a:fld>
            <a:endParaRPr lang="ko-KR" altLang="en-US"/>
          </a:p>
        </p:txBody>
      </p:sp>
    </p:spTree>
    <p:extLst>
      <p:ext uri="{BB962C8B-B14F-4D97-AF65-F5344CB8AC3E}">
        <p14:creationId xmlns:p14="http://schemas.microsoft.com/office/powerpoint/2010/main" val="1243999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88F4B07-1775-F062-A5C2-A4F9124B8A21}"/>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720E0ED4-B757-1D10-815E-8412D17D33A3}"/>
              </a:ext>
            </a:extLst>
          </p:cNvPr>
          <p:cNvSpPr>
            <a:spLocks noGrp="1"/>
          </p:cNvSpPr>
          <p:nvPr>
            <p:ph type="dt" sz="half" idx="10"/>
          </p:nvPr>
        </p:nvSpPr>
        <p:spPr/>
        <p:txBody>
          <a:bodyPr/>
          <a:lstStyle/>
          <a:p>
            <a:fld id="{1119A5B3-7801-4790-B20C-A223EF2C1A74}" type="datetimeFigureOut">
              <a:rPr lang="ko-KR" altLang="en-US" smtClean="0"/>
              <a:t>2026-06-11</a:t>
            </a:fld>
            <a:endParaRPr lang="ko-KR" altLang="en-US"/>
          </a:p>
        </p:txBody>
      </p:sp>
      <p:sp>
        <p:nvSpPr>
          <p:cNvPr id="4" name="바닥글 개체 틀 3">
            <a:extLst>
              <a:ext uri="{FF2B5EF4-FFF2-40B4-BE49-F238E27FC236}">
                <a16:creationId xmlns:a16="http://schemas.microsoft.com/office/drawing/2014/main" id="{53FECE49-678B-91CA-ACE4-307BDC1D2D69}"/>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7659BD0-2396-A366-661B-0ECB609DF7C4}"/>
              </a:ext>
            </a:extLst>
          </p:cNvPr>
          <p:cNvSpPr>
            <a:spLocks noGrp="1"/>
          </p:cNvSpPr>
          <p:nvPr>
            <p:ph type="sldNum" sz="quarter" idx="12"/>
          </p:nvPr>
        </p:nvSpPr>
        <p:spPr/>
        <p:txBody>
          <a:bodyPr/>
          <a:lstStyle/>
          <a:p>
            <a:fld id="{8AE63A2E-C02F-4CBB-B0B1-965A04FCB570}" type="slidenum">
              <a:rPr lang="ko-KR" altLang="en-US" smtClean="0"/>
              <a:t>‹#›</a:t>
            </a:fld>
            <a:endParaRPr lang="ko-KR" altLang="en-US"/>
          </a:p>
        </p:txBody>
      </p:sp>
    </p:spTree>
    <p:extLst>
      <p:ext uri="{BB962C8B-B14F-4D97-AF65-F5344CB8AC3E}">
        <p14:creationId xmlns:p14="http://schemas.microsoft.com/office/powerpoint/2010/main" val="4174919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828F65AE-389E-D811-E59D-A7F68CD03298}"/>
              </a:ext>
            </a:extLst>
          </p:cNvPr>
          <p:cNvSpPr>
            <a:spLocks noGrp="1"/>
          </p:cNvSpPr>
          <p:nvPr>
            <p:ph type="dt" sz="half" idx="10"/>
          </p:nvPr>
        </p:nvSpPr>
        <p:spPr/>
        <p:txBody>
          <a:bodyPr/>
          <a:lstStyle/>
          <a:p>
            <a:fld id="{1119A5B3-7801-4790-B20C-A223EF2C1A74}" type="datetimeFigureOut">
              <a:rPr lang="ko-KR" altLang="en-US" smtClean="0"/>
              <a:t>2026-06-11</a:t>
            </a:fld>
            <a:endParaRPr lang="ko-KR" altLang="en-US"/>
          </a:p>
        </p:txBody>
      </p:sp>
      <p:sp>
        <p:nvSpPr>
          <p:cNvPr id="3" name="바닥글 개체 틀 2">
            <a:extLst>
              <a:ext uri="{FF2B5EF4-FFF2-40B4-BE49-F238E27FC236}">
                <a16:creationId xmlns:a16="http://schemas.microsoft.com/office/drawing/2014/main" id="{5C5B621F-E6AC-3ED7-A84D-5A0245927E04}"/>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B42E86E-7135-C1FF-6A84-6A7A2D5D2B66}"/>
              </a:ext>
            </a:extLst>
          </p:cNvPr>
          <p:cNvSpPr>
            <a:spLocks noGrp="1"/>
          </p:cNvSpPr>
          <p:nvPr>
            <p:ph type="sldNum" sz="quarter" idx="12"/>
          </p:nvPr>
        </p:nvSpPr>
        <p:spPr/>
        <p:txBody>
          <a:bodyPr/>
          <a:lstStyle/>
          <a:p>
            <a:fld id="{8AE63A2E-C02F-4CBB-B0B1-965A04FCB570}" type="slidenum">
              <a:rPr lang="ko-KR" altLang="en-US" smtClean="0"/>
              <a:t>‹#›</a:t>
            </a:fld>
            <a:endParaRPr lang="ko-KR" altLang="en-US"/>
          </a:p>
        </p:txBody>
      </p:sp>
    </p:spTree>
    <p:extLst>
      <p:ext uri="{BB962C8B-B14F-4D97-AF65-F5344CB8AC3E}">
        <p14:creationId xmlns:p14="http://schemas.microsoft.com/office/powerpoint/2010/main" val="3659933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8AA1544-C48D-13FC-3B88-51C9DBA362D9}"/>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248DE736-B2AE-0CC4-C8FE-8106F3AA26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DECE3D0B-99A6-4651-3B0D-6A93E893FA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8C172BF2-51B9-F950-EF60-11051B6CB834}"/>
              </a:ext>
            </a:extLst>
          </p:cNvPr>
          <p:cNvSpPr>
            <a:spLocks noGrp="1"/>
          </p:cNvSpPr>
          <p:nvPr>
            <p:ph type="dt" sz="half" idx="10"/>
          </p:nvPr>
        </p:nvSpPr>
        <p:spPr/>
        <p:txBody>
          <a:bodyPr/>
          <a:lstStyle/>
          <a:p>
            <a:fld id="{1119A5B3-7801-4790-B20C-A223EF2C1A74}" type="datetimeFigureOut">
              <a:rPr lang="ko-KR" altLang="en-US" smtClean="0"/>
              <a:t>2026-06-11</a:t>
            </a:fld>
            <a:endParaRPr lang="ko-KR" altLang="en-US"/>
          </a:p>
        </p:txBody>
      </p:sp>
      <p:sp>
        <p:nvSpPr>
          <p:cNvPr id="6" name="바닥글 개체 틀 5">
            <a:extLst>
              <a:ext uri="{FF2B5EF4-FFF2-40B4-BE49-F238E27FC236}">
                <a16:creationId xmlns:a16="http://schemas.microsoft.com/office/drawing/2014/main" id="{2A0792AD-CC5C-3C75-73C7-BA6EDCB79D37}"/>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23C09234-1BFC-CD62-905E-A46FBBC5F167}"/>
              </a:ext>
            </a:extLst>
          </p:cNvPr>
          <p:cNvSpPr>
            <a:spLocks noGrp="1"/>
          </p:cNvSpPr>
          <p:nvPr>
            <p:ph type="sldNum" sz="quarter" idx="12"/>
          </p:nvPr>
        </p:nvSpPr>
        <p:spPr/>
        <p:txBody>
          <a:bodyPr/>
          <a:lstStyle/>
          <a:p>
            <a:fld id="{8AE63A2E-C02F-4CBB-B0B1-965A04FCB570}" type="slidenum">
              <a:rPr lang="ko-KR" altLang="en-US" smtClean="0"/>
              <a:t>‹#›</a:t>
            </a:fld>
            <a:endParaRPr lang="ko-KR" altLang="en-US"/>
          </a:p>
        </p:txBody>
      </p:sp>
    </p:spTree>
    <p:extLst>
      <p:ext uri="{BB962C8B-B14F-4D97-AF65-F5344CB8AC3E}">
        <p14:creationId xmlns:p14="http://schemas.microsoft.com/office/powerpoint/2010/main" val="3894127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6882B80-3665-1FDF-EA9E-84B81A139FA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6A707A84-2A81-A6EE-27DC-D811986A41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8CD7E2A0-D104-80EC-AA1A-614AD488A5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513AE7D-4DB4-F65E-0CF3-4AD9F214D0E9}"/>
              </a:ext>
            </a:extLst>
          </p:cNvPr>
          <p:cNvSpPr>
            <a:spLocks noGrp="1"/>
          </p:cNvSpPr>
          <p:nvPr>
            <p:ph type="dt" sz="half" idx="10"/>
          </p:nvPr>
        </p:nvSpPr>
        <p:spPr/>
        <p:txBody>
          <a:bodyPr/>
          <a:lstStyle/>
          <a:p>
            <a:fld id="{1119A5B3-7801-4790-B20C-A223EF2C1A74}" type="datetimeFigureOut">
              <a:rPr lang="ko-KR" altLang="en-US" smtClean="0"/>
              <a:t>2026-06-11</a:t>
            </a:fld>
            <a:endParaRPr lang="ko-KR" altLang="en-US"/>
          </a:p>
        </p:txBody>
      </p:sp>
      <p:sp>
        <p:nvSpPr>
          <p:cNvPr id="6" name="바닥글 개체 틀 5">
            <a:extLst>
              <a:ext uri="{FF2B5EF4-FFF2-40B4-BE49-F238E27FC236}">
                <a16:creationId xmlns:a16="http://schemas.microsoft.com/office/drawing/2014/main" id="{D7E29ADA-92AA-8A5B-954F-2894FAF0798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B812AF8-45F1-F808-B06B-C8FB7B24A35C}"/>
              </a:ext>
            </a:extLst>
          </p:cNvPr>
          <p:cNvSpPr>
            <a:spLocks noGrp="1"/>
          </p:cNvSpPr>
          <p:nvPr>
            <p:ph type="sldNum" sz="quarter" idx="12"/>
          </p:nvPr>
        </p:nvSpPr>
        <p:spPr/>
        <p:txBody>
          <a:bodyPr/>
          <a:lstStyle/>
          <a:p>
            <a:fld id="{8AE63A2E-C02F-4CBB-B0B1-965A04FCB570}" type="slidenum">
              <a:rPr lang="ko-KR" altLang="en-US" smtClean="0"/>
              <a:t>‹#›</a:t>
            </a:fld>
            <a:endParaRPr lang="ko-KR" altLang="en-US"/>
          </a:p>
        </p:txBody>
      </p:sp>
    </p:spTree>
    <p:extLst>
      <p:ext uri="{BB962C8B-B14F-4D97-AF65-F5344CB8AC3E}">
        <p14:creationId xmlns:p14="http://schemas.microsoft.com/office/powerpoint/2010/main" val="1235069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5D5D153-2A31-210D-CDA0-B757A1FE81A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37EF7C80-6FBC-A225-DD1F-0BDE28EAA137}"/>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0DCD5B4-A128-3EEA-B87D-BA52A9117269}"/>
              </a:ext>
            </a:extLst>
          </p:cNvPr>
          <p:cNvSpPr>
            <a:spLocks noGrp="1"/>
          </p:cNvSpPr>
          <p:nvPr>
            <p:ph type="dt" sz="half" idx="10"/>
          </p:nvPr>
        </p:nvSpPr>
        <p:spPr/>
        <p:txBody>
          <a:bodyPr/>
          <a:lstStyle/>
          <a:p>
            <a:fld id="{1119A5B3-7801-4790-B20C-A223EF2C1A74}" type="datetimeFigureOut">
              <a:rPr lang="ko-KR" altLang="en-US" smtClean="0"/>
              <a:t>2026-06-11</a:t>
            </a:fld>
            <a:endParaRPr lang="ko-KR" altLang="en-US"/>
          </a:p>
        </p:txBody>
      </p:sp>
      <p:sp>
        <p:nvSpPr>
          <p:cNvPr id="5" name="바닥글 개체 틀 4">
            <a:extLst>
              <a:ext uri="{FF2B5EF4-FFF2-40B4-BE49-F238E27FC236}">
                <a16:creationId xmlns:a16="http://schemas.microsoft.com/office/drawing/2014/main" id="{50D4A127-6587-4850-B538-BF2FD8C038F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455D237-491C-4E9C-D4DF-69B5B655AE5A}"/>
              </a:ext>
            </a:extLst>
          </p:cNvPr>
          <p:cNvSpPr>
            <a:spLocks noGrp="1"/>
          </p:cNvSpPr>
          <p:nvPr>
            <p:ph type="sldNum" sz="quarter" idx="12"/>
          </p:nvPr>
        </p:nvSpPr>
        <p:spPr/>
        <p:txBody>
          <a:bodyPr/>
          <a:lstStyle/>
          <a:p>
            <a:fld id="{8AE63A2E-C02F-4CBB-B0B1-965A04FCB570}" type="slidenum">
              <a:rPr lang="ko-KR" altLang="en-US" smtClean="0"/>
              <a:t>‹#›</a:t>
            </a:fld>
            <a:endParaRPr lang="ko-KR" altLang="en-US"/>
          </a:p>
        </p:txBody>
      </p:sp>
    </p:spTree>
    <p:extLst>
      <p:ext uri="{BB962C8B-B14F-4D97-AF65-F5344CB8AC3E}">
        <p14:creationId xmlns:p14="http://schemas.microsoft.com/office/powerpoint/2010/main" val="314667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8719EB7D-C19F-B7A0-2826-FF932FED5B3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81BA1D47-2E95-2C0C-9FC6-A6837A2E1C56}"/>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8792889-986A-7315-6486-60C29911A875}"/>
              </a:ext>
            </a:extLst>
          </p:cNvPr>
          <p:cNvSpPr>
            <a:spLocks noGrp="1"/>
          </p:cNvSpPr>
          <p:nvPr>
            <p:ph type="dt" sz="half" idx="10"/>
          </p:nvPr>
        </p:nvSpPr>
        <p:spPr/>
        <p:txBody>
          <a:bodyPr/>
          <a:lstStyle/>
          <a:p>
            <a:fld id="{1119A5B3-7801-4790-B20C-A223EF2C1A74}" type="datetimeFigureOut">
              <a:rPr lang="ko-KR" altLang="en-US" smtClean="0"/>
              <a:t>2026-06-11</a:t>
            </a:fld>
            <a:endParaRPr lang="ko-KR" altLang="en-US"/>
          </a:p>
        </p:txBody>
      </p:sp>
      <p:sp>
        <p:nvSpPr>
          <p:cNvPr id="5" name="바닥글 개체 틀 4">
            <a:extLst>
              <a:ext uri="{FF2B5EF4-FFF2-40B4-BE49-F238E27FC236}">
                <a16:creationId xmlns:a16="http://schemas.microsoft.com/office/drawing/2014/main" id="{12D9176E-043A-5334-BD4C-BFB1B8D5592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1966DA1-B1F6-BC42-1546-B27AF72C3FBB}"/>
              </a:ext>
            </a:extLst>
          </p:cNvPr>
          <p:cNvSpPr>
            <a:spLocks noGrp="1"/>
          </p:cNvSpPr>
          <p:nvPr>
            <p:ph type="sldNum" sz="quarter" idx="12"/>
          </p:nvPr>
        </p:nvSpPr>
        <p:spPr/>
        <p:txBody>
          <a:bodyPr/>
          <a:lstStyle/>
          <a:p>
            <a:fld id="{8AE63A2E-C02F-4CBB-B0B1-965A04FCB570}" type="slidenum">
              <a:rPr lang="ko-KR" altLang="en-US" smtClean="0"/>
              <a:t>‹#›</a:t>
            </a:fld>
            <a:endParaRPr lang="ko-KR" altLang="en-US"/>
          </a:p>
        </p:txBody>
      </p:sp>
    </p:spTree>
    <p:extLst>
      <p:ext uri="{BB962C8B-B14F-4D97-AF65-F5344CB8AC3E}">
        <p14:creationId xmlns:p14="http://schemas.microsoft.com/office/powerpoint/2010/main" val="4275223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8738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ECC0824F-10AF-0E3F-43C0-5B01DC76BC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F14E898B-779F-5341-F72B-79733933E7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741FF09-A9B8-1779-3CC4-816E64F89E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119A5B3-7801-4790-B20C-A223EF2C1A74}" type="datetimeFigureOut">
              <a:rPr lang="ko-KR" altLang="en-US" smtClean="0"/>
              <a:t>2026-06-11</a:t>
            </a:fld>
            <a:endParaRPr lang="ko-KR" altLang="en-US"/>
          </a:p>
        </p:txBody>
      </p:sp>
      <p:sp>
        <p:nvSpPr>
          <p:cNvPr id="5" name="바닥글 개체 틀 4">
            <a:extLst>
              <a:ext uri="{FF2B5EF4-FFF2-40B4-BE49-F238E27FC236}">
                <a16:creationId xmlns:a16="http://schemas.microsoft.com/office/drawing/2014/main" id="{E6BC65DB-34C0-03EC-CA57-F9D12A9623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827A8D4A-6FA3-53BD-CA78-ED9CFCDA5F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AE63A2E-C02F-4CBB-B0B1-965A04FCB570}" type="slidenum">
              <a:rPr lang="ko-KR" altLang="en-US" smtClean="0"/>
              <a:t>‹#›</a:t>
            </a:fld>
            <a:endParaRPr lang="ko-KR" altLang="en-US"/>
          </a:p>
        </p:txBody>
      </p:sp>
    </p:spTree>
    <p:extLst>
      <p:ext uri="{BB962C8B-B14F-4D97-AF65-F5344CB8AC3E}">
        <p14:creationId xmlns:p14="http://schemas.microsoft.com/office/powerpoint/2010/main" val="321542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55904"/>
          </a:xfrm>
          <a:prstGeom prst="rect">
            <a:avLst/>
          </a:prstGeom>
          <a:solidFill>
            <a:srgbClr val="1A2B5F"/>
          </a:solidFill>
          <a:ln w="12700">
            <a:solidFill>
              <a:srgbClr val="1A2B5F"/>
            </a:solidFill>
            <a:prstDash val="solid"/>
          </a:ln>
        </p:spPr>
        <p:txBody>
          <a:bodyPr/>
          <a:lstStyle/>
          <a:p>
            <a:endParaRPr lang="ko-KR" altLang="en-US" sz="2400"/>
          </a:p>
        </p:txBody>
      </p:sp>
      <p:sp>
        <p:nvSpPr>
          <p:cNvPr id="3" name="Text 1"/>
          <p:cNvSpPr/>
          <p:nvPr/>
        </p:nvSpPr>
        <p:spPr>
          <a:xfrm>
            <a:off x="304800" y="0"/>
            <a:ext cx="8534400" cy="755904"/>
          </a:xfrm>
          <a:prstGeom prst="rect">
            <a:avLst/>
          </a:prstGeom>
          <a:noFill/>
          <a:ln/>
        </p:spPr>
        <p:txBody>
          <a:bodyPr wrap="square" lIns="0" tIns="0" rIns="0" bIns="0" rtlCol="0" anchor="ctr"/>
          <a:lstStyle/>
          <a:p>
            <a:r>
              <a:rPr lang="en-US" sz="1733" b="1" dirty="0">
                <a:solidFill>
                  <a:srgbClr val="FFFFFF"/>
                </a:solidFill>
              </a:rPr>
              <a:t>지능형(AI) CCTV에서의 개인정보보호 방안 연구</a:t>
            </a:r>
            <a:endParaRPr lang="en-US" sz="1733" dirty="0"/>
          </a:p>
        </p:txBody>
      </p:sp>
      <p:sp>
        <p:nvSpPr>
          <p:cNvPr id="7" name="Shape 5"/>
          <p:cNvSpPr/>
          <p:nvPr/>
        </p:nvSpPr>
        <p:spPr>
          <a:xfrm>
            <a:off x="219456" y="877824"/>
            <a:ext cx="3718560" cy="3986784"/>
          </a:xfrm>
          <a:prstGeom prst="roundRect">
            <a:avLst>
              <a:gd name="adj" fmla="val 3279"/>
            </a:avLst>
          </a:prstGeom>
          <a:solidFill>
            <a:srgbClr val="1A2B5F"/>
          </a:solidFill>
          <a:ln w="12700">
            <a:solidFill>
              <a:srgbClr val="1A2B5F"/>
            </a:solidFill>
            <a:prstDash val="solid"/>
          </a:ln>
          <a:effectLst>
            <a:outerShdw blurRad="63500" dist="25400" dir="2700000" algn="bl" rotWithShape="0">
              <a:srgbClr val="000000">
                <a:alpha val="10000"/>
              </a:srgbClr>
            </a:outerShdw>
          </a:effectLst>
        </p:spPr>
        <p:txBody>
          <a:bodyPr/>
          <a:lstStyle/>
          <a:p>
            <a:endParaRPr lang="ko-KR" altLang="en-US" sz="2400"/>
          </a:p>
        </p:txBody>
      </p:sp>
      <p:sp>
        <p:nvSpPr>
          <p:cNvPr id="8" name="Shape 6"/>
          <p:cNvSpPr/>
          <p:nvPr/>
        </p:nvSpPr>
        <p:spPr>
          <a:xfrm>
            <a:off x="365760" y="999744"/>
            <a:ext cx="2072640" cy="390144"/>
          </a:xfrm>
          <a:prstGeom prst="roundRect">
            <a:avLst>
              <a:gd name="adj" fmla="val 15625"/>
            </a:avLst>
          </a:prstGeom>
          <a:solidFill>
            <a:srgbClr val="0D7377"/>
          </a:solidFill>
          <a:ln w="12700">
            <a:solidFill>
              <a:srgbClr val="0D7377"/>
            </a:solidFill>
            <a:prstDash val="solid"/>
          </a:ln>
        </p:spPr>
        <p:txBody>
          <a:bodyPr/>
          <a:lstStyle/>
          <a:p>
            <a:endParaRPr lang="ko-KR" altLang="en-US" sz="2400"/>
          </a:p>
        </p:txBody>
      </p:sp>
      <p:sp>
        <p:nvSpPr>
          <p:cNvPr id="9" name="Text 7"/>
          <p:cNvSpPr/>
          <p:nvPr/>
        </p:nvSpPr>
        <p:spPr>
          <a:xfrm>
            <a:off x="365760" y="999744"/>
            <a:ext cx="2072640" cy="390144"/>
          </a:xfrm>
          <a:prstGeom prst="rect">
            <a:avLst/>
          </a:prstGeom>
          <a:noFill/>
          <a:ln/>
        </p:spPr>
        <p:txBody>
          <a:bodyPr wrap="square" lIns="0" tIns="0" rIns="0" bIns="0" rtlCol="0" anchor="ctr"/>
          <a:lstStyle/>
          <a:p>
            <a:pPr algn="ctr"/>
            <a:r>
              <a:rPr lang="en-US" sz="1200" b="1" dirty="0">
                <a:solidFill>
                  <a:srgbClr val="FFFFFF"/>
                </a:solidFill>
              </a:rPr>
              <a:t>🎯 서론</a:t>
            </a:r>
            <a:endParaRPr lang="en-US" sz="1200" dirty="0"/>
          </a:p>
        </p:txBody>
      </p:sp>
      <p:sp>
        <p:nvSpPr>
          <p:cNvPr id="10" name="Text 8"/>
          <p:cNvSpPr/>
          <p:nvPr/>
        </p:nvSpPr>
        <p:spPr>
          <a:xfrm>
            <a:off x="402336" y="1463040"/>
            <a:ext cx="3413760" cy="3401568"/>
          </a:xfrm>
          <a:prstGeom prst="rect">
            <a:avLst/>
          </a:prstGeom>
          <a:noFill/>
          <a:ln/>
        </p:spPr>
        <p:txBody>
          <a:bodyPr wrap="square" rtlCol="0" anchor="t"/>
          <a:lstStyle/>
          <a:p>
            <a:r>
              <a:rPr lang="en-US" sz="1267" b="1" dirty="0">
                <a:solidFill>
                  <a:srgbClr val="5DADE2"/>
                </a:solidFill>
              </a:rPr>
              <a:t>핵심 문제</a:t>
            </a:r>
            <a:endParaRPr lang="en-US" sz="1267" dirty="0"/>
          </a:p>
          <a:p>
            <a:r>
              <a:rPr lang="en-US" sz="1267" dirty="0">
                <a:solidFill>
                  <a:srgbClr val="D5E8F8"/>
                </a:solidFill>
              </a:rPr>
              <a:t>딥러닝 기반 얼굴인식·이상행동 감지·동선 추적</a:t>
            </a:r>
            <a:endParaRPr lang="en-US" sz="1267" dirty="0"/>
          </a:p>
          <a:p>
            <a:r>
              <a:rPr lang="en-US" sz="1267" dirty="0">
                <a:solidFill>
                  <a:srgbClr val="D5E8F8"/>
                </a:solidFill>
              </a:rPr>
              <a:t>→ 범죄예방 유용 BUT 개인정보 실시간 대량 수집</a:t>
            </a:r>
            <a:endParaRPr lang="en-US" sz="1267" dirty="0"/>
          </a:p>
          <a:p>
            <a:r>
              <a:rPr lang="en-US" sz="1267" dirty="0">
                <a:solidFill>
                  <a:srgbClr val="000000"/>
                </a:solidFill>
              </a:rPr>
              <a:t> </a:t>
            </a:r>
            <a:endParaRPr lang="en-US" sz="1267" dirty="0"/>
          </a:p>
          <a:p>
            <a:r>
              <a:rPr lang="en-US" sz="1267" b="1" dirty="0">
                <a:solidFill>
                  <a:srgbClr val="5DADE2"/>
                </a:solidFill>
              </a:rPr>
              <a:t>두 법제 핵심 차이</a:t>
            </a:r>
            <a:endParaRPr lang="en-US" sz="1267" dirty="0"/>
          </a:p>
          <a:p>
            <a:r>
              <a:rPr lang="en-US" sz="1267" b="1" dirty="0">
                <a:solidFill>
                  <a:srgbClr val="FFD700"/>
                </a:solidFill>
              </a:rPr>
              <a:t>🇪🇺 EU AI법(2024.8)</a:t>
            </a:r>
            <a:endParaRPr lang="en-US" sz="1267" dirty="0"/>
          </a:p>
          <a:p>
            <a:r>
              <a:rPr lang="en-US" sz="1267" dirty="0">
                <a:solidFill>
                  <a:srgbClr val="D5E8F8"/>
                </a:solidFill>
              </a:rPr>
              <a:t>공공장소 실시간 얼굴인식 원칙 금지, 고위험 분류</a:t>
            </a:r>
            <a:endParaRPr lang="en-US" sz="1267" dirty="0"/>
          </a:p>
          <a:p>
            <a:r>
              <a:rPr lang="en-US" sz="1267" b="1" dirty="0">
                <a:solidFill>
                  <a:srgbClr val="FFD700"/>
                </a:solidFill>
              </a:rPr>
              <a:t>🇰🇷 한국 AI기본법(2026.1)</a:t>
            </a:r>
            <a:endParaRPr lang="en-US" sz="1267" dirty="0"/>
          </a:p>
          <a:p>
            <a:r>
              <a:rPr lang="en-US" sz="1267" dirty="0">
                <a:solidFill>
                  <a:srgbClr val="D5E8F8"/>
                </a:solidFill>
              </a:rPr>
              <a:t>지능형 CCTV 법적 정의 없음, 법령 15개+ </a:t>
            </a:r>
            <a:r>
              <a:rPr lang="en-US" sz="1267" dirty="0" err="1">
                <a:solidFill>
                  <a:srgbClr val="D5E8F8"/>
                </a:solidFill>
              </a:rPr>
              <a:t>분산</a:t>
            </a:r>
            <a:endParaRPr lang="en-US" sz="1267" dirty="0"/>
          </a:p>
        </p:txBody>
      </p:sp>
      <p:sp>
        <p:nvSpPr>
          <p:cNvPr id="11" name="Shape 9"/>
          <p:cNvSpPr/>
          <p:nvPr/>
        </p:nvSpPr>
        <p:spPr>
          <a:xfrm>
            <a:off x="4145280" y="877824"/>
            <a:ext cx="3718560" cy="1987296"/>
          </a:xfrm>
          <a:prstGeom prst="roundRect">
            <a:avLst>
              <a:gd name="adj" fmla="val 6135"/>
            </a:avLst>
          </a:prstGeom>
          <a:solidFill>
            <a:srgbClr val="0D7377"/>
          </a:solidFill>
          <a:ln w="12700">
            <a:solidFill>
              <a:srgbClr val="0D7377"/>
            </a:solidFill>
            <a:prstDash val="solid"/>
          </a:ln>
          <a:effectLst>
            <a:outerShdw blurRad="63500" dist="25400" dir="2700000" algn="bl" rotWithShape="0">
              <a:srgbClr val="000000">
                <a:alpha val="10000"/>
              </a:srgbClr>
            </a:outerShdw>
          </a:effectLst>
        </p:spPr>
        <p:txBody>
          <a:bodyPr/>
          <a:lstStyle/>
          <a:p>
            <a:endParaRPr lang="ko-KR" altLang="en-US" sz="2400"/>
          </a:p>
        </p:txBody>
      </p:sp>
      <p:sp>
        <p:nvSpPr>
          <p:cNvPr id="12" name="Shape 10"/>
          <p:cNvSpPr/>
          <p:nvPr/>
        </p:nvSpPr>
        <p:spPr>
          <a:xfrm>
            <a:off x="4291584" y="999744"/>
            <a:ext cx="2316480" cy="390144"/>
          </a:xfrm>
          <a:prstGeom prst="roundRect">
            <a:avLst>
              <a:gd name="adj" fmla="val 15625"/>
            </a:avLst>
          </a:prstGeom>
          <a:solidFill>
            <a:srgbClr val="0A5258"/>
          </a:solidFill>
          <a:ln w="12700">
            <a:solidFill>
              <a:srgbClr val="0A5258"/>
            </a:solidFill>
            <a:prstDash val="solid"/>
          </a:ln>
        </p:spPr>
        <p:txBody>
          <a:bodyPr/>
          <a:lstStyle/>
          <a:p>
            <a:endParaRPr lang="ko-KR" altLang="en-US" sz="2400"/>
          </a:p>
        </p:txBody>
      </p:sp>
      <p:sp>
        <p:nvSpPr>
          <p:cNvPr id="13" name="Text 11"/>
          <p:cNvSpPr/>
          <p:nvPr/>
        </p:nvSpPr>
        <p:spPr>
          <a:xfrm>
            <a:off x="4291584" y="999744"/>
            <a:ext cx="2316480" cy="390144"/>
          </a:xfrm>
          <a:prstGeom prst="rect">
            <a:avLst/>
          </a:prstGeom>
          <a:noFill/>
          <a:ln/>
        </p:spPr>
        <p:txBody>
          <a:bodyPr wrap="square" lIns="0" tIns="0" rIns="0" bIns="0" rtlCol="0" anchor="ctr"/>
          <a:lstStyle/>
          <a:p>
            <a:pPr algn="ctr"/>
            <a:r>
              <a:rPr lang="en-US" sz="1200" b="1" dirty="0">
                <a:solidFill>
                  <a:srgbClr val="FFFFFF"/>
                </a:solidFill>
              </a:rPr>
              <a:t>📋 본론1: 분야별 규제 도입 영향</a:t>
            </a:r>
            <a:endParaRPr lang="en-US" sz="1200" dirty="0"/>
          </a:p>
        </p:txBody>
      </p:sp>
      <p:sp>
        <p:nvSpPr>
          <p:cNvPr id="14" name="Text 12"/>
          <p:cNvSpPr/>
          <p:nvPr/>
        </p:nvSpPr>
        <p:spPr>
          <a:xfrm>
            <a:off x="4328160" y="1463040"/>
            <a:ext cx="3413760" cy="1304544"/>
          </a:xfrm>
          <a:prstGeom prst="rect">
            <a:avLst/>
          </a:prstGeom>
          <a:noFill/>
          <a:ln/>
        </p:spPr>
        <p:txBody>
          <a:bodyPr wrap="square" rtlCol="0" anchor="t"/>
          <a:lstStyle/>
          <a:p>
            <a:r>
              <a:rPr lang="en-US" sz="1267" b="1" dirty="0">
                <a:solidFill>
                  <a:srgbClr val="E8F8F5"/>
                </a:solidFill>
              </a:rPr>
              <a:t>EU AI법 7가지 의무: </a:t>
            </a:r>
            <a:r>
              <a:rPr lang="en-US" sz="1267" dirty="0">
                <a:solidFill>
                  <a:srgbClr val="B2DFDB"/>
                </a:solidFill>
              </a:rPr>
              <a:t>사전심사·데이터관리·인간감독·등록</a:t>
            </a:r>
            <a:endParaRPr lang="en-US" sz="1267" dirty="0"/>
          </a:p>
          <a:p>
            <a:r>
              <a:rPr lang="en-US" sz="1267" b="1" dirty="0">
                <a:solidFill>
                  <a:srgbClr val="E8F8F5"/>
                </a:solidFill>
              </a:rPr>
              <a:t>🏙 공공안전: </a:t>
            </a:r>
            <a:r>
              <a:rPr lang="en-US" sz="1267" dirty="0">
                <a:solidFill>
                  <a:srgbClr val="B2DFDB"/>
                </a:solidFill>
              </a:rPr>
              <a:t>동두천·부천 시스템 전면 재검토</a:t>
            </a:r>
            <a:endParaRPr lang="en-US" sz="1267" dirty="0"/>
          </a:p>
          <a:p>
            <a:r>
              <a:rPr lang="en-US" sz="1267" b="1" dirty="0">
                <a:solidFill>
                  <a:srgbClr val="E8F8F5"/>
                </a:solidFill>
              </a:rPr>
              <a:t>✈ 공항: </a:t>
            </a:r>
            <a:r>
              <a:rPr lang="en-US" sz="1267" dirty="0">
                <a:solidFill>
                  <a:srgbClr val="B2DFDB"/>
                </a:solidFill>
              </a:rPr>
              <a:t>인천공항 스마트패스 → 거부권 의무화</a:t>
            </a:r>
            <a:endParaRPr lang="en-US" sz="1267" dirty="0"/>
          </a:p>
          <a:p>
            <a:r>
              <a:rPr lang="en-US" sz="1267" b="1" dirty="0">
                <a:solidFill>
                  <a:srgbClr val="E8F8F5"/>
                </a:solidFill>
              </a:rPr>
              <a:t>💳 금융·채용: </a:t>
            </a:r>
            <a:r>
              <a:rPr lang="en-US" sz="1267" dirty="0">
                <a:solidFill>
                  <a:srgbClr val="B2DFDB"/>
                </a:solidFill>
              </a:rPr>
              <a:t>AI 결정 설명의무 + 주기 점검</a:t>
            </a:r>
            <a:endParaRPr lang="en-US" sz="1267" dirty="0"/>
          </a:p>
        </p:txBody>
      </p:sp>
      <p:sp>
        <p:nvSpPr>
          <p:cNvPr id="15" name="Shape 13"/>
          <p:cNvSpPr/>
          <p:nvPr/>
        </p:nvSpPr>
        <p:spPr>
          <a:xfrm>
            <a:off x="8071104" y="877824"/>
            <a:ext cx="3901440" cy="1987296"/>
          </a:xfrm>
          <a:prstGeom prst="roundRect">
            <a:avLst>
              <a:gd name="adj" fmla="val 6135"/>
            </a:avLst>
          </a:prstGeom>
          <a:solidFill>
            <a:srgbClr val="B03A2E"/>
          </a:solidFill>
          <a:ln w="12700">
            <a:solidFill>
              <a:srgbClr val="B03A2E"/>
            </a:solidFill>
            <a:prstDash val="solid"/>
          </a:ln>
          <a:effectLst>
            <a:outerShdw blurRad="63500" dist="25400" dir="2700000" algn="bl" rotWithShape="0">
              <a:srgbClr val="000000">
                <a:alpha val="10000"/>
              </a:srgbClr>
            </a:outerShdw>
          </a:effectLst>
        </p:spPr>
        <p:txBody>
          <a:bodyPr/>
          <a:lstStyle/>
          <a:p>
            <a:endParaRPr lang="ko-KR" altLang="en-US" sz="2400"/>
          </a:p>
        </p:txBody>
      </p:sp>
      <p:sp>
        <p:nvSpPr>
          <p:cNvPr id="16" name="Shape 14"/>
          <p:cNvSpPr/>
          <p:nvPr/>
        </p:nvSpPr>
        <p:spPr>
          <a:xfrm>
            <a:off x="8217408" y="999744"/>
            <a:ext cx="2316480" cy="390144"/>
          </a:xfrm>
          <a:prstGeom prst="roundRect">
            <a:avLst>
              <a:gd name="adj" fmla="val 15625"/>
            </a:avLst>
          </a:prstGeom>
          <a:solidFill>
            <a:srgbClr val="8B2820"/>
          </a:solidFill>
          <a:ln w="12700">
            <a:solidFill>
              <a:srgbClr val="8B2820"/>
            </a:solidFill>
            <a:prstDash val="solid"/>
          </a:ln>
        </p:spPr>
        <p:txBody>
          <a:bodyPr/>
          <a:lstStyle/>
          <a:p>
            <a:endParaRPr lang="ko-KR" altLang="en-US" sz="2400"/>
          </a:p>
        </p:txBody>
      </p:sp>
      <p:sp>
        <p:nvSpPr>
          <p:cNvPr id="17" name="Text 15"/>
          <p:cNvSpPr/>
          <p:nvPr/>
        </p:nvSpPr>
        <p:spPr>
          <a:xfrm>
            <a:off x="8217408" y="999744"/>
            <a:ext cx="2316480" cy="390144"/>
          </a:xfrm>
          <a:prstGeom prst="rect">
            <a:avLst/>
          </a:prstGeom>
          <a:noFill/>
          <a:ln/>
        </p:spPr>
        <p:txBody>
          <a:bodyPr wrap="square" lIns="0" tIns="0" rIns="0" bIns="0" rtlCol="0" anchor="ctr"/>
          <a:lstStyle/>
          <a:p>
            <a:pPr algn="ctr"/>
            <a:r>
              <a:rPr lang="en-US" sz="1200" b="1" dirty="0">
                <a:solidFill>
                  <a:srgbClr val="FFFFFF"/>
                </a:solidFill>
              </a:rPr>
              <a:t>⚖️ 본론2: 기존 법령과의 충돌</a:t>
            </a:r>
            <a:endParaRPr lang="en-US" sz="1200" dirty="0"/>
          </a:p>
        </p:txBody>
      </p:sp>
      <p:sp>
        <p:nvSpPr>
          <p:cNvPr id="18" name="Text 16"/>
          <p:cNvSpPr/>
          <p:nvPr/>
        </p:nvSpPr>
        <p:spPr>
          <a:xfrm>
            <a:off x="8253984" y="1463040"/>
            <a:ext cx="3596640" cy="1304544"/>
          </a:xfrm>
          <a:prstGeom prst="rect">
            <a:avLst/>
          </a:prstGeom>
          <a:noFill/>
          <a:ln/>
        </p:spPr>
        <p:txBody>
          <a:bodyPr wrap="square" rtlCol="0" anchor="t"/>
          <a:lstStyle/>
          <a:p>
            <a:r>
              <a:rPr lang="en-US" sz="1267" b="1" i="1" dirty="0">
                <a:solidFill>
                  <a:srgbClr val="FAD7A0"/>
                </a:solidFill>
              </a:rPr>
              <a:t>'AI CCTV가 잘못 판단했을 때, 책임은 누가?'</a:t>
            </a:r>
            <a:endParaRPr lang="en-US" sz="1267" dirty="0"/>
          </a:p>
          <a:p>
            <a:r>
              <a:rPr lang="en-US" sz="1267" b="1" dirty="0">
                <a:solidFill>
                  <a:srgbClr val="FADBD8"/>
                </a:solidFill>
              </a:rPr>
              <a:t>개인정보보호법 제25조: </a:t>
            </a:r>
            <a:r>
              <a:rPr lang="en-US" sz="1267" dirty="0">
                <a:solidFill>
                  <a:srgbClr val="FADBD8"/>
                </a:solidFill>
              </a:rPr>
              <a:t>AI 분석 기능 법적 사각지대</a:t>
            </a:r>
            <a:endParaRPr lang="en-US" sz="1267" dirty="0"/>
          </a:p>
          <a:p>
            <a:r>
              <a:rPr lang="en-US" sz="1267" dirty="0">
                <a:solidFill>
                  <a:srgbClr val="FADBD8"/>
                </a:solidFill>
              </a:rPr>
              <a:t>관련 법령 15개+ 분산, 보관기간 제각각</a:t>
            </a:r>
            <a:endParaRPr lang="en-US" sz="1267" dirty="0"/>
          </a:p>
          <a:p>
            <a:r>
              <a:rPr lang="en-US" sz="1267" b="1" dirty="0">
                <a:solidFill>
                  <a:srgbClr val="FADBD8"/>
                </a:solidFill>
              </a:rPr>
              <a:t>형사소송법: </a:t>
            </a:r>
            <a:r>
              <a:rPr lang="en-US" sz="1267" dirty="0">
                <a:solidFill>
                  <a:srgbClr val="FADBD8"/>
                </a:solidFill>
              </a:rPr>
              <a:t>AI 분석 결과 법적 증거 기준 부재</a:t>
            </a:r>
            <a:endParaRPr lang="en-US" sz="1267" dirty="0"/>
          </a:p>
          <a:p>
            <a:r>
              <a:rPr lang="en-US" sz="1267" b="1" dirty="0">
                <a:solidFill>
                  <a:srgbClr val="FAD7A0"/>
                </a:solidFill>
              </a:rPr>
              <a:t>→ 지능형 CCTV 전용 통합 법령 정비 필요</a:t>
            </a:r>
            <a:endParaRPr lang="en-US" sz="1267" dirty="0"/>
          </a:p>
        </p:txBody>
      </p:sp>
      <p:sp>
        <p:nvSpPr>
          <p:cNvPr id="19" name="Shape 17"/>
          <p:cNvSpPr/>
          <p:nvPr/>
        </p:nvSpPr>
        <p:spPr>
          <a:xfrm>
            <a:off x="4145280" y="2974848"/>
            <a:ext cx="3718560" cy="1889760"/>
          </a:xfrm>
          <a:prstGeom prst="roundRect">
            <a:avLst>
              <a:gd name="adj" fmla="val 6452"/>
            </a:avLst>
          </a:prstGeom>
          <a:solidFill>
            <a:srgbClr val="6C3483"/>
          </a:solidFill>
          <a:ln w="12700">
            <a:solidFill>
              <a:srgbClr val="6C3483"/>
            </a:solidFill>
            <a:prstDash val="solid"/>
          </a:ln>
          <a:effectLst>
            <a:outerShdw blurRad="63500" dist="25400" dir="2700000" algn="bl" rotWithShape="0">
              <a:srgbClr val="000000">
                <a:alpha val="10000"/>
              </a:srgbClr>
            </a:outerShdw>
          </a:effectLst>
        </p:spPr>
        <p:txBody>
          <a:bodyPr/>
          <a:lstStyle/>
          <a:p>
            <a:endParaRPr lang="ko-KR" altLang="en-US" sz="2400"/>
          </a:p>
        </p:txBody>
      </p:sp>
      <p:sp>
        <p:nvSpPr>
          <p:cNvPr id="20" name="Shape 18"/>
          <p:cNvSpPr/>
          <p:nvPr/>
        </p:nvSpPr>
        <p:spPr>
          <a:xfrm>
            <a:off x="4291584" y="3096768"/>
            <a:ext cx="2316480" cy="390144"/>
          </a:xfrm>
          <a:prstGeom prst="roundRect">
            <a:avLst>
              <a:gd name="adj" fmla="val 15625"/>
            </a:avLst>
          </a:prstGeom>
          <a:solidFill>
            <a:srgbClr val="4A235A"/>
          </a:solidFill>
          <a:ln w="12700">
            <a:solidFill>
              <a:srgbClr val="4A235A"/>
            </a:solidFill>
            <a:prstDash val="solid"/>
          </a:ln>
        </p:spPr>
        <p:txBody>
          <a:bodyPr/>
          <a:lstStyle/>
          <a:p>
            <a:endParaRPr lang="ko-KR" altLang="en-US" sz="2400"/>
          </a:p>
        </p:txBody>
      </p:sp>
      <p:sp>
        <p:nvSpPr>
          <p:cNvPr id="21" name="Text 19"/>
          <p:cNvSpPr/>
          <p:nvPr/>
        </p:nvSpPr>
        <p:spPr>
          <a:xfrm>
            <a:off x="4291584" y="3096768"/>
            <a:ext cx="2316480" cy="390144"/>
          </a:xfrm>
          <a:prstGeom prst="rect">
            <a:avLst/>
          </a:prstGeom>
          <a:noFill/>
          <a:ln/>
        </p:spPr>
        <p:txBody>
          <a:bodyPr wrap="square" lIns="0" tIns="0" rIns="0" bIns="0" rtlCol="0" anchor="ctr"/>
          <a:lstStyle/>
          <a:p>
            <a:pPr algn="ctr"/>
            <a:r>
              <a:rPr lang="en-US" sz="1200" b="1" dirty="0">
                <a:solidFill>
                  <a:srgbClr val="FFFFFF"/>
                </a:solidFill>
              </a:rPr>
              <a:t>🔬 본론3: 딥러닝 기반 기술 방안</a:t>
            </a:r>
            <a:endParaRPr lang="en-US" sz="1200" dirty="0"/>
          </a:p>
        </p:txBody>
      </p:sp>
      <p:sp>
        <p:nvSpPr>
          <p:cNvPr id="22" name="Text 20"/>
          <p:cNvSpPr/>
          <p:nvPr/>
        </p:nvSpPr>
        <p:spPr>
          <a:xfrm>
            <a:off x="4328160" y="3560064"/>
            <a:ext cx="3413760" cy="1207008"/>
          </a:xfrm>
          <a:prstGeom prst="rect">
            <a:avLst/>
          </a:prstGeom>
          <a:noFill/>
          <a:ln/>
        </p:spPr>
        <p:txBody>
          <a:bodyPr wrap="square" rtlCol="0" anchor="t"/>
          <a:lstStyle/>
          <a:p>
            <a:r>
              <a:rPr lang="en-US" sz="1267" b="1" dirty="0">
                <a:solidFill>
                  <a:srgbClr val="E8DAEF"/>
                </a:solidFill>
              </a:rPr>
              <a:t>① 딥러닝 익명화: </a:t>
            </a:r>
            <a:r>
              <a:rPr lang="en-US" sz="1267" dirty="0">
                <a:solidFill>
                  <a:srgbClr val="D2B4DE"/>
                </a:solidFill>
              </a:rPr>
              <a:t>얼굴·번호판 자동 흐림처리</a:t>
            </a:r>
            <a:endParaRPr lang="en-US" sz="1267" dirty="0"/>
          </a:p>
          <a:p>
            <a:r>
              <a:rPr lang="en-US" sz="1267" b="1" dirty="0">
                <a:solidFill>
                  <a:srgbClr val="E8DAEF"/>
                </a:solidFill>
              </a:rPr>
              <a:t>② GAN 합성데이터: </a:t>
            </a:r>
            <a:r>
              <a:rPr lang="en-US" sz="1267" dirty="0">
                <a:solidFill>
                  <a:srgbClr val="D2B4DE"/>
                </a:solidFill>
              </a:rPr>
              <a:t>개인정보 원천 제거</a:t>
            </a:r>
            <a:endParaRPr lang="en-US" sz="1267" dirty="0"/>
          </a:p>
          <a:p>
            <a:r>
              <a:rPr lang="en-US" sz="1267" b="1" dirty="0">
                <a:solidFill>
                  <a:srgbClr val="E8DAEF"/>
                </a:solidFill>
              </a:rPr>
              <a:t>③ AES/RSA + C2PA 워터마크: </a:t>
            </a:r>
            <a:r>
              <a:rPr lang="en-US" sz="1267" dirty="0">
                <a:solidFill>
                  <a:srgbClr val="D2B4DE"/>
                </a:solidFill>
              </a:rPr>
              <a:t>변조 방지</a:t>
            </a:r>
            <a:endParaRPr lang="en-US" sz="1267" dirty="0"/>
          </a:p>
          <a:p>
            <a:r>
              <a:rPr lang="en-US" sz="1267" b="1" dirty="0">
                <a:solidFill>
                  <a:srgbClr val="FAD7A0"/>
                </a:solidFill>
              </a:rPr>
              <a:t>딜레마: </a:t>
            </a:r>
            <a:r>
              <a:rPr lang="en-US" sz="1267" dirty="0">
                <a:solidFill>
                  <a:srgbClr val="D2B4DE"/>
                </a:solidFill>
              </a:rPr>
              <a:t>정확도↑ ⟺ 설명가능성↓  /  EU: Human Oversight 의무화</a:t>
            </a:r>
            <a:endParaRPr lang="en-US" sz="1267" dirty="0"/>
          </a:p>
        </p:txBody>
      </p:sp>
      <p:sp>
        <p:nvSpPr>
          <p:cNvPr id="23" name="Shape 21"/>
          <p:cNvSpPr/>
          <p:nvPr/>
        </p:nvSpPr>
        <p:spPr>
          <a:xfrm>
            <a:off x="8071104" y="2974848"/>
            <a:ext cx="3901440" cy="1889760"/>
          </a:xfrm>
          <a:prstGeom prst="roundRect">
            <a:avLst>
              <a:gd name="adj" fmla="val 6452"/>
            </a:avLst>
          </a:prstGeom>
          <a:solidFill>
            <a:srgbClr val="1E6B4A"/>
          </a:solidFill>
          <a:ln w="12700">
            <a:solidFill>
              <a:srgbClr val="1E6B4A"/>
            </a:solidFill>
            <a:prstDash val="solid"/>
          </a:ln>
          <a:effectLst>
            <a:outerShdw blurRad="63500" dist="25400" dir="2700000" algn="bl" rotWithShape="0">
              <a:srgbClr val="000000">
                <a:alpha val="10000"/>
              </a:srgbClr>
            </a:outerShdw>
          </a:effectLst>
        </p:spPr>
        <p:txBody>
          <a:bodyPr/>
          <a:lstStyle/>
          <a:p>
            <a:endParaRPr lang="ko-KR" altLang="en-US" sz="2400"/>
          </a:p>
        </p:txBody>
      </p:sp>
      <p:sp>
        <p:nvSpPr>
          <p:cNvPr id="24" name="Shape 22"/>
          <p:cNvSpPr/>
          <p:nvPr/>
        </p:nvSpPr>
        <p:spPr>
          <a:xfrm>
            <a:off x="8217408" y="3096768"/>
            <a:ext cx="2316480" cy="390144"/>
          </a:xfrm>
          <a:prstGeom prst="roundRect">
            <a:avLst>
              <a:gd name="adj" fmla="val 15625"/>
            </a:avLst>
          </a:prstGeom>
          <a:solidFill>
            <a:srgbClr val="154D34"/>
          </a:solidFill>
          <a:ln w="12700">
            <a:solidFill>
              <a:srgbClr val="154D34"/>
            </a:solidFill>
            <a:prstDash val="solid"/>
          </a:ln>
        </p:spPr>
        <p:txBody>
          <a:bodyPr/>
          <a:lstStyle/>
          <a:p>
            <a:endParaRPr lang="ko-KR" altLang="en-US" sz="2400"/>
          </a:p>
        </p:txBody>
      </p:sp>
      <p:sp>
        <p:nvSpPr>
          <p:cNvPr id="25" name="Text 23"/>
          <p:cNvSpPr/>
          <p:nvPr/>
        </p:nvSpPr>
        <p:spPr>
          <a:xfrm>
            <a:off x="8217408" y="3096768"/>
            <a:ext cx="2316480" cy="390144"/>
          </a:xfrm>
          <a:prstGeom prst="rect">
            <a:avLst/>
          </a:prstGeom>
          <a:noFill/>
          <a:ln/>
        </p:spPr>
        <p:txBody>
          <a:bodyPr wrap="square" lIns="0" tIns="0" rIns="0" bIns="0" rtlCol="0" anchor="ctr"/>
          <a:lstStyle/>
          <a:p>
            <a:pPr algn="ctr"/>
            <a:r>
              <a:rPr lang="en-US" sz="1200" b="1" dirty="0">
                <a:solidFill>
                  <a:srgbClr val="FFFFFF"/>
                </a:solidFill>
              </a:rPr>
              <a:t>🛡️ 본론4: 취약계층 보호 제도</a:t>
            </a:r>
            <a:endParaRPr lang="en-US" sz="1200" dirty="0"/>
          </a:p>
        </p:txBody>
      </p:sp>
      <p:sp>
        <p:nvSpPr>
          <p:cNvPr id="26" name="Text 24"/>
          <p:cNvSpPr/>
          <p:nvPr/>
        </p:nvSpPr>
        <p:spPr>
          <a:xfrm>
            <a:off x="8253984" y="3560064"/>
            <a:ext cx="3596640" cy="1207008"/>
          </a:xfrm>
          <a:prstGeom prst="rect">
            <a:avLst/>
          </a:prstGeom>
          <a:noFill/>
          <a:ln/>
        </p:spPr>
        <p:txBody>
          <a:bodyPr wrap="square" rtlCol="0" anchor="t"/>
          <a:lstStyle/>
          <a:p>
            <a:r>
              <a:rPr lang="en-US" sz="1267" b="1" dirty="0">
                <a:solidFill>
                  <a:srgbClr val="A9DFBF"/>
                </a:solidFill>
              </a:rPr>
              <a:t>현황: </a:t>
            </a:r>
            <a:r>
              <a:rPr lang="en-US" sz="1267" dirty="0">
                <a:solidFill>
                  <a:srgbClr val="A9DFBF"/>
                </a:solidFill>
              </a:rPr>
              <a:t>AI기본법 원칙만 있음 → 실질 구제 수단 부족</a:t>
            </a:r>
            <a:endParaRPr lang="en-US" sz="1267" dirty="0"/>
          </a:p>
          <a:p>
            <a:r>
              <a:rPr lang="en-US" sz="1267" dirty="0">
                <a:solidFill>
                  <a:srgbClr val="D5F5E3"/>
                </a:solidFill>
              </a:rPr>
              <a:t>① 공공기관 AI CCTV 독립 영향평가 의무화</a:t>
            </a:r>
            <a:endParaRPr lang="en-US" sz="1267" dirty="0"/>
          </a:p>
          <a:p>
            <a:r>
              <a:rPr lang="en-US" sz="1267" dirty="0">
                <a:solidFill>
                  <a:srgbClr val="D5F5E3"/>
                </a:solidFill>
              </a:rPr>
              <a:t>② AI 오판 시 이의제기·설명 요구권 명시</a:t>
            </a:r>
            <a:endParaRPr lang="en-US" sz="1267" dirty="0"/>
          </a:p>
          <a:p>
            <a:r>
              <a:rPr lang="en-US" sz="1267" dirty="0">
                <a:solidFill>
                  <a:srgbClr val="D5F5E3"/>
                </a:solidFill>
              </a:rPr>
              <a:t>③ 고령자·장애인 디지털 접근성 지원 정책</a:t>
            </a:r>
            <a:endParaRPr lang="en-US" sz="1267" dirty="0"/>
          </a:p>
          <a:p>
            <a:r>
              <a:rPr lang="en-US" sz="1267" dirty="0">
                <a:solidFill>
                  <a:srgbClr val="D5F5E3"/>
                </a:solidFill>
              </a:rPr>
              <a:t>④ 공정성 정기 점검 및 결과 공개 의무화</a:t>
            </a:r>
            <a:endParaRPr lang="en-US" sz="1267" dirty="0"/>
          </a:p>
        </p:txBody>
      </p:sp>
      <p:sp>
        <p:nvSpPr>
          <p:cNvPr id="27" name="Shape 25"/>
          <p:cNvSpPr/>
          <p:nvPr/>
        </p:nvSpPr>
        <p:spPr>
          <a:xfrm>
            <a:off x="219456" y="4944728"/>
            <a:ext cx="11753088" cy="1614569"/>
          </a:xfrm>
          <a:prstGeom prst="roundRect">
            <a:avLst>
              <a:gd name="adj" fmla="val 7194"/>
            </a:avLst>
          </a:prstGeom>
          <a:solidFill>
            <a:srgbClr val="2C3E50"/>
          </a:solidFill>
          <a:ln w="12700">
            <a:solidFill>
              <a:srgbClr val="2C3E50"/>
            </a:solidFill>
            <a:prstDash val="solid"/>
          </a:ln>
          <a:effectLst>
            <a:outerShdw blurRad="63500" dist="25400" dir="2700000" algn="bl" rotWithShape="0">
              <a:srgbClr val="000000">
                <a:alpha val="10000"/>
              </a:srgbClr>
            </a:outerShdw>
          </a:effectLst>
        </p:spPr>
        <p:txBody>
          <a:bodyPr/>
          <a:lstStyle/>
          <a:p>
            <a:endParaRPr lang="ko-KR" altLang="en-US" sz="2400"/>
          </a:p>
        </p:txBody>
      </p:sp>
      <p:sp>
        <p:nvSpPr>
          <p:cNvPr id="28" name="Shape 26"/>
          <p:cNvSpPr/>
          <p:nvPr/>
        </p:nvSpPr>
        <p:spPr>
          <a:xfrm>
            <a:off x="365760" y="5096256"/>
            <a:ext cx="1828800" cy="365760"/>
          </a:xfrm>
          <a:prstGeom prst="roundRect">
            <a:avLst>
              <a:gd name="adj" fmla="val 16667"/>
            </a:avLst>
          </a:prstGeom>
          <a:solidFill>
            <a:srgbClr val="0D7377"/>
          </a:solidFill>
          <a:ln w="12700">
            <a:solidFill>
              <a:srgbClr val="0D7377"/>
            </a:solidFill>
            <a:prstDash val="solid"/>
          </a:ln>
        </p:spPr>
        <p:txBody>
          <a:bodyPr/>
          <a:lstStyle/>
          <a:p>
            <a:endParaRPr lang="ko-KR" altLang="en-US" sz="2400"/>
          </a:p>
        </p:txBody>
      </p:sp>
      <p:sp>
        <p:nvSpPr>
          <p:cNvPr id="29" name="Text 27"/>
          <p:cNvSpPr/>
          <p:nvPr/>
        </p:nvSpPr>
        <p:spPr>
          <a:xfrm>
            <a:off x="365760" y="5096256"/>
            <a:ext cx="1828800" cy="365760"/>
          </a:xfrm>
          <a:prstGeom prst="rect">
            <a:avLst/>
          </a:prstGeom>
          <a:noFill/>
          <a:ln/>
        </p:spPr>
        <p:txBody>
          <a:bodyPr wrap="square" lIns="0" tIns="0" rIns="0" bIns="0" rtlCol="0" anchor="ctr"/>
          <a:lstStyle/>
          <a:p>
            <a:pPr algn="ctr"/>
            <a:r>
              <a:rPr lang="en-US" sz="1200" b="1" dirty="0">
                <a:solidFill>
                  <a:srgbClr val="FFFFFF"/>
                </a:solidFill>
              </a:rPr>
              <a:t>✅ 결론</a:t>
            </a:r>
            <a:endParaRPr lang="en-US" sz="1200" dirty="0"/>
          </a:p>
        </p:txBody>
      </p:sp>
      <p:sp>
        <p:nvSpPr>
          <p:cNvPr id="30" name="Text 28"/>
          <p:cNvSpPr/>
          <p:nvPr/>
        </p:nvSpPr>
        <p:spPr>
          <a:xfrm>
            <a:off x="2499360" y="5394960"/>
            <a:ext cx="3673856" cy="1024128"/>
          </a:xfrm>
          <a:prstGeom prst="rect">
            <a:avLst/>
          </a:prstGeom>
          <a:noFill/>
          <a:ln/>
        </p:spPr>
        <p:txBody>
          <a:bodyPr wrap="square" rtlCol="0" anchor="ctr"/>
          <a:lstStyle/>
          <a:p>
            <a:r>
              <a:rPr lang="en-US" sz="1267" b="1" dirty="0">
                <a:solidFill>
                  <a:srgbClr val="5DADE2"/>
                </a:solidFill>
              </a:rPr>
              <a:t>세 축의 동시 작동 필요</a:t>
            </a:r>
            <a:endParaRPr lang="en-US" sz="1267" dirty="0"/>
          </a:p>
          <a:p>
            <a:r>
              <a:rPr lang="en-US" sz="1267" dirty="0">
                <a:solidFill>
                  <a:srgbClr val="D5D8DC"/>
                </a:solidFill>
              </a:rPr>
              <a:t>딥러닝 익명화·GAN 합성데이터</a:t>
            </a:r>
            <a:endParaRPr lang="en-US" sz="1267" dirty="0"/>
          </a:p>
          <a:p>
            <a:r>
              <a:rPr lang="en-US" sz="1267" dirty="0">
                <a:solidFill>
                  <a:srgbClr val="D5D8DC"/>
                </a:solidFill>
              </a:rPr>
              <a:t>전용 통합 법령 정비</a:t>
            </a:r>
            <a:endParaRPr lang="en-US" sz="1267" dirty="0"/>
          </a:p>
          <a:p>
            <a:r>
              <a:rPr lang="en-US" sz="1267" dirty="0">
                <a:solidFill>
                  <a:srgbClr val="D5D8DC"/>
                </a:solidFill>
              </a:rPr>
              <a:t>관제센터 영향평가 의무화</a:t>
            </a:r>
            <a:endParaRPr lang="en-US" sz="1267" dirty="0"/>
          </a:p>
        </p:txBody>
      </p:sp>
      <p:sp>
        <p:nvSpPr>
          <p:cNvPr id="31" name="Shape 29"/>
          <p:cNvSpPr/>
          <p:nvPr/>
        </p:nvSpPr>
        <p:spPr>
          <a:xfrm>
            <a:off x="6234176" y="5077968"/>
            <a:ext cx="0" cy="1267968"/>
          </a:xfrm>
          <a:prstGeom prst="line">
            <a:avLst/>
          </a:prstGeom>
          <a:noFill/>
          <a:ln w="10160">
            <a:solidFill>
              <a:srgbClr val="4A6580"/>
            </a:solidFill>
            <a:prstDash val="solid"/>
          </a:ln>
        </p:spPr>
        <p:txBody>
          <a:bodyPr/>
          <a:lstStyle/>
          <a:p>
            <a:endParaRPr lang="ko-KR" altLang="en-US" sz="2400"/>
          </a:p>
        </p:txBody>
      </p:sp>
      <p:sp>
        <p:nvSpPr>
          <p:cNvPr id="32" name="Text 30"/>
          <p:cNvSpPr/>
          <p:nvPr/>
        </p:nvSpPr>
        <p:spPr>
          <a:xfrm>
            <a:off x="6295136" y="5394960"/>
            <a:ext cx="3673856" cy="1024128"/>
          </a:xfrm>
          <a:prstGeom prst="rect">
            <a:avLst/>
          </a:prstGeom>
          <a:noFill/>
          <a:ln/>
        </p:spPr>
        <p:txBody>
          <a:bodyPr wrap="square" rtlCol="0" anchor="ctr"/>
          <a:lstStyle/>
          <a:p>
            <a:r>
              <a:rPr lang="en-US" sz="1267" b="1" dirty="0">
                <a:solidFill>
                  <a:srgbClr val="5DADE2"/>
                </a:solidFill>
              </a:rPr>
              <a:t>EU vs 한국</a:t>
            </a:r>
            <a:endParaRPr lang="en-US" sz="1267" dirty="0"/>
          </a:p>
          <a:p>
            <a:r>
              <a:rPr lang="en-US" sz="1267" dirty="0">
                <a:solidFill>
                  <a:srgbClr val="D5D8DC"/>
                </a:solidFill>
              </a:rPr>
              <a:t>EU: 강한 규제·사전 의무 (보호 우선)</a:t>
            </a:r>
            <a:endParaRPr lang="en-US" sz="1267" dirty="0"/>
          </a:p>
          <a:p>
            <a:r>
              <a:rPr lang="en-US" sz="1267" dirty="0">
                <a:solidFill>
                  <a:srgbClr val="D5D8DC"/>
                </a:solidFill>
              </a:rPr>
              <a:t>한국: 유연 기준·산업 성장 균형</a:t>
            </a:r>
            <a:endParaRPr lang="en-US" sz="1267" dirty="0"/>
          </a:p>
        </p:txBody>
      </p:sp>
      <p:sp>
        <p:nvSpPr>
          <p:cNvPr id="34" name="Text 32"/>
          <p:cNvSpPr/>
          <p:nvPr/>
        </p:nvSpPr>
        <p:spPr>
          <a:xfrm>
            <a:off x="7993888" y="5535168"/>
            <a:ext cx="3551936" cy="1024128"/>
          </a:xfrm>
          <a:prstGeom prst="rect">
            <a:avLst/>
          </a:prstGeom>
          <a:noFill/>
          <a:ln/>
        </p:spPr>
        <p:txBody>
          <a:bodyPr wrap="square" rtlCol="0" anchor="ctr"/>
          <a:lstStyle/>
          <a:p>
            <a:endParaRPr lang="en-US" sz="1267" dirty="0"/>
          </a:p>
        </p:txBody>
      </p:sp>
      <p:sp>
        <p:nvSpPr>
          <p:cNvPr id="35" name="Shape 33"/>
          <p:cNvSpPr/>
          <p:nvPr/>
        </p:nvSpPr>
        <p:spPr>
          <a:xfrm>
            <a:off x="0" y="6669024"/>
            <a:ext cx="12192000" cy="188976"/>
          </a:xfrm>
          <a:prstGeom prst="rect">
            <a:avLst/>
          </a:prstGeom>
          <a:solidFill>
            <a:srgbClr val="1A2B5F"/>
          </a:solidFill>
          <a:ln w="12700">
            <a:solidFill>
              <a:srgbClr val="1A2B5F"/>
            </a:solidFill>
            <a:prstDash val="solid"/>
          </a:ln>
        </p:spPr>
        <p:txBody>
          <a:bodyPr/>
          <a:lstStyle/>
          <a:p>
            <a:endParaRPr lang="ko-KR" altLang="en-US" sz="2400"/>
          </a:p>
        </p:txBody>
      </p:sp>
      <p:sp>
        <p:nvSpPr>
          <p:cNvPr id="36" name="Text 34"/>
          <p:cNvSpPr/>
          <p:nvPr/>
        </p:nvSpPr>
        <p:spPr>
          <a:xfrm>
            <a:off x="243840" y="6669024"/>
            <a:ext cx="11704320" cy="188976"/>
          </a:xfrm>
          <a:prstGeom prst="rect">
            <a:avLst/>
          </a:prstGeom>
          <a:noFill/>
          <a:ln/>
        </p:spPr>
        <p:txBody>
          <a:bodyPr wrap="square" lIns="0" tIns="0" rIns="0" bIns="0" rtlCol="0" anchor="ctr"/>
          <a:lstStyle/>
          <a:p>
            <a:pPr algn="ctr"/>
            <a:r>
              <a:rPr lang="en-US" sz="1000" dirty="0">
                <a:solidFill>
                  <a:srgbClr val="7FB3D3"/>
                </a:solidFill>
              </a:rPr>
              <a:t>AI 거버넌스: 관련법과 국제표준  |  유한나  |  202576627</a:t>
            </a:r>
            <a:endParaRPr lang="en-US" sz="1000" dirty="0"/>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576</Words>
  <Application>Microsoft Office PowerPoint</Application>
  <PresentationFormat>와이드스크린</PresentationFormat>
  <Paragraphs>44</Paragraphs>
  <Slides>1</Slides>
  <Notes>1</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vt:i4>
      </vt:variant>
    </vt:vector>
  </HeadingPairs>
  <TitlesOfParts>
    <vt:vector size="4" baseType="lpstr">
      <vt:lpstr>맑은 고딕</vt:lpstr>
      <vt:lpstr>Arial</vt:lpstr>
      <vt:lpstr>Office 테마</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한나 유</dc:creator>
  <cp:lastModifiedBy>한나 유</cp:lastModifiedBy>
  <cp:revision>2</cp:revision>
  <dcterms:created xsi:type="dcterms:W3CDTF">2026-06-11T10:29:35Z</dcterms:created>
  <dcterms:modified xsi:type="dcterms:W3CDTF">2026-06-11T10:29:47Z</dcterms:modified>
</cp:coreProperties>
</file>