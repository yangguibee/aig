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61838" cy="6858000"/>
  <p:notesSz cx="6858000" cy="121618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0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8556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199" y="211060"/>
            <a:ext cx="120271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E293B"/>
                </a:solidFill>
                <a:latin typeface="+mj-ea"/>
                <a:ea typeface="+mj-ea"/>
                <a:cs typeface="Noto Sans CJK KR" pitchFamily="34" charset="-120"/>
              </a:rPr>
              <a:t>미·중</a:t>
            </a:r>
            <a:r>
              <a:rPr lang="en-US" sz="2000" b="1" dirty="0">
                <a:solidFill>
                  <a:srgbClr val="1E293B"/>
                </a:solidFill>
                <a:latin typeface="+mj-ea"/>
                <a:ea typeface="+mj-ea"/>
                <a:cs typeface="Noto Sans CJK KR" pitchFamily="34" charset="-120"/>
              </a:rPr>
              <a:t> AI 국제표준화 갈등의 메커니즘과 </a:t>
            </a:r>
            <a:r>
              <a:rPr lang="en-US" sz="2000" b="1" dirty="0" err="1">
                <a:solidFill>
                  <a:srgbClr val="1E293B"/>
                </a:solidFill>
                <a:latin typeface="+mj-ea"/>
                <a:ea typeface="+mj-ea"/>
                <a:cs typeface="Noto Sans CJK KR" pitchFamily="34" charset="-120"/>
              </a:rPr>
              <a:t>한국의</a:t>
            </a:r>
            <a:r>
              <a:rPr lang="en-US" sz="2000" b="1" dirty="0">
                <a:solidFill>
                  <a:srgbClr val="1E293B"/>
                </a:solidFill>
                <a:latin typeface="+mj-ea"/>
                <a:ea typeface="+mj-ea"/>
                <a:cs typeface="Noto Sans CJK KR" pitchFamily="34" charset="-120"/>
              </a:rPr>
              <a:t> </a:t>
            </a:r>
            <a:r>
              <a:rPr lang="en-US" sz="2000" b="1" dirty="0" err="1">
                <a:solidFill>
                  <a:srgbClr val="1E293B"/>
                </a:solidFill>
                <a:latin typeface="+mj-ea"/>
                <a:ea typeface="+mj-ea"/>
                <a:cs typeface="Noto Sans CJK KR" pitchFamily="34" charset="-120"/>
              </a:rPr>
              <a:t>대응전략</a:t>
            </a:r>
            <a:r>
              <a:rPr lang="en-US" sz="2000" b="1" dirty="0">
                <a:solidFill>
                  <a:srgbClr val="1E293B"/>
                </a:solidFill>
                <a:latin typeface="+mj-ea"/>
                <a:ea typeface="+mj-ea"/>
                <a:cs typeface="Noto Sans CJK KR" pitchFamily="34" charset="-120"/>
              </a:rPr>
              <a:t> </a:t>
            </a:r>
          </a:p>
          <a:p>
            <a:r>
              <a:rPr lang="en-US" altLang="ko-KR" sz="1200" b="1" dirty="0">
                <a:latin typeface="+mj-ea"/>
                <a:ea typeface="+mj-ea"/>
              </a:rPr>
              <a:t>ISO/IEC JTC 1</a:t>
            </a:r>
            <a:r>
              <a:rPr lang="ko-KR" altLang="en-US" sz="1200" b="1" dirty="0">
                <a:latin typeface="+mj-ea"/>
                <a:ea typeface="+mj-ea"/>
              </a:rPr>
              <a:t>과 </a:t>
            </a:r>
            <a:r>
              <a:rPr lang="en-US" altLang="ko-KR" sz="1200" b="1" dirty="0">
                <a:latin typeface="+mj-ea"/>
                <a:ea typeface="+mj-ea"/>
              </a:rPr>
              <a:t>ITU-T </a:t>
            </a:r>
            <a:r>
              <a:rPr lang="ko-KR" altLang="en-US" sz="1200" b="1" dirty="0">
                <a:latin typeface="+mj-ea"/>
                <a:ea typeface="+mj-ea"/>
              </a:rPr>
              <a:t>사례 비교를 중심으로</a:t>
            </a:r>
            <a:endParaRPr lang="en-US" sz="1400" b="1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+mj-ea"/>
                <a:ea typeface="+mj-ea"/>
                <a:cs typeface="Noto Sans CJK KR" pitchFamily="34" charset="-120"/>
              </a:rPr>
              <a:t>양기태(2026) · </a:t>
            </a:r>
            <a:r>
              <a:rPr lang="en-US" sz="1050" dirty="0" err="1">
                <a:solidFill>
                  <a:srgbClr val="64748B"/>
                </a:solidFill>
                <a:latin typeface="+mj-ea"/>
                <a:ea typeface="+mj-ea"/>
                <a:cs typeface="Noto Sans CJK KR" pitchFamily="34" charset="-120"/>
              </a:rPr>
              <a:t>중앙대학교</a:t>
            </a:r>
            <a:r>
              <a:rPr lang="en-US" sz="1050" dirty="0">
                <a:solidFill>
                  <a:srgbClr val="64748B"/>
                </a:solidFill>
                <a:latin typeface="+mj-ea"/>
                <a:ea typeface="+mj-ea"/>
                <a:cs typeface="Noto Sans CJK KR" pitchFamily="34" charset="-120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+mj-ea"/>
                <a:ea typeface="+mj-ea"/>
                <a:cs typeface="Noto Sans CJK KR" pitchFamily="34" charset="-120"/>
              </a:rPr>
              <a:t>행정대학원</a:t>
            </a:r>
            <a:r>
              <a:rPr lang="en-US" sz="1050" dirty="0">
                <a:solidFill>
                  <a:srgbClr val="64748B"/>
                </a:solidFill>
                <a:latin typeface="+mj-ea"/>
                <a:ea typeface="+mj-ea"/>
                <a:cs typeface="Noto Sans CJK KR" pitchFamily="34" charset="-120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+mj-ea"/>
                <a:ea typeface="+mj-ea"/>
                <a:cs typeface="Noto Sans CJK KR" pitchFamily="34" charset="-120"/>
              </a:rPr>
              <a:t>석사학위논문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52"/>
                </a:solidFill>
                <a:latin typeface="+mj-ea"/>
                <a:ea typeface="+mj-ea"/>
                <a:cs typeface="Noto Sans CJK KR" pitchFamily="34" charset="-120"/>
              </a:rPr>
              <a:t>1. </a:t>
            </a:r>
            <a:r>
              <a:rPr lang="en-US" sz="1400" b="1" dirty="0" err="1">
                <a:solidFill>
                  <a:srgbClr val="1E2A52"/>
                </a:solidFill>
                <a:latin typeface="+mj-ea"/>
                <a:ea typeface="+mj-ea"/>
                <a:cs typeface="Noto Sans CJK KR" pitchFamily="34" charset="-120"/>
              </a:rPr>
              <a:t>연구</a:t>
            </a:r>
            <a:r>
              <a:rPr lang="en-US" sz="1400" b="1" dirty="0">
                <a:solidFill>
                  <a:srgbClr val="1E2A52"/>
                </a:solidFill>
                <a:latin typeface="+mj-ea"/>
                <a:ea typeface="+mj-ea"/>
                <a:cs typeface="Noto Sans CJK KR" pitchFamily="34" charset="-120"/>
              </a:rPr>
              <a:t> </a:t>
            </a:r>
            <a:r>
              <a:rPr lang="en-US" sz="1400" b="1" dirty="0" err="1">
                <a:solidFill>
                  <a:srgbClr val="1E2A52"/>
                </a:solidFill>
                <a:latin typeface="+mj-ea"/>
                <a:ea typeface="+mj-ea"/>
                <a:cs typeface="Noto Sans CJK KR" pitchFamily="34" charset="-120"/>
              </a:rPr>
              <a:t>결과</a:t>
            </a:r>
            <a:r>
              <a:rPr lang="en-US" sz="1400" b="1" dirty="0">
                <a:solidFill>
                  <a:srgbClr val="1E2A52"/>
                </a:solidFill>
                <a:latin typeface="+mj-ea"/>
                <a:ea typeface="+mj-ea"/>
                <a:cs typeface="Noto Sans CJK KR" pitchFamily="34" charset="-120"/>
              </a:rPr>
              <a:t> : 4대 사례 → 갈등 결과 유형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5989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+mj-ea"/>
                <a:ea typeface="+mj-ea"/>
                <a:cs typeface="Noto Sans CJK KR" pitchFamily="34" charset="-120"/>
              </a:rPr>
              <a:t>3대 동인(거버넌스·패권 / 규범·가치 / 데이터·안보) × 기구 절차 → 4가지 결과</a:t>
            </a:r>
            <a:endParaRPr lang="en-US" sz="1000" dirty="0">
              <a:latin typeface="+mj-ea"/>
              <a:ea typeface="+mj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773936"/>
            <a:ext cx="29032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1773936"/>
            <a:ext cx="2903220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21792" y="1920240"/>
            <a:ext cx="1577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+mj-ea"/>
                <a:ea typeface="+mj-ea"/>
                <a:cs typeface="Noto Sans CJK KR" pitchFamily="34" charset="-120"/>
              </a:rPr>
              <a:t>New IP
</a:t>
            </a:r>
            <a:r>
              <a:rPr lang="en-US" sz="950" dirty="0">
                <a:solidFill>
                  <a:srgbClr val="64748B"/>
                </a:solidFill>
                <a:latin typeface="+mj-ea"/>
                <a:ea typeface="+mj-ea"/>
                <a:cs typeface="Noto Sans CJK KR" pitchFamily="34" charset="-120"/>
              </a:rPr>
              <a:t>ITU-T SG13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199132" y="1938528"/>
            <a:ext cx="1024128" cy="274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199132" y="193852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+mj-ea"/>
                <a:ea typeface="+mj-ea"/>
                <a:cs typeface="Noto Sans CJK KR" pitchFamily="34" charset="-120"/>
              </a:rPr>
              <a:t>미국 주도형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1792" y="2432304"/>
            <a:ext cx="26106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+mj-ea"/>
                <a:ea typeface="+mj-ea"/>
                <a:cs typeface="Noto Sans CJK KR" pitchFamily="34" charset="-120"/>
              </a:rPr>
              <a:t>핵심 동인  </a:t>
            </a:r>
            <a:r>
              <a:rPr lang="en-US" sz="950" b="1" dirty="0">
                <a:solidFill>
                  <a:srgbClr val="2563EB"/>
                </a:solidFill>
                <a:latin typeface="+mj-ea"/>
                <a:ea typeface="+mj-ea"/>
                <a:cs typeface="Noto Sans CJK KR" pitchFamily="34" charset="-120"/>
              </a:rPr>
              <a:t>데이터·안보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1792" y="2688336"/>
            <a:ext cx="2574036" cy="347472"/>
          </a:xfrm>
          <a:prstGeom prst="rect">
            <a:avLst/>
          </a:prstGeom>
          <a:solidFill>
            <a:srgbClr val="EAF1FE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2688336"/>
            <a:ext cx="24460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+mj-ea"/>
                <a:ea typeface="+mj-ea"/>
                <a:cs typeface="Noto Sans CJK KR" pitchFamily="34" charset="-120"/>
              </a:rPr>
              <a:t>양자암호통신 표준 제시 (기술적 대안)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543300" y="1773936"/>
            <a:ext cx="29032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543300" y="1773936"/>
            <a:ext cx="2903220" cy="640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707892" y="1920240"/>
            <a:ext cx="1577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+mj-ea"/>
                <a:ea typeface="+mj-ea"/>
                <a:cs typeface="Noto Sans CJK KR" pitchFamily="34" charset="-120"/>
              </a:rPr>
              <a:t>스마트시티
</a:t>
            </a:r>
            <a:r>
              <a:rPr lang="en-US" sz="950" dirty="0">
                <a:solidFill>
                  <a:srgbClr val="64748B"/>
                </a:solidFill>
                <a:latin typeface="+mj-ea"/>
                <a:ea typeface="+mj-ea"/>
                <a:cs typeface="Noto Sans CJK KR" pitchFamily="34" charset="-120"/>
              </a:rPr>
              <a:t>ITU-T SG20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285232" y="1938528"/>
            <a:ext cx="1024128" cy="27432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285232" y="193852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+mj-ea"/>
                <a:ea typeface="+mj-ea"/>
                <a:cs typeface="Noto Sans CJK KR" pitchFamily="34" charset="-120"/>
              </a:rPr>
              <a:t>중국 주도형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707892" y="2432304"/>
            <a:ext cx="26106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+mj-ea"/>
                <a:ea typeface="+mj-ea"/>
                <a:cs typeface="Noto Sans CJK KR" pitchFamily="34" charset="-120"/>
              </a:rPr>
              <a:t>핵심 동인  </a:t>
            </a:r>
            <a:r>
              <a:rPr lang="en-US" sz="950" b="1" dirty="0">
                <a:solidFill>
                  <a:srgbClr val="C0392B"/>
                </a:solidFill>
                <a:latin typeface="+mj-ea"/>
                <a:ea typeface="+mj-ea"/>
                <a:cs typeface="Noto Sans CJK KR" pitchFamily="34" charset="-120"/>
              </a:rPr>
              <a:t>거버넌스·패권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707892" y="2688336"/>
            <a:ext cx="2574036" cy="347472"/>
          </a:xfrm>
          <a:prstGeom prst="rect">
            <a:avLst/>
          </a:prstGeom>
          <a:solidFill>
            <a:srgbClr val="FBEAE8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817620" y="2688336"/>
            <a:ext cx="24460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+mj-ea"/>
                <a:ea typeface="+mj-ea"/>
                <a:cs typeface="Noto Sans CJK KR" pitchFamily="34" charset="-120"/>
              </a:rPr>
              <a:t>개방형 플랫폼·시티버스로 틈새 선점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3328416"/>
            <a:ext cx="29032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7200" y="3328416"/>
            <a:ext cx="2903220" cy="64008"/>
          </a:xfrm>
          <a:prstGeom prst="rect">
            <a:avLst/>
          </a:prstGeom>
          <a:solidFill>
            <a:srgbClr val="0E8C7F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21792" y="3474720"/>
            <a:ext cx="1577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+mj-ea"/>
                <a:ea typeface="+mj-ea"/>
                <a:cs typeface="Noto Sans CJK KR" pitchFamily="34" charset="-120"/>
              </a:rPr>
              <a:t>AI 용어 표준
</a:t>
            </a:r>
            <a:r>
              <a:rPr lang="en-US" sz="950" dirty="0">
                <a:solidFill>
                  <a:srgbClr val="64748B"/>
                </a:solidFill>
                <a:latin typeface="+mj-ea"/>
                <a:ea typeface="+mj-ea"/>
                <a:cs typeface="Noto Sans CJK KR" pitchFamily="34" charset="-120"/>
              </a:rPr>
              <a:t>ISO/IEC JTC 1 (22989)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199132" y="3493008"/>
            <a:ext cx="1024128" cy="274320"/>
          </a:xfrm>
          <a:prstGeom prst="roundRect">
            <a:avLst>
              <a:gd name="adj" fmla="val 16667"/>
            </a:avLst>
          </a:prstGeom>
          <a:solidFill>
            <a:srgbClr val="0E8C7F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199132" y="349300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+mj-ea"/>
                <a:ea typeface="+mj-ea"/>
                <a:cs typeface="Noto Sans CJK KR" pitchFamily="34" charset="-120"/>
              </a:rPr>
              <a:t>제3국 중재형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21792" y="3986784"/>
            <a:ext cx="26106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+mj-ea"/>
                <a:ea typeface="+mj-ea"/>
                <a:cs typeface="Noto Sans CJK KR" pitchFamily="34" charset="-120"/>
              </a:rPr>
              <a:t>핵심 동인  </a:t>
            </a:r>
            <a:r>
              <a:rPr lang="en-US" sz="950" b="1" dirty="0">
                <a:solidFill>
                  <a:srgbClr val="0E8C7F"/>
                </a:solidFill>
                <a:latin typeface="+mj-ea"/>
                <a:ea typeface="+mj-ea"/>
                <a:cs typeface="Noto Sans CJK KR" pitchFamily="34" charset="-120"/>
              </a:rPr>
              <a:t>규범·가치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21792" y="4242816"/>
            <a:ext cx="2574036" cy="347472"/>
          </a:xfrm>
          <a:prstGeom prst="rect">
            <a:avLst/>
          </a:prstGeom>
          <a:solidFill>
            <a:srgbClr val="E6F4F1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31520" y="4242816"/>
            <a:ext cx="24460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+mj-ea"/>
                <a:ea typeface="+mj-ea"/>
                <a:cs typeface="Noto Sans CJK KR" pitchFamily="34" charset="-120"/>
              </a:rPr>
              <a:t>유즈케이스 중심 기능적 합의 (중재)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543300" y="3328416"/>
            <a:ext cx="29032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543300" y="3328416"/>
            <a:ext cx="2903220" cy="64008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707892" y="3474720"/>
            <a:ext cx="1577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+mj-ea"/>
                <a:ea typeface="+mj-ea"/>
                <a:cs typeface="Noto Sans CJK KR" pitchFamily="34" charset="-120"/>
              </a:rPr>
              <a:t>안면인식
</a:t>
            </a:r>
            <a:r>
              <a:rPr lang="en-US" sz="950" dirty="0">
                <a:solidFill>
                  <a:srgbClr val="64748B"/>
                </a:solidFill>
                <a:latin typeface="+mj-ea"/>
                <a:ea typeface="+mj-ea"/>
                <a:cs typeface="Noto Sans CJK KR" pitchFamily="34" charset="-120"/>
              </a:rPr>
              <a:t>ITU-T SG16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285232" y="3493008"/>
            <a:ext cx="1024128" cy="274320"/>
          </a:xfrm>
          <a:prstGeom prst="roundRect">
            <a:avLst>
              <a:gd name="adj" fmla="val 16667"/>
            </a:avLst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285232" y="349300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+mj-ea"/>
                <a:ea typeface="+mj-ea"/>
                <a:cs typeface="Noto Sans CJK KR" pitchFamily="34" charset="-120"/>
              </a:rPr>
              <a:t>합의 실패형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707892" y="3986784"/>
            <a:ext cx="26106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+mj-ea"/>
                <a:ea typeface="+mj-ea"/>
                <a:cs typeface="Noto Sans CJK KR" pitchFamily="34" charset="-120"/>
              </a:rPr>
              <a:t>핵심 동인  </a:t>
            </a:r>
            <a:r>
              <a:rPr lang="en-US" sz="950" b="1" dirty="0">
                <a:solidFill>
                  <a:srgbClr val="475569"/>
                </a:solidFill>
                <a:latin typeface="+mj-ea"/>
                <a:ea typeface="+mj-ea"/>
                <a:cs typeface="Noto Sans CJK KR" pitchFamily="34" charset="-120"/>
              </a:rPr>
              <a:t>규범·가치 (+안보)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707892" y="4242816"/>
            <a:ext cx="2574036" cy="347472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817620" y="4242816"/>
            <a:ext cx="24460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+mj-ea"/>
                <a:ea typeface="+mj-ea"/>
                <a:cs typeface="Noto Sans CJK KR" pitchFamily="34" charset="-120"/>
              </a:rPr>
              <a:t>감시·인증 구분, FIDO (원칙 중립)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675120" y="11704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52"/>
                </a:solidFill>
                <a:latin typeface="+mj-ea"/>
                <a:ea typeface="+mj-ea"/>
                <a:cs typeface="Noto Sans CJK KR" pitchFamily="34" charset="-120"/>
              </a:rPr>
              <a:t>2. </a:t>
            </a:r>
            <a:r>
              <a:rPr lang="en-US" sz="1400" b="1" dirty="0" err="1">
                <a:solidFill>
                  <a:srgbClr val="1E2A52"/>
                </a:solidFill>
                <a:latin typeface="+mj-ea"/>
                <a:ea typeface="+mj-ea"/>
                <a:cs typeface="Noto Sans CJK KR" pitchFamily="34" charset="-120"/>
              </a:rPr>
              <a:t>한국의</a:t>
            </a:r>
            <a:r>
              <a:rPr lang="en-US" sz="1400" b="1" dirty="0">
                <a:solidFill>
                  <a:srgbClr val="1E2A52"/>
                </a:solidFill>
                <a:latin typeface="+mj-ea"/>
                <a:ea typeface="+mj-ea"/>
                <a:cs typeface="Noto Sans CJK KR" pitchFamily="34" charset="-120"/>
              </a:rPr>
              <a:t> 대응전략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675120" y="1463040"/>
            <a:ext cx="502920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903720" y="164592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1E2A52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90372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+mj-ea"/>
                <a:ea typeface="+mj-ea"/>
                <a:cs typeface="Noto Sans CJK KR" pitchFamily="34" charset="-120"/>
              </a:rPr>
              <a:t>규범 수용자  →  표준 조정자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949440" y="2240280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949440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+mj-ea"/>
                <a:ea typeface="+mj-ea"/>
                <a:cs typeface="Noto Sans CJK KR" pitchFamily="34" charset="-120"/>
              </a:rPr>
              <a:t>1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370064" y="22128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+mj-ea"/>
                <a:ea typeface="+mj-ea"/>
                <a:cs typeface="Noto Sans CJK KR" pitchFamily="34" charset="-120"/>
              </a:rPr>
              <a:t>기술적 대안 제시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370064" y="245059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+mj-ea"/>
                <a:ea typeface="+mj-ea"/>
                <a:cs typeface="Noto Sans CJK KR" pitchFamily="34" charset="-120"/>
              </a:rPr>
              <a:t>기존 네트워크 기반 보안 강화 (양자암호통신)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949440" y="2843784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949440" y="2843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+mj-ea"/>
                <a:ea typeface="+mj-ea"/>
                <a:cs typeface="Noto Sans CJK KR" pitchFamily="34" charset="-120"/>
              </a:rPr>
              <a:t>2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370064" y="28163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+mj-ea"/>
                <a:ea typeface="+mj-ea"/>
                <a:cs typeface="Noto Sans CJK KR" pitchFamily="34" charset="-120"/>
              </a:rPr>
              <a:t>플랫폼 중심 틈새 선점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7370064" y="30540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+mj-ea"/>
                <a:ea typeface="+mj-ea"/>
                <a:cs typeface="Noto Sans CJK KR" pitchFamily="34" charset="-120"/>
              </a:rPr>
              <a:t>HW 경쟁 대신 개방형 플랫폼 표준화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949440" y="3447288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949440" y="3447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+mj-ea"/>
                <a:ea typeface="+mj-ea"/>
                <a:cs typeface="Noto Sans CJK KR" pitchFamily="34" charset="-120"/>
              </a:rPr>
              <a:t>3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7370064" y="341985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+mj-ea"/>
                <a:ea typeface="+mj-ea"/>
                <a:cs typeface="Noto Sans CJK KR" pitchFamily="34" charset="-120"/>
              </a:rPr>
              <a:t>실증 기반 중재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7370064" y="365760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+mj-ea"/>
                <a:ea typeface="+mj-ea"/>
                <a:cs typeface="Noto Sans CJK KR" pitchFamily="34" charset="-120"/>
              </a:rPr>
              <a:t>유즈케이스·데이터로 규범 갈등 완화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6949440" y="4050792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6949440" y="4050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+mj-ea"/>
                <a:ea typeface="+mj-ea"/>
                <a:cs typeface="Noto Sans CJK KR" pitchFamily="34" charset="-120"/>
              </a:rPr>
              <a:t>4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370064" y="402336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+mj-ea"/>
                <a:ea typeface="+mj-ea"/>
                <a:cs typeface="Noto Sans CJK KR" pitchFamily="34" charset="-120"/>
              </a:rPr>
              <a:t>원칙 기반 기술 중립성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7370064" y="42611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+mj-ea"/>
                <a:ea typeface="+mj-ea"/>
                <a:cs typeface="Noto Sans CJK KR" pitchFamily="34" charset="-120"/>
              </a:rPr>
              <a:t>감시·인증 기술을 구분해 실리 확보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457200" y="4901184"/>
            <a:ext cx="5989320" cy="106070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457200" y="4901184"/>
            <a:ext cx="100584" cy="1060704"/>
          </a:xfrm>
          <a:prstGeom prst="rect">
            <a:avLst/>
          </a:prstGeom>
          <a:solidFill>
            <a:srgbClr val="0E8C7F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676656" y="5029200"/>
            <a:ext cx="292608" cy="292608"/>
          </a:xfrm>
          <a:prstGeom prst="ellipse">
            <a:avLst/>
          </a:prstGeom>
          <a:solidFill>
            <a:srgbClr val="0E8C7F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pic>
        <p:nvPicPr>
          <p:cNvPr id="6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088636"/>
            <a:ext cx="173736" cy="173736"/>
          </a:xfrm>
          <a:prstGeom prst="rect">
            <a:avLst/>
          </a:prstGeom>
        </p:spPr>
      </p:pic>
      <p:sp>
        <p:nvSpPr>
          <p:cNvPr id="64" name="Text 61"/>
          <p:cNvSpPr/>
          <p:nvPr/>
        </p:nvSpPr>
        <p:spPr>
          <a:xfrm>
            <a:off x="1078992" y="501091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+mj-ea"/>
                <a:ea typeface="+mj-ea"/>
                <a:cs typeface="Noto Sans CJK KR" pitchFamily="34" charset="-120"/>
              </a:rPr>
              <a:t>평가 (특징 · 한계)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731520" y="5358384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E8C7F"/>
                </a:solidFill>
                <a:latin typeface="+mj-ea"/>
                <a:ea typeface="+mj-ea"/>
                <a:cs typeface="Noto Sans CJK KR" pitchFamily="34" charset="-120"/>
              </a:rPr>
              <a:t>강점  </a:t>
            </a:r>
            <a:r>
              <a:rPr lang="en-US" sz="1000" dirty="0">
                <a:solidFill>
                  <a:srgbClr val="1E293B"/>
                </a:solidFill>
                <a:latin typeface="+mj-ea"/>
                <a:ea typeface="+mj-ea"/>
                <a:cs typeface="Noto Sans CJK KR" pitchFamily="34" charset="-120"/>
              </a:rPr>
              <a:t>거버넌스를 추상 규범이 아닌 ‘절차·메커니즘’으로 실증 분석
</a:t>
            </a:r>
            <a:r>
              <a:rPr lang="en-US" sz="1000" b="1" dirty="0">
                <a:solidFill>
                  <a:srgbClr val="D97706"/>
                </a:solidFill>
                <a:latin typeface="+mj-ea"/>
                <a:ea typeface="+mj-ea"/>
                <a:cs typeface="Noto Sans CJK KR" pitchFamily="34" charset="-120"/>
              </a:rPr>
              <a:t>한계  </a:t>
            </a:r>
            <a:r>
              <a:rPr lang="en-US" sz="1000" dirty="0">
                <a:solidFill>
                  <a:srgbClr val="1E293B"/>
                </a:solidFill>
                <a:latin typeface="+mj-ea"/>
                <a:ea typeface="+mj-ea"/>
                <a:cs typeface="Noto Sans CJK KR" pitchFamily="34" charset="-120"/>
              </a:rPr>
              <a:t>사후적·성공사례 중심, 기업 행위자 분석 미흡</a:t>
            </a:r>
            <a:endParaRPr lang="en-US" sz="1000" dirty="0">
              <a:latin typeface="+mj-ea"/>
              <a:ea typeface="+mj-ea"/>
            </a:endParaRPr>
          </a:p>
        </p:txBody>
      </p:sp>
      <p:sp>
        <p:nvSpPr>
          <p:cNvPr id="66" name="Shape 63"/>
          <p:cNvSpPr/>
          <p:nvPr/>
        </p:nvSpPr>
        <p:spPr>
          <a:xfrm>
            <a:off x="6675120" y="4901184"/>
            <a:ext cx="5029200" cy="1060704"/>
          </a:xfrm>
          <a:prstGeom prst="rect">
            <a:avLst/>
          </a:prstGeom>
          <a:solidFill>
            <a:srgbClr val="EEF2FB"/>
          </a:solidFill>
          <a:ln w="12700">
            <a:solidFill>
              <a:srgbClr val="C7D2E8"/>
            </a:solidFill>
            <a:prstDash val="solid"/>
          </a:ln>
          <a:effectLst>
            <a:outerShdw blurRad="63500" dist="25400" dir="54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7" name="Shape 64"/>
          <p:cNvSpPr/>
          <p:nvPr/>
        </p:nvSpPr>
        <p:spPr>
          <a:xfrm>
            <a:off x="6675120" y="4901184"/>
            <a:ext cx="100584" cy="1060704"/>
          </a:xfrm>
          <a:prstGeom prst="rect">
            <a:avLst/>
          </a:prstGeom>
          <a:solidFill>
            <a:srgbClr val="1E2A52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8" name="Shape 65"/>
          <p:cNvSpPr/>
          <p:nvPr/>
        </p:nvSpPr>
        <p:spPr>
          <a:xfrm>
            <a:off x="6894576" y="5029200"/>
            <a:ext cx="292608" cy="292608"/>
          </a:xfrm>
          <a:prstGeom prst="ellipse">
            <a:avLst/>
          </a:prstGeom>
          <a:solidFill>
            <a:srgbClr val="1E2A52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pic>
        <p:nvPicPr>
          <p:cNvPr id="6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012" y="5088636"/>
            <a:ext cx="173736" cy="173736"/>
          </a:xfrm>
          <a:prstGeom prst="rect">
            <a:avLst/>
          </a:prstGeom>
        </p:spPr>
      </p:pic>
      <p:sp>
        <p:nvSpPr>
          <p:cNvPr id="70" name="Text 66"/>
          <p:cNvSpPr/>
          <p:nvPr/>
        </p:nvSpPr>
        <p:spPr>
          <a:xfrm>
            <a:off x="7296912" y="501091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+mj-ea"/>
                <a:ea typeface="+mj-ea"/>
                <a:cs typeface="Noto Sans CJK KR" pitchFamily="34" charset="-120"/>
              </a:rPr>
              <a:t>본인의 연구 계획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71" name="Text 67"/>
          <p:cNvSpPr/>
          <p:nvPr/>
        </p:nvSpPr>
        <p:spPr>
          <a:xfrm>
            <a:off x="6949440" y="5358384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+mj-ea"/>
                <a:ea typeface="+mj-ea"/>
                <a:cs typeface="Noto Sans CJK KR" pitchFamily="34" charset="-120"/>
              </a:rPr>
              <a:t>ISO·ITU 공개 데이터로 표준화 안건의 승인·중단 예측
</a:t>
            </a:r>
            <a:r>
              <a:rPr lang="en-US" sz="1000" dirty="0">
                <a:solidFill>
                  <a:srgbClr val="64748B"/>
                </a:solidFill>
                <a:latin typeface="+mj-ea"/>
                <a:ea typeface="+mj-ea"/>
                <a:cs typeface="Noto Sans CJK KR" pitchFamily="34" charset="-120"/>
              </a:rPr>
              <a:t>과정추적(정성) → 데이터 기반 예측 확장 · 이탈예측과 연결</a:t>
            </a:r>
            <a:endParaRPr lang="en-US" sz="1000" dirty="0">
              <a:latin typeface="+mj-ea"/>
              <a:ea typeface="+mj-ea"/>
            </a:endParaRPr>
          </a:p>
        </p:txBody>
      </p:sp>
      <p:sp>
        <p:nvSpPr>
          <p:cNvPr id="72" name="Shape 68"/>
          <p:cNvSpPr/>
          <p:nvPr/>
        </p:nvSpPr>
        <p:spPr>
          <a:xfrm>
            <a:off x="457200" y="6108192"/>
            <a:ext cx="11247120" cy="512064"/>
          </a:xfrm>
          <a:prstGeom prst="rect">
            <a:avLst/>
          </a:prstGeom>
          <a:solidFill>
            <a:srgbClr val="1E2A52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73" name="Text 69"/>
          <p:cNvSpPr/>
          <p:nvPr/>
        </p:nvSpPr>
        <p:spPr>
          <a:xfrm>
            <a:off x="1828798" y="6108192"/>
            <a:ext cx="969264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+mj-ea"/>
                <a:ea typeface="+mj-ea"/>
                <a:cs typeface="Noto Sans CJK KR" pitchFamily="34" charset="-120"/>
              </a:rPr>
              <a:t>AI 거버넌스의 핵심은 ‘무엇을 규제하는가’뿐 아니라, </a:t>
            </a:r>
            <a:r>
              <a:rPr lang="en-US" sz="1250" b="1" dirty="0">
                <a:solidFill>
                  <a:srgbClr val="FFFFFF"/>
                </a:solidFill>
                <a:latin typeface="+mj-ea"/>
                <a:ea typeface="+mj-ea"/>
                <a:cs typeface="Noto Sans CJK KR" pitchFamily="34" charset="-120"/>
              </a:rPr>
              <a:t>‘누가·어떤 절차로 국제표준을 만드는가’</a:t>
            </a:r>
            <a:r>
              <a:rPr lang="en-US" sz="1250" dirty="0">
                <a:solidFill>
                  <a:srgbClr val="FFFFFF"/>
                </a:solidFill>
                <a:latin typeface="+mj-ea"/>
                <a:ea typeface="+mj-ea"/>
                <a:cs typeface="Noto Sans CJK KR" pitchFamily="34" charset="-120"/>
              </a:rPr>
              <a:t>에 있다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74" name="TextBox 81">
            <a:extLst>
              <a:ext uri="{FF2B5EF4-FFF2-40B4-BE49-F238E27FC236}">
                <a16:creationId xmlns:a16="http://schemas.microsoft.com/office/drawing/2014/main" id="{D5DAD748-C440-1D2F-7CD6-9C7AA3A4723C}"/>
              </a:ext>
            </a:extLst>
          </p:cNvPr>
          <p:cNvSpPr txBox="1"/>
          <p:nvPr/>
        </p:nvSpPr>
        <p:spPr>
          <a:xfrm>
            <a:off x="6397419" y="314073"/>
            <a:ext cx="5306901" cy="443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lvl="0" indent="0" algn="r">
              <a:lnSpc>
                <a:spcPts val="1820"/>
              </a:lnSpc>
              <a:defRPr sz="1300">
                <a:solidFill>
                  <a:srgbClr val="000000"/>
                </a:solidFill>
                <a:latin typeface="+mj-ea"/>
                <a:ea typeface="+mj-ea"/>
                <a:cs typeface="Noto Sans Kr"/>
              </a:defRPr>
            </a:lvl1pPr>
          </a:lstStyle>
          <a:p>
            <a:r>
              <a:rPr lang="en-US" dirty="0" err="1">
                <a:sym typeface="Noto Sans Kr"/>
              </a:rPr>
              <a:t>건국대학교</a:t>
            </a:r>
            <a:r>
              <a:rPr lang="en-US" dirty="0">
                <a:sym typeface="Noto Sans Kr"/>
              </a:rPr>
              <a:t> </a:t>
            </a:r>
            <a:r>
              <a:rPr lang="en-US" dirty="0" err="1">
                <a:sym typeface="Noto Sans Kr"/>
              </a:rPr>
              <a:t>정보통신대학원</a:t>
            </a:r>
            <a:r>
              <a:rPr lang="en-US" dirty="0">
                <a:sym typeface="Noto Sans Kr"/>
              </a:rPr>
              <a:t> │AI </a:t>
            </a:r>
            <a:r>
              <a:rPr lang="ko-KR" altLang="en-US" dirty="0">
                <a:sym typeface="Noto Sans Kr"/>
              </a:rPr>
              <a:t>거버넌스</a:t>
            </a:r>
            <a:r>
              <a:rPr lang="en-US" altLang="ko-KR" dirty="0">
                <a:sym typeface="Noto Sans Kr"/>
              </a:rPr>
              <a:t>: </a:t>
            </a:r>
            <a:r>
              <a:rPr lang="ko-KR" altLang="en-US" dirty="0">
                <a:sym typeface="Noto Sans Kr"/>
              </a:rPr>
              <a:t>관련법과 국제표준</a:t>
            </a:r>
            <a:endParaRPr lang="ko-KR" altLang="ko-KR" dirty="0"/>
          </a:p>
          <a:p>
            <a:endParaRPr lang="en-US" dirty="0">
              <a:sym typeface="Noto Sans Kr"/>
            </a:endParaRPr>
          </a:p>
        </p:txBody>
      </p:sp>
      <p:sp>
        <p:nvSpPr>
          <p:cNvPr id="75" name="TextBox 82">
            <a:extLst>
              <a:ext uri="{FF2B5EF4-FFF2-40B4-BE49-F238E27FC236}">
                <a16:creationId xmlns:a16="http://schemas.microsoft.com/office/drawing/2014/main" id="{51783025-8CC2-789A-0835-3735E08DF954}"/>
              </a:ext>
            </a:extLst>
          </p:cNvPr>
          <p:cNvSpPr txBox="1"/>
          <p:nvPr/>
        </p:nvSpPr>
        <p:spPr>
          <a:xfrm>
            <a:off x="8183089" y="550847"/>
            <a:ext cx="3521231" cy="212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820"/>
              </a:lnSpc>
            </a:pPr>
            <a:r>
              <a:rPr lang="en-US" sz="1300" dirty="0" err="1">
                <a:solidFill>
                  <a:srgbClr val="000000"/>
                </a:solidFill>
                <a:latin typeface="+mj-ea"/>
                <a:ea typeface="+mj-ea"/>
                <a:cs typeface="Noto Sans Kr"/>
                <a:sym typeface="Noto Sans Kr"/>
              </a:rPr>
              <a:t>인공지능전공</a:t>
            </a:r>
            <a:r>
              <a:rPr lang="en-US" sz="1300" dirty="0">
                <a:solidFill>
                  <a:srgbClr val="000000"/>
                </a:solidFill>
                <a:latin typeface="+mj-ea"/>
                <a:ea typeface="+mj-ea"/>
                <a:cs typeface="Noto Sans Kr"/>
                <a:sym typeface="Noto Sans Kr"/>
              </a:rPr>
              <a:t>│ 202576624│ 박아름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D30CB38-7808-A4C4-2F0B-89301072E33B}"/>
              </a:ext>
            </a:extLst>
          </p:cNvPr>
          <p:cNvSpPr txBox="1"/>
          <p:nvPr/>
        </p:nvSpPr>
        <p:spPr>
          <a:xfrm>
            <a:off x="557784" y="6234462"/>
            <a:ext cx="28771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7DD3C8"/>
                </a:solidFill>
                <a:latin typeface="+mj-ea"/>
                <a:ea typeface="+mj-ea"/>
                <a:cs typeface="Noto Sans CJK KR" pitchFamily="34" charset="-120"/>
              </a:rPr>
              <a:t>한 줄 </a:t>
            </a:r>
            <a:r>
              <a:rPr lang="en-US" altLang="ko-KR" sz="1200" b="1" dirty="0" err="1">
                <a:solidFill>
                  <a:srgbClr val="7DD3C8"/>
                </a:solidFill>
                <a:latin typeface="+mj-ea"/>
                <a:ea typeface="+mj-ea"/>
                <a:cs typeface="Noto Sans CJK KR" pitchFamily="34" charset="-120"/>
              </a:rPr>
              <a:t>결론</a:t>
            </a:r>
            <a:r>
              <a:rPr lang="en-US" altLang="ko-KR" sz="1200" b="1" dirty="0">
                <a:solidFill>
                  <a:srgbClr val="7DD3C8"/>
                </a:solidFill>
                <a:latin typeface="+mj-ea"/>
                <a:ea typeface="+mj-ea"/>
                <a:cs typeface="Noto Sans CJK KR" pitchFamily="34" charset="-120"/>
              </a:rPr>
              <a:t> </a:t>
            </a:r>
            <a:endParaRPr lang="ko-KR" altLang="en-US" sz="12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298</Words>
  <Application>Microsoft Office PowerPoint</Application>
  <PresentationFormat>사용자 지정</PresentationFormat>
  <Paragraphs>44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Noto Sans Kr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거버넌스 논문 리뷰 발표</dc:title>
  <dc:subject>PptxGenJS Presentation</dc:subject>
  <dc:creator>박아름</dc:creator>
  <cp:lastModifiedBy>박아름</cp:lastModifiedBy>
  <cp:revision>2</cp:revision>
  <dcterms:created xsi:type="dcterms:W3CDTF">2026-06-08T18:08:26Z</dcterms:created>
  <dcterms:modified xsi:type="dcterms:W3CDTF">2026-06-08T18:28:54Z</dcterms:modified>
</cp:coreProperties>
</file>