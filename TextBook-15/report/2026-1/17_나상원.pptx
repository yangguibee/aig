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590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37744" y="0"/>
            <a:ext cx="7132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AI기반 문화예술 서비스의 저작권 보호 방안  |  윤채원  ·  경희대학교 미디어커뮤니케이션대학원  ·  2026.02  ·  언론학 석사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0" y="0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ko-KR" sz="800" b="0" i="0" dirty="0">
                <a:solidFill>
                  <a:schemeClr val="bg1">
                    <a:lumMod val="95000"/>
                  </a:schemeClr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나상원(202676234)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" y="694944"/>
            <a:ext cx="2212848" cy="43159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" y="694944"/>
            <a:ext cx="2212848" cy="29260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1168" y="69494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논문 개요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1078992"/>
            <a:ext cx="457200" cy="201168"/>
          </a:xfrm>
          <a:prstGeom prst="rect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82880" y="10789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서론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82880" y="1298448"/>
            <a:ext cx="2066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생성형 AI가 음악·영상·이미지·출판 전반에 확산되며 저작권 분쟁 급증. 현행법은 '인간 창작'을 전제로 설계되어 AI 창작물에 대한 법적 공백이 존재. 특히 한국은 TDM 예외 조항 부재로 불안정.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182880" y="2048256"/>
            <a:ext cx="45720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82880" y="20482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연구개요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82880" y="2267712"/>
            <a:ext cx="2066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목적: AI 문화예술 저작권 쟁점 정리 및 균형 있는 보호 방안 제시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절차: AI 저작권 분쟁을 1~3세대로 시기 구분 → 미·영·EU·일·한 5개국 법제 비교분석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82880" y="3017520"/>
            <a:ext cx="457200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82880" y="3017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데이터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82880" y="3236976"/>
            <a:ext cx="2066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실험 데이터 없음. 판례·법령·정책 문서 분석 기반 연구.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주요 사례: Getty v. Stability AI(2025), Thaler v. Perlmutter(2025), Authors Guild v. Google(2015)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182880" y="3986784"/>
            <a:ext cx="4572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82880" y="39867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분석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82880" y="4206240"/>
            <a:ext cx="2066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핵심 쟁점 3축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① 저작자성: 인간 실질적 기여 여부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② TDM 합법성: 학습 데이터 이용 규율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③ 2차저작물성: 변형·재조합 산출물의 독자성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2432304" y="694944"/>
            <a:ext cx="2176272" cy="43159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432304" y="694944"/>
            <a:ext cx="2176272" cy="292608"/>
          </a:xfrm>
          <a:prstGeom prst="rect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523744" y="69494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결론  ①  연구 결과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05456" y="1042416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D40"/>
                </a:solidFill>
              </a:rPr>
              <a:t>핵심 발견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05456" y="1261872"/>
            <a:ext cx="2029968" cy="512064"/>
          </a:xfrm>
          <a:prstGeom prst="rect">
            <a:avLst/>
          </a:prstGeom>
          <a:solidFill>
            <a:srgbClr val="F0FDFB"/>
          </a:solidFill>
          <a:ln w="762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560320" y="12801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11827"/>
                </a:solidFill>
              </a:rPr>
              <a:t>저작권 분쟁의 본질은 기술 문제가 아니라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11827"/>
                </a:solidFill>
              </a:rPr>
              <a:t>'인간 중심 창작성(human authorship)'이라는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11827"/>
                </a:solidFill>
              </a:rPr>
              <a:t>저작권법 근본 전제가 도전받는 구조적 문제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05456" y="184708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D40"/>
                </a:solidFill>
              </a:rPr>
              <a:t>국가별 접근 방식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05456" y="208483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D40"/>
                </a:solidFill>
              </a:rPr>
              <a:t>🇺🇸 미국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182112" y="208483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공정이용 확장, 판례 중심 유연 모델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2505456" y="2414016"/>
            <a:ext cx="202996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505456" y="246888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D40"/>
                </a:solidFill>
              </a:rPr>
              <a:t>🇬🇧 영국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182112" y="2468880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세계 유일 비인간 창작물 저작자 지정 규정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2505456" y="2798064"/>
            <a:ext cx="202996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2505456" y="285292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D40"/>
                </a:solidFill>
              </a:rPr>
              <a:t>🇪🇺 EU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182112" y="285292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TDM 예외 + opt-out 투명성 중심 제도화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505456" y="3182112"/>
            <a:ext cx="202996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505456" y="323697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D40"/>
                </a:solidFill>
              </a:rPr>
              <a:t>🇯🇵 일본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182112" y="3236976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정보분석 목적 폭넓게 허용, 산업 진흥형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2505456" y="3566160"/>
            <a:ext cx="202996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2505456" y="362102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D40"/>
                </a:solidFill>
              </a:rPr>
              <a:t>🇰🇷 한국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182112" y="3621024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TDM 명문 규정 부재, 법적 불안정성 最高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4718304" y="694944"/>
            <a:ext cx="2176272" cy="43159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718304" y="694944"/>
            <a:ext cx="2176272" cy="29260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809744" y="69494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결론  ②  논문 특징·평가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91456" y="1042416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D40"/>
                </a:solidFill>
              </a:rPr>
              <a:t>한국 저작권법 개선 방향 제언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91456" y="1298448"/>
            <a:ext cx="2029968" cy="8778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791456" y="1298448"/>
            <a:ext cx="45720" cy="877824"/>
          </a:xfrm>
          <a:prstGeom prst="rect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882896" y="135331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D40"/>
                </a:solidFill>
              </a:rPr>
              <a:t>①  AI 공동창작물 법적 지위 명확화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82896" y="155448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인간 개입의 실질성 기준으로 보호 여부 결정. '창작 통제 구조' 중심으로 판단 기준 전환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791456" y="2249424"/>
            <a:ext cx="2029968" cy="8778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791456" y="2249424"/>
            <a:ext cx="45720" cy="877824"/>
          </a:xfrm>
          <a:prstGeom prst="rect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882896" y="230428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D40"/>
                </a:solidFill>
              </a:rPr>
              <a:t>②  TDM 예외 조항 명문화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82896" y="2505456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AI 학습 단계 저작물 이용의 명시적 법적 근거 마련. 데이터 투명성·저작자 opt-out 권리 병행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4791456" y="3200400"/>
            <a:ext cx="2029968" cy="8778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4791456" y="3200400"/>
            <a:ext cx="45720" cy="877824"/>
          </a:xfrm>
          <a:prstGeom prst="rect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4882896" y="325526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D40"/>
                </a:solidFill>
              </a:rPr>
              <a:t>③  플랫폼 투명성 의무 강화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82896" y="345643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</a:rPr>
              <a:t>학습 데이터 출처 공개, AI 산출물 표시 의무, 권리 정보 관리 의무 부과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4791456" y="4151376"/>
            <a:ext cx="2029968" cy="694944"/>
          </a:xfrm>
          <a:prstGeom prst="rect">
            <a:avLst/>
          </a:prstGeom>
          <a:solidFill>
            <a:srgbClr val="FEF3C7"/>
          </a:solidFill>
          <a:ln w="762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4846320" y="41696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</a:rPr>
              <a:t>💬  본인 평가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846320" y="43708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2400E"/>
                </a:solidFill>
              </a:rPr>
              <a:t>AI 창작물 저작권 문제는 의류·패션 디자인 분야와도 직결. 논문 스스로 '패션 등 AI 응용 산업 저작권 문제를 다루지 못했다'는 한계를 제시 → 현업 종사자 입장에서 가장 관련성 높은 미탐구 영역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004304" y="694944"/>
            <a:ext cx="2029968" cy="43159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7004304" y="694944"/>
            <a:ext cx="2029968" cy="292608"/>
          </a:xfrm>
          <a:prstGeom prst="rect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7077456" y="69494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결론  ③  본인 연구계획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077456" y="104241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D40"/>
                </a:solidFill>
              </a:rPr>
              <a:t>논문이 남긴 과제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077456" y="1261872"/>
            <a:ext cx="1883664" cy="530352"/>
          </a:xfrm>
          <a:prstGeom prst="rect">
            <a:avLst/>
          </a:prstGeom>
          <a:solidFill>
            <a:srgbClr val="F0FDFB"/>
          </a:solidFill>
          <a:ln w="635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7132320" y="1280160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본 논문은 '패션·게임·출판 등 AI 응용 산업별 저작권 문제를 다루지 못했다'는 한계를 직접 명시하며 향후 과제로 제시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7077456" y="186537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D40"/>
                </a:solidFill>
              </a:rPr>
              <a:t>단기 연구계획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077456" y="2121408"/>
            <a:ext cx="109728" cy="109728"/>
          </a:xfrm>
          <a:prstGeom prst="ellipse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7242048" y="20848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11827"/>
                </a:solidFill>
              </a:rPr>
              <a:t>의류·패션 디자인 AI 생성물의 저작자성 판단 기준 연구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077456" y="2596896"/>
            <a:ext cx="109728" cy="109728"/>
          </a:xfrm>
          <a:prstGeom prst="ellipse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7242048" y="2560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11827"/>
                </a:solidFill>
              </a:rPr>
              <a:t>국내외 패션 브랜드 AI 디자인 도입 사례 및 법적 분쟁 현황 조사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077456" y="3072384"/>
            <a:ext cx="109728" cy="109728"/>
          </a:xfrm>
          <a:prstGeom prst="ellipse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7242048" y="30358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11827"/>
                </a:solidFill>
              </a:rPr>
              <a:t>TDM 예외 입법화 시 패션 산업에 미치는 영향 분석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7077456" y="3584448"/>
            <a:ext cx="1883664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7077456" y="363931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D40"/>
                </a:solidFill>
              </a:rPr>
              <a:t>장기 연구계획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077456" y="389534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7242048" y="38587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11827"/>
                </a:solidFill>
              </a:rPr>
              <a:t>AI 활용 패션 디자인 저작권 보호를 위한 제도적 프레임워크 설계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7077456" y="429768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7242048" y="42611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11827"/>
                </a:solidFill>
              </a:rPr>
              <a:t>창작자·플랫폼·소비자 3자 균형 모델 제안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09728" y="4974336"/>
            <a:ext cx="892454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109728" y="4992624"/>
            <a:ext cx="8924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DBpia (www.dbpia.co.kr)  |  검색조건: 2025~2026년, 석박사 학위논문, AI 거버넌스  |  경희대학교 미디어커뮤니케이션대학원 2026.02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473</Words>
  <Application>Microsoft Office PowerPoint</Application>
  <PresentationFormat>화면 슬라이드 쇼(16:9)</PresentationFormat>
  <Paragraphs>54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상원 나</cp:lastModifiedBy>
  <cp:revision>2</cp:revision>
  <dcterms:created xsi:type="dcterms:W3CDTF">2026-06-11T05:41:41Z</dcterms:created>
  <dcterms:modified xsi:type="dcterms:W3CDTF">2026-06-11T05:44:01Z</dcterms:modified>
</cp:coreProperties>
</file>