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83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25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82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</a:t>
            </a:r>
            <a:r>
              <a:rPr lang="ko-KR" altLang="en-US" sz="2400" b="1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논문명</a:t>
            </a:r>
            <a:r>
              <a:rPr lang="en-US" altLang="ko-KR" sz="2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[</a:t>
            </a:r>
            <a:r>
              <a:rPr lang="en-US" sz="2400" b="1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</a:t>
            </a:r>
            <a:r>
              <a:rPr lang="en-US" sz="2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ko-KR" altLang="en-US" sz="2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산업에 대한 규제영향의 실증연구 및 시사점</a:t>
            </a:r>
            <a:r>
              <a:rPr lang="en-US" altLang="ko-KR" sz="2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sz="1300" i="1" dirty="0" err="1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영국·프랑스</a:t>
            </a:r>
            <a:r>
              <a:rPr lang="en-US" sz="1300" i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i="1" dirty="0" err="1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ko-KR" altLang="en-US" sz="1300" i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중심으로</a:t>
            </a:r>
            <a:r>
              <a:rPr lang="en-US" altLang="ko-KR" sz="1300" i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sz="1300" i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「AI 기본법」 기반 풀스택·AI 허브 정책 방향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" y="12618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주요국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규제 접근 방식과 결과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" y="1627632"/>
            <a:ext cx="36118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12064" y="1627632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132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12064" y="1901952"/>
            <a:ext cx="3611880" cy="274320"/>
          </a:xfrm>
          <a:prstGeom prst="rect">
            <a:avLst/>
          </a:prstGeom>
          <a:solidFill>
            <a:srgbClr val="1328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ic_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76479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627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· 프랑스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06624" y="16276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엄격 · 위험기반</a:t>
            </a:r>
            <a:endParaRPr lang="en-US" sz="1000" b="1" dirty="0"/>
          </a:p>
        </p:txBody>
      </p:sp>
      <p:sp>
        <p:nvSpPr>
          <p:cNvPr id="13" name="Text 10"/>
          <p:cNvSpPr/>
          <p:nvPr/>
        </p:nvSpPr>
        <p:spPr>
          <a:xfrm>
            <a:off x="676656" y="228600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76656" y="24505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Act(인공지능법) - 4단계 위험분류에 따른 포괄적·강제적 차등 규제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6656" y="2889504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98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규제 명확성·소비자 신뢰 확보</a:t>
            </a:r>
            <a:endParaRPr lang="en-US" sz="980" dirty="0"/>
          </a:p>
          <a:p>
            <a:pPr marL="0" indent="0"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980" dirty="0">
                <a:solidFill>
                  <a:srgbClr val="B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－ 컴플라이언스 부담 ↑, 역내 모델 개발 위축 우려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4325112" y="1627632"/>
            <a:ext cx="36118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325112" y="1627632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1B6B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325112" y="1901952"/>
            <a:ext cx="3611880" cy="274320"/>
          </a:xfrm>
          <a:prstGeom prst="rect">
            <a:avLst/>
          </a:prstGeom>
          <a:solidFill>
            <a:srgbClr val="1B6B6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ic_u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176479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37176" y="1627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 (UK)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19672" y="16276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친혁신 · 유연</a:t>
            </a:r>
            <a:endParaRPr lang="en-US" sz="1000" b="1" dirty="0"/>
          </a:p>
        </p:txBody>
      </p:sp>
      <p:sp>
        <p:nvSpPr>
          <p:cNvPr id="22" name="Text 18"/>
          <p:cNvSpPr/>
          <p:nvPr/>
        </p:nvSpPr>
        <p:spPr>
          <a:xfrm>
            <a:off x="4489704" y="228600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489704" y="24505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Light-touch - </a:t>
            </a:r>
            <a:r>
              <a:rPr lang="ko-KR" altLang="ko-KR" sz="1050" dirty="0"/>
              <a:t>최소한으로만 개입하여 자율성을 극대화</a:t>
            </a: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AI Opportunities Action Plan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489704" y="2889504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98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美 빅테크(MS·NVIDIA·구글·OpenAI) 투자·거점 유치</a:t>
            </a:r>
            <a:endParaRPr lang="en-US" sz="980" dirty="0"/>
          </a:p>
          <a:p>
            <a:pPr marL="0" indent="0"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980" dirty="0">
                <a:solidFill>
                  <a:srgbClr val="B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－ 법적 안전장치 미흡, 시민·시장 리스크 비판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8138160" y="1627632"/>
            <a:ext cx="36118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8138160" y="1627632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7A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8138160" y="1901952"/>
            <a:ext cx="3611880" cy="274320"/>
          </a:xfrm>
          <a:prstGeom prst="rect">
            <a:avLst/>
          </a:prstGeom>
          <a:solidFill>
            <a:srgbClr val="7A52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ic_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76479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650224" y="1627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(US)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10332720" y="16276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파편화 · 부문별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302752" y="228600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8302752" y="24505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연방 포괄법 </a:t>
            </a:r>
            <a:r>
              <a:rPr lang="en-US" sz="1050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</a:t>
            </a: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1050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부문별</a:t>
            </a: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지침·주별 입법으로 분산 대응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302752" y="2889504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98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민간 주도 빠른 혁신 속도</a:t>
            </a:r>
            <a:endParaRPr lang="en-US" sz="980" dirty="0"/>
          </a:p>
          <a:p>
            <a:pPr marL="0" indent="0"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980" dirty="0">
                <a:solidFill>
                  <a:srgbClr val="B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－ 규제 불확실성, 주(州)별 상이로 예측가능성 ↓</a:t>
            </a:r>
            <a:endParaRPr lang="en-US" sz="980" dirty="0"/>
          </a:p>
        </p:txBody>
      </p:sp>
      <p:sp>
        <p:nvSpPr>
          <p:cNvPr id="34" name="Shape 29"/>
          <p:cNvSpPr/>
          <p:nvPr/>
        </p:nvSpPr>
        <p:spPr>
          <a:xfrm>
            <a:off x="512064" y="3602736"/>
            <a:ext cx="1117396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0"/>
          <p:cNvSpPr/>
          <p:nvPr/>
        </p:nvSpPr>
        <p:spPr>
          <a:xfrm>
            <a:off x="512064" y="3803904"/>
            <a:ext cx="5017684" cy="2706624"/>
          </a:xfrm>
          <a:prstGeom prst="roundRect">
            <a:avLst>
              <a:gd name="adj" fmla="val 2027"/>
            </a:avLst>
          </a:prstGeom>
          <a:solidFill>
            <a:srgbClr val="F3F8F8"/>
          </a:solidFill>
          <a:ln w="12700">
            <a:solidFill>
              <a:srgbClr val="CFE3E2"/>
            </a:solidFill>
            <a:prstDash val="solid"/>
          </a:ln>
          <a:effectLst>
            <a:outerShdw blurRad="889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3" descr="ic_poli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005072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170432" y="39684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생성형 AI </a:t>
            </a:r>
            <a:r>
              <a:rPr lang="en-US" sz="1500" b="1" dirty="0" err="1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r>
              <a:rPr lang="en-US" sz="15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제언</a:t>
            </a:r>
            <a:r>
              <a:rPr lang="en-US" sz="15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lang="ko-KR" altLang="en-US" sz="15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한국형 균형 모델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786384" y="4425696"/>
            <a:ext cx="4462949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     +                                  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050" dirty="0">
              <a:solidFill>
                <a:srgbClr val="1B2A4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고위험만 차등규제, </a:t>
            </a:r>
            <a:r>
              <a:rPr lang="en-US" sz="1050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저위험은</a:t>
            </a: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</a:t>
            </a: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자율규제</a:t>
            </a:r>
            <a:endParaRPr lang="en-US" sz="1050" dirty="0">
              <a:solidFill>
                <a:srgbClr val="1B2A4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100" dirty="0"/>
          </a:p>
          <a:p>
            <a:pPr marL="177800" indent="-1778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「AI 기본법」 토대 위 '명확성+최소침해' 원칙 적용</a:t>
            </a:r>
            <a:endParaRPr lang="en-US" sz="1100" dirty="0"/>
          </a:p>
          <a:p>
            <a:pPr marL="177800" indent="-1778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샌드박스·네거티브 규제로 스타트업 실험 자유 보장</a:t>
            </a:r>
            <a:endParaRPr lang="en-US" sz="1100" dirty="0"/>
          </a:p>
          <a:p>
            <a:pPr marL="177800" indent="-1778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예산(’26)을 민간투자·인재 유입으로 확산, 전산업 AX 가속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199632" y="3803904"/>
            <a:ext cx="5486400" cy="2706624"/>
          </a:xfrm>
          <a:prstGeom prst="roundRect">
            <a:avLst>
              <a:gd name="adj" fmla="val 2027"/>
            </a:avLst>
          </a:prstGeom>
          <a:solidFill>
            <a:srgbClr val="13284B"/>
          </a:solidFill>
          <a:ln/>
          <a:effectLst>
            <a:outerShdw blurRad="889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ic_st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3986784"/>
            <a:ext cx="292608" cy="29260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821424" y="39502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AI · AI 허브 방향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6473952" y="4279392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「AI 기본법」 진흥·신뢰 조항을 풀스택 5계층으로 정렬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6455664" y="4553712"/>
            <a:ext cx="4974336" cy="338328"/>
          </a:xfrm>
          <a:prstGeom prst="roundRect">
            <a:avLst>
              <a:gd name="adj" fmla="val 13514"/>
            </a:avLst>
          </a:prstGeom>
          <a:solidFill>
            <a:srgbClr val="2040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/>
          <p:nvPr/>
        </p:nvSpPr>
        <p:spPr>
          <a:xfrm>
            <a:off x="6601968" y="4553712"/>
            <a:ext cx="4700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50" dirty="0">
                <a:solidFill>
                  <a:srgbClr val="D8E0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집적단지·데이터센터로 컴퓨팅 주권 확보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6455664" y="4942332"/>
            <a:ext cx="4974336" cy="338328"/>
          </a:xfrm>
          <a:prstGeom prst="roundRect">
            <a:avLst>
              <a:gd name="adj" fmla="val 13514"/>
            </a:avLst>
          </a:prstGeom>
          <a:solidFill>
            <a:srgbClr val="2040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/>
          <p:nvPr/>
        </p:nvSpPr>
        <p:spPr>
          <a:xfrm>
            <a:off x="6601968" y="4942332"/>
            <a:ext cx="4700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50" dirty="0">
                <a:solidFill>
                  <a:srgbClr val="D8E0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학습용데이터 시책으로 양질 데이터 공급망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6455664" y="5330952"/>
            <a:ext cx="4974336" cy="338328"/>
          </a:xfrm>
          <a:prstGeom prst="roundRect">
            <a:avLst>
              <a:gd name="adj" fmla="val 13514"/>
            </a:avLst>
          </a:prstGeom>
          <a:solidFill>
            <a:srgbClr val="2040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1"/>
          <p:cNvSpPr/>
          <p:nvPr/>
        </p:nvSpPr>
        <p:spPr>
          <a:xfrm>
            <a:off x="6601968" y="5330952"/>
            <a:ext cx="4700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모델·기술</a:t>
            </a: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50" dirty="0">
                <a:solidFill>
                  <a:srgbClr val="D8E0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R&amp;D·표준화·실증으로 파운데이션 모델 자립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6455664" y="5719572"/>
            <a:ext cx="4974336" cy="338328"/>
          </a:xfrm>
          <a:prstGeom prst="roundRect">
            <a:avLst>
              <a:gd name="adj" fmla="val 13514"/>
            </a:avLst>
          </a:prstGeom>
          <a:solidFill>
            <a:srgbClr val="2040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3"/>
          <p:cNvSpPr/>
          <p:nvPr/>
        </p:nvSpPr>
        <p:spPr>
          <a:xfrm>
            <a:off x="6601968" y="5719572"/>
            <a:ext cx="4700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확산·인재</a:t>
            </a: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50" dirty="0">
                <a:solidFill>
                  <a:srgbClr val="D8E0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융합·창업·인재로 수요·공급 동반 확대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6455664" y="6108192"/>
            <a:ext cx="4974336" cy="338328"/>
          </a:xfrm>
          <a:prstGeom prst="roundRect">
            <a:avLst>
              <a:gd name="adj" fmla="val 13514"/>
            </a:avLst>
          </a:prstGeom>
          <a:solidFill>
            <a:srgbClr val="2040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/>
          <p:nvPr/>
        </p:nvSpPr>
        <p:spPr>
          <a:xfrm>
            <a:off x="6601968" y="6108192"/>
            <a:ext cx="4700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신뢰·국제</a:t>
            </a: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r>
              <a:rPr lang="ko-KR" alt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900" b="1" dirty="0">
                <a:solidFill>
                  <a:srgbClr val="D2A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950" dirty="0">
                <a:solidFill>
                  <a:srgbClr val="D8E0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검·인증+국제협력으로 글로벌 허브 신뢰도</a:t>
            </a:r>
            <a:endParaRPr lang="en-US" sz="105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EA85BF3-C474-4833-6A84-83746B0B3F0E}"/>
              </a:ext>
            </a:extLst>
          </p:cNvPr>
          <p:cNvSpPr/>
          <p:nvPr/>
        </p:nvSpPr>
        <p:spPr>
          <a:xfrm>
            <a:off x="786384" y="4412827"/>
            <a:ext cx="1127274" cy="2689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영국형 친혁신</a:t>
            </a:r>
            <a:endParaRPr lang="ko-KR" altLang="en-US" sz="1100" b="1" dirty="0"/>
          </a:p>
        </p:txBody>
      </p:sp>
      <p:sp>
        <p:nvSpPr>
          <p:cNvPr id="56" name="화살표: 오각형 55">
            <a:extLst>
              <a:ext uri="{FF2B5EF4-FFF2-40B4-BE49-F238E27FC236}">
                <a16:creationId xmlns:a16="http://schemas.microsoft.com/office/drawing/2014/main" id="{C1921223-0979-24A7-F090-1C923AC8DF55}"/>
              </a:ext>
            </a:extLst>
          </p:cNvPr>
          <p:cNvSpPr/>
          <p:nvPr/>
        </p:nvSpPr>
        <p:spPr>
          <a:xfrm>
            <a:off x="5566324" y="3871638"/>
            <a:ext cx="596732" cy="2587751"/>
          </a:xfrm>
          <a:prstGeom prst="homePlate">
            <a:avLst>
              <a:gd name="adj" fmla="val 97952"/>
            </a:avLst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D6685F4-7391-86AD-3D44-E94C0590F2DA}"/>
              </a:ext>
            </a:extLst>
          </p:cNvPr>
          <p:cNvSpPr/>
          <p:nvPr/>
        </p:nvSpPr>
        <p:spPr>
          <a:xfrm>
            <a:off x="2114635" y="4412827"/>
            <a:ext cx="1489956" cy="2689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EU형 </a:t>
            </a:r>
            <a:r>
              <a:rPr lang="ko-KR" alt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안전장치</a:t>
            </a:r>
            <a:endParaRPr lang="ko-KR" altLang="en-US" sz="1100" b="1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B99FC289-A336-ACAF-1D8F-4908F3E81FEE}"/>
              </a:ext>
            </a:extLst>
          </p:cNvPr>
          <p:cNvSpPr/>
          <p:nvPr/>
        </p:nvSpPr>
        <p:spPr>
          <a:xfrm>
            <a:off x="10524744" y="374904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F1F5FA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6A59BACE-8DE4-47BE-8681-3EA715597A38}"/>
              </a:ext>
            </a:extLst>
          </p:cNvPr>
          <p:cNvSpPr/>
          <p:nvPr/>
        </p:nvSpPr>
        <p:spPr>
          <a:xfrm>
            <a:off x="10513568" y="41605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ko-KR" altLang="en-US" sz="900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고려대학고 기술경영전문대학원</a:t>
            </a:r>
            <a:endParaRPr lang="en-US" altLang="ko-KR" sz="900" dirty="0">
              <a:solidFill>
                <a:srgbClr val="5A6B8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lnSpc>
                <a:spcPct val="95000"/>
              </a:lnSpc>
              <a:buNone/>
            </a:pPr>
            <a:endParaRPr lang="en-US" altLang="ko-KR" sz="800" b="1" dirty="0">
              <a:solidFill>
                <a:srgbClr val="5A6B8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ko-KR" altLang="en-US" sz="1200" b="1" dirty="0">
                <a:solidFill>
                  <a:srgbClr val="5A6B82"/>
                </a:solidFill>
                <a:latin typeface="Malgun Gothic" pitchFamily="34" charset="0"/>
                <a:ea typeface="Malgun Gothic" pitchFamily="34" charset="-122"/>
              </a:rPr>
              <a:t>성기훈</a:t>
            </a:r>
            <a:endParaRPr lang="en-US" sz="1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316</Words>
  <Application>Microsoft Office PowerPoint</Application>
  <PresentationFormat>와이드스크린</PresentationFormat>
  <Paragraphs>42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규제영향 비교 및 한국 정책 제언</dc:title>
  <dc:subject>PptxGenJS Presentation</dc:subject>
  <dc:creator>Shannon</dc:creator>
  <cp:lastModifiedBy>승희 김</cp:lastModifiedBy>
  <cp:revision>7</cp:revision>
  <dcterms:created xsi:type="dcterms:W3CDTF">2026-06-10T15:27:36Z</dcterms:created>
  <dcterms:modified xsi:type="dcterms:W3CDTF">2026-06-11T06:31:06Z</dcterms:modified>
</cp:coreProperties>
</file>