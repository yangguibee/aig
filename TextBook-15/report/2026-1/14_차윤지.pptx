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71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791211-463D-4AF0-458D-020C98A933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A58657C-046C-3AC6-DA81-1A757A6D2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F1DEB1-E6AB-7566-9B0A-0319C8186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3184E-25A3-4E08-8949-A10BA2429E9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1A212-A9F6-8C70-F593-641B16616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592078-A55D-235E-ED30-30FE322A3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38BDE-160A-4CD9-B1C0-5C99428286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2380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A36B72-DD1A-B04A-7899-AF61446D6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529BD6-25F9-5CD2-7080-D833C9133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23B535-36D8-97C6-4D14-0162AFFDB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3184E-25A3-4E08-8949-A10BA2429E9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EBCDF4-1F29-57FE-B370-022FCFB5D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7E309A-6474-B707-6F39-55774589B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38BDE-160A-4CD9-B1C0-5C99428286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463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BA72D2-7262-C882-763E-152201C64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355D8F8-1F01-3861-0752-4B05922A0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CB8810-7447-067B-3F25-895E17064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3184E-25A3-4E08-8949-A10BA2429E9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5717AB-A0BD-99F7-76B2-D1BF24EE0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BA9A63-0DEA-5669-C9F6-1C50992E8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38BDE-160A-4CD9-B1C0-5C99428286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4247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8751C-6942-868F-0AC9-686094045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944DE8-C06B-C221-11DA-C2835D06F4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E0C4FF-48AD-B80C-0C6F-1832DDA555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F1425E-B4C8-8536-0046-E0356D978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3184E-25A3-4E08-8949-A10BA2429E9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10E167-5E5C-5B03-8334-B6F121182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B8B68D-02AF-1ECB-C31D-4B7F84D96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38BDE-160A-4CD9-B1C0-5C99428286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6802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BCC191-E73D-B71C-6EB0-4F28CD17D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F06238-55F8-507E-10E3-1CE8097D9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4B0EC32-BC9D-A31A-E7DD-2F9EE24D79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9BC682E-7BD1-66AD-03E2-EB1B8CFDEF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3BA439B-3CFB-8DAE-B4E4-ED3BBE4B58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E109B2A-1FAF-3630-B4D4-866F3E003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3184E-25A3-4E08-8949-A10BA2429E9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24AD660-10EB-E5FA-9B94-EC51307E2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20C7D8C-6384-4807-E398-928958009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38BDE-160A-4CD9-B1C0-5C99428286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7082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1B62D5-8F61-531F-DA7A-F627E676D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7DBF14C-57B9-F9EE-C099-09E63EA6B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3184E-25A3-4E08-8949-A10BA2429E9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6A19979-6D97-FB6E-46BE-5C301856A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AEDECD-C676-A9CF-E7F6-62EEBD5BA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38BDE-160A-4CD9-B1C0-5C99428286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303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7271244-FFE5-BC85-5E8F-AC9B9FA3C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3184E-25A3-4E08-8949-A10BA2429E9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75CB466-087E-7E30-3295-52CD799F6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17E418-9141-EA56-84DF-7909541BB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38BDE-160A-4CD9-B1C0-5C99428286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2737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969E3B-4A73-2834-C77A-1FE9A9451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E0116C-2140-5F93-61B2-FEE9DDC50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A382247-F7A3-03B9-0E01-58FF1D17D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2514A1-225F-A8B8-DF0A-2BC616BBE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3184E-25A3-4E08-8949-A10BA2429E9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AD261E-94FC-06C9-28A1-608A89422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D5403F-8C03-2EBE-4F84-6E7616643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38BDE-160A-4CD9-B1C0-5C99428286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5009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93BC7C-CD7E-182D-9E65-DC7B9B044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1253DAA-76E1-E710-4491-9B8F77B75A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9C6E80-44C0-D1E4-82AC-FDA5D1593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B3AB02-6DF2-38DC-CF67-B1FB2AD01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3184E-25A3-4E08-8949-A10BA2429E9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FAE039-4EF3-B558-B16B-06ECFDEE4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B7C1BC-88EB-C125-AC91-6868FC8A9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38BDE-160A-4CD9-B1C0-5C99428286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110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F11B50-EEFB-671A-CEBF-7571A4559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42D9127-52D7-2A39-E185-F9F7EDA883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E0BE73-AABB-511A-E693-DFA09086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3184E-25A3-4E08-8949-A10BA2429E9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0E880B-A85D-95B9-9E6A-79981C0CF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B69BA0-6BBF-3ACD-33DA-DF116B202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38BDE-160A-4CD9-B1C0-5C99428286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438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11EB113-C223-F77A-93C7-5CEE128F35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0B84C23-88C2-C089-4965-49EBB81F73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AE3AB0-3E37-E72D-C3C1-4B8245A74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3184E-25A3-4E08-8949-A10BA2429E9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BE6013-EFB4-764E-64D6-FC1F0AD88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2335B2-4E76-6362-6F41-B2798BCD3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F38BDE-160A-4CD9-B1C0-5C99428286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0153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E8870AD-E732-5CB8-B981-B40F5E126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0762B0A-8B57-3515-D6B5-0F51D783E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B98564-1946-469B-1D44-866969DAD3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E3184E-25A3-4E08-8949-A10BA2429E9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252F51-68EC-F1D9-09DD-246A6C52CA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DE30EF-7611-174F-DB34-31C8BD8FFA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38BDE-160A-4CD9-B1C0-5C99428286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020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B9012AD-BDD8-0A47-18CC-B8E2BED7D22C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FDFC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3A4A10B-4ED9-5548-C7D1-7ACA3E234323}"/>
              </a:ext>
            </a:extLst>
          </p:cNvPr>
          <p:cNvSpPr/>
          <p:nvPr/>
        </p:nvSpPr>
        <p:spPr>
          <a:xfrm>
            <a:off x="0" y="-1"/>
            <a:ext cx="12192000" cy="1150375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F26BCA-8617-B372-6CE2-C6FBB4E1241E}"/>
              </a:ext>
            </a:extLst>
          </p:cNvPr>
          <p:cNvSpPr txBox="1"/>
          <p:nvPr/>
        </p:nvSpPr>
        <p:spPr>
          <a:xfrm>
            <a:off x="237178" y="313576"/>
            <a:ext cx="78935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FDFCF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AI </a:t>
            </a:r>
            <a:r>
              <a:rPr lang="ko-KR" altLang="en-US" sz="2800" b="1" dirty="0">
                <a:solidFill>
                  <a:srgbClr val="FDFCF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생성물 투명성 규범의 합리화 방안에 대한 연구</a:t>
            </a:r>
            <a:endParaRPr lang="en-US" altLang="ko-KR" sz="2800" b="1" dirty="0">
              <a:solidFill>
                <a:srgbClr val="FDFCF9"/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A6D8C8-0760-836C-0372-C77D92FA2330}"/>
              </a:ext>
            </a:extLst>
          </p:cNvPr>
          <p:cNvSpPr txBox="1"/>
          <p:nvPr/>
        </p:nvSpPr>
        <p:spPr>
          <a:xfrm>
            <a:off x="237178" y="1402395"/>
            <a:ext cx="5313230" cy="1146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▶ 개요</a:t>
            </a:r>
            <a:endParaRPr lang="en-US" altLang="ko-KR" sz="1400" b="1" dirty="0">
              <a:solidFill>
                <a:schemeClr val="tx2">
                  <a:lumMod val="50000"/>
                </a:schemeClr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endParaRPr lang="en-US" altLang="ko-KR" sz="1050" b="0" dirty="0">
              <a:solidFill>
                <a:schemeClr val="tx2">
                  <a:lumMod val="50000"/>
                </a:schemeClr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05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생성형 </a:t>
            </a:r>
            <a:r>
              <a:rPr lang="en-US" altLang="ko-KR" sz="105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AI </a:t>
            </a:r>
            <a:r>
              <a:rPr lang="ko-KR" altLang="en-US" sz="105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기술의 발전 </a:t>
            </a:r>
            <a:r>
              <a:rPr lang="en-US" altLang="ko-KR" sz="105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&gt; </a:t>
            </a:r>
            <a:r>
              <a:rPr lang="ko-KR" altLang="en-US" sz="1050" b="0" dirty="0" err="1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딥페이크</a:t>
            </a:r>
            <a:r>
              <a:rPr lang="ko-KR" altLang="en-US" sz="105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확산</a:t>
            </a:r>
            <a:r>
              <a:rPr lang="en-US" altLang="ko-KR" sz="105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05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저작권 침해 등 사회적 문제 발생</a:t>
            </a:r>
            <a:endParaRPr lang="en-US" altLang="ko-KR" sz="1050" b="0" dirty="0">
              <a:solidFill>
                <a:schemeClr val="tx2">
                  <a:lumMod val="50000"/>
                </a:schemeClr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05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주요 국가별 규제 체계를 비교 분석</a:t>
            </a:r>
            <a:endParaRPr lang="en-US" altLang="ko-KR" sz="1050" b="0" dirty="0">
              <a:solidFill>
                <a:schemeClr val="tx2">
                  <a:lumMod val="50000"/>
                </a:schemeClr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AI </a:t>
            </a:r>
            <a:r>
              <a:rPr lang="ko-KR" altLang="en-US" sz="105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생성물 표시 의무</a:t>
            </a:r>
            <a:r>
              <a:rPr lang="en-US" altLang="ko-KR" sz="105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05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및 </a:t>
            </a:r>
            <a:r>
              <a:rPr lang="en-US" altLang="ko-KR" sz="105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AI </a:t>
            </a:r>
            <a:r>
              <a:rPr lang="ko-KR" altLang="en-US" sz="105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학습데이터 설명 의무의 문제점 분석 및 자율규제 방안 제시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412ED8C-71C0-D00E-8B66-5F54DB5FF1E1}"/>
              </a:ext>
            </a:extLst>
          </p:cNvPr>
          <p:cNvCxnSpPr>
            <a:cxnSpLocks/>
          </p:cNvCxnSpPr>
          <p:nvPr/>
        </p:nvCxnSpPr>
        <p:spPr>
          <a:xfrm>
            <a:off x="6096000" y="1402395"/>
            <a:ext cx="0" cy="5263581"/>
          </a:xfrm>
          <a:prstGeom prst="line">
            <a:avLst/>
          </a:prstGeom>
          <a:ln w="19050">
            <a:solidFill>
              <a:schemeClr val="tx2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C49DFBA-38D5-B6FC-AA59-F7058607A786}"/>
              </a:ext>
            </a:extLst>
          </p:cNvPr>
          <p:cNvSpPr txBox="1"/>
          <p:nvPr/>
        </p:nvSpPr>
        <p:spPr>
          <a:xfrm>
            <a:off x="6333177" y="1402395"/>
            <a:ext cx="5313230" cy="1146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▶ 기업의 규제 대응 및 자율규제 방안</a:t>
            </a:r>
            <a:endParaRPr lang="en-US" altLang="ko-KR" sz="1400" b="1" dirty="0">
              <a:solidFill>
                <a:schemeClr val="tx2">
                  <a:lumMod val="50000"/>
                </a:schemeClr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endParaRPr lang="en-US" altLang="ko-KR" sz="1050" b="0" dirty="0">
              <a:solidFill>
                <a:schemeClr val="tx2">
                  <a:lumMod val="50000"/>
                </a:schemeClr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주요 기업의 자율규제 확대</a:t>
            </a:r>
            <a:endParaRPr lang="en-US" altLang="ko-KR" sz="105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문제점 </a:t>
            </a:r>
            <a:r>
              <a:rPr lang="en-US" altLang="ko-KR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기업별 상이한 기준</a:t>
            </a:r>
            <a:r>
              <a:rPr lang="en-US" altLang="ko-KR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국가별 규제와 충돌 가능</a:t>
            </a:r>
            <a:r>
              <a:rPr lang="en-US" altLang="ko-KR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학습데이터 공개 기준 부재</a:t>
            </a: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개선 방향 </a:t>
            </a:r>
            <a:r>
              <a:rPr lang="en-US" altLang="ko-KR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표준화된 표시 기술</a:t>
            </a:r>
            <a:r>
              <a:rPr lang="en-US" altLang="ko-KR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인증 체계 구축</a:t>
            </a:r>
            <a:r>
              <a:rPr lang="en-US" altLang="ko-KR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협력적 거버넌스 체계</a:t>
            </a:r>
            <a:endParaRPr lang="en-US" altLang="ko-KR" sz="105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5F93CF-04B1-DF35-CC77-2ABD3B78E572}"/>
              </a:ext>
            </a:extLst>
          </p:cNvPr>
          <p:cNvSpPr txBox="1"/>
          <p:nvPr/>
        </p:nvSpPr>
        <p:spPr>
          <a:xfrm>
            <a:off x="8800639" y="892417"/>
            <a:ext cx="33922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800" dirty="0">
                <a:solidFill>
                  <a:srgbClr val="FDFCF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2025</a:t>
            </a:r>
            <a:r>
              <a:rPr lang="ko-KR" altLang="en-US" sz="800" dirty="0">
                <a:solidFill>
                  <a:srgbClr val="FDFCF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년 </a:t>
            </a:r>
            <a:r>
              <a:rPr lang="en-US" altLang="ko-KR" sz="800" dirty="0">
                <a:solidFill>
                  <a:srgbClr val="FDFCF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2</a:t>
            </a:r>
            <a:r>
              <a:rPr lang="ko-KR" altLang="en-US" sz="800" dirty="0">
                <a:solidFill>
                  <a:srgbClr val="FDFCF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월 서울과학기술대학교 </a:t>
            </a:r>
            <a:r>
              <a:rPr lang="en-US" altLang="ko-KR" sz="800" dirty="0">
                <a:solidFill>
                  <a:srgbClr val="FDFCF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IT</a:t>
            </a:r>
            <a:r>
              <a:rPr lang="ko-KR" altLang="en-US" sz="800" dirty="0">
                <a:solidFill>
                  <a:srgbClr val="FDFCF9"/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정책전문대학원 박명순 박사학위논문</a:t>
            </a:r>
            <a:endParaRPr lang="en-US" altLang="ko-KR" sz="800" dirty="0">
              <a:solidFill>
                <a:srgbClr val="FDFCF9"/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DE7417-729A-3FD8-0B8A-977A3A78925E}"/>
              </a:ext>
            </a:extLst>
          </p:cNvPr>
          <p:cNvSpPr txBox="1"/>
          <p:nvPr/>
        </p:nvSpPr>
        <p:spPr>
          <a:xfrm>
            <a:off x="237178" y="2800948"/>
            <a:ext cx="5313230" cy="904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▶ </a:t>
            </a:r>
            <a:r>
              <a:rPr lang="en-US" altLang="ko-KR" sz="1400" b="1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AI </a:t>
            </a: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생성물 투명성 규범</a:t>
            </a:r>
            <a:endParaRPr lang="en-US" altLang="ko-KR" sz="1400" b="1" dirty="0">
              <a:solidFill>
                <a:schemeClr val="tx2">
                  <a:lumMod val="50000"/>
                </a:schemeClr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endParaRPr lang="en-US" altLang="ko-KR" sz="1050" b="0" dirty="0">
              <a:solidFill>
                <a:schemeClr val="tx2">
                  <a:lumMod val="50000"/>
                </a:schemeClr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AI </a:t>
            </a:r>
            <a:r>
              <a:rPr lang="ko-KR" altLang="en-US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생성 과정의 신뢰성을 확보하기 위해 마련된 제도</a:t>
            </a:r>
            <a:endParaRPr lang="en-US" altLang="ko-KR" sz="105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</a:t>
            </a:r>
            <a:r>
              <a:rPr lang="ko-KR" altLang="en-US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en-US" altLang="ko-KR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EU : </a:t>
            </a:r>
            <a:r>
              <a:rPr lang="ko-KR" altLang="en-US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강한 법적 규제 </a:t>
            </a:r>
            <a:r>
              <a:rPr lang="en-US" altLang="ko-KR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/ </a:t>
            </a:r>
            <a:r>
              <a:rPr lang="ko-KR" altLang="en-US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미국</a:t>
            </a:r>
            <a:r>
              <a:rPr lang="en-US" altLang="ko-KR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·</a:t>
            </a:r>
            <a:r>
              <a:rPr lang="ko-KR" altLang="en-US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한국 </a:t>
            </a:r>
            <a:r>
              <a:rPr lang="en-US" altLang="ko-KR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자율규제 중심</a:t>
            </a:r>
            <a:endParaRPr lang="ko-KR" altLang="en-US" sz="1050" b="0" dirty="0">
              <a:solidFill>
                <a:schemeClr val="tx2">
                  <a:lumMod val="50000"/>
                </a:schemeClr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C1D4B5-2829-E599-AA28-2F83DD7622BA}"/>
              </a:ext>
            </a:extLst>
          </p:cNvPr>
          <p:cNvSpPr txBox="1"/>
          <p:nvPr/>
        </p:nvSpPr>
        <p:spPr>
          <a:xfrm>
            <a:off x="237178" y="3957127"/>
            <a:ext cx="5313230" cy="904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▶ </a:t>
            </a:r>
            <a:r>
              <a:rPr lang="en-US" altLang="ko-KR" sz="1400" b="1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AI </a:t>
            </a: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생성물 표시 의무</a:t>
            </a:r>
            <a:endParaRPr lang="en-US" altLang="ko-KR" sz="1400" b="1" dirty="0">
              <a:solidFill>
                <a:schemeClr val="tx2">
                  <a:lumMod val="50000"/>
                </a:schemeClr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endParaRPr lang="en-US" altLang="ko-KR" sz="1050" b="0" dirty="0">
              <a:solidFill>
                <a:schemeClr val="tx2">
                  <a:lumMod val="50000"/>
                </a:schemeClr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050" dirty="0"/>
              <a:t>주요 기업들의</a:t>
            </a:r>
            <a:r>
              <a:rPr lang="en-US" altLang="ko-KR" sz="1050" dirty="0"/>
              <a:t> </a:t>
            </a:r>
            <a:r>
              <a:rPr lang="ko-KR" altLang="en-US" sz="1050" dirty="0" err="1"/>
              <a:t>워터마킹</a:t>
            </a:r>
            <a:r>
              <a:rPr lang="ko-KR" altLang="en-US" sz="1050" dirty="0"/>
              <a:t> 기술 활용</a:t>
            </a:r>
            <a:endParaRPr lang="en-US" altLang="ko-KR" sz="1050" dirty="0"/>
          </a:p>
          <a:p>
            <a:pPr>
              <a:lnSpc>
                <a:spcPct val="150000"/>
              </a:lnSpc>
            </a:pPr>
            <a:r>
              <a:rPr lang="en-US" altLang="ko-KR" sz="105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05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문제점 </a:t>
            </a:r>
            <a:r>
              <a:rPr lang="en-US" altLang="ko-KR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050" dirty="0"/>
              <a:t>기업별 상이한 적용 방식</a:t>
            </a:r>
            <a:r>
              <a:rPr lang="en-US" altLang="ko-KR" sz="1050" dirty="0"/>
              <a:t>, </a:t>
            </a:r>
            <a:r>
              <a:rPr lang="ko-KR" altLang="en-US" sz="1050" dirty="0"/>
              <a:t>생성물 유형별 표준 부재</a:t>
            </a:r>
            <a:r>
              <a:rPr lang="en-US" altLang="ko-KR" sz="1050" dirty="0"/>
              <a:t>, </a:t>
            </a:r>
            <a:r>
              <a:rPr lang="ko-KR" altLang="en-US" sz="1050" dirty="0" err="1"/>
              <a:t>워터마킹</a:t>
            </a:r>
            <a:r>
              <a:rPr lang="ko-KR" altLang="en-US" sz="1050" dirty="0"/>
              <a:t> 훼손</a:t>
            </a:r>
            <a:r>
              <a:rPr lang="en-US" altLang="ko-KR" sz="1050" dirty="0"/>
              <a:t> </a:t>
            </a:r>
            <a:r>
              <a:rPr lang="ko-KR" altLang="en-US" sz="1050" dirty="0"/>
              <a:t>가능성</a:t>
            </a:r>
            <a:endParaRPr lang="ko-KR" altLang="en-US" sz="1050" b="0" dirty="0">
              <a:solidFill>
                <a:schemeClr val="tx2">
                  <a:lumMod val="50000"/>
                </a:schemeClr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D180DD-F27D-47CE-D5CB-22A535A9DFB9}"/>
              </a:ext>
            </a:extLst>
          </p:cNvPr>
          <p:cNvSpPr txBox="1"/>
          <p:nvPr/>
        </p:nvSpPr>
        <p:spPr>
          <a:xfrm>
            <a:off x="236264" y="5113947"/>
            <a:ext cx="5313230" cy="904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▶ </a:t>
            </a:r>
            <a:r>
              <a:rPr lang="en-US" altLang="ko-KR" sz="1400" b="1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AI </a:t>
            </a: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학습데이터 설명 의무</a:t>
            </a:r>
            <a:endParaRPr lang="en-US" altLang="ko-KR" sz="1400" b="1" dirty="0">
              <a:solidFill>
                <a:schemeClr val="tx2">
                  <a:lumMod val="50000"/>
                </a:schemeClr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endParaRPr lang="en-US" altLang="ko-KR" sz="1050" b="0" dirty="0">
              <a:solidFill>
                <a:schemeClr val="tx2">
                  <a:lumMod val="50000"/>
                </a:schemeClr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05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문제점 </a:t>
            </a:r>
            <a:r>
              <a:rPr lang="en-US" altLang="ko-KR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공개 범위 기준 불명확</a:t>
            </a:r>
            <a:r>
              <a:rPr lang="en-US" altLang="ko-KR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기업의 영업비밀 침해</a:t>
            </a:r>
            <a:r>
              <a:rPr lang="en-US" altLang="ko-KR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및</a:t>
            </a:r>
            <a:r>
              <a:rPr lang="en-US" altLang="ko-KR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경쟁력 약화</a:t>
            </a:r>
            <a:endParaRPr lang="en-US" altLang="ko-KR" sz="105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05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개선 방향 </a:t>
            </a:r>
            <a:r>
              <a:rPr lang="en-US" altLang="ko-KR" sz="105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05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유형별 공개 기준 마련</a:t>
            </a:r>
            <a:r>
              <a:rPr lang="en-US" altLang="ko-KR" sz="105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05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정부</a:t>
            </a:r>
            <a:r>
              <a:rPr lang="en-US" altLang="ko-KR" sz="105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·</a:t>
            </a:r>
            <a:r>
              <a:rPr lang="ko-KR" altLang="en-US" sz="105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기업</a:t>
            </a:r>
            <a:r>
              <a:rPr lang="en-US" altLang="ko-KR" sz="105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050" b="0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협력 체계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3D2C27-E7DE-AD6F-F161-071862E3C7CC}"/>
              </a:ext>
            </a:extLst>
          </p:cNvPr>
          <p:cNvSpPr txBox="1"/>
          <p:nvPr/>
        </p:nvSpPr>
        <p:spPr>
          <a:xfrm>
            <a:off x="6333177" y="3043322"/>
            <a:ext cx="5313230" cy="904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▶ 연구 결과</a:t>
            </a:r>
            <a:endParaRPr lang="en-US" altLang="ko-KR" sz="1400" b="1" dirty="0">
              <a:solidFill>
                <a:schemeClr val="tx2">
                  <a:lumMod val="50000"/>
                </a:schemeClr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endParaRPr lang="en-US" altLang="ko-KR" sz="1050" b="0" dirty="0">
              <a:solidFill>
                <a:schemeClr val="tx2">
                  <a:lumMod val="50000"/>
                </a:schemeClr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AI </a:t>
            </a:r>
            <a:r>
              <a:rPr lang="ko-KR" altLang="en-US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생성물 표시 의무 및 학습데이터 설명 의무 한계 존재</a:t>
            </a: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개선 방향 </a:t>
            </a:r>
            <a:r>
              <a:rPr lang="en-US" altLang="ko-KR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공적 규제 </a:t>
            </a:r>
            <a:r>
              <a:rPr lang="en-US" altLang="ko-KR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+ </a:t>
            </a:r>
            <a:r>
              <a:rPr lang="ko-KR" altLang="en-US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자율규제 병행</a:t>
            </a:r>
            <a:endParaRPr lang="en-US" altLang="ko-KR" sz="105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9AC363-5198-1BBE-C848-940105105CA7}"/>
              </a:ext>
            </a:extLst>
          </p:cNvPr>
          <p:cNvSpPr txBox="1"/>
          <p:nvPr/>
        </p:nvSpPr>
        <p:spPr>
          <a:xfrm>
            <a:off x="6333177" y="4199501"/>
            <a:ext cx="5313230" cy="255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25"/>
              </a:lnSpc>
            </a:pPr>
            <a:r>
              <a:rPr lang="en-US" altLang="ko-KR" sz="1100" b="1" i="1" u="sng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“</a:t>
            </a:r>
            <a:r>
              <a:rPr lang="ko-KR" altLang="en-US" sz="1100" b="1" i="1" u="sng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공적 규제와 자율규제의 병행이 필요하다</a:t>
            </a:r>
            <a:r>
              <a:rPr lang="en-US" altLang="ko-KR" sz="1100" b="1" i="1" u="sng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”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C87D4F-4555-9F40-ADA0-4A7DAA04CC65}"/>
              </a:ext>
            </a:extLst>
          </p:cNvPr>
          <p:cNvSpPr txBox="1"/>
          <p:nvPr/>
        </p:nvSpPr>
        <p:spPr>
          <a:xfrm>
            <a:off x="6333177" y="4707105"/>
            <a:ext cx="5313230" cy="1388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  <a:effectLst/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▶ 논문 평가</a:t>
            </a:r>
            <a:endParaRPr lang="en-US" altLang="ko-KR" sz="1400" b="1" dirty="0">
              <a:solidFill>
                <a:schemeClr val="tx2">
                  <a:lumMod val="50000"/>
                </a:schemeClr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ts val="1425"/>
              </a:lnSpc>
            </a:pPr>
            <a:endParaRPr lang="en-US" altLang="ko-KR" sz="1050" b="0" dirty="0">
              <a:solidFill>
                <a:schemeClr val="tx2">
                  <a:lumMod val="50000"/>
                </a:schemeClr>
              </a:solidFill>
              <a:effectLst/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EU·</a:t>
            </a:r>
            <a:r>
              <a:rPr lang="ko-KR" altLang="en-US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미국</a:t>
            </a:r>
            <a:r>
              <a:rPr lang="en-US" altLang="ko-KR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·</a:t>
            </a:r>
            <a:r>
              <a:rPr lang="ko-KR" altLang="en-US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중국</a:t>
            </a:r>
            <a:r>
              <a:rPr lang="en-US" altLang="ko-KR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·</a:t>
            </a:r>
            <a:r>
              <a:rPr lang="ko-KR" altLang="en-US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한국 규제 비교</a:t>
            </a: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표시 의무</a:t>
            </a:r>
            <a:r>
              <a:rPr lang="en-US" altLang="ko-KR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·</a:t>
            </a:r>
            <a:r>
              <a:rPr lang="ko-KR" altLang="en-US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설명 의무 분석 및 체계화</a:t>
            </a: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정부 규제 </a:t>
            </a:r>
            <a:r>
              <a:rPr lang="en-US" altLang="ko-KR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+ </a:t>
            </a:r>
            <a:r>
              <a:rPr lang="ko-KR" altLang="en-US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자율규제 균형이라는 현실적인 해결 방향 제시</a:t>
            </a:r>
          </a:p>
          <a:p>
            <a:pPr>
              <a:lnSpc>
                <a:spcPct val="150000"/>
              </a:lnSpc>
            </a:pPr>
            <a:r>
              <a:rPr lang="en-US" altLang="ko-KR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- </a:t>
            </a:r>
            <a:r>
              <a:rPr lang="ko-KR" altLang="en-US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한계 </a:t>
            </a:r>
            <a:r>
              <a:rPr lang="en-US" altLang="ko-KR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실제 사례 검증 부족 </a:t>
            </a:r>
            <a:r>
              <a:rPr lang="en-US" altLang="ko-KR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/ </a:t>
            </a:r>
            <a:r>
              <a:rPr lang="ko-KR" altLang="en-US" sz="1050" dirty="0">
                <a:solidFill>
                  <a:schemeClr val="tx2">
                    <a:lumMod val="50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지속적인 후속 연구 필요</a:t>
            </a:r>
            <a:endParaRPr lang="en-US" altLang="ko-KR" sz="1050" dirty="0">
              <a:solidFill>
                <a:schemeClr val="tx2">
                  <a:lumMod val="50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5749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261</Words>
  <Application>Microsoft Office PowerPoint</Application>
  <PresentationFormat>와이드스크린</PresentationFormat>
  <Paragraphs>35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함초롬돋움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윤지 차</dc:creator>
  <cp:lastModifiedBy>윤지 차</cp:lastModifiedBy>
  <cp:revision>26</cp:revision>
  <dcterms:created xsi:type="dcterms:W3CDTF">2026-06-10T17:33:05Z</dcterms:created>
  <dcterms:modified xsi:type="dcterms:W3CDTF">2026-06-10T18:50:41Z</dcterms:modified>
</cp:coreProperties>
</file>