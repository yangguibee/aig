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>
            <a:extLst>
              <a:ext uri="{FF2B5EF4-FFF2-40B4-BE49-F238E27FC236}">
                <a16:creationId xmlns:a16="http://schemas.microsoft.com/office/drawing/2014/main" id="{5FD43E46-8ADF-4813-B6D3-234C7E6DD8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E4CC5DA-44C9-4AAC-89F5-221351A56E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2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166F37-E6BA-4B97-B934-DA5AB880B9BA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66675" cy="6858000"/>
          </a:xfrm>
          <a:prstGeom prst="rect">
            <a:avLst/>
          </a:prstGeom>
          <a:solidFill>
            <a:srgbClr val="C58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66F9DAFC-CA8B-49FF-8CD5-2BD8DC66FD0B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58B2A"/>
                </a:solidFill>
                <a:latin typeface="Malgun Gothic"/>
                <a:ea typeface="Malgun Gothic"/>
                <a:cs typeface="Malgun Gothic"/>
              </a:defRPr>
            </a:pPr>
            <a:endParaRPr sz="1200" b="1" dirty="0">
              <a:solidFill>
                <a:srgbClr val="C58B2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F77B57-DE18-4030-833F-78EAF83C97E6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73342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AI 규제 샌드박스의 재정의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9F3E59-56A3-4EBC-96E3-0EB2E5A4258A}"/>
              </a:ext>
            </a:extLst>
          </p:cNvPr>
          <p:cNvSpPr>
            <a:spLocks noGrp="1"/>
          </p:cNvSpPr>
          <p:nvPr/>
        </p:nvSpPr>
        <p:spPr>
          <a:xfrm>
            <a:off x="514350" y="1057275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4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706B"/>
                </a:solidFill>
                <a:latin typeface="Malgun Gothic"/>
                <a:ea typeface="Malgun Gothic"/>
                <a:cs typeface="Malgun Gothic"/>
              </a:rPr>
              <a:t>규제 완화에서 위험 기반 검증 인프라로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4C0C1FA-8A80-4621-AA92-4819956DD5E3}"/>
              </a:ext>
            </a:extLst>
          </p:cNvPr>
          <p:cNvSpPr>
            <a:spLocks noGrp="1"/>
          </p:cNvSpPr>
          <p:nvPr/>
        </p:nvSpPr>
        <p:spPr>
          <a:xfrm>
            <a:off x="476250" y="1800225"/>
            <a:ext cx="7239000" cy="647700"/>
          </a:xfrm>
          <a:prstGeom prst="rect">
            <a:avLst/>
          </a:prstGeom>
          <a:solidFill>
            <a:srgbClr val="FFFDF8"/>
          </a:solidFill>
          <a:ln w="9525">
            <a:solidFill>
              <a:srgbClr val="DDD6C7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6800E4-A3E8-4613-A732-1DFD4BA13145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14763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938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 dirty="0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(1</a:t>
            </a:r>
            <a:r>
              <a:rPr lang="en-US" altLang="ko-KR" sz="938" b="1" dirty="0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)</a:t>
            </a:r>
            <a:r>
              <a:rPr sz="938" b="1" dirty="0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00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원논문</a:t>
            </a:r>
            <a:endParaRPr sz="938" b="1" dirty="0">
              <a:solidFill>
                <a:srgbClr val="14213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BF597B2-B960-4253-A69E-E8BACB1B1214}"/>
              </a:ext>
            </a:extLst>
          </p:cNvPr>
          <p:cNvSpPr>
            <a:spLocks noGrp="1"/>
          </p:cNvSpPr>
          <p:nvPr/>
        </p:nvSpPr>
        <p:spPr>
          <a:xfrm>
            <a:off x="495300" y="2628900"/>
            <a:ext cx="2266950" cy="1676400"/>
          </a:xfrm>
          <a:prstGeom prst="rect">
            <a:avLst/>
          </a:prstGeom>
          <a:solidFill>
            <a:srgbClr val="FFFDF8"/>
          </a:solidFill>
          <a:ln w="9525">
            <a:solidFill>
              <a:srgbClr val="DDD6C7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34909F7-AF5E-451A-BFAE-14084EA1DF6F}"/>
              </a:ext>
            </a:extLst>
          </p:cNvPr>
          <p:cNvSpPr>
            <a:spLocks noGrp="1"/>
          </p:cNvSpPr>
          <p:nvPr/>
        </p:nvSpPr>
        <p:spPr>
          <a:xfrm>
            <a:off x="495300" y="2628900"/>
            <a:ext cx="57150" cy="1676400"/>
          </a:xfrm>
          <a:prstGeom prst="rect">
            <a:avLst/>
          </a:prstGeom>
          <a:solidFill>
            <a:srgbClr val="2470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A361714-F9B7-4C52-B7DF-CC5D34405DEE}"/>
              </a:ext>
            </a:extLst>
          </p:cNvPr>
          <p:cNvSpPr>
            <a:spLocks noGrp="1"/>
          </p:cNvSpPr>
          <p:nvPr/>
        </p:nvSpPr>
        <p:spPr>
          <a:xfrm>
            <a:off x="666750" y="275272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24706B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24706B"/>
                </a:solidFill>
                <a:latin typeface="Malgun Gothic"/>
                <a:ea typeface="Malgun Gothic"/>
                <a:cs typeface="Malgun Gothic"/>
              </a:rPr>
              <a:t>(2) 연구 개요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71801C1-DA1C-43D7-9A9D-A5457BA1A44C}"/>
              </a:ext>
            </a:extLst>
          </p:cNvPr>
          <p:cNvSpPr>
            <a:spLocks noGrp="1"/>
          </p:cNvSpPr>
          <p:nvPr/>
        </p:nvSpPr>
        <p:spPr>
          <a:xfrm>
            <a:off x="666750" y="2990850"/>
            <a:ext cx="19240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필요성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한국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제도는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부처·산업별로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분절되고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사후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특례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중심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algn="l">
              <a:defRPr sz="99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목적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: EU AI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Act·디지털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옴니버스와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비교해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한국형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제도화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방안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제시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algn="l">
              <a:defRPr sz="99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절차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: EU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분석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한국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한계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도출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적용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대안</a:t>
            </a:r>
            <a:r>
              <a:rPr sz="990" b="0" dirty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90" b="0" dirty="0" err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설계</a:t>
            </a:r>
            <a:endParaRPr sz="990" b="0" dirty="0">
              <a:solidFill>
                <a:srgbClr val="1F293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479F06C-1879-4033-8032-F290DC26F928}"/>
              </a:ext>
            </a:extLst>
          </p:cNvPr>
          <p:cNvSpPr>
            <a:spLocks noGrp="1"/>
          </p:cNvSpPr>
          <p:nvPr/>
        </p:nvSpPr>
        <p:spPr>
          <a:xfrm>
            <a:off x="2952750" y="2628900"/>
            <a:ext cx="2266950" cy="1676400"/>
          </a:xfrm>
          <a:prstGeom prst="rect">
            <a:avLst/>
          </a:prstGeom>
          <a:solidFill>
            <a:srgbClr val="FFFDF8"/>
          </a:solidFill>
          <a:ln w="9525">
            <a:solidFill>
              <a:srgbClr val="DDD6C7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E27CA9-DEFC-4B70-8F04-584AFD48D7A2}"/>
              </a:ext>
            </a:extLst>
          </p:cNvPr>
          <p:cNvSpPr>
            <a:spLocks noGrp="1"/>
          </p:cNvSpPr>
          <p:nvPr/>
        </p:nvSpPr>
        <p:spPr>
          <a:xfrm>
            <a:off x="2952750" y="2628900"/>
            <a:ext cx="57150" cy="1676400"/>
          </a:xfrm>
          <a:prstGeom prst="rect">
            <a:avLst/>
          </a:prstGeom>
          <a:solidFill>
            <a:srgbClr val="C58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FF2587E-4BC7-4287-993B-813B4C400E82}"/>
              </a:ext>
            </a:extLst>
          </p:cNvPr>
          <p:cNvSpPr>
            <a:spLocks noGrp="1"/>
          </p:cNvSpPr>
          <p:nvPr/>
        </p:nvSpPr>
        <p:spPr>
          <a:xfrm>
            <a:off x="3124200" y="275272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C58B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C58B2A"/>
                </a:solidFill>
                <a:latin typeface="Malgun Gothic"/>
                <a:ea typeface="Malgun Gothic"/>
                <a:cs typeface="Malgun Gothic"/>
              </a:rPr>
              <a:t>(3) 데이터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8455BB8-8DA5-4989-82A0-79CA98AFDB4B}"/>
              </a:ext>
            </a:extLst>
          </p:cNvPr>
          <p:cNvSpPr>
            <a:spLocks noGrp="1"/>
          </p:cNvSpPr>
          <p:nvPr/>
        </p:nvSpPr>
        <p:spPr>
          <a:xfrm>
            <a:off x="3124200" y="2990850"/>
            <a:ext cx="19240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EU AI Act, 디지털 옴니버스, AI regulatory sandbox 문서.</a:t>
            </a:r>
          </a:p>
          <a:p>
            <a:pPr algn="l">
              <a:defRPr sz="99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한국 인공지능기본법·시행령, 개인정보보호법 개정안, 기존 규제 샌드박스 법제.</a:t>
            </a:r>
          </a:p>
          <a:p>
            <a:pPr algn="l">
              <a:defRPr sz="99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OECD·EPRS·선행 법학/정책 연구.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0C903D-D853-42F7-B787-18F54D0A86F4}"/>
              </a:ext>
            </a:extLst>
          </p:cNvPr>
          <p:cNvSpPr>
            <a:spLocks noGrp="1"/>
          </p:cNvSpPr>
          <p:nvPr/>
        </p:nvSpPr>
        <p:spPr>
          <a:xfrm>
            <a:off x="5410200" y="2628900"/>
            <a:ext cx="2324100" cy="1676400"/>
          </a:xfrm>
          <a:prstGeom prst="rect">
            <a:avLst/>
          </a:prstGeom>
          <a:solidFill>
            <a:srgbClr val="FFFDF8"/>
          </a:solidFill>
          <a:ln w="9525">
            <a:solidFill>
              <a:srgbClr val="DDD6C7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7D051AD-7028-4572-AE49-15C4AA85ED07}"/>
              </a:ext>
            </a:extLst>
          </p:cNvPr>
          <p:cNvSpPr>
            <a:spLocks noGrp="1"/>
          </p:cNvSpPr>
          <p:nvPr/>
        </p:nvSpPr>
        <p:spPr>
          <a:xfrm>
            <a:off x="5410200" y="2628900"/>
            <a:ext cx="57150" cy="1676400"/>
          </a:xfrm>
          <a:prstGeom prst="rect">
            <a:avLst/>
          </a:prstGeom>
          <a:solidFill>
            <a:srgbClr val="B5470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86F3DD2-CB97-4CBB-9F7B-CC1D3583BEA2}"/>
              </a:ext>
            </a:extLst>
          </p:cNvPr>
          <p:cNvSpPr>
            <a:spLocks noGrp="1"/>
          </p:cNvSpPr>
          <p:nvPr/>
        </p:nvSpPr>
        <p:spPr>
          <a:xfrm>
            <a:off x="5581650" y="2752725"/>
            <a:ext cx="1981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B54708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B54708"/>
                </a:solidFill>
                <a:latin typeface="Malgun Gothic"/>
                <a:ea typeface="Malgun Gothic"/>
                <a:cs typeface="Malgun Gothic"/>
              </a:rPr>
              <a:t>(4) 분석 방법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719E628-00F2-4D0B-BFAF-682C9056F4F3}"/>
              </a:ext>
            </a:extLst>
          </p:cNvPr>
          <p:cNvSpPr>
            <a:spLocks noGrp="1"/>
          </p:cNvSpPr>
          <p:nvPr/>
        </p:nvSpPr>
        <p:spPr>
          <a:xfrm>
            <a:off x="5581650" y="2990850"/>
            <a:ext cx="19812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문헌·법령 중심의 비교법 분석.</a:t>
            </a:r>
          </a:p>
          <a:p>
            <a:pPr algn="l">
              <a:defRPr sz="99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비교 축: 제도 목적, 적용 대상, 데이터 활용, 감독 방식, 실증 결과의 환류.</a:t>
            </a:r>
          </a:p>
          <a:p>
            <a:pPr algn="l">
              <a:defRPr sz="99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핵심 판단: EU 모델의 직접 이식보다 제도화 변형이 필요.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2B8713F-D08F-4CC2-AD21-80A2BAE9D933}"/>
              </a:ext>
            </a:extLst>
          </p:cNvPr>
          <p:cNvSpPr>
            <a:spLocks noGrp="1"/>
          </p:cNvSpPr>
          <p:nvPr/>
        </p:nvSpPr>
        <p:spPr>
          <a:xfrm>
            <a:off x="8096250" y="400050"/>
            <a:ext cx="3600450" cy="5886450"/>
          </a:xfrm>
          <a:prstGeom prst="rect">
            <a:avLst/>
          </a:prstGeom>
          <a:solidFill>
            <a:srgbClr val="142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901FA58-70B8-487D-A7C3-B64F7BF807A7}"/>
              </a:ext>
            </a:extLst>
          </p:cNvPr>
          <p:cNvSpPr>
            <a:spLocks noGrp="1"/>
          </p:cNvSpPr>
          <p:nvPr/>
        </p:nvSpPr>
        <p:spPr>
          <a:xfrm>
            <a:off x="8382000" y="6667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58B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58B2A"/>
                </a:solidFill>
                <a:latin typeface="Malgun Gothic"/>
                <a:ea typeface="Malgun Gothic"/>
                <a:cs typeface="Malgun Gothic"/>
              </a:rPr>
              <a:t>(5) 결론 중심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D54F138-A57A-49D0-827B-1242C2C753C9}"/>
              </a:ext>
            </a:extLst>
          </p:cNvPr>
          <p:cNvSpPr>
            <a:spLocks noGrp="1"/>
          </p:cNvSpPr>
          <p:nvPr/>
        </p:nvSpPr>
        <p:spPr>
          <a:xfrm>
            <a:off x="8382000" y="11049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논문의 결론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EE65E36-A2B9-47B6-9157-30F4B7D02236}"/>
              </a:ext>
            </a:extLst>
          </p:cNvPr>
          <p:cNvSpPr>
            <a:spLocks noGrp="1"/>
          </p:cNvSpPr>
          <p:nvPr/>
        </p:nvSpPr>
        <p:spPr>
          <a:xfrm>
            <a:off x="8382000" y="1390650"/>
            <a:ext cx="2905125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6D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6DB"/>
                </a:solidFill>
                <a:latin typeface="Malgun Gothic"/>
                <a:ea typeface="Malgun Gothic"/>
                <a:cs typeface="Malgun Gothic"/>
              </a:rPr>
              <a:t>한국 인공지능기본법은 선언적 원칙을 넘어, 고위험 AI를 사전에 검증하고 감독하에 실증하며 그 결과를 감독 기준으로 환류시키는 통합형 샌드박스를 가져야 한다.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BCDA4E23-9ED6-471E-ACE0-A791530D55BA}"/>
              </a:ext>
            </a:extLst>
          </p:cNvPr>
          <p:cNvSpPr>
            <a:spLocks noGrp="1"/>
          </p:cNvSpPr>
          <p:nvPr/>
        </p:nvSpPr>
        <p:spPr>
          <a:xfrm>
            <a:off x="8401050" y="2533650"/>
            <a:ext cx="323850" cy="323850"/>
          </a:xfrm>
          <a:prstGeom prst="ellipse">
            <a:avLst/>
          </a:prstGeom>
          <a:solidFill>
            <a:srgbClr val="C58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CA89B1D-0528-4916-8D4E-2E4D233CA405}"/>
              </a:ext>
            </a:extLst>
          </p:cNvPr>
          <p:cNvSpPr>
            <a:spLocks noGrp="1"/>
          </p:cNvSpPr>
          <p:nvPr/>
        </p:nvSpPr>
        <p:spPr>
          <a:xfrm>
            <a:off x="8401050" y="25908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093A563-A762-4DAA-9B57-B8B34B2655DB}"/>
              </a:ext>
            </a:extLst>
          </p:cNvPr>
          <p:cNvSpPr>
            <a:spLocks noGrp="1"/>
          </p:cNvSpPr>
          <p:nvPr/>
        </p:nvSpPr>
        <p:spPr>
          <a:xfrm>
            <a:off x="8858250" y="252412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사전 검증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EBD2996-ADB4-49C5-8755-54F4DD4DCBEE}"/>
              </a:ext>
            </a:extLst>
          </p:cNvPr>
          <p:cNvSpPr>
            <a:spLocks noGrp="1"/>
          </p:cNvSpPr>
          <p:nvPr/>
        </p:nvSpPr>
        <p:spPr>
          <a:xfrm>
            <a:off x="8858250" y="2733675"/>
            <a:ext cx="2428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D9E3E1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D9E3E1"/>
                </a:solidFill>
                <a:latin typeface="Malgun Gothic"/>
                <a:ea typeface="Malgun Gothic"/>
                <a:cs typeface="Malgun Gothic"/>
              </a:rPr>
              <a:t>규제 요건이 실제 개발·운영에서 이행 가능한지 확인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01A0F5D-426A-4A30-9F2B-A8DC8D9A71D8}"/>
              </a:ext>
            </a:extLst>
          </p:cNvPr>
          <p:cNvSpPr>
            <a:spLocks noGrp="1"/>
          </p:cNvSpPr>
          <p:nvPr/>
        </p:nvSpPr>
        <p:spPr>
          <a:xfrm>
            <a:off x="8401050" y="3086100"/>
            <a:ext cx="323850" cy="323850"/>
          </a:xfrm>
          <a:prstGeom prst="ellipse">
            <a:avLst/>
          </a:prstGeom>
          <a:solidFill>
            <a:srgbClr val="C58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EF6D7FE-424A-4F76-AC7E-ED65FA47D472}"/>
              </a:ext>
            </a:extLst>
          </p:cNvPr>
          <p:cNvSpPr>
            <a:spLocks noGrp="1"/>
          </p:cNvSpPr>
          <p:nvPr/>
        </p:nvSpPr>
        <p:spPr>
          <a:xfrm>
            <a:off x="8401050" y="31432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F51F194-5678-4E5C-821B-39EF1C84D072}"/>
              </a:ext>
            </a:extLst>
          </p:cNvPr>
          <p:cNvSpPr>
            <a:spLocks noGrp="1"/>
          </p:cNvSpPr>
          <p:nvPr/>
        </p:nvSpPr>
        <p:spPr>
          <a:xfrm>
            <a:off x="8858250" y="307657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감독형 실증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6E79D4C-EAFF-48C3-8682-F2BBAB3D68D8}"/>
              </a:ext>
            </a:extLst>
          </p:cNvPr>
          <p:cNvSpPr>
            <a:spLocks noGrp="1"/>
          </p:cNvSpPr>
          <p:nvPr/>
        </p:nvSpPr>
        <p:spPr>
          <a:xfrm>
            <a:off x="8858250" y="3286125"/>
            <a:ext cx="2428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D9E3E1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D9E3E1"/>
                </a:solidFill>
                <a:latin typeface="Malgun Gothic"/>
                <a:ea typeface="Malgun Gothic"/>
                <a:cs typeface="Malgun Gothic"/>
              </a:rPr>
              <a:t>범위·기간·데이터 처리 조건을 제한해 위험 관리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91EAD0B0-68CC-4DD7-9EC8-E21C02E6255E}"/>
              </a:ext>
            </a:extLst>
          </p:cNvPr>
          <p:cNvSpPr>
            <a:spLocks noGrp="1"/>
          </p:cNvSpPr>
          <p:nvPr/>
        </p:nvSpPr>
        <p:spPr>
          <a:xfrm>
            <a:off x="8401050" y="3638550"/>
            <a:ext cx="323850" cy="323850"/>
          </a:xfrm>
          <a:prstGeom prst="ellipse">
            <a:avLst/>
          </a:prstGeom>
          <a:solidFill>
            <a:srgbClr val="C58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6323684-9390-4BF3-903E-7357F1562AC1}"/>
              </a:ext>
            </a:extLst>
          </p:cNvPr>
          <p:cNvSpPr>
            <a:spLocks noGrp="1"/>
          </p:cNvSpPr>
          <p:nvPr/>
        </p:nvSpPr>
        <p:spPr>
          <a:xfrm>
            <a:off x="8401050" y="36957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1AC6935-D2CF-413F-B254-BD9D6C5BF1DF}"/>
              </a:ext>
            </a:extLst>
          </p:cNvPr>
          <p:cNvSpPr>
            <a:spLocks noGrp="1"/>
          </p:cNvSpPr>
          <p:nvPr/>
        </p:nvSpPr>
        <p:spPr>
          <a:xfrm>
            <a:off x="8858250" y="362902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규제 학습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7112E02-154D-4100-9BA6-B5FA93FB7BCF}"/>
              </a:ext>
            </a:extLst>
          </p:cNvPr>
          <p:cNvSpPr>
            <a:spLocks noGrp="1"/>
          </p:cNvSpPr>
          <p:nvPr/>
        </p:nvSpPr>
        <p:spPr>
          <a:xfrm>
            <a:off x="8858250" y="3838575"/>
            <a:ext cx="2428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D9E3E1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D9E3E1"/>
                </a:solidFill>
                <a:latin typeface="Malgun Gothic"/>
                <a:ea typeface="Malgun Gothic"/>
                <a:cs typeface="Malgun Gothic"/>
              </a:rPr>
              <a:t>실증 결과를 하위법령·가이드라인·감독 기준으로 환류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0C86842-1A52-4C1E-952B-7CB631B63977}"/>
              </a:ext>
            </a:extLst>
          </p:cNvPr>
          <p:cNvSpPr>
            <a:spLocks noGrp="1"/>
          </p:cNvSpPr>
          <p:nvPr/>
        </p:nvSpPr>
        <p:spPr>
          <a:xfrm>
            <a:off x="8382000" y="4333875"/>
            <a:ext cx="2952750" cy="1143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6F9DDA0-71D4-49E7-9420-FD1D34954886}"/>
              </a:ext>
            </a:extLst>
          </p:cNvPr>
          <p:cNvSpPr>
            <a:spLocks noGrp="1"/>
          </p:cNvSpPr>
          <p:nvPr/>
        </p:nvSpPr>
        <p:spPr>
          <a:xfrm>
            <a:off x="8382000" y="4524375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58B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 dirty="0" err="1">
                <a:solidFill>
                  <a:srgbClr val="C58B2A"/>
                </a:solidFill>
                <a:latin typeface="Malgun Gothic"/>
                <a:ea typeface="Malgun Gothic"/>
                <a:cs typeface="Malgun Gothic"/>
              </a:rPr>
              <a:t>평가</a:t>
            </a:r>
            <a:endParaRPr sz="1125" b="1" dirty="0">
              <a:solidFill>
                <a:srgbClr val="C58B2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FE7A200-5BFD-4DBC-9C03-7EDDC5222480}"/>
              </a:ext>
            </a:extLst>
          </p:cNvPr>
          <p:cNvSpPr>
            <a:spLocks noGrp="1"/>
          </p:cNvSpPr>
          <p:nvPr/>
        </p:nvSpPr>
        <p:spPr>
          <a:xfrm>
            <a:off x="8382000" y="4772025"/>
            <a:ext cx="29718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53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장점: EU-한국 비교를 통해 샌드박스를 ‘규제 완화’가 아니라 ‘공적 검증 절차’로 재정의한 점이 설득력 있음.</a:t>
            </a:r>
          </a:p>
          <a:p>
            <a:pPr algn="l">
              <a:defRPr sz="953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53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한계: 실제 운영 사례·산업별 효과 검증은 부족하므로 후속 실증 연구가 필요.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C816A3-D157-4C98-A303-F8877D230216}"/>
              </a:ext>
            </a:extLst>
          </p:cNvPr>
          <p:cNvSpPr>
            <a:spLocks noGrp="1"/>
          </p:cNvSpPr>
          <p:nvPr/>
        </p:nvSpPr>
        <p:spPr>
          <a:xfrm>
            <a:off x="1905000" y="1943100"/>
            <a:ext cx="5924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863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인공지능기본법상</a:t>
            </a:r>
            <a:r>
              <a:rPr sz="863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규제</a:t>
            </a:r>
            <a:r>
              <a:rPr sz="863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샌드박스</a:t>
            </a:r>
            <a:r>
              <a:rPr sz="863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제도화</a:t>
            </a:r>
            <a:r>
              <a:rPr sz="863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연구</a:t>
            </a:r>
            <a:r>
              <a:rPr sz="863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 - EU </a:t>
            </a:r>
            <a:r>
              <a:rPr sz="863" b="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인공지능법의</a:t>
            </a:r>
            <a:r>
              <a:rPr sz="863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규제</a:t>
            </a:r>
            <a:r>
              <a:rPr sz="863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샌드박스와</a:t>
            </a:r>
            <a:r>
              <a:rPr sz="863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디지털</a:t>
            </a:r>
            <a:r>
              <a:rPr sz="863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옴니버스를</a:t>
            </a:r>
            <a:r>
              <a:rPr sz="863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중심으</a:t>
            </a:r>
            <a:r>
              <a:rPr lang="ko-KR" altLang="en-US" sz="863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로</a:t>
            </a:r>
            <a:br>
              <a:rPr lang="en-US" sz="863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863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저자 </a:t>
            </a:r>
            <a:r>
              <a:rPr lang="ko-KR" altLang="ko-KR" sz="863" dirty="0"/>
              <a:t>박 지 </a:t>
            </a:r>
            <a:r>
              <a:rPr lang="ko-KR" altLang="ko-KR" sz="863" dirty="0" err="1"/>
              <a:t>현ㆍ이</a:t>
            </a:r>
            <a:r>
              <a:rPr lang="ko-KR" altLang="ko-KR" sz="863" dirty="0"/>
              <a:t> 성 </a:t>
            </a:r>
            <a:r>
              <a:rPr lang="ko-KR" altLang="ko-KR" sz="863" dirty="0" err="1"/>
              <a:t>엽</a:t>
            </a:r>
            <a:endParaRPr sz="863" b="0" dirty="0">
              <a:solidFill>
                <a:srgbClr val="667085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8387999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</Words>
  <Application>Microsoft Office PowerPoint</Application>
  <DocSecurity>0</DocSecurity>
  <PresentationFormat>와이드스크린</PresentationFormat>
  <Paragraphs>31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Malgun Gothic</vt:lpstr>
      <vt:lpstr>Calibri</vt:lpstr>
      <vt:lpstr>ChatGPT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 j</cp:lastModifiedBy>
  <cp:revision>1</cp:revision>
  <dcterms:created xsi:type="dcterms:W3CDTF">2026-06-10T12:59:16Z</dcterms:created>
  <dcterms:modified xsi:type="dcterms:W3CDTF">2026-06-10T13:09:49Z</dcterms:modified>
</cp:coreProperties>
</file>