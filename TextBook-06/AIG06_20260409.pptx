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4" r:id="rId2"/>
    <p:sldId id="326" r:id="rId3"/>
    <p:sldId id="344" r:id="rId4"/>
    <p:sldId id="400" r:id="rId5"/>
    <p:sldId id="345" r:id="rId6"/>
    <p:sldId id="256" r:id="rId7"/>
    <p:sldId id="322" r:id="rId8"/>
    <p:sldId id="290" r:id="rId9"/>
    <p:sldId id="295" r:id="rId10"/>
    <p:sldId id="296" r:id="rId11"/>
    <p:sldId id="298" r:id="rId12"/>
    <p:sldId id="297" r:id="rId13"/>
    <p:sldId id="401" r:id="rId14"/>
    <p:sldId id="404" r:id="rId15"/>
    <p:sldId id="405" r:id="rId16"/>
    <p:sldId id="406" r:id="rId17"/>
    <p:sldId id="407" r:id="rId18"/>
    <p:sldId id="402" r:id="rId19"/>
    <p:sldId id="403" r:id="rId20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85604" autoAdjust="0"/>
  </p:normalViewPr>
  <p:slideViewPr>
    <p:cSldViewPr snapToGrid="0">
      <p:cViewPr varScale="1">
        <p:scale>
          <a:sx n="70" d="100"/>
          <a:sy n="70" d="100"/>
        </p:scale>
        <p:origin x="1166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3" d="100"/>
          <a:sy n="113" d="100"/>
        </p:scale>
        <p:origin x="137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3503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2026-04-06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w.or.kr/common/files/Download.do?cfGroup=COMMON&amp;cfIdx=CF00006744&amp;cfRename=1._260126_&#51064;&#44277;&#51648;&#45733;_&#53804;&#47749;&#49457;_&#54869;&#48372;_&#44032;&#51060;&#46300;&#46972;&#51064;.pdf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hyperlink" Target="https://www.sw.or.kr/common/files/Download.do?cfGroup=COMMON&amp;cfIdx=CF00006748&amp;cfRename=5._260122_&#51064;&#44277;&#51648;&#45733;_&#50689;&#54693;&#54217;&#44032;_&#44032;&#51060;&#46300;&#46972;&#51064;.pd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hyperlink" Target="https://www.sw.or.kr/common/files/Download.do?cfGroup=COMMON&amp;cfIdx=CF00006747&amp;cfRename=4._260122_&#44256;&#50689;&#54693;_&#51064;&#44277;&#51648;&#45733;_&#49324;&#50629;&#51088;_&#52293;&#47924;_&#44032;&#51060;&#46300;&#46972;&#51064;-1.pdf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www.sw.or.kr/common/files/Download.do?cfGroup=COMMON&amp;cfIdx=CF00006746&amp;cfRename=3._260213_&#44256;&#50689;&#54693;_&#51064;&#44277;&#51648;&#45733;_&#54032;&#45800;_&#44032;&#51060;&#46300;&#46972;&#51064;_&#52572;&#51333;_v.4.pdf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www.sw.or.kr/common/files/Download.do?cfGroup=COMMON&amp;cfIdx=CF00006743&amp;cfRename=2._260122_&#51064;&#44277;&#51648;&#45733;_&#50504;&#51204;&#49457;_&#54869;&#48372;_&#44032;&#51060;&#46300;&#46972;&#51064;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rgbClr val="C00000"/>
                </a:solidFill>
              </a:rPr>
              <a:t>제</a:t>
            </a:r>
            <a:r>
              <a:rPr lang="en-US" altLang="ko-KR" sz="3200" b="1">
                <a:solidFill>
                  <a:srgbClr val="C00000"/>
                </a:solidFill>
              </a:rPr>
              <a:t>6</a:t>
            </a:r>
            <a:r>
              <a:rPr lang="ko-KR" altLang="en-US" sz="3200" b="1">
                <a:solidFill>
                  <a:srgbClr val="C00000"/>
                </a:solidFill>
              </a:rPr>
              <a:t>강</a:t>
            </a:r>
            <a:endParaRPr lang="ko-KR" altLang="en-US" sz="3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2866188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315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 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597269" y="2340203"/>
            <a:ext cx="2779781" cy="55355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49E91292-BFDB-6B48-1F08-22D681638468}"/>
              </a:ext>
            </a:extLst>
          </p:cNvPr>
          <p:cNvCxnSpPr>
            <a:cxnSpLocks/>
            <a:stCxn id="5" idx="0"/>
          </p:cNvCxnSpPr>
          <p:nvPr/>
        </p:nvCxnSpPr>
        <p:spPr>
          <a:xfrm rot="16200000" flipH="1">
            <a:off x="3217505" y="1977619"/>
            <a:ext cx="61750" cy="1972326"/>
          </a:xfrm>
          <a:prstGeom prst="curvedConnector4">
            <a:avLst>
              <a:gd name="adj1" fmla="val -370202"/>
              <a:gd name="adj2" fmla="val 6119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2820B1-94F7-DE48-5309-091ACE47F731}"/>
              </a:ext>
            </a:extLst>
          </p:cNvPr>
          <p:cNvSpPr txBox="1"/>
          <p:nvPr/>
        </p:nvSpPr>
        <p:spPr>
          <a:xfrm>
            <a:off x="2873036" y="74232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1</a:t>
            </a:r>
            <a:r>
              <a:rPr lang="ko-KR" altLang="en-US" b="1">
                <a:solidFill>
                  <a:srgbClr val="0000FF"/>
                </a:solidFill>
              </a:rPr>
              <a:t>장 총칙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CDE85A-DABE-A87B-695D-E0F06BCD6FF6}"/>
              </a:ext>
            </a:extLst>
          </p:cNvPr>
          <p:cNvSpPr txBox="1"/>
          <p:nvPr/>
        </p:nvSpPr>
        <p:spPr>
          <a:xfrm>
            <a:off x="138077" y="2932907"/>
            <a:ext cx="42482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2</a:t>
            </a:r>
            <a:r>
              <a:rPr lang="ko-KR" altLang="en-US" b="1">
                <a:solidFill>
                  <a:srgbClr val="0000FF"/>
                </a:solidFill>
              </a:rPr>
              <a:t>장 인공지능의 건전한 발전과 </a:t>
            </a:r>
            <a:endParaRPr lang="en-US" altLang="ko-KR" b="1">
              <a:solidFill>
                <a:srgbClr val="0000FF"/>
              </a:solidFill>
            </a:endParaRPr>
          </a:p>
          <a:p>
            <a:r>
              <a:rPr lang="en-US" altLang="ko-KR" b="1">
                <a:solidFill>
                  <a:srgbClr val="0000FF"/>
                </a:solidFill>
              </a:rPr>
              <a:t>        </a:t>
            </a:r>
            <a:r>
              <a:rPr lang="ko-KR" altLang="en-US" b="1">
                <a:solidFill>
                  <a:srgbClr val="0000FF"/>
                </a:solidFill>
              </a:rPr>
              <a:t>신뢰 기반 조성을 위한 추진체계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E6FA3-3712-A175-349A-7187E4EA5A8D}"/>
              </a:ext>
            </a:extLst>
          </p:cNvPr>
          <p:cNvSpPr txBox="1"/>
          <p:nvPr/>
        </p:nvSpPr>
        <p:spPr>
          <a:xfrm>
            <a:off x="138077" y="3678678"/>
            <a:ext cx="4270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3</a:t>
            </a:r>
            <a:r>
              <a:rPr lang="ko-KR" altLang="en-US" b="1">
                <a:solidFill>
                  <a:srgbClr val="0000FF"/>
                </a:solidFill>
              </a:rPr>
              <a:t>장 인공지능기술 개발 및 산업 육성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CAF9F-FF69-B54F-7772-E056957F1687}"/>
              </a:ext>
            </a:extLst>
          </p:cNvPr>
          <p:cNvSpPr txBox="1"/>
          <p:nvPr/>
        </p:nvSpPr>
        <p:spPr>
          <a:xfrm>
            <a:off x="138077" y="4242468"/>
            <a:ext cx="3332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4</a:t>
            </a:r>
            <a:r>
              <a:rPr lang="ko-KR" altLang="en-US" b="1">
                <a:solidFill>
                  <a:srgbClr val="0000FF"/>
                </a:solidFill>
              </a:rPr>
              <a:t>장 인공지능윤리 및 신뢰성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3E69B-E55E-3E24-C430-087A2B32C9D3}"/>
              </a:ext>
            </a:extLst>
          </p:cNvPr>
          <p:cNvSpPr txBox="1"/>
          <p:nvPr/>
        </p:nvSpPr>
        <p:spPr>
          <a:xfrm>
            <a:off x="138077" y="5217003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5</a:t>
            </a:r>
            <a:r>
              <a:rPr lang="ko-KR" altLang="en-US" b="1">
                <a:solidFill>
                  <a:srgbClr val="0000FF"/>
                </a:solidFill>
              </a:rPr>
              <a:t>장 보칙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195D7-34AC-355D-99B5-55DA0AFBAE09}"/>
              </a:ext>
            </a:extLst>
          </p:cNvPr>
          <p:cNvSpPr txBox="1"/>
          <p:nvPr/>
        </p:nvSpPr>
        <p:spPr>
          <a:xfrm>
            <a:off x="138077" y="6191538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제</a:t>
            </a:r>
            <a:r>
              <a:rPr lang="en-US" altLang="ko-KR" b="1">
                <a:solidFill>
                  <a:srgbClr val="0000FF"/>
                </a:solidFill>
              </a:rPr>
              <a:t>6</a:t>
            </a:r>
            <a:r>
              <a:rPr lang="ko-KR" altLang="en-US" b="1">
                <a:solidFill>
                  <a:srgbClr val="0000FF"/>
                </a:solidFill>
              </a:rPr>
              <a:t>장 벌칙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1D3D65-B774-2765-2C7F-77B1ECFEEFFC}"/>
              </a:ext>
            </a:extLst>
          </p:cNvPr>
          <p:cNvSpPr txBox="1"/>
          <p:nvPr/>
        </p:nvSpPr>
        <p:spPr>
          <a:xfrm>
            <a:off x="4307501" y="668002"/>
            <a:ext cx="297709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목적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정의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기본원칙 및 국가 등의 책무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적용범위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다른 법률과의 관계</a:t>
            </a:r>
            <a:r>
              <a:rPr lang="en-US" altLang="ko-KR" sz="140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8290C-9E16-224D-A4DC-8E26904D4CAE}"/>
              </a:ext>
            </a:extLst>
          </p:cNvPr>
          <p:cNvSpPr txBox="1"/>
          <p:nvPr/>
        </p:nvSpPr>
        <p:spPr>
          <a:xfrm>
            <a:off x="4255788" y="2088590"/>
            <a:ext cx="297709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기본계획의 수립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국가인공지능전략위원회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위원회의 기능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위원의 제척ㆍ기피 및 회피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분과위원회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인공지능정책센터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인공지능안전연구소</a:t>
            </a:r>
            <a:r>
              <a:rPr lang="en-US" altLang="ko-KR" sz="1400"/>
              <a:t>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DAA0AB-E914-DE5A-460E-0020DC8DE4CA}"/>
              </a:ext>
            </a:extLst>
          </p:cNvPr>
          <p:cNvSpPr txBox="1"/>
          <p:nvPr/>
        </p:nvSpPr>
        <p:spPr>
          <a:xfrm>
            <a:off x="7123418" y="641482"/>
            <a:ext cx="521328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절 인공지능산업 기반 조성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 개발 및 안전한 이용 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인공지능기술의 표준화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학습용데이터 관련 시책의 수립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절 인공지능기술 개발 및 인공지능산업 활성화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인공지능기술 도입ㆍ활용 시책 등</a:t>
            </a:r>
            <a:r>
              <a:rPr lang="en-US" altLang="ko-KR" sz="1400"/>
              <a:t>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중소기업등을 위한 특별지원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창업의 활성화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융합의 촉진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제도개선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전문인력의 확보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국제협력 및 해외시장 진출의 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22</a:t>
            </a:r>
            <a:r>
              <a:rPr lang="ko-KR" altLang="en-US" sz="1400"/>
              <a:t>조의</a:t>
            </a:r>
            <a:r>
              <a:rPr lang="en-US" altLang="ko-KR" sz="1400"/>
              <a:t>2(</a:t>
            </a:r>
            <a:r>
              <a:rPr lang="ko-KR" altLang="en-US" sz="1400"/>
              <a:t>인공지능연구소의 설립 및 지원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22</a:t>
            </a:r>
            <a:r>
              <a:rPr lang="ko-KR" altLang="en-US" sz="1400"/>
              <a:t>조의</a:t>
            </a:r>
            <a:r>
              <a:rPr lang="en-US" altLang="ko-KR" sz="1400"/>
              <a:t>3(</a:t>
            </a:r>
            <a:r>
              <a:rPr lang="ko-KR" altLang="en-US" sz="1400"/>
              <a:t>인공지능기술 확보를 위한 연구기관의 설립ㆍ운영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인공지능집적단지 지정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실증기반 조성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데이터센터 관련 시책의 추진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한국인공지능진흥협회의 설립</a:t>
            </a:r>
            <a:r>
              <a:rPr lang="en-US" altLang="ko-KR" sz="1400"/>
              <a:t>)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07CE3-F54C-1AC5-E423-2A6578C48679}"/>
              </a:ext>
            </a:extLst>
          </p:cNvPr>
          <p:cNvSpPr txBox="1"/>
          <p:nvPr/>
        </p:nvSpPr>
        <p:spPr>
          <a:xfrm>
            <a:off x="3440981" y="4278284"/>
            <a:ext cx="452078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27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윤리원칙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민간자율인공지능윤리위원회의 설치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신뢰 기반 조성을 위한 시책의 마련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안전성ㆍ신뢰성 검ㆍ인증등 지원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투명성 확보 의무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 안전성 확보 의무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인공지능의 확인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34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인공지능과 관련한 사업자의 책무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35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고영향 인공지능 영향평가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36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국내대리인 지정</a:t>
            </a:r>
            <a:r>
              <a:rPr lang="en-US" altLang="ko-KR" sz="140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D6FDF3-1BE0-4F9A-D4D3-C1A19223EF84}"/>
              </a:ext>
            </a:extLst>
          </p:cNvPr>
          <p:cNvSpPr txBox="1"/>
          <p:nvPr/>
        </p:nvSpPr>
        <p:spPr>
          <a:xfrm>
            <a:off x="7733728" y="5606762"/>
            <a:ext cx="445827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37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인공지능산업의 진흥을 위한 재원의 확충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38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실태조사</a:t>
            </a:r>
            <a:r>
              <a:rPr lang="en-US" altLang="ko-KR" sz="1400"/>
              <a:t>, </a:t>
            </a:r>
            <a:r>
              <a:rPr lang="ko-KR" altLang="en-US" sz="1400"/>
              <a:t>통계 및 지표의 작성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39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권한의 위임 및 업무의 위탁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40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사실조사 등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41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벌칙 적용에서 공무원 의제</a:t>
            </a:r>
            <a:r>
              <a:rPr lang="en-US" altLang="ko-KR" sz="1400"/>
              <a:t>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3CAF87-1D3F-CC21-5DF5-D655F6AEC60A}"/>
              </a:ext>
            </a:extLst>
          </p:cNvPr>
          <p:cNvSpPr txBox="1"/>
          <p:nvPr/>
        </p:nvSpPr>
        <p:spPr>
          <a:xfrm>
            <a:off x="1745104" y="6239175"/>
            <a:ext cx="145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42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벌칙</a:t>
            </a:r>
            <a:r>
              <a:rPr lang="en-US" altLang="ko-KR" sz="1400"/>
              <a:t>) 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43</a:t>
            </a:r>
            <a:r>
              <a:rPr lang="ko-KR" altLang="en-US" sz="1400"/>
              <a:t>조</a:t>
            </a:r>
            <a:r>
              <a:rPr lang="en-US" altLang="ko-KR" sz="1400"/>
              <a:t>(</a:t>
            </a:r>
            <a:r>
              <a:rPr lang="ko-KR" altLang="en-US" sz="1400"/>
              <a:t>과태료</a:t>
            </a:r>
            <a:r>
              <a:rPr lang="en-US" altLang="ko-KR" sz="1400"/>
              <a:t>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A18AA-C536-6479-D00D-50CB637B84B5}"/>
              </a:ext>
            </a:extLst>
          </p:cNvPr>
          <p:cNvSpPr txBox="1"/>
          <p:nvPr/>
        </p:nvSpPr>
        <p:spPr>
          <a:xfrm>
            <a:off x="4393080" y="104212"/>
            <a:ext cx="5373587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chemeClr val="bg1"/>
                </a:solidFill>
              </a:rPr>
              <a:t>인공지능 발전과 신뢰 기반 조성 등에 관한 기본법</a:t>
            </a:r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9C207ED5-67AC-0383-D110-EDA470331952}"/>
              </a:ext>
            </a:extLst>
          </p:cNvPr>
          <p:cNvCxnSpPr>
            <a:stCxn id="4" idx="2"/>
            <a:endCxn id="10" idx="1"/>
          </p:cNvCxnSpPr>
          <p:nvPr/>
        </p:nvCxnSpPr>
        <p:spPr>
          <a:xfrm rot="16200000" flipH="1">
            <a:off x="3850407" y="795684"/>
            <a:ext cx="141122" cy="773066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393B402D-9A11-27C4-6DE1-E982C2508D5C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4408798" y="3863344"/>
            <a:ext cx="2671076" cy="3811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16A5597A-AE9B-0C5C-D526-57943B59CB04}"/>
              </a:ext>
            </a:extLst>
          </p:cNvPr>
          <p:cNvCxnSpPr>
            <a:cxnSpLocks/>
            <a:stCxn id="7" idx="2"/>
            <a:endCxn id="13" idx="1"/>
          </p:cNvCxnSpPr>
          <p:nvPr/>
        </p:nvCxnSpPr>
        <p:spPr>
          <a:xfrm rot="16200000" flipH="1">
            <a:off x="2227836" y="4188523"/>
            <a:ext cx="789869" cy="1636422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7251A347-E7AB-EAEC-C5CF-04B934FB73BB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1542629" y="5401669"/>
            <a:ext cx="6175906" cy="1209783"/>
          </a:xfrm>
          <a:prstGeom prst="curvedConnector3">
            <a:avLst>
              <a:gd name="adj1" fmla="val 7521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구부러짐 44">
            <a:extLst>
              <a:ext uri="{FF2B5EF4-FFF2-40B4-BE49-F238E27FC236}">
                <a16:creationId xmlns:a16="http://schemas.microsoft.com/office/drawing/2014/main" id="{47B6AF2E-CA58-6102-2FCC-B7793EF3C884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542629" y="6376204"/>
            <a:ext cx="202475" cy="124581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648DCB6C-F2B2-514F-091E-3B226B13C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7" y="18207"/>
            <a:ext cx="2806070" cy="259674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F7713EA-E549-4ABF-C437-375CA3F1A2BC}"/>
              </a:ext>
            </a:extLst>
          </p:cNvPr>
          <p:cNvSpPr txBox="1"/>
          <p:nvPr/>
        </p:nvSpPr>
        <p:spPr>
          <a:xfrm>
            <a:off x="95212" y="760174"/>
            <a:ext cx="27478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5</a:t>
            </a:r>
            <a:r>
              <a:rPr lang="ko-KR" altLang="en-US" sz="2400" b="1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/>
              <a:t>국내</a:t>
            </a:r>
            <a:r>
              <a:rPr lang="en-US" altLang="ko-KR" sz="2400" b="1"/>
              <a:t>AI</a:t>
            </a:r>
            <a:r>
              <a:rPr lang="ko-KR" altLang="en-US" sz="2400" b="1"/>
              <a:t>기본법</a:t>
            </a:r>
            <a:r>
              <a:rPr lang="en-US" altLang="ko-KR" sz="2400" b="1"/>
              <a:t>(1/2)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42570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3931532" y="2767280"/>
            <a:ext cx="403347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/>
              <a:t>6</a:t>
            </a:r>
            <a:r>
              <a:rPr lang="ko-KR" altLang="en-US" sz="3200" b="1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/>
              <a:t>국내 </a:t>
            </a:r>
            <a:r>
              <a:rPr lang="en-US" altLang="ko-KR" sz="3200" b="1"/>
              <a:t>AI </a:t>
            </a:r>
            <a:r>
              <a:rPr lang="ko-KR" altLang="en-US" sz="3200" b="1"/>
              <a:t>기본법</a:t>
            </a:r>
            <a:r>
              <a:rPr lang="en-US" altLang="ko-KR" sz="3200" b="1"/>
              <a:t> (2/2</a:t>
            </a:r>
            <a:r>
              <a:rPr lang="en-US" altLang="ko-KR" sz="3200" b="1" dirty="0"/>
              <a:t>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5D17F66-11D4-CBF8-D0A4-094509968563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03140" y="2881091"/>
            <a:ext cx="2160000" cy="2880000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그림 2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0845D8-EF17-5263-34DC-760FB4219E96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09570" y="2881091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4" name="그림 3" descr="텍스트, 시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0FCD517-B207-AA03-F3F4-3EC3647FE3EB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016000" y="2881091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5" name="그림 4" descr="텍스트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7C2B4B-B5BC-F875-E882-C64B309297FB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422430" y="2881091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6" name="그림 5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C34FB1-1A43-2054-0A91-9984204708D6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828860" y="2881091"/>
            <a:ext cx="2160000" cy="28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8" name="그림 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32BEAE-12F6-4F31-8E41-B93E066DA2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169" y="1877168"/>
            <a:ext cx="2990973" cy="9236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92B791-8F3C-4E61-9F8C-09E8BC35586A}"/>
              </a:ext>
            </a:extLst>
          </p:cNvPr>
          <p:cNvSpPr txBox="1"/>
          <p:nvPr/>
        </p:nvSpPr>
        <p:spPr>
          <a:xfrm>
            <a:off x="4836466" y="2046621"/>
            <a:ext cx="2585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AI Guideline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4659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3C55-01A1-6D26-6D23-CAADDF728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55D9BE-1846-4882-BDA9-668F5989C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5" y="109260"/>
            <a:ext cx="2990973" cy="92367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4086024-B4D7-519C-4DA5-675ACC608C32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77" y="1455480"/>
            <a:ext cx="720000" cy="720000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pic>
        <p:nvPicPr>
          <p:cNvPr id="3" name="그림 2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3AF6F0-FF67-FD38-7DD0-267FE9726F66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77" y="2478464"/>
            <a:ext cx="720000" cy="72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4" name="그림 3" descr="텍스트, 시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7C28DF-ED21-7161-24E6-C611BA941321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77" y="3501448"/>
            <a:ext cx="720000" cy="72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5" name="그림 4" descr="텍스트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BD13A5-9C1C-7C89-D2F3-6164FB5CA94F}"/>
              </a:ext>
            </a:extLst>
          </p:cNvPr>
          <p:cNvPicPr preferRelativeResize="0"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073577" y="4524432"/>
            <a:ext cx="720000" cy="72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6" name="그림 5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3CE02F-3F29-7A4F-6C60-7BD8ACD6A18C}"/>
              </a:ext>
            </a:extLst>
          </p:cNvPr>
          <p:cNvPicPr preferRelativeResize="0"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73577" y="5547416"/>
            <a:ext cx="720000" cy="72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0E2569-8063-27A5-DB6A-389327B21742}"/>
              </a:ext>
            </a:extLst>
          </p:cNvPr>
          <p:cNvSpPr txBox="1"/>
          <p:nvPr/>
        </p:nvSpPr>
        <p:spPr>
          <a:xfrm>
            <a:off x="437952" y="278713"/>
            <a:ext cx="2585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AI Guideline</a:t>
            </a:r>
            <a:endParaRPr lang="ko-KR" alt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251AB-16CC-B4A1-E68B-8CFA99DEE3DF}"/>
              </a:ext>
            </a:extLst>
          </p:cNvPr>
          <p:cNvSpPr txBox="1"/>
          <p:nvPr/>
        </p:nvSpPr>
        <p:spPr>
          <a:xfrm>
            <a:off x="2429203" y="1439418"/>
            <a:ext cx="879057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인공지능 투명성 확보 가이드라인 </a:t>
            </a:r>
            <a:r>
              <a:rPr lang="en-US" altLang="ko-KR" sz="1600" b="1" dirty="0"/>
              <a:t>: </a:t>
            </a:r>
            <a:r>
              <a:rPr lang="en-US" altLang="ko-KR" sz="1600" dirty="0"/>
              <a:t>AI </a:t>
            </a:r>
            <a:r>
              <a:rPr lang="ko-KR" altLang="en-US" sz="1600" dirty="0"/>
              <a:t>사용</a:t>
            </a:r>
            <a:r>
              <a:rPr lang="en-US" altLang="ko-KR" sz="1600" dirty="0"/>
              <a:t>·</a:t>
            </a:r>
            <a:r>
              <a:rPr lang="ko-KR" altLang="en-US" sz="1600" dirty="0"/>
              <a:t>생성 결과를 사용자에게 명확히 알림</a:t>
            </a:r>
            <a:endParaRPr lang="ko-KR" altLang="en-US" sz="1600" b="1" dirty="0"/>
          </a:p>
          <a:p>
            <a:r>
              <a:rPr lang="en-US" altLang="ko-KR" sz="1600" dirty="0">
                <a:hlinkClick r:id="rId8"/>
              </a:rPr>
              <a:t>https://www.sw.or.kr/common/files/Download.do?cfGroup=COMMON&amp;cfIdx=CF00006744&amp;cfRename=1._260126_</a:t>
            </a:r>
            <a:r>
              <a:rPr lang="ko-KR" altLang="en-US" sz="1600" dirty="0">
                <a:hlinkClick r:id="rId8"/>
              </a:rPr>
              <a:t>인공지능</a:t>
            </a:r>
            <a:r>
              <a:rPr lang="en-US" altLang="ko-KR" sz="1600" dirty="0">
                <a:hlinkClick r:id="rId8"/>
              </a:rPr>
              <a:t>_</a:t>
            </a:r>
            <a:r>
              <a:rPr lang="ko-KR" altLang="en-US" sz="1600" dirty="0">
                <a:hlinkClick r:id="rId8"/>
              </a:rPr>
              <a:t>투명성</a:t>
            </a:r>
            <a:r>
              <a:rPr lang="en-US" altLang="ko-KR" sz="1600" dirty="0">
                <a:hlinkClick r:id="rId8"/>
              </a:rPr>
              <a:t>_</a:t>
            </a:r>
            <a:r>
              <a:rPr lang="ko-KR" altLang="en-US" sz="1600" dirty="0">
                <a:hlinkClick r:id="rId8"/>
              </a:rPr>
              <a:t>확보</a:t>
            </a:r>
            <a:r>
              <a:rPr lang="en-US" altLang="ko-KR" sz="1600" dirty="0">
                <a:hlinkClick r:id="rId8"/>
              </a:rPr>
              <a:t>_</a:t>
            </a:r>
            <a:r>
              <a:rPr lang="ko-KR" altLang="en-US" sz="1600" dirty="0">
                <a:hlinkClick r:id="rId8"/>
              </a:rPr>
              <a:t>가이드라인</a:t>
            </a:r>
            <a:r>
              <a:rPr lang="en-US" altLang="ko-KR" sz="1600" dirty="0">
                <a:hlinkClick r:id="rId8"/>
              </a:rPr>
              <a:t>.pdf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인공지능 안전성 확보 가이드라인 </a:t>
            </a:r>
            <a:r>
              <a:rPr lang="en-US" altLang="ko-KR" sz="1600" b="1" dirty="0"/>
              <a:t>: </a:t>
            </a:r>
            <a:r>
              <a:rPr lang="ko-KR" altLang="en-US" sz="1600" dirty="0"/>
              <a:t>위험관리</a:t>
            </a:r>
            <a:r>
              <a:rPr lang="en-US" altLang="ko-KR" sz="1600" dirty="0"/>
              <a:t>·</a:t>
            </a:r>
            <a:r>
              <a:rPr lang="ko-KR" altLang="en-US" sz="1600" dirty="0"/>
              <a:t>리스크 완화 체계 구축</a:t>
            </a:r>
            <a:endParaRPr lang="ko-KR" altLang="en-US" sz="1600" b="1" dirty="0"/>
          </a:p>
          <a:p>
            <a:r>
              <a:rPr lang="en-US" altLang="ko-KR" sz="1600" dirty="0">
                <a:hlinkClick r:id="rId9"/>
              </a:rPr>
              <a:t>https://www.sw.or.kr/common/files/Download.do?cfGroup=COMMON&amp;cfIdx=CF00006743&amp;cfRename=2._260122_</a:t>
            </a:r>
            <a:r>
              <a:rPr lang="ko-KR" altLang="en-US" sz="1600" dirty="0">
                <a:hlinkClick r:id="rId9"/>
              </a:rPr>
              <a:t>인공지능</a:t>
            </a:r>
            <a:r>
              <a:rPr lang="en-US" altLang="ko-KR" sz="1600" dirty="0">
                <a:hlinkClick r:id="rId9"/>
              </a:rPr>
              <a:t>_</a:t>
            </a:r>
            <a:r>
              <a:rPr lang="ko-KR" altLang="en-US" sz="1600" dirty="0">
                <a:hlinkClick r:id="rId9"/>
              </a:rPr>
              <a:t>안전성</a:t>
            </a:r>
            <a:r>
              <a:rPr lang="en-US" altLang="ko-KR" sz="1600" dirty="0">
                <a:hlinkClick r:id="rId9"/>
              </a:rPr>
              <a:t>_</a:t>
            </a:r>
            <a:r>
              <a:rPr lang="ko-KR" altLang="en-US" sz="1600" dirty="0">
                <a:hlinkClick r:id="rId9"/>
              </a:rPr>
              <a:t>확보</a:t>
            </a:r>
            <a:r>
              <a:rPr lang="en-US" altLang="ko-KR" sz="1600" dirty="0">
                <a:hlinkClick r:id="rId9"/>
              </a:rPr>
              <a:t>_</a:t>
            </a:r>
            <a:r>
              <a:rPr lang="ko-KR" altLang="en-US" sz="1600" dirty="0">
                <a:hlinkClick r:id="rId9"/>
              </a:rPr>
              <a:t>가이드라인</a:t>
            </a:r>
            <a:r>
              <a:rPr lang="en-US" altLang="ko-KR" sz="1600" dirty="0">
                <a:hlinkClick r:id="rId9"/>
              </a:rPr>
              <a:t>.pdf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3. </a:t>
            </a:r>
            <a:r>
              <a:rPr lang="ko-KR" altLang="en-US" b="1" dirty="0" err="1"/>
              <a:t>고영향</a:t>
            </a:r>
            <a:r>
              <a:rPr lang="ko-KR" altLang="en-US" b="1" dirty="0"/>
              <a:t> 인공지능 판단 가이드라인 </a:t>
            </a:r>
            <a:r>
              <a:rPr lang="en-US" altLang="ko-KR" sz="1600" b="1" dirty="0"/>
              <a:t>: </a:t>
            </a:r>
            <a:r>
              <a:rPr lang="ko-KR" altLang="en-US" sz="1600" dirty="0"/>
              <a:t>어떤 </a:t>
            </a:r>
            <a:r>
              <a:rPr lang="en-US" altLang="ko-KR" sz="1600" dirty="0"/>
              <a:t>AI</a:t>
            </a:r>
            <a:r>
              <a:rPr lang="ko-KR" altLang="en-US" sz="1600" dirty="0"/>
              <a:t>가 </a:t>
            </a:r>
            <a:r>
              <a:rPr lang="ko-KR" altLang="en-US" sz="1600" dirty="0" err="1"/>
              <a:t>고영향</a:t>
            </a:r>
            <a:r>
              <a:rPr lang="ko-KR" altLang="en-US" sz="1600" dirty="0"/>
              <a:t> </a:t>
            </a:r>
            <a:r>
              <a:rPr lang="en-US" altLang="ko-KR" sz="1600" dirty="0"/>
              <a:t>AI</a:t>
            </a:r>
            <a:r>
              <a:rPr lang="ko-KR" altLang="en-US" sz="1600" dirty="0"/>
              <a:t>인지 판정하는 기준 제공</a:t>
            </a:r>
            <a:endParaRPr lang="en-US" altLang="ko-KR" sz="1600" b="1" dirty="0"/>
          </a:p>
          <a:p>
            <a:r>
              <a:rPr lang="en-US" altLang="ko-KR" sz="1600" dirty="0">
                <a:hlinkClick r:id="rId10"/>
              </a:rPr>
              <a:t>https://www.sw.or.kr/common/files/Download.do?cfGroup=COMMON&amp;cfIdx=CF00006746&amp;cfRename=3._260213_</a:t>
            </a:r>
            <a:r>
              <a:rPr lang="ko-KR" altLang="en-US" sz="1600" dirty="0" err="1">
                <a:hlinkClick r:id="rId10"/>
              </a:rPr>
              <a:t>고영향</a:t>
            </a:r>
            <a:r>
              <a:rPr lang="en-US" altLang="ko-KR" sz="1600" dirty="0">
                <a:hlinkClick r:id="rId10"/>
              </a:rPr>
              <a:t>_</a:t>
            </a:r>
            <a:r>
              <a:rPr lang="ko-KR" altLang="en-US" sz="1600" dirty="0">
                <a:hlinkClick r:id="rId10"/>
              </a:rPr>
              <a:t>인공지능</a:t>
            </a:r>
            <a:r>
              <a:rPr lang="en-US" altLang="ko-KR" sz="1600" dirty="0">
                <a:hlinkClick r:id="rId10"/>
              </a:rPr>
              <a:t>_</a:t>
            </a:r>
            <a:r>
              <a:rPr lang="ko-KR" altLang="en-US" sz="1600" dirty="0">
                <a:hlinkClick r:id="rId10"/>
              </a:rPr>
              <a:t>판단</a:t>
            </a:r>
            <a:r>
              <a:rPr lang="en-US" altLang="ko-KR" sz="1600" dirty="0">
                <a:hlinkClick r:id="rId10"/>
              </a:rPr>
              <a:t>_</a:t>
            </a:r>
            <a:r>
              <a:rPr lang="ko-KR" altLang="en-US" sz="1600" dirty="0">
                <a:hlinkClick r:id="rId10"/>
              </a:rPr>
              <a:t>가이드라인</a:t>
            </a:r>
            <a:r>
              <a:rPr lang="en-US" altLang="ko-KR" sz="1600" dirty="0">
                <a:hlinkClick r:id="rId10"/>
              </a:rPr>
              <a:t>_</a:t>
            </a:r>
            <a:r>
              <a:rPr lang="ko-KR" altLang="en-US" sz="1600" dirty="0">
                <a:hlinkClick r:id="rId10"/>
              </a:rPr>
              <a:t>최종</a:t>
            </a:r>
            <a:r>
              <a:rPr lang="en-US" altLang="ko-KR" sz="1600" dirty="0">
                <a:hlinkClick r:id="rId10"/>
              </a:rPr>
              <a:t>_v.4.pdf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4. </a:t>
            </a:r>
            <a:r>
              <a:rPr lang="ko-KR" altLang="en-US" b="1" dirty="0" err="1"/>
              <a:t>고영향</a:t>
            </a:r>
            <a:r>
              <a:rPr lang="ko-KR" altLang="en-US" b="1" dirty="0"/>
              <a:t> 인공지능 사업자 책무 가이드라인 </a:t>
            </a:r>
            <a:r>
              <a:rPr lang="en-US" altLang="ko-KR" sz="1600" b="1" dirty="0"/>
              <a:t>: </a:t>
            </a:r>
            <a:r>
              <a:rPr lang="ko-KR" altLang="en-US" sz="1600" dirty="0" err="1"/>
              <a:t>고영향</a:t>
            </a:r>
            <a:r>
              <a:rPr lang="ko-KR" altLang="en-US" sz="1600" dirty="0"/>
              <a:t> </a:t>
            </a:r>
            <a:r>
              <a:rPr lang="en-US" altLang="ko-KR" sz="1600" dirty="0"/>
              <a:t>AI </a:t>
            </a:r>
            <a:r>
              <a:rPr lang="ko-KR" altLang="en-US" sz="1600" dirty="0"/>
              <a:t>운영자에 대한 구체적 책임 규정</a:t>
            </a:r>
            <a:endParaRPr lang="ko-KR" altLang="en-US" sz="1600" b="1" dirty="0"/>
          </a:p>
          <a:p>
            <a:r>
              <a:rPr lang="en-US" altLang="ko-KR" sz="1600" dirty="0">
                <a:hlinkClick r:id="rId11"/>
              </a:rPr>
              <a:t>https://www.sw.or.kr/common/files/Download.do?cfGroup=COMMON&amp;cfIdx=CF00006747&amp;cfRename=4._260122_</a:t>
            </a:r>
            <a:r>
              <a:rPr lang="ko-KR" altLang="en-US" sz="1600" dirty="0" err="1">
                <a:hlinkClick r:id="rId11"/>
              </a:rPr>
              <a:t>고영향</a:t>
            </a:r>
            <a:r>
              <a:rPr lang="en-US" altLang="ko-KR" sz="1600" dirty="0">
                <a:hlinkClick r:id="rId11"/>
              </a:rPr>
              <a:t>_</a:t>
            </a:r>
            <a:r>
              <a:rPr lang="ko-KR" altLang="en-US" sz="1600" dirty="0">
                <a:hlinkClick r:id="rId11"/>
              </a:rPr>
              <a:t>인공지능</a:t>
            </a:r>
            <a:r>
              <a:rPr lang="en-US" altLang="ko-KR" sz="1600" dirty="0">
                <a:hlinkClick r:id="rId11"/>
              </a:rPr>
              <a:t>_</a:t>
            </a:r>
            <a:r>
              <a:rPr lang="ko-KR" altLang="en-US" sz="1600" dirty="0">
                <a:hlinkClick r:id="rId11"/>
              </a:rPr>
              <a:t>사업자</a:t>
            </a:r>
            <a:r>
              <a:rPr lang="en-US" altLang="ko-KR" sz="1600" dirty="0">
                <a:hlinkClick r:id="rId11"/>
              </a:rPr>
              <a:t>_</a:t>
            </a:r>
            <a:r>
              <a:rPr lang="ko-KR" altLang="en-US" sz="1600" dirty="0">
                <a:hlinkClick r:id="rId11"/>
              </a:rPr>
              <a:t>책무</a:t>
            </a:r>
            <a:r>
              <a:rPr lang="en-US" altLang="ko-KR" sz="1600" dirty="0">
                <a:hlinkClick r:id="rId11"/>
              </a:rPr>
              <a:t>_</a:t>
            </a:r>
            <a:r>
              <a:rPr lang="ko-KR" altLang="en-US" sz="1600" dirty="0">
                <a:hlinkClick r:id="rId11"/>
              </a:rPr>
              <a:t>가이드라인</a:t>
            </a:r>
            <a:r>
              <a:rPr lang="en-US" altLang="ko-KR" sz="1600" dirty="0">
                <a:hlinkClick r:id="rId11"/>
              </a:rPr>
              <a:t>-1.pdf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인공지능 영향평가 가이드라인 </a:t>
            </a:r>
            <a:r>
              <a:rPr lang="en-US" altLang="ko-KR" sz="1600" b="1" dirty="0"/>
              <a:t>: </a:t>
            </a:r>
            <a:r>
              <a:rPr lang="ko-KR" altLang="en-US" sz="1600" dirty="0"/>
              <a:t>기본권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영향의 사전</a:t>
            </a:r>
            <a:r>
              <a:rPr lang="en-US" altLang="ko-KR" sz="1600" dirty="0"/>
              <a:t>·</a:t>
            </a:r>
            <a:r>
              <a:rPr lang="ko-KR" altLang="en-US" sz="1600" dirty="0"/>
              <a:t>사후 평가</a:t>
            </a:r>
            <a:endParaRPr lang="ko-KR" altLang="en-US" sz="1600" b="1" dirty="0"/>
          </a:p>
          <a:p>
            <a:r>
              <a:rPr lang="en-US" altLang="ko-KR" sz="1600" dirty="0">
                <a:hlinkClick r:id="rId12"/>
              </a:rPr>
              <a:t>https://www.sw.or.kr/common/files/Download.do?cfGroup=COMMON&amp;cfIdx=CF00006748&amp;cfRename=5._260122_</a:t>
            </a:r>
            <a:r>
              <a:rPr lang="ko-KR" altLang="en-US" sz="1600" dirty="0">
                <a:hlinkClick r:id="rId12"/>
              </a:rPr>
              <a:t>인공지능</a:t>
            </a:r>
            <a:r>
              <a:rPr lang="en-US" altLang="ko-KR" sz="1600" dirty="0">
                <a:hlinkClick r:id="rId12"/>
              </a:rPr>
              <a:t>_</a:t>
            </a:r>
            <a:r>
              <a:rPr lang="ko-KR" altLang="en-US" sz="1600" dirty="0">
                <a:hlinkClick r:id="rId12"/>
              </a:rPr>
              <a:t>영향평가</a:t>
            </a:r>
            <a:r>
              <a:rPr lang="en-US" altLang="ko-KR" sz="1600" dirty="0">
                <a:hlinkClick r:id="rId12"/>
              </a:rPr>
              <a:t>_</a:t>
            </a:r>
            <a:r>
              <a:rPr lang="ko-KR" altLang="en-US" sz="1600" dirty="0">
                <a:hlinkClick r:id="rId12"/>
              </a:rPr>
              <a:t>가이드라인</a:t>
            </a:r>
            <a:r>
              <a:rPr lang="en-US" altLang="ko-KR" sz="1600" dirty="0">
                <a:hlinkClick r:id="rId12"/>
              </a:rPr>
              <a:t>.pdf</a:t>
            </a:r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08839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EDAA8-7936-509C-DC07-D86C22C4B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864" y="835673"/>
            <a:ext cx="4854361" cy="3711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F1F4DA-A100-CFD9-4369-48FA3D8B99FE}"/>
              </a:ext>
            </a:extLst>
          </p:cNvPr>
          <p:cNvSpPr txBox="1"/>
          <p:nvPr/>
        </p:nvSpPr>
        <p:spPr>
          <a:xfrm>
            <a:off x="345390" y="5191116"/>
            <a:ext cx="978825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한국정보통신기술협회</a:t>
            </a:r>
            <a:r>
              <a:rPr lang="en-US" altLang="ko-KR" b="1">
                <a:solidFill>
                  <a:srgbClr val="0000FF"/>
                </a:solidFill>
              </a:rPr>
              <a:t>, </a:t>
            </a:r>
            <a:r>
              <a:rPr lang="ko-KR" altLang="en-US" b="1">
                <a:solidFill>
                  <a:srgbClr val="0000FF"/>
                </a:solidFill>
              </a:rPr>
              <a:t>과학기술정보통신부</a:t>
            </a:r>
            <a:r>
              <a:rPr lang="en-US" altLang="ko-KR" b="1">
                <a:solidFill>
                  <a:srgbClr val="0000FF"/>
                </a:solidFill>
              </a:rPr>
              <a:t>(2026.1)</a:t>
            </a:r>
            <a:endParaRPr lang="ko-KR" altLang="en-US" b="1" dirty="0">
              <a:solidFill>
                <a:srgbClr val="0000FF"/>
              </a:solidFill>
            </a:endParaRPr>
          </a:p>
          <a:p>
            <a:endParaRPr lang="ko-KR" altLang="en-US" dirty="0"/>
          </a:p>
          <a:p>
            <a:r>
              <a:rPr lang="ko-KR" altLang="en-US"/>
              <a:t>이용자가 인공지능 기반 제품 및 서비스를 이용하고 있다는 사실과</a:t>
            </a:r>
            <a:r>
              <a:rPr lang="en-US" altLang="ko-KR"/>
              <a:t>, </a:t>
            </a:r>
            <a:r>
              <a:rPr lang="ko-KR" altLang="en-US"/>
              <a:t>제공되는 결과물이 </a:t>
            </a:r>
          </a:p>
          <a:p>
            <a:r>
              <a:rPr lang="ko-KR" altLang="en-US"/>
              <a:t>인공지능에 의해 생성된 것임을 명확히 인식할 수 있도록 하고</a:t>
            </a:r>
            <a:r>
              <a:rPr lang="en-US" altLang="ko-KR"/>
              <a:t>, </a:t>
            </a:r>
          </a:p>
          <a:p>
            <a:r>
              <a:rPr lang="ko-KR" altLang="en-US"/>
              <a:t>정보 이용 과정에서의 혼동과 오인 방지 및 사회적 신뢰를 제고하기 위한 제도적 장치를 마련</a:t>
            </a:r>
            <a:endParaRPr lang="ko-KR" altLang="en-US" dirty="0"/>
          </a:p>
        </p:txBody>
      </p:sp>
      <p:pic>
        <p:nvPicPr>
          <p:cNvPr id="3" name="그림 2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1A9B64-BA9F-0446-A9EC-8966A3980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0" y="189556"/>
            <a:ext cx="299097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FA5614-EF80-C638-9A8B-122455DEE99F}"/>
              </a:ext>
            </a:extLst>
          </p:cNvPr>
          <p:cNvSpPr txBox="1"/>
          <p:nvPr/>
        </p:nvSpPr>
        <p:spPr>
          <a:xfrm>
            <a:off x="423807" y="359007"/>
            <a:ext cx="2534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GuideLine①</a:t>
            </a:r>
            <a:endParaRPr lang="ko-KR" altLang="en-US" sz="32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980E2B7-15F8-420E-8C02-0B38AB202FF1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459788" y="351304"/>
            <a:ext cx="3600000" cy="4680000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1641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70713-9804-F9B5-0210-75A200140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FDCEF7-F577-9E30-80AD-8DC73FC0D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904" y="105813"/>
            <a:ext cx="3959152" cy="50001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0C3852-465A-FC1D-A14E-F129187C3276}"/>
              </a:ext>
            </a:extLst>
          </p:cNvPr>
          <p:cNvSpPr txBox="1"/>
          <p:nvPr/>
        </p:nvSpPr>
        <p:spPr>
          <a:xfrm>
            <a:off x="220758" y="4915943"/>
            <a:ext cx="1072120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과학기술정보통신부</a:t>
            </a:r>
            <a:r>
              <a:rPr lang="en-US" altLang="ko-KR" b="1">
                <a:solidFill>
                  <a:srgbClr val="0000FF"/>
                </a:solidFill>
              </a:rPr>
              <a:t>, </a:t>
            </a:r>
            <a:r>
              <a:rPr lang="ko-KR" altLang="en-US" b="1">
                <a:solidFill>
                  <a:srgbClr val="0000FF"/>
                </a:solidFill>
              </a:rPr>
              <a:t>한국전자통신연구원</a:t>
            </a:r>
            <a:r>
              <a:rPr lang="en-US" altLang="ko-KR" b="1">
                <a:solidFill>
                  <a:srgbClr val="0000FF"/>
                </a:solidFill>
              </a:rPr>
              <a:t>(2026.1)</a:t>
            </a:r>
            <a:endParaRPr lang="ko-KR" altLang="en-US" b="1" dirty="0">
              <a:solidFill>
                <a:srgbClr val="0000FF"/>
              </a:solidFill>
            </a:endParaRPr>
          </a:p>
          <a:p>
            <a:endParaRPr lang="ko-KR" altLang="en-US" dirty="0"/>
          </a:p>
          <a:p>
            <a:r>
              <a:rPr lang="ko-KR" altLang="en-US"/>
              <a:t>「인공지능 발전과 신뢰 기반 조성 등에 관한 기본법」 제</a:t>
            </a:r>
            <a:r>
              <a:rPr lang="en-US" altLang="ko-KR"/>
              <a:t>32</a:t>
            </a:r>
            <a:r>
              <a:rPr lang="ko-KR" altLang="en-US"/>
              <a:t>조 및 시행령 제</a:t>
            </a:r>
            <a:r>
              <a:rPr lang="en-US" altLang="ko-KR"/>
              <a:t>24</a:t>
            </a:r>
            <a:r>
              <a:rPr lang="ko-KR" altLang="en-US"/>
              <a:t>조에 따라 제정된</a:t>
            </a:r>
            <a:endParaRPr lang="en-US" altLang="ko-KR"/>
          </a:p>
          <a:p>
            <a:r>
              <a:rPr lang="ko-KR" altLang="en-US"/>
              <a:t>「인공지능 안전성 확보 의무의 이행방법 등에 관한 고시」에서 규정한 인공지능 안전성 확보 의무를 </a:t>
            </a:r>
            <a:endParaRPr lang="en-US" altLang="ko-KR"/>
          </a:p>
          <a:p>
            <a:r>
              <a:rPr lang="ko-KR" altLang="en-US"/>
              <a:t>실제 인공지능을 개발</a:t>
            </a:r>
            <a:r>
              <a:rPr lang="en-US" altLang="ko-KR"/>
              <a:t>/</a:t>
            </a:r>
            <a:r>
              <a:rPr lang="ko-KR" altLang="en-US"/>
              <a:t>운영하는 인공지능사업자가 이행하는 데 필요한 </a:t>
            </a:r>
            <a:endParaRPr lang="en-US" altLang="ko-KR"/>
          </a:p>
          <a:p>
            <a:r>
              <a:rPr lang="ko-KR" altLang="en-US"/>
              <a:t>기준과 절차를 체계적으로 정리한 참고 문서</a:t>
            </a:r>
            <a:endParaRPr lang="ko-KR" altLang="en-US" dirty="0"/>
          </a:p>
        </p:txBody>
      </p:sp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4B82D5-955B-C489-556A-E6CA7C2E5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0" y="189556"/>
            <a:ext cx="299097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7B41BD-B7CF-973A-5770-4D47E3A5EB68}"/>
              </a:ext>
            </a:extLst>
          </p:cNvPr>
          <p:cNvSpPr txBox="1"/>
          <p:nvPr/>
        </p:nvSpPr>
        <p:spPr>
          <a:xfrm>
            <a:off x="423807" y="359007"/>
            <a:ext cx="2534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GuideLine②</a:t>
            </a:r>
            <a:endParaRPr lang="ko-KR" altLang="en-US" sz="3200" b="1" dirty="0"/>
          </a:p>
        </p:txBody>
      </p:sp>
      <p:pic>
        <p:nvPicPr>
          <p:cNvPr id="8" name="그림 7" descr="텍스트, 스크린샷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56809A-9D76-40D5-5414-6B3933760A97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440613" y="187731"/>
            <a:ext cx="3600000" cy="46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73445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9C53-51AE-73FE-81BD-33367DB87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3E0511-98C4-863D-7FCA-A5A30F61E4D0}"/>
              </a:ext>
            </a:extLst>
          </p:cNvPr>
          <p:cNvSpPr txBox="1"/>
          <p:nvPr/>
        </p:nvSpPr>
        <p:spPr>
          <a:xfrm>
            <a:off x="220758" y="4915943"/>
            <a:ext cx="1163491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과학기술정보통신</a:t>
            </a:r>
            <a:r>
              <a:rPr lang="en-US" altLang="ko-KR" b="1">
                <a:solidFill>
                  <a:srgbClr val="0000FF"/>
                </a:solidFill>
              </a:rPr>
              <a:t>, </a:t>
            </a:r>
            <a:r>
              <a:rPr lang="ko-KR" altLang="en-US" b="1">
                <a:solidFill>
                  <a:srgbClr val="0000FF"/>
                </a:solidFill>
              </a:rPr>
              <a:t>한국지능정보화사회진흥원</a:t>
            </a:r>
            <a:r>
              <a:rPr lang="en-US" altLang="ko-KR" b="1">
                <a:solidFill>
                  <a:srgbClr val="0000FF"/>
                </a:solidFill>
              </a:rPr>
              <a:t>(2026.1)</a:t>
            </a:r>
            <a:endParaRPr lang="ko-KR" altLang="en-US" b="1" dirty="0">
              <a:solidFill>
                <a:srgbClr val="0000FF"/>
              </a:solidFill>
            </a:endParaRPr>
          </a:p>
          <a:p>
            <a:endParaRPr lang="ko-KR" altLang="en-US" dirty="0"/>
          </a:p>
          <a:p>
            <a:r>
              <a:rPr lang="ko-KR" altLang="en-US"/>
              <a:t> 인공지능기본법의 입법목적에 따라 사업자가 책무 유무를 스스로 판단할 수 있도록 </a:t>
            </a:r>
            <a:endParaRPr lang="en-US" altLang="ko-KR"/>
          </a:p>
          <a:p>
            <a:r>
              <a:rPr lang="ko-KR" altLang="en-US"/>
              <a:t> 고영향 인공지능의 기준과 예시 등을 마련하여 사업자의 예측가능성을 제고하고 산업현장에서의 혼란을  방지</a:t>
            </a:r>
            <a:endParaRPr lang="en-US" altLang="ko-KR"/>
          </a:p>
          <a:p>
            <a:r>
              <a:rPr lang="ko-KR" altLang="en-US"/>
              <a:t> 본 가이드라인을 통하여 인공지능사업자로서의 지위를 확정적으로 판단할 수 없는 경우에는</a:t>
            </a:r>
            <a:endParaRPr lang="en-US" altLang="ko-KR"/>
          </a:p>
          <a:p>
            <a:r>
              <a:rPr lang="en-US" altLang="ko-KR"/>
              <a:t> </a:t>
            </a:r>
            <a:r>
              <a:rPr lang="ko-KR" altLang="en-US"/>
              <a:t>과학기술정보통신부장관에게 고영향 인공지능 해당여부에 대해 확인을 요청 </a:t>
            </a:r>
            <a:endParaRPr lang="ko-KR" altLang="en-US" dirty="0"/>
          </a:p>
        </p:txBody>
      </p:sp>
      <p:pic>
        <p:nvPicPr>
          <p:cNvPr id="4" name="그림 3" descr="텍스트, 시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965375-35F9-23E2-FAC6-0DE658F7E661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288242" y="235943"/>
            <a:ext cx="3600000" cy="46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8" name="그림 7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C61810-5CA1-9656-DF8A-52B8071D1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005" y="0"/>
            <a:ext cx="5165386" cy="5457217"/>
          </a:xfrm>
          <a:prstGeom prst="rect">
            <a:avLst/>
          </a:prstGeom>
        </p:spPr>
      </p:pic>
      <p:pic>
        <p:nvPicPr>
          <p:cNvPr id="5" name="그림 4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0A5200-DAC7-2AA6-17BF-FF5CCF6A7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0" y="189556"/>
            <a:ext cx="299097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40B7FA-9082-4DA1-A306-E09F0A5B2CB3}"/>
              </a:ext>
            </a:extLst>
          </p:cNvPr>
          <p:cNvSpPr txBox="1"/>
          <p:nvPr/>
        </p:nvSpPr>
        <p:spPr>
          <a:xfrm>
            <a:off x="423807" y="359007"/>
            <a:ext cx="2534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GuideLine③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6209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FABEB-AE3D-518F-CC23-5C8C24F43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2DA59B-1AC1-1E77-FE6B-263F8CAF073C}"/>
              </a:ext>
            </a:extLst>
          </p:cNvPr>
          <p:cNvSpPr txBox="1"/>
          <p:nvPr/>
        </p:nvSpPr>
        <p:spPr>
          <a:xfrm>
            <a:off x="220758" y="5144729"/>
            <a:ext cx="95429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과학기술정보통신부</a:t>
            </a:r>
            <a:r>
              <a:rPr lang="en-US" altLang="ko-KR" b="1">
                <a:solidFill>
                  <a:srgbClr val="0000FF"/>
                </a:solidFill>
              </a:rPr>
              <a:t>, </a:t>
            </a:r>
            <a:r>
              <a:rPr lang="ko-KR" altLang="en-US" b="1">
                <a:solidFill>
                  <a:srgbClr val="0000FF"/>
                </a:solidFill>
              </a:rPr>
              <a:t>한국정보통신기술협회</a:t>
            </a:r>
            <a:r>
              <a:rPr lang="en-US" altLang="ko-KR" b="1">
                <a:solidFill>
                  <a:srgbClr val="0000FF"/>
                </a:solidFill>
              </a:rPr>
              <a:t>(2026.1)</a:t>
            </a:r>
            <a:endParaRPr lang="ko-KR" altLang="en-US" b="1">
              <a:solidFill>
                <a:srgbClr val="0000FF"/>
              </a:solidFill>
            </a:endParaRPr>
          </a:p>
          <a:p>
            <a:endParaRPr lang="ko-KR" altLang="en-US" dirty="0"/>
          </a:p>
          <a:p>
            <a:r>
              <a:rPr lang="ko-KR" altLang="en-US"/>
              <a:t>본 가이드라인은 사업자들이 법적 의무를 명확히 이해하고 이행할 수 있도록 지원하며</a:t>
            </a:r>
            <a:endParaRPr lang="en-US" altLang="ko-KR"/>
          </a:p>
          <a:p>
            <a:r>
              <a:rPr lang="ko-KR" altLang="en-US"/>
              <a:t>기준과 예시를 통해 사업자들이 자사의 고영향 인공지능에 대해 적절한 조치를 취함으로써</a:t>
            </a:r>
            <a:endParaRPr lang="en-US" altLang="ko-KR"/>
          </a:p>
          <a:p>
            <a:r>
              <a:rPr lang="ko-KR" altLang="en-US"/>
              <a:t>인공지능 기술의 안전성과 </a:t>
            </a:r>
            <a:r>
              <a:rPr lang="en-US" altLang="ko-KR"/>
              <a:t>, </a:t>
            </a:r>
            <a:r>
              <a:rPr lang="ko-KR" altLang="en-US"/>
              <a:t>신뢰성을 확보하는 데 기여할 것으로 기대</a:t>
            </a:r>
            <a:endParaRPr lang="ko-KR" altLang="en-US" dirty="0"/>
          </a:p>
        </p:txBody>
      </p:sp>
      <p:pic>
        <p:nvPicPr>
          <p:cNvPr id="3" name="그림 2" descr="텍스트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C01840-5FA0-65AC-1AA2-DE14E3D19755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414780" y="359007"/>
            <a:ext cx="3600000" cy="46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D95A59-4C21-3EE0-0FE5-20EC8DE24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432" y="0"/>
            <a:ext cx="4611761" cy="5476672"/>
          </a:xfrm>
          <a:prstGeom prst="rect">
            <a:avLst/>
          </a:prstGeom>
        </p:spPr>
      </p:pic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D2DE76-D87B-D57F-E4B0-37B1C98F2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0" y="189556"/>
            <a:ext cx="299097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8BAD9B-CC33-96F9-2B41-C196DC131A9B}"/>
              </a:ext>
            </a:extLst>
          </p:cNvPr>
          <p:cNvSpPr txBox="1"/>
          <p:nvPr/>
        </p:nvSpPr>
        <p:spPr>
          <a:xfrm>
            <a:off x="423807" y="359007"/>
            <a:ext cx="2534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GuideLine④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9745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8864D-CC48-9928-FED6-F7B6D72B0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407571-AE9F-A43E-FA44-D04A473D11C6}"/>
              </a:ext>
            </a:extLst>
          </p:cNvPr>
          <p:cNvSpPr txBox="1"/>
          <p:nvPr/>
        </p:nvSpPr>
        <p:spPr>
          <a:xfrm>
            <a:off x="220758" y="5193034"/>
            <a:ext cx="114714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00FF"/>
                </a:solidFill>
              </a:rPr>
              <a:t>과학기술정보통신부</a:t>
            </a:r>
            <a:r>
              <a:rPr lang="en-US" altLang="ko-KR" b="1">
                <a:solidFill>
                  <a:srgbClr val="0000FF"/>
                </a:solidFill>
              </a:rPr>
              <a:t>, </a:t>
            </a:r>
            <a:r>
              <a:rPr lang="ko-KR" altLang="en-US" b="1">
                <a:solidFill>
                  <a:srgbClr val="0000FF"/>
                </a:solidFill>
              </a:rPr>
              <a:t>정보통신정책연구원</a:t>
            </a:r>
            <a:r>
              <a:rPr lang="en-US" altLang="ko-KR" b="1">
                <a:solidFill>
                  <a:srgbClr val="0000FF"/>
                </a:solidFill>
              </a:rPr>
              <a:t>(2026.1)</a:t>
            </a:r>
            <a:endParaRPr lang="ko-KR" altLang="en-US" b="1" dirty="0">
              <a:solidFill>
                <a:srgbClr val="0000FF"/>
              </a:solidFill>
            </a:endParaRPr>
          </a:p>
          <a:p>
            <a:endParaRPr lang="ko-KR" altLang="en-US" dirty="0"/>
          </a:p>
          <a:p>
            <a:r>
              <a:rPr lang="ko-KR" altLang="en-US"/>
              <a:t>사업자가 영향평가를 통해 인공지능 제품ㆍ서비스가 인간의 존엄성과 기본권에 미치는 잠재적 영향을 사전에</a:t>
            </a:r>
          </a:p>
          <a:p>
            <a:r>
              <a:rPr lang="ko-KR" altLang="en-US"/>
              <a:t>식별</a:t>
            </a:r>
            <a:r>
              <a:rPr lang="en-US" altLang="ko-KR"/>
              <a:t>·</a:t>
            </a:r>
            <a:r>
              <a:rPr lang="ko-KR" altLang="en-US"/>
              <a:t>분석하고</a:t>
            </a:r>
            <a:r>
              <a:rPr lang="en-US" altLang="ko-KR"/>
              <a:t>, </a:t>
            </a:r>
            <a:r>
              <a:rPr lang="ko-KR" altLang="en-US"/>
              <a:t>이를 존중ㆍ보호하는 방향으로 스스로 개선방안을 마련ㆍ이행하도록 유도하고</a:t>
            </a:r>
          </a:p>
          <a:p>
            <a:r>
              <a:rPr lang="ko-KR" altLang="en-US"/>
              <a:t>국민의 기본권을 보호함과 동시에 글로벌 상호운용성 확보</a:t>
            </a:r>
            <a:endParaRPr lang="ko-KR" altLang="en-US" dirty="0"/>
          </a:p>
        </p:txBody>
      </p:sp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6A3429-424D-1AAE-AE04-A179E64C1607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217192" y="250409"/>
            <a:ext cx="3600000" cy="4680000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A19D74-BFDB-7569-5716-4A1FDE994EBF}"/>
              </a:ext>
            </a:extLst>
          </p:cNvPr>
          <p:cNvSpPr txBox="1"/>
          <p:nvPr/>
        </p:nvSpPr>
        <p:spPr>
          <a:xfrm>
            <a:off x="6878321" y="1143859"/>
            <a:ext cx="5081840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장 총론 </a:t>
            </a:r>
            <a:r>
              <a:rPr lang="en-US" altLang="ko-KR" sz="1400"/>
              <a:t>(2)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절 인공지능 영향평가 개요 </a:t>
            </a:r>
            <a:r>
              <a:rPr lang="en-US" altLang="ko-KR" sz="1400"/>
              <a:t>(3)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절 추진 근거 및 용어 정의 </a:t>
            </a:r>
            <a:r>
              <a:rPr lang="en-US" altLang="ko-KR" sz="1400"/>
              <a:t>(7)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</a:t>
            </a:r>
            <a:r>
              <a:rPr lang="ko-KR" altLang="en-US" sz="1400"/>
              <a:t>절 타 영향평가와의 관계 </a:t>
            </a:r>
            <a:r>
              <a:rPr lang="en-US" altLang="ko-KR" sz="1400"/>
              <a:t>(9)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장 인공지능 영향평가 수행 단계별 주요 고려사항 </a:t>
            </a:r>
            <a:r>
              <a:rPr lang="en-US" altLang="ko-KR" sz="1400"/>
              <a:t>(11)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1</a:t>
            </a:r>
            <a:r>
              <a:rPr lang="ko-KR" altLang="en-US" sz="1400"/>
              <a:t>절 사전 준비 단계 </a:t>
            </a:r>
            <a:r>
              <a:rPr lang="en-US" altLang="ko-KR" sz="1400"/>
              <a:t>(12)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2</a:t>
            </a:r>
            <a:r>
              <a:rPr lang="ko-KR" altLang="en-US" sz="1400"/>
              <a:t>절 본 평가 수행 단계 </a:t>
            </a:r>
            <a:r>
              <a:rPr lang="en-US" altLang="ko-KR" sz="1400"/>
              <a:t>(15)</a:t>
            </a:r>
          </a:p>
          <a:p>
            <a:r>
              <a:rPr lang="ko-KR" altLang="en-US" sz="1400"/>
              <a:t>제</a:t>
            </a:r>
            <a:r>
              <a:rPr lang="en-US" altLang="ko-KR" sz="1400"/>
              <a:t>3</a:t>
            </a:r>
            <a:r>
              <a:rPr lang="ko-KR" altLang="en-US" sz="1400"/>
              <a:t>절 사후 단계 </a:t>
            </a:r>
            <a:r>
              <a:rPr lang="en-US" altLang="ko-KR" sz="1400"/>
              <a:t>(24)</a:t>
            </a:r>
          </a:p>
          <a:p>
            <a:r>
              <a:rPr lang="ko-KR" altLang="en-US" sz="1400"/>
              <a:t>부록 </a:t>
            </a:r>
            <a:r>
              <a:rPr lang="en-US" altLang="ko-KR" sz="1400"/>
              <a:t>(25)</a:t>
            </a:r>
          </a:p>
          <a:p>
            <a:r>
              <a:rPr lang="en-US" altLang="ko-KR" sz="1400"/>
              <a:t>1. </a:t>
            </a:r>
            <a:r>
              <a:rPr lang="ko-KR" altLang="en-US" sz="1400"/>
              <a:t>인공지능 영향평가서 양식 및 작성 예시 </a:t>
            </a:r>
            <a:r>
              <a:rPr lang="en-US" altLang="ko-KR" sz="1400"/>
              <a:t>(26)</a:t>
            </a:r>
          </a:p>
          <a:p>
            <a:r>
              <a:rPr lang="en-US" altLang="ko-KR" sz="1400"/>
              <a:t>2. </a:t>
            </a:r>
            <a:r>
              <a:rPr lang="ko-KR" altLang="en-US" sz="1400"/>
              <a:t>인공지능시스템 기능별 침해 발생 가능 작동원리 예시 </a:t>
            </a:r>
            <a:r>
              <a:rPr lang="en-US" altLang="ko-KR" sz="1400"/>
              <a:t>(34)</a:t>
            </a:r>
          </a:p>
          <a:p>
            <a:r>
              <a:rPr lang="en-US" altLang="ko-KR" sz="1400"/>
              <a:t>3. </a:t>
            </a:r>
            <a:r>
              <a:rPr lang="ko-KR" altLang="en-US" sz="1400"/>
              <a:t>인공지능 영향평가 지원 안내 </a:t>
            </a:r>
            <a:r>
              <a:rPr lang="en-US" altLang="ko-KR" sz="1400"/>
              <a:t>(35)</a:t>
            </a:r>
          </a:p>
          <a:p>
            <a:r>
              <a:rPr lang="en-US" altLang="ko-KR" sz="1400"/>
              <a:t>4. </a:t>
            </a:r>
            <a:r>
              <a:rPr lang="ko-KR" altLang="en-US" sz="1400"/>
              <a:t>인공지능 영향평가 </a:t>
            </a:r>
            <a:r>
              <a:rPr lang="en-US" altLang="ko-KR" sz="1400"/>
              <a:t>FAQ (36)</a:t>
            </a:r>
            <a:endParaRPr lang="ko-KR" altLang="en-US" sz="1400"/>
          </a:p>
        </p:txBody>
      </p:sp>
      <p:pic>
        <p:nvPicPr>
          <p:cNvPr id="5" name="그림 4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722306-F5C6-90F1-AB1E-0185105D9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0" y="189556"/>
            <a:ext cx="299097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4E7658-FEEE-8B79-E32B-CAC18CB35DC1}"/>
              </a:ext>
            </a:extLst>
          </p:cNvPr>
          <p:cNvSpPr txBox="1"/>
          <p:nvPr/>
        </p:nvSpPr>
        <p:spPr>
          <a:xfrm>
            <a:off x="423807" y="359007"/>
            <a:ext cx="25346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/>
              <a:t>GuideLine⑤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42449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123A35-094F-FF22-98E8-50F55C5C4E73}"/>
              </a:ext>
            </a:extLst>
          </p:cNvPr>
          <p:cNvSpPr txBox="1"/>
          <p:nvPr/>
        </p:nvSpPr>
        <p:spPr>
          <a:xfrm>
            <a:off x="161179" y="1709370"/>
            <a:ext cx="470473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[1-1] </a:t>
            </a:r>
            <a:r>
              <a:rPr lang="ko-KR" altLang="en-US" sz="2000" b="1"/>
              <a:t>투명성 확보 의무 개요</a:t>
            </a:r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[1-2] </a:t>
            </a:r>
            <a:r>
              <a:rPr lang="ko-KR" altLang="en-US" sz="2000" b="1"/>
              <a:t>투명성 조항별 설명</a:t>
            </a:r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[1-3] </a:t>
            </a:r>
            <a:r>
              <a:rPr lang="ko-KR" altLang="en-US" sz="2000" b="1"/>
              <a:t>사전고지 방법</a:t>
            </a:r>
            <a:endParaRPr lang="en-US" altLang="ko-KR" sz="2000" b="1"/>
          </a:p>
          <a:p>
            <a:endParaRPr lang="ko-KR" altLang="en-US" sz="2000" b="1"/>
          </a:p>
          <a:p>
            <a:r>
              <a:rPr lang="en-US" altLang="ko-KR" sz="2000" b="1"/>
              <a:t>[1-4] </a:t>
            </a:r>
            <a:r>
              <a:rPr lang="ko-KR" altLang="en-US" sz="2000" b="1"/>
              <a:t>표시방법</a:t>
            </a:r>
            <a:r>
              <a:rPr lang="en-US" altLang="ko-KR" sz="2000"/>
              <a:t> </a:t>
            </a:r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 b="1"/>
              <a:t>[1-5] </a:t>
            </a:r>
            <a:r>
              <a:rPr lang="ko-KR" altLang="en-US" sz="2000" b="1"/>
              <a:t>참고자료 </a:t>
            </a:r>
            <a:r>
              <a:rPr lang="en-US" altLang="ko-KR" sz="2000" b="1"/>
              <a:t>: AI </a:t>
            </a:r>
            <a:r>
              <a:rPr lang="ko-KR" altLang="en-US" sz="2000" b="1"/>
              <a:t>생성 서비스 사례</a:t>
            </a:r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 </a:t>
            </a:r>
          </a:p>
          <a:p>
            <a:r>
              <a:rPr lang="en-US" altLang="ko-KR" sz="2000" b="1"/>
              <a:t>[1-6] AI </a:t>
            </a:r>
            <a:r>
              <a:rPr lang="ko-KR" altLang="en-US" sz="2000" b="1"/>
              <a:t>생성 콘텐츠 국제사회 논의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AE155-41E2-A44A-3E14-C39F9185D278}"/>
              </a:ext>
            </a:extLst>
          </p:cNvPr>
          <p:cNvSpPr txBox="1"/>
          <p:nvPr/>
        </p:nvSpPr>
        <p:spPr>
          <a:xfrm>
            <a:off x="293915" y="328598"/>
            <a:ext cx="5110694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[1] AI </a:t>
            </a:r>
            <a:r>
              <a:rPr lang="ko-KR" altLang="en-US" sz="2800" b="1">
                <a:solidFill>
                  <a:schemeClr val="bg1"/>
                </a:solidFill>
              </a:rPr>
              <a:t>투명성 확보 가이드라인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D5F686-E812-5B7E-3041-752932A87FAC}"/>
              </a:ext>
            </a:extLst>
          </p:cNvPr>
          <p:cNvSpPr txBox="1"/>
          <p:nvPr/>
        </p:nvSpPr>
        <p:spPr>
          <a:xfrm>
            <a:off x="3187407" y="3248252"/>
            <a:ext cx="36379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[1-4-1] </a:t>
            </a:r>
            <a:r>
              <a:rPr lang="ko-KR" altLang="en-US" sz="2000"/>
              <a:t>표시 기본원칙</a:t>
            </a:r>
          </a:p>
          <a:p>
            <a:r>
              <a:rPr lang="en-US" altLang="ko-KR" sz="2000"/>
              <a:t>[1-4-2] </a:t>
            </a:r>
            <a:r>
              <a:rPr lang="ko-KR" altLang="en-US" sz="2000"/>
              <a:t>서비스 제공 표시방법</a:t>
            </a:r>
            <a:r>
              <a:rPr lang="en-US" altLang="ko-KR" sz="2000"/>
              <a:t> </a:t>
            </a:r>
          </a:p>
          <a:p>
            <a:r>
              <a:rPr lang="en-US" altLang="ko-KR" sz="2000"/>
              <a:t>[1-4-3] </a:t>
            </a:r>
            <a:r>
              <a:rPr lang="ko-KR" altLang="en-US" sz="2000"/>
              <a:t>외부 반출 표시방법</a:t>
            </a:r>
            <a:endParaRPr lang="ko-KR" altLang="en-US" sz="20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DB758-FD24-AA68-5E9B-6995DAE0C0F3}"/>
              </a:ext>
            </a:extLst>
          </p:cNvPr>
          <p:cNvSpPr txBox="1"/>
          <p:nvPr/>
        </p:nvSpPr>
        <p:spPr>
          <a:xfrm>
            <a:off x="7672322" y="756156"/>
            <a:ext cx="2679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대화기반 서비스</a:t>
            </a:r>
          </a:p>
          <a:p>
            <a:r>
              <a:rPr lang="ko-KR" altLang="en-US"/>
              <a:t>② 음성 어시스턴트</a:t>
            </a:r>
          </a:p>
          <a:p>
            <a:r>
              <a:rPr lang="ko-KR" altLang="en-US"/>
              <a:t>③ 게임</a:t>
            </a:r>
            <a:r>
              <a:rPr lang="en-US" altLang="ko-KR"/>
              <a:t>, </a:t>
            </a:r>
            <a:r>
              <a:rPr lang="ko-KR" altLang="en-US"/>
              <a:t>메타버스</a:t>
            </a:r>
          </a:p>
          <a:p>
            <a:r>
              <a:rPr lang="ko-KR" altLang="en-US"/>
              <a:t>④ 생산형 향상 서비스</a:t>
            </a:r>
            <a:endParaRPr lang="ko-KR" altLang="en-US" b="1"/>
          </a:p>
        </p:txBody>
      </p:sp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8557ECBE-A247-D56C-6219-81CEBFBB7DDB}"/>
              </a:ext>
            </a:extLst>
          </p:cNvPr>
          <p:cNvSpPr/>
          <p:nvPr/>
        </p:nvSpPr>
        <p:spPr>
          <a:xfrm>
            <a:off x="2971799" y="3363687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13754107-71F9-2653-D5B0-F26F7BE823B9}"/>
              </a:ext>
            </a:extLst>
          </p:cNvPr>
          <p:cNvCxnSpPr>
            <a:stCxn id="10" idx="1"/>
          </p:cNvCxnSpPr>
          <p:nvPr/>
        </p:nvCxnSpPr>
        <p:spPr>
          <a:xfrm rot="10800000">
            <a:off x="2177141" y="3756084"/>
            <a:ext cx="794658" cy="46833"/>
          </a:xfrm>
          <a:prstGeom prst="curvedConnector3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CBF9EFE9-5705-19D3-BD67-2BEF1243908B}"/>
              </a:ext>
            </a:extLst>
          </p:cNvPr>
          <p:cNvSpPr/>
          <p:nvPr/>
        </p:nvSpPr>
        <p:spPr>
          <a:xfrm>
            <a:off x="7456714" y="956685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569F129C-ADA9-69E5-D968-E844BBF6CC23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6509654" y="1395914"/>
            <a:ext cx="947060" cy="2209826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왼쪽 중괄호 16">
            <a:extLst>
              <a:ext uri="{FF2B5EF4-FFF2-40B4-BE49-F238E27FC236}">
                <a16:creationId xmlns:a16="http://schemas.microsoft.com/office/drawing/2014/main" id="{185A644F-6340-0F73-374B-89AE29A6554F}"/>
              </a:ext>
            </a:extLst>
          </p:cNvPr>
          <p:cNvSpPr/>
          <p:nvPr/>
        </p:nvSpPr>
        <p:spPr>
          <a:xfrm>
            <a:off x="7564518" y="2621498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C9B882F7-3D97-EEE4-8BC7-404317E06F43}"/>
              </a:ext>
            </a:extLst>
          </p:cNvPr>
          <p:cNvCxnSpPr>
            <a:cxnSpLocks/>
            <a:stCxn id="17" idx="1"/>
          </p:cNvCxnSpPr>
          <p:nvPr/>
        </p:nvCxnSpPr>
        <p:spPr>
          <a:xfrm rot="10800000" flipV="1">
            <a:off x="6542314" y="3060727"/>
            <a:ext cx="1022205" cy="955656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C6C613-3B7B-3FE7-8582-68897D9B9440}"/>
              </a:ext>
            </a:extLst>
          </p:cNvPr>
          <p:cNvSpPr txBox="1"/>
          <p:nvPr/>
        </p:nvSpPr>
        <p:spPr>
          <a:xfrm>
            <a:off x="7771345" y="2298570"/>
            <a:ext cx="26799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텍스트 생성물</a:t>
            </a:r>
          </a:p>
          <a:p>
            <a:r>
              <a:rPr lang="ko-KR" altLang="en-US"/>
              <a:t>② 이미지 생성물</a:t>
            </a:r>
          </a:p>
          <a:p>
            <a:r>
              <a:rPr lang="ko-KR" altLang="en-US"/>
              <a:t>③ 동영상 생성물</a:t>
            </a:r>
          </a:p>
          <a:p>
            <a:r>
              <a:rPr lang="ko-KR" altLang="en-US"/>
              <a:t>④ 음성 생성물</a:t>
            </a:r>
          </a:p>
          <a:p>
            <a:r>
              <a:rPr lang="ko-KR" altLang="en-US"/>
              <a:t>⑤ 기타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8902F2-605A-434A-7641-628361FDEDD5}"/>
              </a:ext>
            </a:extLst>
          </p:cNvPr>
          <p:cNvSpPr txBox="1"/>
          <p:nvPr/>
        </p:nvSpPr>
        <p:spPr>
          <a:xfrm>
            <a:off x="7998893" y="4263915"/>
            <a:ext cx="42693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이미지 기반 서비스</a:t>
            </a:r>
          </a:p>
          <a:p>
            <a:r>
              <a:rPr lang="ko-KR" altLang="en-US"/>
              <a:t>② 동영상 기반 서비스</a:t>
            </a:r>
          </a:p>
          <a:p>
            <a:r>
              <a:rPr lang="ko-KR" altLang="en-US"/>
              <a:t>③ 텍스트 기반 서비스</a:t>
            </a:r>
          </a:p>
          <a:p>
            <a:r>
              <a:rPr lang="ko-KR" altLang="en-US"/>
              <a:t>④ 오디오 기반 서비스</a:t>
            </a:r>
          </a:p>
          <a:p>
            <a:r>
              <a:rPr lang="ko-KR" altLang="en-US"/>
              <a:t>⑤ 위험사례 </a:t>
            </a:r>
            <a:r>
              <a:rPr lang="en-US" altLang="ko-KR"/>
              <a:t>: </a:t>
            </a:r>
            <a:r>
              <a:rPr lang="ko-KR" altLang="en-US"/>
              <a:t>가짜뉴스 생성</a:t>
            </a:r>
            <a:r>
              <a:rPr lang="en-US" altLang="ko-KR"/>
              <a:t>(1)</a:t>
            </a:r>
          </a:p>
          <a:p>
            <a:r>
              <a:rPr lang="en-US" altLang="ko-KR"/>
              <a:t>⑥ </a:t>
            </a:r>
            <a:r>
              <a:rPr lang="ko-KR" altLang="en-US"/>
              <a:t>위험사례 </a:t>
            </a:r>
            <a:r>
              <a:rPr lang="en-US" altLang="ko-KR"/>
              <a:t>: </a:t>
            </a:r>
            <a:r>
              <a:rPr lang="ko-KR" altLang="en-US"/>
              <a:t>가짜뉴스 생성</a:t>
            </a:r>
            <a:r>
              <a:rPr lang="en-US" altLang="ko-KR"/>
              <a:t>(2)</a:t>
            </a:r>
          </a:p>
          <a:p>
            <a:r>
              <a:rPr lang="en-US" altLang="ko-KR"/>
              <a:t>⑦ </a:t>
            </a:r>
            <a:r>
              <a:rPr lang="ko-KR" altLang="en-US"/>
              <a:t>위험사례 </a:t>
            </a:r>
            <a:r>
              <a:rPr lang="en-US" altLang="ko-KR"/>
              <a:t>: </a:t>
            </a:r>
            <a:r>
              <a:rPr lang="ko-KR" altLang="en-US"/>
              <a:t>디지털 성범죄</a:t>
            </a:r>
          </a:p>
          <a:p>
            <a:r>
              <a:rPr lang="ko-KR" altLang="en-US"/>
              <a:t>⑧ 위험사례 </a:t>
            </a:r>
            <a:r>
              <a:rPr lang="en-US" altLang="ko-KR"/>
              <a:t>: </a:t>
            </a:r>
            <a:r>
              <a:rPr lang="ko-KR" altLang="en-US"/>
              <a:t>학술 및 콘텐츠 윤리문제</a:t>
            </a:r>
          </a:p>
        </p:txBody>
      </p:sp>
      <p:sp>
        <p:nvSpPr>
          <p:cNvPr id="27" name="왼쪽 중괄호 26">
            <a:extLst>
              <a:ext uri="{FF2B5EF4-FFF2-40B4-BE49-F238E27FC236}">
                <a16:creationId xmlns:a16="http://schemas.microsoft.com/office/drawing/2014/main" id="{1EB0257A-D06C-143A-C94C-73C3851C8571}"/>
              </a:ext>
            </a:extLst>
          </p:cNvPr>
          <p:cNvSpPr/>
          <p:nvPr/>
        </p:nvSpPr>
        <p:spPr>
          <a:xfrm>
            <a:off x="7783285" y="4435665"/>
            <a:ext cx="215608" cy="192159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C0A44616-9823-CA8F-A830-F28990DFB543}"/>
              </a:ext>
            </a:extLst>
          </p:cNvPr>
          <p:cNvCxnSpPr>
            <a:cxnSpLocks/>
          </p:cNvCxnSpPr>
          <p:nvPr/>
        </p:nvCxnSpPr>
        <p:spPr>
          <a:xfrm rot="10800000">
            <a:off x="4649668" y="4725541"/>
            <a:ext cx="3197879" cy="665353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204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4DDE-7A46-8F93-67F9-1860BBE4D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A6AFFE4-B056-F8F9-CA07-50FC14BFB014}"/>
              </a:ext>
            </a:extLst>
          </p:cNvPr>
          <p:cNvSpPr txBox="1"/>
          <p:nvPr/>
        </p:nvSpPr>
        <p:spPr>
          <a:xfrm>
            <a:off x="133436" y="295480"/>
            <a:ext cx="5110694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[2] AI </a:t>
            </a:r>
            <a:r>
              <a:rPr lang="ko-KR" altLang="en-US" sz="2800" b="1">
                <a:solidFill>
                  <a:schemeClr val="bg1"/>
                </a:solidFill>
              </a:rPr>
              <a:t>안전성 확보 가이드라인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5A99B4-542E-3831-4F67-41C630D8D82B}"/>
              </a:ext>
            </a:extLst>
          </p:cNvPr>
          <p:cNvSpPr txBox="1"/>
          <p:nvPr/>
        </p:nvSpPr>
        <p:spPr>
          <a:xfrm>
            <a:off x="0" y="1190336"/>
            <a:ext cx="467207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[2-1] </a:t>
            </a:r>
            <a:r>
              <a:rPr lang="ko-KR" altLang="en-US" sz="2000" b="1"/>
              <a:t>개요 </a:t>
            </a:r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[2-2] </a:t>
            </a:r>
            <a:r>
              <a:rPr lang="ko-KR" altLang="en-US" sz="2000" b="1"/>
              <a:t>적용 대상 및 의무 주체 판단</a:t>
            </a:r>
            <a:endParaRPr lang="en-US" altLang="ko-KR" sz="2000" b="1"/>
          </a:p>
          <a:p>
            <a:endParaRPr lang="ko-KR" altLang="en-US" sz="2000" b="1"/>
          </a:p>
          <a:p>
            <a:endParaRPr lang="en-US" altLang="ko-KR" sz="2000" b="1"/>
          </a:p>
          <a:p>
            <a:r>
              <a:rPr lang="en-US" altLang="ko-KR" sz="2000" b="1"/>
              <a:t>[2-3] </a:t>
            </a:r>
            <a:r>
              <a:rPr lang="ko-KR" altLang="en-US" sz="2000" b="1"/>
              <a:t>수명주기 전반에 걸친 위험관리</a:t>
            </a:r>
            <a:endParaRPr lang="en-US" altLang="ko-KR" sz="2000" b="1"/>
          </a:p>
          <a:p>
            <a:endParaRPr lang="ko-KR" altLang="en-US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[2-4] </a:t>
            </a:r>
            <a:r>
              <a:rPr lang="ko-KR" altLang="en-US" sz="2000" b="1"/>
              <a:t>안전사고 모니터링 및 대응</a:t>
            </a:r>
            <a:endParaRPr lang="en-US" altLang="ko-KR" sz="2000" b="1"/>
          </a:p>
          <a:p>
            <a:endParaRPr lang="ko-KR" altLang="en-US" sz="2000" b="1"/>
          </a:p>
          <a:p>
            <a:endParaRPr lang="en-US" altLang="ko-KR" sz="2000" b="1"/>
          </a:p>
          <a:p>
            <a:r>
              <a:rPr lang="en-US" altLang="ko-KR" sz="2000" b="1"/>
              <a:t>[2-5] </a:t>
            </a:r>
            <a:r>
              <a:rPr lang="ko-KR" altLang="en-US" sz="2000" b="1"/>
              <a:t>보고 및 제출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6C7DE-9CF3-DF15-7B7C-0B01EDC9F387}"/>
              </a:ext>
            </a:extLst>
          </p:cNvPr>
          <p:cNvSpPr txBox="1"/>
          <p:nvPr/>
        </p:nvSpPr>
        <p:spPr>
          <a:xfrm>
            <a:off x="4424473" y="1952723"/>
            <a:ext cx="40941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0000FF"/>
                </a:solidFill>
              </a:rPr>
              <a:t>[2-2-1] </a:t>
            </a:r>
            <a:r>
              <a:rPr lang="ko-KR" altLang="en-US">
                <a:solidFill>
                  <a:srgbClr val="0000FF"/>
                </a:solidFill>
              </a:rPr>
              <a:t>적용 대상 판단</a:t>
            </a:r>
          </a:p>
          <a:p>
            <a:r>
              <a:rPr lang="en-US" altLang="ko-KR">
                <a:solidFill>
                  <a:srgbClr val="0000FF"/>
                </a:solidFill>
              </a:rPr>
              <a:t>[2-2-2] </a:t>
            </a:r>
            <a:r>
              <a:rPr lang="ko-KR" altLang="en-US">
                <a:solidFill>
                  <a:srgbClr val="0000FF"/>
                </a:solidFill>
              </a:rPr>
              <a:t>의무 주체 판단</a:t>
            </a:r>
          </a:p>
          <a:p>
            <a:endParaRPr lang="en-US" altLang="ko-KR">
              <a:solidFill>
                <a:srgbClr val="0000FF"/>
              </a:solidFill>
            </a:endParaRPr>
          </a:p>
          <a:p>
            <a:r>
              <a:rPr lang="en-US" altLang="ko-KR">
                <a:solidFill>
                  <a:srgbClr val="0000FF"/>
                </a:solidFill>
              </a:rPr>
              <a:t>[2-3-1] </a:t>
            </a:r>
            <a:r>
              <a:rPr lang="ko-KR" altLang="en-US">
                <a:solidFill>
                  <a:srgbClr val="0000FF"/>
                </a:solidFill>
              </a:rPr>
              <a:t>위험의 식별</a:t>
            </a:r>
          </a:p>
          <a:p>
            <a:r>
              <a:rPr lang="en-US" altLang="ko-KR">
                <a:solidFill>
                  <a:srgbClr val="0000FF"/>
                </a:solidFill>
              </a:rPr>
              <a:t>[2-3-2] </a:t>
            </a:r>
            <a:r>
              <a:rPr lang="ko-KR" altLang="en-US">
                <a:solidFill>
                  <a:srgbClr val="0000FF"/>
                </a:solidFill>
              </a:rPr>
              <a:t>위험의 평가</a:t>
            </a:r>
          </a:p>
          <a:p>
            <a:r>
              <a:rPr lang="en-US" altLang="ko-KR">
                <a:solidFill>
                  <a:srgbClr val="0000FF"/>
                </a:solidFill>
              </a:rPr>
              <a:t>[2-3-3] </a:t>
            </a:r>
            <a:r>
              <a:rPr lang="ko-KR" altLang="en-US">
                <a:solidFill>
                  <a:srgbClr val="0000FF"/>
                </a:solidFill>
              </a:rPr>
              <a:t>위험의 완화</a:t>
            </a:r>
          </a:p>
          <a:p>
            <a:endParaRPr lang="en-US" altLang="ko-KR">
              <a:solidFill>
                <a:srgbClr val="0000FF"/>
              </a:solidFill>
            </a:endParaRPr>
          </a:p>
          <a:p>
            <a:endParaRPr lang="en-US" altLang="ko-KR">
              <a:solidFill>
                <a:srgbClr val="0000FF"/>
              </a:solidFill>
            </a:endParaRPr>
          </a:p>
          <a:p>
            <a:r>
              <a:rPr lang="en-US" altLang="ko-KR">
                <a:solidFill>
                  <a:srgbClr val="0000FF"/>
                </a:solidFill>
              </a:rPr>
              <a:t>[2-4-1] </a:t>
            </a:r>
            <a:r>
              <a:rPr lang="ko-KR" altLang="en-US">
                <a:solidFill>
                  <a:srgbClr val="0000FF"/>
                </a:solidFill>
              </a:rPr>
              <a:t>위험관리체계의 구축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91372-9F48-FDD7-022F-BF051F5CCAC7}"/>
              </a:ext>
            </a:extLst>
          </p:cNvPr>
          <p:cNvSpPr txBox="1"/>
          <p:nvPr/>
        </p:nvSpPr>
        <p:spPr>
          <a:xfrm>
            <a:off x="6471560" y="178219"/>
            <a:ext cx="441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시행령 제</a:t>
            </a:r>
            <a:r>
              <a:rPr lang="en-US" altLang="ko-KR"/>
              <a:t>24</a:t>
            </a:r>
            <a:r>
              <a:rPr lang="ko-KR" altLang="en-US"/>
              <a:t>조제</a:t>
            </a:r>
            <a:r>
              <a:rPr lang="en-US" altLang="ko-KR"/>
              <a:t>1</a:t>
            </a:r>
            <a:r>
              <a:rPr lang="ko-KR" altLang="en-US"/>
              <a:t>항 해당 판단</a:t>
            </a:r>
          </a:p>
          <a:p>
            <a:r>
              <a:rPr lang="ko-KR" altLang="en-US"/>
              <a:t>② 시행령 제</a:t>
            </a:r>
            <a:r>
              <a:rPr lang="en-US" altLang="ko-KR"/>
              <a:t>24</a:t>
            </a:r>
            <a:r>
              <a:rPr lang="ko-KR" altLang="en-US"/>
              <a:t>조제</a:t>
            </a:r>
            <a:r>
              <a:rPr lang="en-US" altLang="ko-KR"/>
              <a:t>1</a:t>
            </a:r>
            <a:r>
              <a:rPr lang="ko-KR" altLang="en-US"/>
              <a:t>항제</a:t>
            </a:r>
            <a:r>
              <a:rPr lang="en-US" altLang="ko-KR"/>
              <a:t>1</a:t>
            </a:r>
            <a:r>
              <a:rPr lang="ko-KR" altLang="en-US"/>
              <a:t>호 해당 판단</a:t>
            </a:r>
          </a:p>
          <a:p>
            <a:r>
              <a:rPr lang="ko-KR" altLang="en-US"/>
              <a:t>③ 시행령 제</a:t>
            </a:r>
            <a:r>
              <a:rPr lang="en-US" altLang="ko-KR"/>
              <a:t>24</a:t>
            </a:r>
            <a:r>
              <a:rPr lang="ko-KR" altLang="en-US"/>
              <a:t>조제</a:t>
            </a:r>
            <a:r>
              <a:rPr lang="en-US" altLang="ko-KR"/>
              <a:t>1</a:t>
            </a:r>
            <a:r>
              <a:rPr lang="ko-KR" altLang="en-US"/>
              <a:t>항제</a:t>
            </a:r>
            <a:r>
              <a:rPr lang="en-US" altLang="ko-KR"/>
              <a:t>2</a:t>
            </a:r>
            <a:r>
              <a:rPr lang="ko-KR" altLang="en-US"/>
              <a:t>호 해당 판단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AFAEC-E961-52AB-EB71-44D2FF52402E}"/>
              </a:ext>
            </a:extLst>
          </p:cNvPr>
          <p:cNvSpPr txBox="1"/>
          <p:nvPr/>
        </p:nvSpPr>
        <p:spPr>
          <a:xfrm>
            <a:off x="7982280" y="1190336"/>
            <a:ext cx="4273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합리적으로 예상 가능한 위험 식별</a:t>
            </a:r>
          </a:p>
          <a:p>
            <a:r>
              <a:rPr lang="ko-KR" altLang="en-US"/>
              <a:t>② 위험 식별 절차 및 방법 마련</a:t>
            </a:r>
          </a:p>
          <a:p>
            <a:r>
              <a:rPr lang="ko-KR" altLang="en-US"/>
              <a:t>③ 위험 식별 결과의 문서화 및 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9D3D0-E1AB-8895-6EEC-D275EC7C8234}"/>
              </a:ext>
            </a:extLst>
          </p:cNvPr>
          <p:cNvSpPr txBox="1"/>
          <p:nvPr/>
        </p:nvSpPr>
        <p:spPr>
          <a:xfrm>
            <a:off x="7982279" y="2311545"/>
            <a:ext cx="42733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위험의 중대성 및 실현 가능성 평가</a:t>
            </a:r>
          </a:p>
          <a:p>
            <a:r>
              <a:rPr lang="ko-KR" altLang="en-US"/>
              <a:t>② 위험 평가 조직 구성 및 운영</a:t>
            </a:r>
          </a:p>
          <a:p>
            <a:r>
              <a:rPr lang="ko-KR" altLang="en-US"/>
              <a:t>③ 위험 평가 기준</a:t>
            </a:r>
            <a:r>
              <a:rPr lang="en-US" altLang="ko-KR"/>
              <a:t>, </a:t>
            </a:r>
            <a:r>
              <a:rPr lang="ko-KR" altLang="en-US"/>
              <a:t>방법</a:t>
            </a:r>
            <a:r>
              <a:rPr lang="en-US" altLang="ko-KR"/>
              <a:t>, </a:t>
            </a:r>
            <a:r>
              <a:rPr lang="ko-KR" altLang="en-US"/>
              <a:t>절차 설정</a:t>
            </a:r>
          </a:p>
          <a:p>
            <a:r>
              <a:rPr lang="ko-KR" altLang="en-US"/>
              <a:t>④ 위험 평가 결과 검증</a:t>
            </a:r>
          </a:p>
          <a:p>
            <a:r>
              <a:rPr lang="ko-KR" altLang="en-US"/>
              <a:t>⑤ 위험 평가 결과의 문서화 및 관리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320CDA-00EE-71D2-008E-EC4A3294DF32}"/>
              </a:ext>
            </a:extLst>
          </p:cNvPr>
          <p:cNvSpPr txBox="1"/>
          <p:nvPr/>
        </p:nvSpPr>
        <p:spPr>
          <a:xfrm>
            <a:off x="7982279" y="3986752"/>
            <a:ext cx="388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위험 완화 조치 수립 및 시행</a:t>
            </a:r>
          </a:p>
          <a:p>
            <a:r>
              <a:rPr lang="ko-KR" altLang="en-US"/>
              <a:t>② 위험 완화 조치의 문서화 및 관리</a:t>
            </a:r>
          </a:p>
          <a:p>
            <a:r>
              <a:rPr lang="ko-KR" altLang="en-US"/>
              <a:t>③ 긴급 대응 계획 수립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ADA2BA-9E29-5490-30E2-1C0400FE3E4C}"/>
              </a:ext>
            </a:extLst>
          </p:cNvPr>
          <p:cNvSpPr txBox="1"/>
          <p:nvPr/>
        </p:nvSpPr>
        <p:spPr>
          <a:xfrm>
            <a:off x="4383312" y="4479731"/>
            <a:ext cx="388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안전사고 대응 조직 구성</a:t>
            </a:r>
          </a:p>
          <a:p>
            <a:r>
              <a:rPr lang="ko-KR" altLang="en-US"/>
              <a:t>② 안전사고 대응 절차 마련</a:t>
            </a:r>
          </a:p>
          <a:p>
            <a:r>
              <a:rPr lang="ko-KR" altLang="en-US"/>
              <a:t>③ 안전사고 예방을 위한 교육</a:t>
            </a:r>
            <a:r>
              <a:rPr lang="en-US" altLang="ko-KR"/>
              <a:t>, </a:t>
            </a:r>
            <a:r>
              <a:rPr lang="ko-KR" altLang="en-US"/>
              <a:t>훈련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E67C5F-B693-075C-BEE2-2E05C4B69D6B}"/>
              </a:ext>
            </a:extLst>
          </p:cNvPr>
          <p:cNvSpPr txBox="1"/>
          <p:nvPr/>
        </p:nvSpPr>
        <p:spPr>
          <a:xfrm>
            <a:off x="65451" y="5543199"/>
            <a:ext cx="10382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0000FF"/>
                </a:solidFill>
              </a:rPr>
              <a:t>[2-5-1] </a:t>
            </a:r>
            <a:r>
              <a:rPr lang="ko-KR" altLang="en-US">
                <a:solidFill>
                  <a:srgbClr val="0000FF"/>
                </a:solidFill>
              </a:rPr>
              <a:t>안전성 확보 조치 결과 제출       </a:t>
            </a:r>
            <a:r>
              <a:rPr lang="en-US" altLang="ko-KR">
                <a:solidFill>
                  <a:srgbClr val="0000FF"/>
                </a:solidFill>
              </a:rPr>
              <a:t>[2-5-2] </a:t>
            </a:r>
            <a:r>
              <a:rPr lang="ko-KR" altLang="en-US">
                <a:solidFill>
                  <a:srgbClr val="0000FF"/>
                </a:solidFill>
              </a:rPr>
              <a:t>안전사고 발생 시 단계별 보고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0EA991-3684-B9B3-7D81-3090C223A008}"/>
              </a:ext>
            </a:extLst>
          </p:cNvPr>
          <p:cNvSpPr txBox="1"/>
          <p:nvPr/>
        </p:nvSpPr>
        <p:spPr>
          <a:xfrm>
            <a:off x="113577" y="5844493"/>
            <a:ext cx="356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적용 대상 인지 후 초기 제출</a:t>
            </a:r>
          </a:p>
          <a:p>
            <a:r>
              <a:rPr lang="ko-KR" altLang="en-US"/>
              <a:t>② 특정 사유로 인한 추가 제출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BE2B7C-028D-19CF-CA87-72D7EF880A27}"/>
              </a:ext>
            </a:extLst>
          </p:cNvPr>
          <p:cNvSpPr txBox="1"/>
          <p:nvPr/>
        </p:nvSpPr>
        <p:spPr>
          <a:xfrm>
            <a:off x="4339768" y="5844493"/>
            <a:ext cx="4444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사고 인지 </a:t>
            </a:r>
            <a:r>
              <a:rPr lang="en-US" altLang="ko-KR"/>
              <a:t>24</a:t>
            </a:r>
            <a:r>
              <a:rPr lang="ko-KR" altLang="en-US"/>
              <a:t>시간 최초 보고</a:t>
            </a:r>
          </a:p>
          <a:p>
            <a:r>
              <a:rPr lang="ko-KR" altLang="en-US"/>
              <a:t>② 사고 발생 </a:t>
            </a:r>
            <a:r>
              <a:rPr lang="en-US" altLang="ko-KR"/>
              <a:t>7</a:t>
            </a:r>
            <a:r>
              <a:rPr lang="ko-KR" altLang="en-US"/>
              <a:t>일 초동조치 보고</a:t>
            </a:r>
          </a:p>
          <a:p>
            <a:r>
              <a:rPr lang="ko-KR" altLang="en-US"/>
              <a:t>③ 사고 발생 </a:t>
            </a:r>
            <a:r>
              <a:rPr lang="en-US" altLang="ko-KR"/>
              <a:t>15</a:t>
            </a:r>
            <a:r>
              <a:rPr lang="ko-KR" altLang="en-US"/>
              <a:t>일 사고 처리 결과 보고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DD6018-E48B-B6CC-B816-95A0BA969CA0}"/>
              </a:ext>
            </a:extLst>
          </p:cNvPr>
          <p:cNvSpPr txBox="1"/>
          <p:nvPr/>
        </p:nvSpPr>
        <p:spPr>
          <a:xfrm>
            <a:off x="1310435" y="1029393"/>
            <a:ext cx="4094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0000FF"/>
                </a:solidFill>
              </a:rPr>
              <a:t>[2-1-1] </a:t>
            </a:r>
            <a:r>
              <a:rPr lang="ko-KR" altLang="en-US">
                <a:solidFill>
                  <a:srgbClr val="0000FF"/>
                </a:solidFill>
              </a:rPr>
              <a:t>목적 및 체계</a:t>
            </a:r>
          </a:p>
          <a:p>
            <a:r>
              <a:rPr lang="en-US" altLang="ko-KR">
                <a:solidFill>
                  <a:srgbClr val="0000FF"/>
                </a:solidFill>
              </a:rPr>
              <a:t>[2-1-2] </a:t>
            </a:r>
            <a:r>
              <a:rPr lang="ko-KR" altLang="en-US">
                <a:solidFill>
                  <a:srgbClr val="0000FF"/>
                </a:solidFill>
              </a:rPr>
              <a:t>근거 규정</a:t>
            </a:r>
          </a:p>
          <a:p>
            <a:r>
              <a:rPr lang="en-US" altLang="ko-KR">
                <a:solidFill>
                  <a:srgbClr val="0000FF"/>
                </a:solidFill>
              </a:rPr>
              <a:t>[2-1-3] </a:t>
            </a:r>
            <a:r>
              <a:rPr lang="ko-KR" altLang="en-US">
                <a:solidFill>
                  <a:srgbClr val="0000FF"/>
                </a:solidFill>
              </a:rPr>
              <a:t>주요 용어 및 참고자료</a:t>
            </a:r>
          </a:p>
        </p:txBody>
      </p:sp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240EB937-412C-9960-2C54-DB8DA6F0FE8C}"/>
              </a:ext>
            </a:extLst>
          </p:cNvPr>
          <p:cNvSpPr/>
          <p:nvPr/>
        </p:nvSpPr>
        <p:spPr>
          <a:xfrm>
            <a:off x="6392830" y="247002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D9543B1B-5D7A-185A-7CE4-47347705728C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V="1">
            <a:off x="5404610" y="686231"/>
            <a:ext cx="988221" cy="1362558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왼쪽 중괄호 29">
            <a:extLst>
              <a:ext uri="{FF2B5EF4-FFF2-40B4-BE49-F238E27FC236}">
                <a16:creationId xmlns:a16="http://schemas.microsoft.com/office/drawing/2014/main" id="{1581AA9F-538C-2364-69FE-9128A8038115}"/>
              </a:ext>
            </a:extLst>
          </p:cNvPr>
          <p:cNvSpPr/>
          <p:nvPr/>
        </p:nvSpPr>
        <p:spPr>
          <a:xfrm>
            <a:off x="7829509" y="1241687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F2ACA2DB-C084-F9C4-CF76-0F8A58B4A6D2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 flipV="1">
            <a:off x="6545603" y="1680916"/>
            <a:ext cx="1283907" cy="1266492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3DD50CF7-FED8-26CB-F594-7223BEB5AD32}"/>
              </a:ext>
            </a:extLst>
          </p:cNvPr>
          <p:cNvSpPr/>
          <p:nvPr/>
        </p:nvSpPr>
        <p:spPr>
          <a:xfrm>
            <a:off x="7845273" y="2454300"/>
            <a:ext cx="215608" cy="119168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5E591250-03A2-A76E-D0B0-942AD031C5EC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 flipV="1">
            <a:off x="6608439" y="3050144"/>
            <a:ext cx="1236835" cy="150215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DB049461-CC8A-33CE-9455-1057BCAD1DC9}"/>
              </a:ext>
            </a:extLst>
          </p:cNvPr>
          <p:cNvSpPr/>
          <p:nvPr/>
        </p:nvSpPr>
        <p:spPr>
          <a:xfrm>
            <a:off x="7872867" y="4026613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0C2A9A91-78CA-1CC3-2C87-61C768D46E2D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>
            <a:off x="6608439" y="3448320"/>
            <a:ext cx="1264429" cy="1017522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813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E45F-F125-9239-5194-8A997FBA9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DC27C25-0678-BFC6-51BA-2FA9D6EA953C}"/>
              </a:ext>
            </a:extLst>
          </p:cNvPr>
          <p:cNvSpPr txBox="1"/>
          <p:nvPr/>
        </p:nvSpPr>
        <p:spPr>
          <a:xfrm>
            <a:off x="133436" y="295480"/>
            <a:ext cx="5110694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[3] </a:t>
            </a:r>
            <a:r>
              <a:rPr lang="ko-KR" altLang="en-US" sz="2800" b="1">
                <a:solidFill>
                  <a:schemeClr val="bg1"/>
                </a:solidFill>
              </a:rPr>
              <a:t>고영향 </a:t>
            </a:r>
            <a:r>
              <a:rPr lang="en-US" altLang="ko-KR" sz="2800" b="1">
                <a:solidFill>
                  <a:schemeClr val="bg1"/>
                </a:solidFill>
              </a:rPr>
              <a:t>AI </a:t>
            </a:r>
            <a:r>
              <a:rPr lang="ko-KR" altLang="en-US" sz="2800" b="1">
                <a:solidFill>
                  <a:schemeClr val="bg1"/>
                </a:solidFill>
              </a:rPr>
              <a:t>판단 가이드라인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C6DBA-3BFF-D5FC-C925-29002E106633}"/>
              </a:ext>
            </a:extLst>
          </p:cNvPr>
          <p:cNvSpPr txBox="1"/>
          <p:nvPr/>
        </p:nvSpPr>
        <p:spPr>
          <a:xfrm>
            <a:off x="176462" y="1495134"/>
            <a:ext cx="80884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[3-1] </a:t>
            </a:r>
            <a:r>
              <a:rPr lang="ko-KR" altLang="en-US" sz="2000" b="1"/>
              <a:t>개관</a:t>
            </a:r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[3-2] </a:t>
            </a:r>
            <a:r>
              <a:rPr lang="ko-KR" altLang="en-US" sz="2000" b="1"/>
              <a:t>분야별 고영향</a:t>
            </a:r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[3-3] </a:t>
            </a:r>
            <a:r>
              <a:rPr lang="ko-KR" altLang="en-US" sz="2000" b="1"/>
              <a:t>분야별 인공지능 활용사례</a:t>
            </a:r>
            <a:endParaRPr lang="en-US" altLang="ko-KR" sz="2000" b="1"/>
          </a:p>
          <a:p>
            <a:endParaRPr lang="ko-KR" altLang="en-US" sz="2000" b="1"/>
          </a:p>
          <a:p>
            <a:r>
              <a:rPr lang="en-US" altLang="ko-KR" sz="2000" b="1"/>
              <a:t>[3-A-1] </a:t>
            </a:r>
            <a:r>
              <a:rPr lang="ko-KR" altLang="en-US" sz="2000" b="1"/>
              <a:t>고영향 인공지능 확인절차 및 서식</a:t>
            </a:r>
          </a:p>
          <a:p>
            <a:r>
              <a:rPr lang="en-US" altLang="ko-KR" sz="2000" b="1"/>
              <a:t>[3-A-2] </a:t>
            </a:r>
            <a:r>
              <a:rPr lang="ko-KR" altLang="en-US" sz="2000" b="1"/>
              <a:t>인공지능 발전과 신뢰 기반 조성 등에 관한 기본법 및 시행령</a:t>
            </a:r>
          </a:p>
          <a:p>
            <a:r>
              <a:rPr lang="en-US" altLang="ko-KR" sz="2000" b="1"/>
              <a:t>[3-A-3] FAQ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F86F4-4438-1F5D-790A-805F284AEE2F}"/>
              </a:ext>
            </a:extLst>
          </p:cNvPr>
          <p:cNvSpPr txBox="1"/>
          <p:nvPr/>
        </p:nvSpPr>
        <p:spPr>
          <a:xfrm>
            <a:off x="6981034" y="811714"/>
            <a:ext cx="52109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[3-1-1] </a:t>
            </a:r>
            <a:r>
              <a:rPr lang="ko-KR" altLang="en-US" sz="2000"/>
              <a:t>고영향 인공지능 가이드라인의 수립</a:t>
            </a:r>
          </a:p>
          <a:p>
            <a:r>
              <a:rPr lang="en-US" altLang="ko-KR" sz="2000"/>
              <a:t>[3-1-2] </a:t>
            </a:r>
            <a:r>
              <a:rPr lang="ko-KR" altLang="en-US" sz="2000"/>
              <a:t>주요 용어의 개념</a:t>
            </a:r>
          </a:p>
          <a:p>
            <a:r>
              <a:rPr lang="en-US" altLang="ko-KR" sz="2000"/>
              <a:t>[3-1-3] </a:t>
            </a:r>
            <a:r>
              <a:rPr lang="ko-KR" altLang="en-US" sz="2000"/>
              <a:t>고영향 인공지능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1029D-7904-B837-32D5-649BB0F9362A}"/>
              </a:ext>
            </a:extLst>
          </p:cNvPr>
          <p:cNvSpPr txBox="1"/>
          <p:nvPr/>
        </p:nvSpPr>
        <p:spPr>
          <a:xfrm>
            <a:off x="8860722" y="2159854"/>
            <a:ext cx="315094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[3-2-1] </a:t>
            </a:r>
            <a:r>
              <a:rPr lang="ko-KR" altLang="en-US" sz="2000"/>
              <a:t>에너지</a:t>
            </a:r>
          </a:p>
          <a:p>
            <a:r>
              <a:rPr lang="en-US" altLang="ko-KR" sz="2000"/>
              <a:t>[3-2-2] </a:t>
            </a:r>
            <a:r>
              <a:rPr lang="ko-KR" altLang="en-US" sz="2000"/>
              <a:t>먹는 물</a:t>
            </a:r>
          </a:p>
          <a:p>
            <a:r>
              <a:rPr lang="en-US" altLang="ko-KR" sz="2000"/>
              <a:t>[3-2-3] </a:t>
            </a:r>
            <a:r>
              <a:rPr lang="ko-KR" altLang="en-US" sz="2000"/>
              <a:t>보건</a:t>
            </a:r>
            <a:r>
              <a:rPr lang="en-US" altLang="ko-KR" sz="2000"/>
              <a:t>/</a:t>
            </a:r>
            <a:r>
              <a:rPr lang="ko-KR" altLang="en-US" sz="2000"/>
              <a:t>의료</a:t>
            </a:r>
          </a:p>
          <a:p>
            <a:r>
              <a:rPr lang="en-US" altLang="ko-KR" sz="2000"/>
              <a:t>[3-2-4] </a:t>
            </a:r>
            <a:r>
              <a:rPr lang="ko-KR" altLang="en-US" sz="2000"/>
              <a:t>원자력</a:t>
            </a:r>
          </a:p>
          <a:p>
            <a:r>
              <a:rPr lang="en-US" altLang="ko-KR" sz="2000"/>
              <a:t>[3-2-5] </a:t>
            </a:r>
            <a:r>
              <a:rPr lang="ko-KR" altLang="en-US" sz="2000"/>
              <a:t>범죄수사 및 체포</a:t>
            </a:r>
          </a:p>
          <a:p>
            <a:r>
              <a:rPr lang="en-US" altLang="ko-KR" sz="2000"/>
              <a:t>[3-2-6] </a:t>
            </a:r>
            <a:r>
              <a:rPr lang="ko-KR" altLang="en-US" sz="2000"/>
              <a:t>채용</a:t>
            </a:r>
          </a:p>
          <a:p>
            <a:r>
              <a:rPr lang="en-US" altLang="ko-KR" sz="2000"/>
              <a:t>[3-2-7] </a:t>
            </a:r>
            <a:r>
              <a:rPr lang="ko-KR" altLang="en-US" sz="2000"/>
              <a:t>대출심사</a:t>
            </a:r>
          </a:p>
          <a:p>
            <a:r>
              <a:rPr lang="en-US" altLang="ko-KR" sz="2000"/>
              <a:t>[3-2-8] </a:t>
            </a:r>
            <a:r>
              <a:rPr lang="ko-KR" altLang="en-US" sz="2000"/>
              <a:t>교통 </a:t>
            </a:r>
            <a:r>
              <a:rPr lang="en-US" altLang="ko-KR" sz="2000"/>
              <a:t>: </a:t>
            </a:r>
            <a:r>
              <a:rPr lang="ko-KR" altLang="en-US" sz="2000"/>
              <a:t>차</a:t>
            </a:r>
          </a:p>
          <a:p>
            <a:r>
              <a:rPr lang="en-US" altLang="ko-KR" sz="2000"/>
              <a:t>[3-2-9] </a:t>
            </a:r>
            <a:r>
              <a:rPr lang="ko-KR" altLang="en-US" sz="2000"/>
              <a:t>교통 </a:t>
            </a:r>
            <a:r>
              <a:rPr lang="en-US" altLang="ko-KR" sz="2000"/>
              <a:t>: </a:t>
            </a:r>
            <a:r>
              <a:rPr lang="ko-KR" altLang="en-US" sz="2000"/>
              <a:t>선박</a:t>
            </a:r>
          </a:p>
          <a:p>
            <a:r>
              <a:rPr lang="en-US" altLang="ko-KR" sz="2000"/>
              <a:t>[3-2-10] </a:t>
            </a:r>
            <a:r>
              <a:rPr lang="ko-KR" altLang="en-US" sz="2000"/>
              <a:t>교통 </a:t>
            </a:r>
            <a:r>
              <a:rPr lang="en-US" altLang="ko-KR" sz="2000"/>
              <a:t>: </a:t>
            </a:r>
            <a:r>
              <a:rPr lang="ko-KR" altLang="en-US" sz="2000"/>
              <a:t>항공</a:t>
            </a:r>
          </a:p>
          <a:p>
            <a:r>
              <a:rPr lang="en-US" altLang="ko-KR" sz="2000"/>
              <a:t>[3-2-11] </a:t>
            </a:r>
            <a:r>
              <a:rPr lang="ko-KR" altLang="en-US" sz="2000"/>
              <a:t>교통 </a:t>
            </a:r>
            <a:r>
              <a:rPr lang="en-US" altLang="ko-KR" sz="2000"/>
              <a:t>: </a:t>
            </a:r>
            <a:r>
              <a:rPr lang="ko-KR" altLang="en-US" sz="2000"/>
              <a:t>철도</a:t>
            </a:r>
          </a:p>
          <a:p>
            <a:r>
              <a:rPr lang="en-US" altLang="ko-KR" sz="2000"/>
              <a:t>[3-2-12] </a:t>
            </a:r>
            <a:r>
              <a:rPr lang="ko-KR" altLang="en-US" sz="2000"/>
              <a:t>공공서비스</a:t>
            </a:r>
          </a:p>
          <a:p>
            <a:r>
              <a:rPr lang="en-US" altLang="ko-KR" sz="2000"/>
              <a:t>[3-2-13] </a:t>
            </a:r>
            <a:r>
              <a:rPr lang="ko-KR" altLang="en-US" sz="2000"/>
              <a:t>교육</a:t>
            </a:r>
          </a:p>
        </p:txBody>
      </p:sp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80FFF964-2416-A77C-A842-0D654F4C2E3C}"/>
              </a:ext>
            </a:extLst>
          </p:cNvPr>
          <p:cNvSpPr/>
          <p:nvPr/>
        </p:nvSpPr>
        <p:spPr>
          <a:xfrm>
            <a:off x="6685360" y="881665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1F164ACB-BF57-4873-C09E-32F05424DAD6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V="1">
            <a:off x="1813190" y="1320894"/>
            <a:ext cx="4872170" cy="486024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왼쪽 중괄호 29">
            <a:extLst>
              <a:ext uri="{FF2B5EF4-FFF2-40B4-BE49-F238E27FC236}">
                <a16:creationId xmlns:a16="http://schemas.microsoft.com/office/drawing/2014/main" id="{CA0B5061-4DE7-EC1C-CBAD-32EFEBDB1D2B}"/>
              </a:ext>
            </a:extLst>
          </p:cNvPr>
          <p:cNvSpPr/>
          <p:nvPr/>
        </p:nvSpPr>
        <p:spPr>
          <a:xfrm>
            <a:off x="8601755" y="2418464"/>
            <a:ext cx="258967" cy="3490734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A05D54B3-C74E-3643-71C2-7BC1FD2B5FDD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2695075" y="2679031"/>
            <a:ext cx="5906681" cy="1484801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118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9B2B9-9005-5E57-2FA7-66E52EFB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FB4AA7-668B-7746-67BC-CE62096AF30B}"/>
              </a:ext>
            </a:extLst>
          </p:cNvPr>
          <p:cNvSpPr txBox="1"/>
          <p:nvPr/>
        </p:nvSpPr>
        <p:spPr>
          <a:xfrm>
            <a:off x="133436" y="295480"/>
            <a:ext cx="6314549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[4] </a:t>
            </a:r>
            <a:r>
              <a:rPr lang="ko-KR" altLang="en-US" sz="2800" b="1">
                <a:solidFill>
                  <a:schemeClr val="bg1"/>
                </a:solidFill>
              </a:rPr>
              <a:t>고영향 </a:t>
            </a:r>
            <a:r>
              <a:rPr lang="en-US" altLang="ko-KR" sz="2800" b="1">
                <a:solidFill>
                  <a:schemeClr val="bg1"/>
                </a:solidFill>
              </a:rPr>
              <a:t>AI </a:t>
            </a:r>
            <a:r>
              <a:rPr lang="ko-KR" altLang="en-US" sz="2800" b="1">
                <a:solidFill>
                  <a:schemeClr val="bg1"/>
                </a:solidFill>
              </a:rPr>
              <a:t>사업자 책무 가이드라인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346846-A174-E2FF-3FE9-A5C89D0A90DE}"/>
              </a:ext>
            </a:extLst>
          </p:cNvPr>
          <p:cNvSpPr txBox="1"/>
          <p:nvPr/>
        </p:nvSpPr>
        <p:spPr>
          <a:xfrm>
            <a:off x="133436" y="1434680"/>
            <a:ext cx="808847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[4-1] </a:t>
            </a:r>
            <a:r>
              <a:rPr lang="ko-KR" altLang="en-US" sz="2000" b="1"/>
              <a:t>고영향 인공지능 사업자 책무 이행 목적</a:t>
            </a:r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[4-2] </a:t>
            </a:r>
            <a:r>
              <a:rPr lang="ko-KR" altLang="en-US" sz="2000" b="1"/>
              <a:t>고영향 인공지능 사업자 책무 관련 조항</a:t>
            </a:r>
          </a:p>
          <a:p>
            <a:endParaRPr lang="en-US" altLang="ko-KR" sz="2000" b="1"/>
          </a:p>
          <a:p>
            <a:r>
              <a:rPr lang="en-US" altLang="ko-KR" sz="2000" b="1"/>
              <a:t>[4-3] </a:t>
            </a:r>
            <a:r>
              <a:rPr lang="ko-KR" altLang="en-US" sz="2000" b="1"/>
              <a:t>고영향 인공지능 사업자 책무 조치사항</a:t>
            </a:r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[4-A-1] </a:t>
            </a:r>
            <a:r>
              <a:rPr lang="ko-KR" altLang="en-US" sz="2000" b="1"/>
              <a:t>안전신뢰문서 양식</a:t>
            </a:r>
          </a:p>
          <a:p>
            <a:r>
              <a:rPr lang="en-US" altLang="ko-KR" sz="2000" b="1"/>
              <a:t>[4-A-2] </a:t>
            </a:r>
            <a:r>
              <a:rPr lang="ko-KR" altLang="en-US" sz="2000" b="1"/>
              <a:t>자가점검 항목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2F9E7-038D-4650-0152-098EF01BB427}"/>
              </a:ext>
            </a:extLst>
          </p:cNvPr>
          <p:cNvSpPr txBox="1"/>
          <p:nvPr/>
        </p:nvSpPr>
        <p:spPr>
          <a:xfrm>
            <a:off x="6981034" y="1068386"/>
            <a:ext cx="35907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[4-1-1] </a:t>
            </a:r>
            <a:r>
              <a:rPr lang="ko-KR" altLang="en-US" sz="2000"/>
              <a:t>가이드라인 목적</a:t>
            </a:r>
          </a:p>
          <a:p>
            <a:r>
              <a:rPr lang="en-US" altLang="ko-KR" sz="2000"/>
              <a:t>[4-1-2] </a:t>
            </a:r>
            <a:r>
              <a:rPr lang="ko-KR" altLang="en-US" sz="2000"/>
              <a:t>가이드라인 적용 방법</a:t>
            </a:r>
          </a:p>
          <a:p>
            <a:r>
              <a:rPr lang="en-US" altLang="ko-KR" sz="2000"/>
              <a:t>[4-1-3] </a:t>
            </a:r>
            <a:r>
              <a:rPr lang="ko-KR" altLang="en-US" sz="2000"/>
              <a:t>주요 용어의 개념</a:t>
            </a:r>
          </a:p>
          <a:p>
            <a:r>
              <a:rPr lang="en-US" altLang="ko-KR" sz="2000"/>
              <a:t>[4-1-4] FAQ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DF862-80D0-8B26-04B6-074AFD4DCC71}"/>
              </a:ext>
            </a:extLst>
          </p:cNvPr>
          <p:cNvSpPr txBox="1"/>
          <p:nvPr/>
        </p:nvSpPr>
        <p:spPr>
          <a:xfrm>
            <a:off x="4295534" y="3948424"/>
            <a:ext cx="78527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[4-3-1] </a:t>
            </a:r>
            <a:r>
              <a:rPr lang="ko-KR" altLang="en-US" sz="2000"/>
              <a:t>위험관리방안의 수립</a:t>
            </a:r>
            <a:r>
              <a:rPr lang="en-US" altLang="ko-KR" sz="2000"/>
              <a:t>·</a:t>
            </a:r>
            <a:r>
              <a:rPr lang="ko-KR" altLang="en-US" sz="2000"/>
              <a:t>운영</a:t>
            </a:r>
          </a:p>
          <a:p>
            <a:r>
              <a:rPr lang="en-US" altLang="ko-KR" sz="2000"/>
              <a:t>[4-3-2] </a:t>
            </a:r>
            <a:r>
              <a:rPr lang="ko-KR" altLang="en-US" sz="2000"/>
              <a:t>기술적으로 가능한 범위에서의 인공지능이 도출한 최종결과</a:t>
            </a:r>
            <a:r>
              <a:rPr lang="en-US" altLang="ko-KR" sz="2000"/>
              <a:t>,</a:t>
            </a:r>
          </a:p>
          <a:p>
            <a:r>
              <a:rPr lang="ko-KR" altLang="en-US" sz="2000"/>
              <a:t>          인공지능의 최종결과 도출에 활용된 주요 기준</a:t>
            </a:r>
            <a:r>
              <a:rPr lang="en-US" altLang="ko-KR" sz="2000"/>
              <a:t>,</a:t>
            </a:r>
          </a:p>
          <a:p>
            <a:r>
              <a:rPr lang="ko-KR" altLang="en-US" sz="2000"/>
              <a:t>          인공지능의 개발활용에 사용된 학습용 데이터의 개요</a:t>
            </a:r>
          </a:p>
          <a:p>
            <a:r>
              <a:rPr lang="ko-KR" altLang="en-US" sz="2000"/>
              <a:t>          등에 대한 설명 방안의 수립시행</a:t>
            </a:r>
          </a:p>
          <a:p>
            <a:r>
              <a:rPr lang="en-US" altLang="ko-KR" sz="2000"/>
              <a:t>[4-3-3] </a:t>
            </a:r>
            <a:r>
              <a:rPr lang="ko-KR" altLang="en-US" sz="2000"/>
              <a:t>이용자 보호 방안의 수립운영</a:t>
            </a:r>
          </a:p>
          <a:p>
            <a:r>
              <a:rPr lang="en-US" altLang="ko-KR" sz="2000"/>
              <a:t>[4-3-4] </a:t>
            </a:r>
            <a:r>
              <a:rPr lang="ko-KR" altLang="en-US" sz="2000"/>
              <a:t>고영향 인공지능에 대한 사람의 관리감독</a:t>
            </a:r>
          </a:p>
          <a:p>
            <a:r>
              <a:rPr lang="en-US" altLang="ko-KR" sz="2000"/>
              <a:t>[4-3-5] </a:t>
            </a:r>
            <a:r>
              <a:rPr lang="ko-KR" altLang="en-US" sz="2000"/>
              <a:t>안전성신뢰성 확보를 위한 조치의 내용을 </a:t>
            </a:r>
          </a:p>
          <a:p>
            <a:r>
              <a:rPr lang="ko-KR" altLang="en-US" sz="2000"/>
              <a:t>          확인할 수 있는 문서의 작성과 보관</a:t>
            </a:r>
          </a:p>
        </p:txBody>
      </p:sp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3A306BF0-98DD-DD63-7E99-1A97D42A5A30}"/>
              </a:ext>
            </a:extLst>
          </p:cNvPr>
          <p:cNvSpPr/>
          <p:nvPr/>
        </p:nvSpPr>
        <p:spPr>
          <a:xfrm>
            <a:off x="6685360" y="1138337"/>
            <a:ext cx="215608" cy="87845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2F944DE9-30ED-27B9-400C-948385B813E2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 flipV="1">
            <a:off x="5403904" y="1577565"/>
            <a:ext cx="1281457" cy="197859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왼쪽 중괄호 29">
            <a:extLst>
              <a:ext uri="{FF2B5EF4-FFF2-40B4-BE49-F238E27FC236}">
                <a16:creationId xmlns:a16="http://schemas.microsoft.com/office/drawing/2014/main" id="{F90B56FB-1C84-CAAF-1445-B87697E4A167}"/>
              </a:ext>
            </a:extLst>
          </p:cNvPr>
          <p:cNvSpPr/>
          <p:nvPr/>
        </p:nvSpPr>
        <p:spPr>
          <a:xfrm>
            <a:off x="3668517" y="4588113"/>
            <a:ext cx="429950" cy="143928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2144503F-D36F-9DCE-29EC-4C023A695A8D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>
            <a:off x="1058779" y="3834062"/>
            <a:ext cx="2609738" cy="1473693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67D9C13-6F9F-7015-019B-5CAAED4AE124}"/>
              </a:ext>
            </a:extLst>
          </p:cNvPr>
          <p:cNvSpPr txBox="1"/>
          <p:nvPr/>
        </p:nvSpPr>
        <p:spPr>
          <a:xfrm>
            <a:off x="7660482" y="2819980"/>
            <a:ext cx="3150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[4-2-1] </a:t>
            </a:r>
            <a:r>
              <a:rPr lang="ko-KR" altLang="en-US" sz="2000"/>
              <a:t>관련 법조항</a:t>
            </a:r>
          </a:p>
          <a:p>
            <a:r>
              <a:rPr lang="en-US" altLang="ko-KR" sz="2000"/>
              <a:t>[4-2-2] </a:t>
            </a:r>
            <a:r>
              <a:rPr lang="ko-KR" altLang="en-US" sz="2000"/>
              <a:t>관련 시행령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891304F5-32CE-4A63-849B-28661A9431E7}"/>
              </a:ext>
            </a:extLst>
          </p:cNvPr>
          <p:cNvSpPr/>
          <p:nvPr/>
        </p:nvSpPr>
        <p:spPr>
          <a:xfrm>
            <a:off x="7521356" y="2798069"/>
            <a:ext cx="278251" cy="729797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F732C341-1015-E863-A504-B3255BCDD180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>
            <a:off x="5534526" y="2909576"/>
            <a:ext cx="1986830" cy="253392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47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E0922-9793-EBEE-5078-BF9B24B4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5B08B0-6F65-FBD0-CA68-67353C17BB9D}"/>
              </a:ext>
            </a:extLst>
          </p:cNvPr>
          <p:cNvSpPr txBox="1"/>
          <p:nvPr/>
        </p:nvSpPr>
        <p:spPr>
          <a:xfrm>
            <a:off x="133436" y="295480"/>
            <a:ext cx="4624984" cy="5232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</a:rPr>
              <a:t>[5] AI </a:t>
            </a:r>
            <a:r>
              <a:rPr lang="ko-KR" altLang="en-US" sz="2800" b="1">
                <a:solidFill>
                  <a:schemeClr val="bg1"/>
                </a:solidFill>
              </a:rPr>
              <a:t>영향평가 가이드라인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84A3C2-0D0F-394E-1E90-AB03C7AC4AA4}"/>
              </a:ext>
            </a:extLst>
          </p:cNvPr>
          <p:cNvSpPr txBox="1"/>
          <p:nvPr/>
        </p:nvSpPr>
        <p:spPr>
          <a:xfrm>
            <a:off x="0" y="1190336"/>
            <a:ext cx="745957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[5-1] </a:t>
            </a:r>
            <a:r>
              <a:rPr lang="ko-KR" altLang="en-US" sz="2000" b="1"/>
              <a:t>총론</a:t>
            </a:r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[5-2] </a:t>
            </a:r>
            <a:r>
              <a:rPr lang="ko-KR" altLang="en-US" sz="2000" b="1"/>
              <a:t>인공지능 영향평가 수행 단계별 주요 고려사항</a:t>
            </a:r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[5-A-1] </a:t>
            </a:r>
            <a:r>
              <a:rPr lang="ko-KR" altLang="en-US" sz="2000" b="1"/>
              <a:t>인공지능 영향평가서 양식 및 작성 예시</a:t>
            </a:r>
          </a:p>
          <a:p>
            <a:r>
              <a:rPr lang="en-US" altLang="ko-KR" sz="2000" b="1"/>
              <a:t>[5-A-2] </a:t>
            </a:r>
            <a:r>
              <a:rPr lang="ko-KR" altLang="en-US" sz="2000" b="1"/>
              <a:t>인공지능시스템 기능별 </a:t>
            </a:r>
            <a:endParaRPr lang="en-US" altLang="ko-KR" sz="2000" b="1"/>
          </a:p>
          <a:p>
            <a:r>
              <a:rPr lang="en-US" altLang="ko-KR" sz="2000" b="1"/>
              <a:t>          </a:t>
            </a:r>
            <a:r>
              <a:rPr lang="ko-KR" altLang="en-US" sz="2000" b="1"/>
              <a:t>침해 발생 가능 작동원리 예시</a:t>
            </a:r>
          </a:p>
          <a:p>
            <a:r>
              <a:rPr lang="en-US" altLang="ko-KR" sz="2000" b="1"/>
              <a:t>[5-A-3] </a:t>
            </a:r>
            <a:r>
              <a:rPr lang="ko-KR" altLang="en-US" sz="2000" b="1"/>
              <a:t>인공지능 영향평가 지원 안내</a:t>
            </a:r>
          </a:p>
          <a:p>
            <a:r>
              <a:rPr lang="en-US" altLang="ko-KR" sz="2000" b="1"/>
              <a:t>[5-A-4] </a:t>
            </a:r>
            <a:r>
              <a:rPr lang="ko-KR" altLang="en-US" sz="2000" b="1"/>
              <a:t>인공지능 영향평가 </a:t>
            </a:r>
            <a:r>
              <a:rPr lang="en-US" altLang="ko-KR" sz="2000" b="1"/>
              <a:t>FAQ</a:t>
            </a:r>
            <a:endParaRPr lang="ko-KR" altLang="en-US" sz="2000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86A74-10D5-4E97-C5EB-F197E9E35711}"/>
              </a:ext>
            </a:extLst>
          </p:cNvPr>
          <p:cNvSpPr txBox="1"/>
          <p:nvPr/>
        </p:nvSpPr>
        <p:spPr>
          <a:xfrm>
            <a:off x="8060881" y="1161730"/>
            <a:ext cx="44182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/>
              <a:t>① 평가 필요성 검토</a:t>
            </a:r>
          </a:p>
          <a:p>
            <a:r>
              <a:rPr lang="ko-KR" altLang="en-US" sz="2000"/>
              <a:t>② 평가대상 정의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89BCA-E25A-E911-7590-4013C40A4589}"/>
              </a:ext>
            </a:extLst>
          </p:cNvPr>
          <p:cNvSpPr txBox="1"/>
          <p:nvPr/>
        </p:nvSpPr>
        <p:spPr>
          <a:xfrm>
            <a:off x="8045117" y="2142217"/>
            <a:ext cx="42733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/>
              <a:t>③ 피영향자 분석</a:t>
            </a:r>
          </a:p>
          <a:p>
            <a:r>
              <a:rPr lang="ko-KR" altLang="en-US" sz="2000"/>
              <a:t>④ 평가대상 작동원리 분석</a:t>
            </a:r>
          </a:p>
          <a:p>
            <a:r>
              <a:rPr lang="ko-KR" altLang="en-US" sz="2000"/>
              <a:t>⑤ 기본권 영향 식별 및 분석</a:t>
            </a:r>
          </a:p>
          <a:p>
            <a:r>
              <a:rPr lang="ko-KR" altLang="en-US" sz="2000"/>
              <a:t>⑥ 기본권 영향 판단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3FF01C-8741-7D66-3A94-7AEA88E9759D}"/>
              </a:ext>
            </a:extLst>
          </p:cNvPr>
          <p:cNvSpPr txBox="1"/>
          <p:nvPr/>
        </p:nvSpPr>
        <p:spPr>
          <a:xfrm>
            <a:off x="8045117" y="3723251"/>
            <a:ext cx="42733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/>
              <a:t>⑦ 후속 조치</a:t>
            </a:r>
          </a:p>
          <a:p>
            <a:r>
              <a:rPr lang="ko-KR" altLang="en-US" sz="2000"/>
              <a:t>⑧ 문서의 보관 및 결과의 공개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3F5D14-F87E-1293-CB1D-EB5E00D0C51F}"/>
              </a:ext>
            </a:extLst>
          </p:cNvPr>
          <p:cNvSpPr txBox="1"/>
          <p:nvPr/>
        </p:nvSpPr>
        <p:spPr>
          <a:xfrm>
            <a:off x="6394785" y="4919008"/>
            <a:ext cx="58553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/>
              <a:t>① 스마트채용 </a:t>
            </a:r>
            <a:endParaRPr lang="en-US" altLang="ko-KR" sz="2000"/>
          </a:p>
          <a:p>
            <a:r>
              <a:rPr lang="en-US" altLang="ko-KR" sz="2000"/>
              <a:t>   (AI</a:t>
            </a:r>
            <a:r>
              <a:rPr lang="ko-KR" altLang="en-US" sz="2000"/>
              <a:t>기반 채용 후보자 평가ㆍ적합도 판정 서비스</a:t>
            </a:r>
            <a:r>
              <a:rPr lang="en-US" altLang="ko-KR" sz="2000"/>
              <a:t>)</a:t>
            </a:r>
          </a:p>
          <a:p>
            <a:r>
              <a:rPr lang="en-US" altLang="ko-KR" sz="2000"/>
              <a:t>② Face Swap Studio</a:t>
            </a:r>
          </a:p>
          <a:p>
            <a:r>
              <a:rPr lang="en-US" altLang="ko-KR" sz="2000"/>
              <a:t>   (</a:t>
            </a:r>
            <a:r>
              <a:rPr lang="ko-KR" altLang="en-US" sz="2000"/>
              <a:t>딥페이크 얼굴 합성 영상 제작 서비스</a:t>
            </a:r>
            <a:r>
              <a:rPr lang="en-US" altLang="ko-KR" sz="2000"/>
              <a:t>)</a:t>
            </a:r>
          </a:p>
          <a:p>
            <a:r>
              <a:rPr lang="en-US" altLang="ko-KR" sz="2000"/>
              <a:t>③ Edu Score </a:t>
            </a:r>
          </a:p>
          <a:p>
            <a:r>
              <a:rPr lang="en-US" altLang="ko-KR" sz="2000"/>
              <a:t>   (AI</a:t>
            </a:r>
            <a:r>
              <a:rPr lang="ko-KR" altLang="en-US" sz="2000"/>
              <a:t>기반 학생 평가 서비스</a:t>
            </a:r>
            <a:r>
              <a:rPr lang="en-US" altLang="ko-KR" sz="200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76B163-99E4-67A8-C3CA-2F4924D8D61A}"/>
              </a:ext>
            </a:extLst>
          </p:cNvPr>
          <p:cNvSpPr txBox="1"/>
          <p:nvPr/>
        </p:nvSpPr>
        <p:spPr>
          <a:xfrm>
            <a:off x="2928461" y="975439"/>
            <a:ext cx="4094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</a:rPr>
              <a:t>[5-1-1] </a:t>
            </a:r>
            <a:r>
              <a:rPr lang="ko-KR" altLang="en-US" sz="2000">
                <a:solidFill>
                  <a:srgbClr val="0000FF"/>
                </a:solidFill>
              </a:rPr>
              <a:t>인공지능 영향평가 개요</a:t>
            </a:r>
          </a:p>
          <a:p>
            <a:r>
              <a:rPr lang="en-US" altLang="ko-KR" sz="2000">
                <a:solidFill>
                  <a:srgbClr val="0000FF"/>
                </a:solidFill>
              </a:rPr>
              <a:t>[5-1-2] </a:t>
            </a:r>
            <a:r>
              <a:rPr lang="ko-KR" altLang="en-US" sz="2000">
                <a:solidFill>
                  <a:srgbClr val="0000FF"/>
                </a:solidFill>
              </a:rPr>
              <a:t>추진 근거 및 용어 정의</a:t>
            </a:r>
          </a:p>
          <a:p>
            <a:r>
              <a:rPr lang="en-US" altLang="ko-KR" sz="2000">
                <a:solidFill>
                  <a:srgbClr val="0000FF"/>
                </a:solidFill>
              </a:rPr>
              <a:t>[5-1-3] </a:t>
            </a:r>
            <a:r>
              <a:rPr lang="ko-KR" altLang="en-US" sz="2000">
                <a:solidFill>
                  <a:srgbClr val="0000FF"/>
                </a:solidFill>
              </a:rPr>
              <a:t>타 영향평가와의 관계</a:t>
            </a:r>
          </a:p>
        </p:txBody>
      </p:sp>
      <p:sp>
        <p:nvSpPr>
          <p:cNvPr id="24" name="왼쪽 중괄호 23">
            <a:extLst>
              <a:ext uri="{FF2B5EF4-FFF2-40B4-BE49-F238E27FC236}">
                <a16:creationId xmlns:a16="http://schemas.microsoft.com/office/drawing/2014/main" id="{DD7276CF-B7FD-CF00-E61A-962572BA76DD}"/>
              </a:ext>
            </a:extLst>
          </p:cNvPr>
          <p:cNvSpPr/>
          <p:nvPr/>
        </p:nvSpPr>
        <p:spPr>
          <a:xfrm>
            <a:off x="6067110" y="5026083"/>
            <a:ext cx="358072" cy="1360522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구부러짐 25">
            <a:extLst>
              <a:ext uri="{FF2B5EF4-FFF2-40B4-BE49-F238E27FC236}">
                <a16:creationId xmlns:a16="http://schemas.microsoft.com/office/drawing/2014/main" id="{30C31DFC-9173-DC0C-45FE-A34241EC86DB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5697180" y="5283492"/>
            <a:ext cx="369931" cy="422853"/>
          </a:xfrm>
          <a:prstGeom prst="curvedConnector2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왼쪽 중괄호 29">
            <a:extLst>
              <a:ext uri="{FF2B5EF4-FFF2-40B4-BE49-F238E27FC236}">
                <a16:creationId xmlns:a16="http://schemas.microsoft.com/office/drawing/2014/main" id="{B42BCB8A-29B0-442D-63A5-BA00B667C7AE}"/>
              </a:ext>
            </a:extLst>
          </p:cNvPr>
          <p:cNvSpPr/>
          <p:nvPr/>
        </p:nvSpPr>
        <p:spPr>
          <a:xfrm>
            <a:off x="7829509" y="1241687"/>
            <a:ext cx="258966" cy="652569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34972865-2F58-8C97-DCC4-08D0A2E53311}"/>
              </a:ext>
            </a:extLst>
          </p:cNvPr>
          <p:cNvCxnSpPr>
            <a:cxnSpLocks/>
            <a:stCxn id="30" idx="1"/>
          </p:cNvCxnSpPr>
          <p:nvPr/>
        </p:nvCxnSpPr>
        <p:spPr>
          <a:xfrm rot="10800000" flipV="1">
            <a:off x="4758421" y="1567972"/>
            <a:ext cx="3071089" cy="1378972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왼쪽 중괄호 32">
            <a:extLst>
              <a:ext uri="{FF2B5EF4-FFF2-40B4-BE49-F238E27FC236}">
                <a16:creationId xmlns:a16="http://schemas.microsoft.com/office/drawing/2014/main" id="{F9F2B15A-354C-1FBA-4E67-A9E236960170}"/>
              </a:ext>
            </a:extLst>
          </p:cNvPr>
          <p:cNvSpPr/>
          <p:nvPr/>
        </p:nvSpPr>
        <p:spPr>
          <a:xfrm>
            <a:off x="7872866" y="2212909"/>
            <a:ext cx="230165" cy="1221473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88C5E30A-97CD-1B32-8C49-3B0AC88E2ABB}"/>
              </a:ext>
            </a:extLst>
          </p:cNvPr>
          <p:cNvCxnSpPr>
            <a:cxnSpLocks/>
            <a:stCxn id="33" idx="1"/>
          </p:cNvCxnSpPr>
          <p:nvPr/>
        </p:nvCxnSpPr>
        <p:spPr>
          <a:xfrm rot="10800000" flipV="1">
            <a:off x="5101390" y="2823646"/>
            <a:ext cx="2771477" cy="678046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왼쪽 중괄호 36">
            <a:extLst>
              <a:ext uri="{FF2B5EF4-FFF2-40B4-BE49-F238E27FC236}">
                <a16:creationId xmlns:a16="http://schemas.microsoft.com/office/drawing/2014/main" id="{A574ED32-E616-F82D-7223-9F97DD8FCA80}"/>
              </a:ext>
            </a:extLst>
          </p:cNvPr>
          <p:cNvSpPr/>
          <p:nvPr/>
        </p:nvSpPr>
        <p:spPr>
          <a:xfrm>
            <a:off x="7881167" y="3818768"/>
            <a:ext cx="221864" cy="565281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7849A200-9D75-EE50-C577-8465478AECFB}"/>
              </a:ext>
            </a:extLst>
          </p:cNvPr>
          <p:cNvCxnSpPr>
            <a:cxnSpLocks/>
            <a:stCxn id="37" idx="1"/>
          </p:cNvCxnSpPr>
          <p:nvPr/>
        </p:nvCxnSpPr>
        <p:spPr>
          <a:xfrm rot="10800000">
            <a:off x="4146885" y="4101409"/>
            <a:ext cx="3734283" cy="12700"/>
          </a:xfrm>
          <a:prstGeom prst="curved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4A569D8-69D2-75B3-719D-778E924C0622}"/>
              </a:ext>
            </a:extLst>
          </p:cNvPr>
          <p:cNvSpPr txBox="1"/>
          <p:nvPr/>
        </p:nvSpPr>
        <p:spPr>
          <a:xfrm>
            <a:off x="1862891" y="2665086"/>
            <a:ext cx="40941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solidFill>
                  <a:srgbClr val="0000FF"/>
                </a:solidFill>
              </a:rPr>
              <a:t>[5-2-1] </a:t>
            </a:r>
            <a:r>
              <a:rPr lang="ko-KR" altLang="en-US" sz="2000">
                <a:solidFill>
                  <a:srgbClr val="0000FF"/>
                </a:solidFill>
              </a:rPr>
              <a:t>사전 준비 단계</a:t>
            </a:r>
            <a:endParaRPr lang="en-US" altLang="ko-KR" sz="2000">
              <a:solidFill>
                <a:srgbClr val="0000FF"/>
              </a:solidFill>
            </a:endParaRPr>
          </a:p>
          <a:p>
            <a:endParaRPr lang="en-US" altLang="ko-KR" sz="2000">
              <a:solidFill>
                <a:srgbClr val="0000FF"/>
              </a:solidFill>
            </a:endParaRPr>
          </a:p>
          <a:p>
            <a:r>
              <a:rPr lang="en-US" altLang="ko-KR" sz="2000">
                <a:solidFill>
                  <a:srgbClr val="0000FF"/>
                </a:solidFill>
              </a:rPr>
              <a:t>[5-2-2] </a:t>
            </a:r>
            <a:r>
              <a:rPr lang="ko-KR" altLang="en-US" sz="2000">
                <a:solidFill>
                  <a:srgbClr val="0000FF"/>
                </a:solidFill>
              </a:rPr>
              <a:t>본 평가 수행 단계</a:t>
            </a:r>
          </a:p>
          <a:p>
            <a:endParaRPr lang="en-US" altLang="ko-KR" sz="2000">
              <a:solidFill>
                <a:srgbClr val="0000FF"/>
              </a:solidFill>
            </a:endParaRPr>
          </a:p>
          <a:p>
            <a:r>
              <a:rPr lang="en-US" altLang="ko-KR" sz="2000">
                <a:solidFill>
                  <a:srgbClr val="0000FF"/>
                </a:solidFill>
              </a:rPr>
              <a:t>[5-2-3] </a:t>
            </a:r>
            <a:r>
              <a:rPr lang="ko-KR" altLang="en-US" sz="2000">
                <a:solidFill>
                  <a:srgbClr val="0000FF"/>
                </a:solidFill>
              </a:rPr>
              <a:t>사후 단계</a:t>
            </a:r>
          </a:p>
          <a:p>
            <a:endParaRPr lang="en-US" altLang="ko-KR" sz="2000">
              <a:solidFill>
                <a:srgbClr val="0000FF"/>
              </a:solidFill>
            </a:endParaRPr>
          </a:p>
          <a:p>
            <a:endParaRPr lang="ko-KR" altLang="en-US" sz="20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340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0F4B5-822C-7551-8B47-BD05D1E14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7AA31D-6034-A4CF-38E0-037883A5F940}"/>
              </a:ext>
            </a:extLst>
          </p:cNvPr>
          <p:cNvSpPr txBox="1"/>
          <p:nvPr/>
        </p:nvSpPr>
        <p:spPr>
          <a:xfrm>
            <a:off x="955838" y="230764"/>
            <a:ext cx="44182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시행령 제</a:t>
            </a:r>
            <a:r>
              <a:rPr lang="en-US" altLang="ko-KR"/>
              <a:t>24</a:t>
            </a:r>
            <a:r>
              <a:rPr lang="ko-KR" altLang="en-US"/>
              <a:t>조제</a:t>
            </a:r>
            <a:r>
              <a:rPr lang="en-US" altLang="ko-KR"/>
              <a:t>1</a:t>
            </a:r>
            <a:r>
              <a:rPr lang="ko-KR" altLang="en-US"/>
              <a:t>항 해당 판단</a:t>
            </a:r>
          </a:p>
          <a:p>
            <a:r>
              <a:rPr lang="ko-KR" altLang="en-US"/>
              <a:t>② 시행령 제</a:t>
            </a:r>
            <a:r>
              <a:rPr lang="en-US" altLang="ko-KR"/>
              <a:t>24</a:t>
            </a:r>
            <a:r>
              <a:rPr lang="ko-KR" altLang="en-US"/>
              <a:t>조제</a:t>
            </a:r>
            <a:r>
              <a:rPr lang="en-US" altLang="ko-KR"/>
              <a:t>1</a:t>
            </a:r>
            <a:r>
              <a:rPr lang="ko-KR" altLang="en-US"/>
              <a:t>항제</a:t>
            </a:r>
            <a:r>
              <a:rPr lang="en-US" altLang="ko-KR"/>
              <a:t>1</a:t>
            </a:r>
            <a:r>
              <a:rPr lang="ko-KR" altLang="en-US"/>
              <a:t>호 해당 판단</a:t>
            </a:r>
          </a:p>
          <a:p>
            <a:r>
              <a:rPr lang="ko-KR" altLang="en-US"/>
              <a:t>③ 시행령 제</a:t>
            </a:r>
            <a:r>
              <a:rPr lang="en-US" altLang="ko-KR"/>
              <a:t>24</a:t>
            </a:r>
            <a:r>
              <a:rPr lang="ko-KR" altLang="en-US"/>
              <a:t>조제</a:t>
            </a:r>
            <a:r>
              <a:rPr lang="en-US" altLang="ko-KR"/>
              <a:t>1</a:t>
            </a:r>
            <a:r>
              <a:rPr lang="ko-KR" altLang="en-US"/>
              <a:t>항제</a:t>
            </a:r>
            <a:r>
              <a:rPr lang="en-US" altLang="ko-KR"/>
              <a:t>2</a:t>
            </a:r>
            <a:r>
              <a:rPr lang="ko-KR" altLang="en-US"/>
              <a:t>호 해당 판단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88FE2-9E37-5FA3-175C-DCAF13DE6BB3}"/>
              </a:ext>
            </a:extLst>
          </p:cNvPr>
          <p:cNvSpPr txBox="1"/>
          <p:nvPr/>
        </p:nvSpPr>
        <p:spPr>
          <a:xfrm>
            <a:off x="1100790" y="1484007"/>
            <a:ext cx="4273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합리적으로 예상 가능한 위험 식별</a:t>
            </a:r>
          </a:p>
          <a:p>
            <a:r>
              <a:rPr lang="ko-KR" altLang="en-US"/>
              <a:t>② 위험 식별 절차 및 방법 마련</a:t>
            </a:r>
          </a:p>
          <a:p>
            <a:r>
              <a:rPr lang="ko-KR" altLang="en-US"/>
              <a:t>③ 위험 식별 결과의 문서화 및 관리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4B4719-3658-DFB0-214C-3B434A676C5D}"/>
              </a:ext>
            </a:extLst>
          </p:cNvPr>
          <p:cNvSpPr txBox="1"/>
          <p:nvPr/>
        </p:nvSpPr>
        <p:spPr>
          <a:xfrm>
            <a:off x="6385904" y="1015594"/>
            <a:ext cx="42733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위험의 중대성 및 실현 가능성 평가</a:t>
            </a:r>
          </a:p>
          <a:p>
            <a:r>
              <a:rPr lang="ko-KR" altLang="en-US"/>
              <a:t>② 위험 평가 조직 구성 및 운영</a:t>
            </a:r>
          </a:p>
          <a:p>
            <a:r>
              <a:rPr lang="ko-KR" altLang="en-US"/>
              <a:t>③ 위험 평가 기준</a:t>
            </a:r>
            <a:r>
              <a:rPr lang="en-US" altLang="ko-KR"/>
              <a:t>, </a:t>
            </a:r>
            <a:r>
              <a:rPr lang="ko-KR" altLang="en-US"/>
              <a:t>방법</a:t>
            </a:r>
            <a:r>
              <a:rPr lang="en-US" altLang="ko-KR"/>
              <a:t>, </a:t>
            </a:r>
            <a:r>
              <a:rPr lang="ko-KR" altLang="en-US"/>
              <a:t>절차 설정</a:t>
            </a:r>
          </a:p>
          <a:p>
            <a:r>
              <a:rPr lang="ko-KR" altLang="en-US"/>
              <a:t>④ 위험 평가 결과 검증</a:t>
            </a:r>
          </a:p>
          <a:p>
            <a:r>
              <a:rPr lang="ko-KR" altLang="en-US"/>
              <a:t>⑤ 위험 평가 결과의 문서화 및 관리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5BE64-9828-663B-8839-BAD65CFC7728}"/>
              </a:ext>
            </a:extLst>
          </p:cNvPr>
          <p:cNvSpPr txBox="1"/>
          <p:nvPr/>
        </p:nvSpPr>
        <p:spPr>
          <a:xfrm>
            <a:off x="604058" y="3148253"/>
            <a:ext cx="388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위험 완화 조치 수립 및 시행</a:t>
            </a:r>
          </a:p>
          <a:p>
            <a:r>
              <a:rPr lang="ko-KR" altLang="en-US"/>
              <a:t>② 위험 완화 조치의 문서화 및 관리</a:t>
            </a:r>
          </a:p>
          <a:p>
            <a:r>
              <a:rPr lang="ko-KR" altLang="en-US"/>
              <a:t>③ 긴급 대응 계획 수립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6F5990-F26D-9B66-EC41-6D5C119EB51A}"/>
              </a:ext>
            </a:extLst>
          </p:cNvPr>
          <p:cNvSpPr txBox="1"/>
          <p:nvPr/>
        </p:nvSpPr>
        <p:spPr>
          <a:xfrm>
            <a:off x="6303496" y="2967335"/>
            <a:ext cx="3887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안전사고 대응 조직 구성</a:t>
            </a:r>
          </a:p>
          <a:p>
            <a:r>
              <a:rPr lang="ko-KR" altLang="en-US"/>
              <a:t>② 안전사고 대응 절차 마련</a:t>
            </a:r>
          </a:p>
          <a:p>
            <a:r>
              <a:rPr lang="ko-KR" altLang="en-US"/>
              <a:t>③ 안전사고 예방을 위한 교육</a:t>
            </a:r>
            <a:r>
              <a:rPr lang="en-US" altLang="ko-KR"/>
              <a:t>, </a:t>
            </a:r>
            <a:r>
              <a:rPr lang="ko-KR" altLang="en-US"/>
              <a:t>훈련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B07A59-DF12-FD07-AEED-810BE34B9287}"/>
              </a:ext>
            </a:extLst>
          </p:cNvPr>
          <p:cNvSpPr txBox="1"/>
          <p:nvPr/>
        </p:nvSpPr>
        <p:spPr>
          <a:xfrm>
            <a:off x="475721" y="4620286"/>
            <a:ext cx="356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적용 대상 인지 후 초기 제출</a:t>
            </a:r>
          </a:p>
          <a:p>
            <a:r>
              <a:rPr lang="ko-KR" altLang="en-US"/>
              <a:t>② 특정 사유로 인한 추가 제출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741DA-000C-A85B-526E-51EFFCB58B03}"/>
              </a:ext>
            </a:extLst>
          </p:cNvPr>
          <p:cNvSpPr txBox="1"/>
          <p:nvPr/>
        </p:nvSpPr>
        <p:spPr>
          <a:xfrm>
            <a:off x="5597643" y="4481786"/>
            <a:ext cx="44447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① 사고 인지 </a:t>
            </a:r>
            <a:r>
              <a:rPr lang="en-US" altLang="ko-KR"/>
              <a:t>24</a:t>
            </a:r>
            <a:r>
              <a:rPr lang="ko-KR" altLang="en-US"/>
              <a:t>시간 최초 보고</a:t>
            </a:r>
          </a:p>
          <a:p>
            <a:r>
              <a:rPr lang="ko-KR" altLang="en-US"/>
              <a:t>② 사고 발생 </a:t>
            </a:r>
            <a:r>
              <a:rPr lang="en-US" altLang="ko-KR"/>
              <a:t>7</a:t>
            </a:r>
            <a:r>
              <a:rPr lang="ko-KR" altLang="en-US"/>
              <a:t>일 초동조치 보고</a:t>
            </a:r>
          </a:p>
          <a:p>
            <a:r>
              <a:rPr lang="ko-KR" altLang="en-US"/>
              <a:t>③ 사고 발생 </a:t>
            </a:r>
            <a:r>
              <a:rPr lang="en-US" altLang="ko-KR"/>
              <a:t>15</a:t>
            </a:r>
            <a:r>
              <a:rPr lang="ko-KR" altLang="en-US"/>
              <a:t>일 사고 처리 결과 보고</a:t>
            </a:r>
          </a:p>
        </p:txBody>
      </p:sp>
    </p:spTree>
    <p:extLst>
      <p:ext uri="{BB962C8B-B14F-4D97-AF65-F5344CB8AC3E}">
        <p14:creationId xmlns:p14="http://schemas.microsoft.com/office/powerpoint/2010/main" val="4225840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BB29D-9AD3-BC0F-6B8E-5C5E063AB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3B9F3D-B561-DAB3-5908-7CFA869961D0}"/>
              </a:ext>
            </a:extLst>
          </p:cNvPr>
          <p:cNvSpPr txBox="1"/>
          <p:nvPr/>
        </p:nvSpPr>
        <p:spPr>
          <a:xfrm>
            <a:off x="0" y="97972"/>
            <a:ext cx="46720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/>
              <a:t>[2-1] </a:t>
            </a:r>
            <a:r>
              <a:rPr lang="ko-KR" altLang="en-US" sz="2000" b="1"/>
              <a:t>개요 </a:t>
            </a:r>
            <a:endParaRPr lang="en-US" altLang="ko-KR" sz="2000" b="1"/>
          </a:p>
          <a:p>
            <a:endParaRPr lang="en-US" altLang="ko-KR" sz="2000" b="1"/>
          </a:p>
          <a:p>
            <a:r>
              <a:rPr lang="en-US" altLang="ko-KR" sz="2000" b="1"/>
              <a:t>[2-2] </a:t>
            </a:r>
            <a:r>
              <a:rPr lang="ko-KR" altLang="en-US" sz="2000" b="1"/>
              <a:t>적용 대상 및 의무 주체 판단</a:t>
            </a:r>
            <a:endParaRPr lang="en-US" altLang="ko-KR" sz="2000" b="1"/>
          </a:p>
          <a:p>
            <a:endParaRPr lang="ko-KR" altLang="en-US" sz="2000" b="1"/>
          </a:p>
          <a:p>
            <a:r>
              <a:rPr lang="en-US" altLang="ko-KR" sz="2000" b="1"/>
              <a:t>[2-3] </a:t>
            </a:r>
            <a:r>
              <a:rPr lang="ko-KR" altLang="en-US" sz="2000" b="1"/>
              <a:t>수명주기 전반에 걸친 위험관리</a:t>
            </a:r>
            <a:endParaRPr lang="en-US" altLang="ko-KR" sz="2000" b="1"/>
          </a:p>
          <a:p>
            <a:endParaRPr lang="ko-KR" altLang="en-US" sz="2000" b="1"/>
          </a:p>
          <a:p>
            <a:r>
              <a:rPr lang="en-US" altLang="ko-KR" sz="2000" b="1"/>
              <a:t>[2-4] </a:t>
            </a:r>
            <a:r>
              <a:rPr lang="ko-KR" altLang="en-US" sz="2000" b="1"/>
              <a:t>안전사고 모니터링 및 대응</a:t>
            </a:r>
            <a:endParaRPr lang="en-US" altLang="ko-KR" sz="2000" b="1"/>
          </a:p>
          <a:p>
            <a:endParaRPr lang="ko-KR" altLang="en-US" sz="2000" b="1"/>
          </a:p>
          <a:p>
            <a:r>
              <a:rPr lang="en-US" altLang="ko-KR" sz="2000" b="1"/>
              <a:t>[2-5] </a:t>
            </a:r>
            <a:r>
              <a:rPr lang="ko-KR" altLang="en-US" sz="2000" b="1"/>
              <a:t>보고 및 제출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D288E9-75B3-2633-BD4D-9B8DC10B9327}"/>
              </a:ext>
            </a:extLst>
          </p:cNvPr>
          <p:cNvSpPr txBox="1"/>
          <p:nvPr/>
        </p:nvSpPr>
        <p:spPr>
          <a:xfrm>
            <a:off x="4376058" y="97972"/>
            <a:ext cx="467207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[2-1-1] </a:t>
            </a:r>
            <a:r>
              <a:rPr lang="ko-KR" altLang="en-US"/>
              <a:t>목적 및 체계</a:t>
            </a:r>
          </a:p>
          <a:p>
            <a:r>
              <a:rPr lang="en-US" altLang="ko-KR"/>
              <a:t>[2-1-2] </a:t>
            </a:r>
            <a:r>
              <a:rPr lang="ko-KR" altLang="en-US"/>
              <a:t>근거 규정</a:t>
            </a:r>
          </a:p>
          <a:p>
            <a:r>
              <a:rPr lang="en-US" altLang="ko-KR"/>
              <a:t>[2-1-3] </a:t>
            </a:r>
            <a:r>
              <a:rPr lang="ko-KR" altLang="en-US"/>
              <a:t>주요 용어 및 참고자료</a:t>
            </a:r>
          </a:p>
          <a:p>
            <a:endParaRPr lang="ko-KR" altLang="en-US"/>
          </a:p>
          <a:p>
            <a:r>
              <a:rPr lang="en-US" altLang="ko-KR"/>
              <a:t>[2-2-1] </a:t>
            </a:r>
            <a:r>
              <a:rPr lang="ko-KR" altLang="en-US"/>
              <a:t>적용 대상 판단</a:t>
            </a:r>
          </a:p>
          <a:p>
            <a:r>
              <a:rPr lang="en-US" altLang="ko-KR"/>
              <a:t>[2-2-2] </a:t>
            </a:r>
            <a:r>
              <a:rPr lang="ko-KR" altLang="en-US"/>
              <a:t>의무 주체 판단</a:t>
            </a:r>
          </a:p>
          <a:p>
            <a:endParaRPr lang="en-US" altLang="ko-KR"/>
          </a:p>
          <a:p>
            <a:r>
              <a:rPr lang="en-US" altLang="ko-KR"/>
              <a:t>[2-3-1] </a:t>
            </a:r>
            <a:r>
              <a:rPr lang="ko-KR" altLang="en-US"/>
              <a:t>위험의 식별</a:t>
            </a:r>
          </a:p>
          <a:p>
            <a:r>
              <a:rPr lang="en-US" altLang="ko-KR"/>
              <a:t>[2-3-2] </a:t>
            </a:r>
            <a:r>
              <a:rPr lang="ko-KR" altLang="en-US"/>
              <a:t>위험의 평가</a:t>
            </a:r>
          </a:p>
          <a:p>
            <a:r>
              <a:rPr lang="en-US" altLang="ko-KR"/>
              <a:t>[2-3-3] </a:t>
            </a:r>
            <a:r>
              <a:rPr lang="ko-KR" altLang="en-US"/>
              <a:t>위험의 완화</a:t>
            </a:r>
          </a:p>
          <a:p>
            <a:endParaRPr lang="en-US" altLang="ko-KR"/>
          </a:p>
          <a:p>
            <a:r>
              <a:rPr lang="en-US" altLang="ko-KR"/>
              <a:t>[2-4-1] </a:t>
            </a:r>
            <a:r>
              <a:rPr lang="ko-KR" altLang="en-US"/>
              <a:t>위험관리체계의 구축</a:t>
            </a:r>
          </a:p>
          <a:p>
            <a:endParaRPr lang="en-US" altLang="ko-KR"/>
          </a:p>
          <a:p>
            <a:r>
              <a:rPr lang="en-US" altLang="ko-KR"/>
              <a:t>[2-5-1] </a:t>
            </a:r>
            <a:r>
              <a:rPr lang="ko-KR" altLang="en-US"/>
              <a:t>안전성 확보 조치 결과 제출</a:t>
            </a:r>
          </a:p>
          <a:p>
            <a:r>
              <a:rPr lang="en-US" altLang="ko-KR"/>
              <a:t>[2-5-2] </a:t>
            </a:r>
            <a:r>
              <a:rPr lang="ko-KR" altLang="en-US"/>
              <a:t>안전사고 발생 시 단계별 보고</a:t>
            </a:r>
          </a:p>
        </p:txBody>
      </p:sp>
    </p:spTree>
    <p:extLst>
      <p:ext uri="{BB962C8B-B14F-4D97-AF65-F5344CB8AC3E}">
        <p14:creationId xmlns:p14="http://schemas.microsoft.com/office/powerpoint/2010/main" val="2632567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10706</TotalTime>
  <Words>2411</Words>
  <Application>Microsoft Office PowerPoint</Application>
  <PresentationFormat>와이드스크린</PresentationFormat>
  <Paragraphs>395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양희정</cp:lastModifiedBy>
  <cp:revision>276</cp:revision>
  <cp:lastPrinted>2026-03-11T07:44:21Z</cp:lastPrinted>
  <dcterms:created xsi:type="dcterms:W3CDTF">2026-02-24T07:28:13Z</dcterms:created>
  <dcterms:modified xsi:type="dcterms:W3CDTF">2026-04-06T05:48:51Z</dcterms:modified>
</cp:coreProperties>
</file>