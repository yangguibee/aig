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4" r:id="rId2"/>
    <p:sldId id="326" r:id="rId3"/>
    <p:sldId id="344" r:id="rId4"/>
    <p:sldId id="343" r:id="rId5"/>
    <p:sldId id="402" r:id="rId6"/>
    <p:sldId id="345" r:id="rId7"/>
    <p:sldId id="294" r:id="rId8"/>
    <p:sldId id="266" r:id="rId9"/>
    <p:sldId id="317" r:id="rId10"/>
    <p:sldId id="400" r:id="rId11"/>
    <p:sldId id="401" r:id="rId12"/>
    <p:sldId id="405" r:id="rId13"/>
    <p:sldId id="406" r:id="rId14"/>
    <p:sldId id="407" r:id="rId15"/>
    <p:sldId id="408" r:id="rId1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85604" autoAdjust="0"/>
  </p:normalViewPr>
  <p:slideViewPr>
    <p:cSldViewPr snapToGrid="0">
      <p:cViewPr varScale="1">
        <p:scale>
          <a:sx n="70" d="100"/>
          <a:sy n="70" d="100"/>
        </p:scale>
        <p:origin x="1166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67D9-6553-1663-C2B0-864DFFBB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113C71-281B-B525-CFF1-09DAD7077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0F063C-7321-67E1-1600-350ACE0AE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EE460-A680-AB63-FCDD-EB1BCC59D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6452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rgbClr val="C00000"/>
                </a:solidFill>
              </a:rPr>
              <a:t>제</a:t>
            </a:r>
            <a:r>
              <a:rPr lang="en-US" altLang="ko-KR" sz="3200" b="1">
                <a:solidFill>
                  <a:srgbClr val="C00000"/>
                </a:solidFill>
              </a:rPr>
              <a:t>5</a:t>
            </a:r>
            <a:r>
              <a:rPr lang="ko-KR" altLang="en-US" sz="3200" b="1">
                <a:solidFill>
                  <a:srgbClr val="C00000"/>
                </a:solidFill>
              </a:rPr>
              <a:t>강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2583159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97269" y="2340203"/>
            <a:ext cx="2315057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9E4-758A-C78E-A53D-3910B909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A76F52-7E58-453D-EF02-1043B80A3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71" y="0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62636-D8A9-8842-AD3F-C0ABC4B93B15}"/>
              </a:ext>
            </a:extLst>
          </p:cNvPr>
          <p:cNvSpPr txBox="1"/>
          <p:nvPr/>
        </p:nvSpPr>
        <p:spPr>
          <a:xfrm>
            <a:off x="492493" y="987032"/>
            <a:ext cx="2302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4</a:t>
            </a:r>
            <a:r>
              <a:rPr lang="ko-KR" altLang="en-US" sz="2400" b="1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2400" b="1"/>
              <a:t>EU AI Act(2/2)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493942-5094-A12B-A71D-91E263095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755" y="396581"/>
            <a:ext cx="9145359" cy="630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4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5FC1-609C-6FE2-3779-38A0C759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F06E02-8EA2-2D89-3BF5-B66D94440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55171"/>
            <a:ext cx="12192000" cy="551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21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3852985" y="2767280"/>
            <a:ext cx="41905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/>
              <a:t>5</a:t>
            </a:r>
            <a:r>
              <a:rPr lang="ko-KR" altLang="en-US" sz="3200" b="1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/>
              <a:t>국내 </a:t>
            </a:r>
            <a:r>
              <a:rPr lang="en-US" altLang="ko-KR" sz="3200" b="1"/>
              <a:t>AI </a:t>
            </a:r>
            <a:r>
              <a:rPr lang="ko-KR" altLang="en-US" sz="3200" b="1"/>
              <a:t>기본법</a:t>
            </a:r>
            <a:r>
              <a:rPr lang="en-US" altLang="ko-KR" sz="3200" b="1"/>
              <a:t> (1/2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A0B1D-99CE-FE33-61F9-773BF899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DA2FEF-7A14-A1D9-14F4-550A2095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104311"/>
            <a:ext cx="11965070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6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DB30E-5615-40F2-9769-04AEC9F6A771}"/>
              </a:ext>
            </a:extLst>
          </p:cNvPr>
          <p:cNvSpPr txBox="1"/>
          <p:nvPr/>
        </p:nvSpPr>
        <p:spPr>
          <a:xfrm>
            <a:off x="493222" y="382385"/>
            <a:ext cx="3161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</a:rPr>
              <a:t>한국 </a:t>
            </a:r>
            <a:r>
              <a:rPr lang="en-US" altLang="ko-KR" sz="2000" b="1" dirty="0">
                <a:solidFill>
                  <a:srgbClr val="0000FF"/>
                </a:solidFill>
              </a:rPr>
              <a:t>AI</a:t>
            </a:r>
            <a:r>
              <a:rPr lang="ko-KR" altLang="en-US" sz="2000" b="1" dirty="0">
                <a:solidFill>
                  <a:srgbClr val="0000FF"/>
                </a:solidFill>
              </a:rPr>
              <a:t>기본법</a:t>
            </a:r>
            <a:r>
              <a:rPr lang="en-US" altLang="ko-KR" sz="2000" b="1" dirty="0">
                <a:solidFill>
                  <a:srgbClr val="0000FF"/>
                </a:solidFill>
              </a:rPr>
              <a:t> : TimeLine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5776C-858C-44D2-8A4C-7C90DE3ED88C}"/>
              </a:ext>
            </a:extLst>
          </p:cNvPr>
          <p:cNvSpPr txBox="1"/>
          <p:nvPr/>
        </p:nvSpPr>
        <p:spPr>
          <a:xfrm>
            <a:off x="10940695" y="6400477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&lt;Source: PwC&gt;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79956-9A6D-404D-914E-8190B8943F9A}"/>
              </a:ext>
            </a:extLst>
          </p:cNvPr>
          <p:cNvSpPr txBox="1"/>
          <p:nvPr/>
        </p:nvSpPr>
        <p:spPr>
          <a:xfrm>
            <a:off x="584095" y="782495"/>
            <a:ext cx="6781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EU AI Act</a:t>
            </a:r>
            <a:r>
              <a:rPr lang="ko-KR" altLang="en-US" dirty="0"/>
              <a:t>에 이은 세계 두 번째 </a:t>
            </a:r>
            <a:r>
              <a:rPr lang="en-US" altLang="ko-KR" dirty="0"/>
              <a:t>AI </a:t>
            </a:r>
            <a:r>
              <a:rPr lang="ko-KR" altLang="en-US" dirty="0"/>
              <a:t>포괄 규제 법 제정</a:t>
            </a:r>
            <a:endParaRPr lang="en-US" altLang="ko-KR" dirty="0"/>
          </a:p>
          <a:p>
            <a:r>
              <a:rPr lang="ko-KR" altLang="en-US" dirty="0"/>
              <a:t>→ </a:t>
            </a:r>
            <a:r>
              <a:rPr lang="en-US" altLang="ko-KR" dirty="0"/>
              <a:t>AI </a:t>
            </a:r>
            <a:r>
              <a:rPr lang="ko-KR" altLang="en-US" dirty="0"/>
              <a:t>산업 발전 및 윤리 ∙ 신뢰성 제고를 위한 제도적 기반 마련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44F5B2-5FBC-4B3D-8EC8-893A9669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5" y="1533466"/>
            <a:ext cx="11178957" cy="48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9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2FF4-531D-325E-DB43-76503B67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9F2B7C-2989-8439-88AD-A67D2A264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75" y="1876926"/>
            <a:ext cx="8351452" cy="4200429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162152-E7BC-5CF6-3567-F4C269F72F20}"/>
              </a:ext>
            </a:extLst>
          </p:cNvPr>
          <p:cNvSpPr txBox="1"/>
          <p:nvPr/>
        </p:nvSpPr>
        <p:spPr>
          <a:xfrm>
            <a:off x="8686801" y="200525"/>
            <a:ext cx="271111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제</a:t>
            </a:r>
            <a:r>
              <a:rPr lang="en-US" altLang="ko-KR" sz="700"/>
              <a:t>1</a:t>
            </a:r>
            <a:r>
              <a:rPr lang="ko-KR" altLang="en-US" sz="700"/>
              <a:t>장 총칙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목적</a:t>
            </a:r>
            <a:r>
              <a:rPr lang="en-US" altLang="ko-KR" sz="700"/>
              <a:t>)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정의</a:t>
            </a:r>
            <a:r>
              <a:rPr lang="en-US" altLang="ko-KR" sz="700"/>
              <a:t>)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기본원칙 및 국가 등의 책무</a:t>
            </a:r>
            <a:r>
              <a:rPr lang="en-US" altLang="ko-KR" sz="700"/>
              <a:t>)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4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적용범위</a:t>
            </a:r>
            <a:r>
              <a:rPr lang="en-US" altLang="ko-KR" sz="700"/>
              <a:t>)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5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다른 법률과의 관계</a:t>
            </a:r>
            <a:r>
              <a:rPr lang="en-US" altLang="ko-KR" sz="700"/>
              <a:t>)</a:t>
            </a:r>
          </a:p>
          <a:p>
            <a:endParaRPr lang="en-US" altLang="ko-KR" sz="700"/>
          </a:p>
          <a:p>
            <a:r>
              <a:rPr lang="ko-KR" altLang="en-US" sz="700"/>
              <a:t>제</a:t>
            </a:r>
            <a:r>
              <a:rPr lang="en-US" altLang="ko-KR" sz="700"/>
              <a:t>2</a:t>
            </a:r>
            <a:r>
              <a:rPr lang="ko-KR" altLang="en-US" sz="700"/>
              <a:t>장 인공지능의 건전한 발전과 신뢰 기반 조성을 위한 추진체계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6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기본계획의 수립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7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국가인공지능전략위원회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8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위원회의 기능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9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위원의 제척ㆍ기피 및 회피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10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분과위원회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11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인공지능정책센터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12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인공지능안전연구소</a:t>
            </a:r>
            <a:r>
              <a:rPr lang="en-US" altLang="ko-KR" sz="700"/>
              <a:t>) </a:t>
            </a:r>
          </a:p>
          <a:p>
            <a:endParaRPr lang="en-US" altLang="ko-KR" sz="700"/>
          </a:p>
          <a:p>
            <a:r>
              <a:rPr lang="ko-KR" altLang="en-US" sz="700"/>
              <a:t>제</a:t>
            </a:r>
            <a:r>
              <a:rPr lang="en-US" altLang="ko-KR" sz="700"/>
              <a:t>3</a:t>
            </a:r>
            <a:r>
              <a:rPr lang="ko-KR" altLang="en-US" sz="700"/>
              <a:t>장 인공지능기술 개발 및 산업 육성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</a:t>
            </a:r>
            <a:r>
              <a:rPr lang="ko-KR" altLang="en-US" sz="700"/>
              <a:t>절 인공지능산업 기반 조성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13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인공지능기술 개발 및 안전한 이용 지원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14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인공지능기술의 표준화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15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학습용데이터 관련 시책의 수립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</a:t>
            </a:r>
            <a:r>
              <a:rPr lang="ko-KR" altLang="en-US" sz="700"/>
              <a:t>절 인공지능기술 개발 및 인공지능산업 활성화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16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인공지능기술 도입ㆍ활용 시책 등</a:t>
            </a:r>
            <a:r>
              <a:rPr lang="en-US" altLang="ko-KR" sz="700"/>
              <a:t>)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17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중소기업등을 위한 특별지원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18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창업의 활성화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19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융합의 촉진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20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제도개선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21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전문인력의 확보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22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국제협력 및 해외시장 진출의 지원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22</a:t>
            </a:r>
            <a:r>
              <a:rPr lang="ko-KR" altLang="en-US" sz="700"/>
              <a:t>조의</a:t>
            </a:r>
            <a:r>
              <a:rPr lang="en-US" altLang="ko-KR" sz="700"/>
              <a:t>2(</a:t>
            </a:r>
            <a:r>
              <a:rPr lang="ko-KR" altLang="en-US" sz="700"/>
              <a:t>인공지능연구소의 설립 및 지원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22</a:t>
            </a:r>
            <a:r>
              <a:rPr lang="ko-KR" altLang="en-US" sz="700"/>
              <a:t>조의</a:t>
            </a:r>
            <a:r>
              <a:rPr lang="en-US" altLang="ko-KR" sz="700"/>
              <a:t>3(</a:t>
            </a:r>
            <a:r>
              <a:rPr lang="ko-KR" altLang="en-US" sz="700"/>
              <a:t>인공지능기술 확보를 위한 연구기관의 설립ㆍ운영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23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인공지능집적단지 지정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24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실증기반 조성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25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데이터센터 관련 시책의 추진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26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한국인공지능진흥협회의 설립</a:t>
            </a:r>
            <a:r>
              <a:rPr lang="en-US" altLang="ko-KR" sz="700"/>
              <a:t>) </a:t>
            </a:r>
          </a:p>
          <a:p>
            <a:endParaRPr lang="en-US" altLang="ko-KR" sz="700"/>
          </a:p>
          <a:p>
            <a:r>
              <a:rPr lang="ko-KR" altLang="en-US" sz="700"/>
              <a:t>제</a:t>
            </a:r>
            <a:r>
              <a:rPr lang="en-US" altLang="ko-KR" sz="700"/>
              <a:t>4</a:t>
            </a:r>
            <a:r>
              <a:rPr lang="ko-KR" altLang="en-US" sz="700"/>
              <a:t>장 인공지능윤리 및 신뢰성 확보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27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윤리원칙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28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민간자율인공지능윤리위원회의 설치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29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신뢰 기반 조성을 위한 시책의 마련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30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안전성ㆍ신뢰성 검ㆍ인증등 지원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31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투명성 확보 의무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32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 안전성 확보 의무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33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고영향 인공지능의 확인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34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고영향 인공지능과 관련한 사업자의 책무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35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고영향 인공지능 영향평가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36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국내대리인 지정</a:t>
            </a:r>
            <a:r>
              <a:rPr lang="en-US" altLang="ko-KR" sz="700"/>
              <a:t>)</a:t>
            </a:r>
          </a:p>
          <a:p>
            <a:endParaRPr lang="en-US" altLang="ko-KR" sz="700"/>
          </a:p>
          <a:p>
            <a:r>
              <a:rPr lang="ko-KR" altLang="en-US" sz="700"/>
              <a:t>제</a:t>
            </a:r>
            <a:r>
              <a:rPr lang="en-US" altLang="ko-KR" sz="700"/>
              <a:t>5</a:t>
            </a:r>
            <a:r>
              <a:rPr lang="ko-KR" altLang="en-US" sz="700"/>
              <a:t>장 보칙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37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인공지능산업의 진흥을 위한 재원의 확충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38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실태조사</a:t>
            </a:r>
            <a:r>
              <a:rPr lang="en-US" altLang="ko-KR" sz="700"/>
              <a:t>, </a:t>
            </a:r>
            <a:r>
              <a:rPr lang="ko-KR" altLang="en-US" sz="700"/>
              <a:t>통계 및 지표의 작성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39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권한의 위임 및 업무의 위탁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40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사실조사 등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41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벌칙 적용에서 공무원 의제</a:t>
            </a:r>
            <a:r>
              <a:rPr lang="en-US" altLang="ko-KR" sz="700"/>
              <a:t>) </a:t>
            </a:r>
          </a:p>
          <a:p>
            <a:endParaRPr lang="en-US" altLang="ko-KR" sz="700"/>
          </a:p>
          <a:p>
            <a:r>
              <a:rPr lang="ko-KR" altLang="en-US" sz="700"/>
              <a:t>제</a:t>
            </a:r>
            <a:r>
              <a:rPr lang="en-US" altLang="ko-KR" sz="700"/>
              <a:t>6</a:t>
            </a:r>
            <a:r>
              <a:rPr lang="ko-KR" altLang="en-US" sz="700"/>
              <a:t>장 벌칙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42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벌칙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제</a:t>
            </a:r>
            <a:r>
              <a:rPr lang="en-US" altLang="ko-KR" sz="700"/>
              <a:t>43</a:t>
            </a:r>
            <a:r>
              <a:rPr lang="ko-KR" altLang="en-US" sz="700"/>
              <a:t>조</a:t>
            </a:r>
            <a:r>
              <a:rPr lang="en-US" altLang="ko-KR" sz="700"/>
              <a:t>(</a:t>
            </a:r>
            <a:r>
              <a:rPr lang="ko-KR" altLang="en-US" sz="700"/>
              <a:t>과태료</a:t>
            </a:r>
            <a:r>
              <a:rPr lang="en-US" altLang="ko-KR" sz="700"/>
              <a:t>) </a:t>
            </a:r>
          </a:p>
          <a:p>
            <a:r>
              <a:rPr lang="ko-KR" altLang="en-US" sz="700"/>
              <a:t>부칙</a:t>
            </a:r>
          </a:p>
        </p:txBody>
      </p:sp>
      <p:pic>
        <p:nvPicPr>
          <p:cNvPr id="6" name="그림 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34DB63-E5B2-CA8A-7E5A-9EBE27333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47" y="355889"/>
            <a:ext cx="6111770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58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49E91292-BFDB-6B48-1F08-22D681638468}"/>
              </a:ext>
            </a:extLst>
          </p:cNvPr>
          <p:cNvCxnSpPr>
            <a:cxnSpLocks/>
            <a:stCxn id="5" idx="0"/>
            <a:endCxn id="11" idx="1"/>
          </p:cNvCxnSpPr>
          <p:nvPr/>
        </p:nvCxnSpPr>
        <p:spPr>
          <a:xfrm rot="16200000" flipH="1">
            <a:off x="3219859" y="1170064"/>
            <a:ext cx="145373" cy="2060659"/>
          </a:xfrm>
          <a:prstGeom prst="curvedConnector4">
            <a:avLst>
              <a:gd name="adj1" fmla="val -113494"/>
              <a:gd name="adj2" fmla="val 7388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2820B1-94F7-DE48-5309-091ACE47F731}"/>
              </a:ext>
            </a:extLst>
          </p:cNvPr>
          <p:cNvSpPr txBox="1"/>
          <p:nvPr/>
        </p:nvSpPr>
        <p:spPr>
          <a:xfrm>
            <a:off x="138077" y="712216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1</a:t>
            </a:r>
            <a:r>
              <a:rPr lang="ko-KR" altLang="en-US" b="1">
                <a:solidFill>
                  <a:srgbClr val="0000FF"/>
                </a:solidFill>
              </a:rPr>
              <a:t>장 총칙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CDE85A-DABE-A87B-695D-E0F06BCD6FF6}"/>
              </a:ext>
            </a:extLst>
          </p:cNvPr>
          <p:cNvSpPr txBox="1"/>
          <p:nvPr/>
        </p:nvSpPr>
        <p:spPr>
          <a:xfrm>
            <a:off x="138077" y="2127707"/>
            <a:ext cx="4248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2</a:t>
            </a:r>
            <a:r>
              <a:rPr lang="ko-KR" altLang="en-US" b="1">
                <a:solidFill>
                  <a:srgbClr val="0000FF"/>
                </a:solidFill>
              </a:rPr>
              <a:t>장 인공지능의 건전한 발전과 </a:t>
            </a:r>
            <a:endParaRPr lang="en-US" altLang="ko-KR" b="1">
              <a:solidFill>
                <a:srgbClr val="0000FF"/>
              </a:solidFill>
            </a:endParaRPr>
          </a:p>
          <a:p>
            <a:r>
              <a:rPr lang="en-US" altLang="ko-KR" b="1">
                <a:solidFill>
                  <a:srgbClr val="0000FF"/>
                </a:solidFill>
              </a:rPr>
              <a:t>        </a:t>
            </a:r>
            <a:r>
              <a:rPr lang="ko-KR" altLang="en-US" b="1">
                <a:solidFill>
                  <a:srgbClr val="0000FF"/>
                </a:solidFill>
              </a:rPr>
              <a:t>신뢰 기반 조성을 위한 추진체계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E6FA3-3712-A175-349A-7187E4EA5A8D}"/>
              </a:ext>
            </a:extLst>
          </p:cNvPr>
          <p:cNvSpPr txBox="1"/>
          <p:nvPr/>
        </p:nvSpPr>
        <p:spPr>
          <a:xfrm>
            <a:off x="138077" y="3360266"/>
            <a:ext cx="4270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3</a:t>
            </a:r>
            <a:r>
              <a:rPr lang="ko-KR" altLang="en-US" b="1">
                <a:solidFill>
                  <a:srgbClr val="0000FF"/>
                </a:solidFill>
              </a:rPr>
              <a:t>장 인공지능기술 개발 및 산업 육성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CAF9F-FF69-B54F-7772-E056957F1687}"/>
              </a:ext>
            </a:extLst>
          </p:cNvPr>
          <p:cNvSpPr txBox="1"/>
          <p:nvPr/>
        </p:nvSpPr>
        <p:spPr>
          <a:xfrm>
            <a:off x="138077" y="4242468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4</a:t>
            </a:r>
            <a:r>
              <a:rPr lang="ko-KR" altLang="en-US" b="1">
                <a:solidFill>
                  <a:srgbClr val="0000FF"/>
                </a:solidFill>
              </a:rPr>
              <a:t>장 인공지능윤리 및 신뢰성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3E69B-E55E-3E24-C430-087A2B32C9D3}"/>
              </a:ext>
            </a:extLst>
          </p:cNvPr>
          <p:cNvSpPr txBox="1"/>
          <p:nvPr/>
        </p:nvSpPr>
        <p:spPr>
          <a:xfrm>
            <a:off x="138077" y="5217003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5</a:t>
            </a:r>
            <a:r>
              <a:rPr lang="ko-KR" altLang="en-US" b="1">
                <a:solidFill>
                  <a:srgbClr val="0000FF"/>
                </a:solidFill>
              </a:rPr>
              <a:t>장 보칙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195D7-34AC-355D-99B5-55DA0AFBAE09}"/>
              </a:ext>
            </a:extLst>
          </p:cNvPr>
          <p:cNvSpPr txBox="1"/>
          <p:nvPr/>
        </p:nvSpPr>
        <p:spPr>
          <a:xfrm>
            <a:off x="138077" y="6191538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6</a:t>
            </a:r>
            <a:r>
              <a:rPr lang="ko-KR" altLang="en-US" b="1">
                <a:solidFill>
                  <a:srgbClr val="0000FF"/>
                </a:solidFill>
              </a:rPr>
              <a:t>장 벌칙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D3D65-B774-2765-2C7F-77B1ECFEEFFC}"/>
              </a:ext>
            </a:extLst>
          </p:cNvPr>
          <p:cNvSpPr txBox="1"/>
          <p:nvPr/>
        </p:nvSpPr>
        <p:spPr>
          <a:xfrm>
            <a:off x="1345779" y="701721"/>
            <a:ext cx="29770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목적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정의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기본원칙 및 국가 등의 책무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적용범위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다른 법률과의 관계</a:t>
            </a:r>
            <a:r>
              <a:rPr lang="en-US" altLang="ko-KR" sz="140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8290C-9E16-224D-A4DC-8E26904D4CAE}"/>
              </a:ext>
            </a:extLst>
          </p:cNvPr>
          <p:cNvSpPr txBox="1"/>
          <p:nvPr/>
        </p:nvSpPr>
        <p:spPr>
          <a:xfrm>
            <a:off x="4322876" y="1472861"/>
            <a:ext cx="297709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기본계획의 수립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국가인공지능전략위원회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위원회의 기능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위원의 제척ㆍ기피 및 회피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분과위원회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인공지능정책센터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인공지능안전연구소</a:t>
            </a:r>
            <a:r>
              <a:rPr lang="en-US" altLang="ko-KR" sz="1400"/>
              <a:t>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AA0AB-E914-DE5A-460E-0020DC8DE4CA}"/>
              </a:ext>
            </a:extLst>
          </p:cNvPr>
          <p:cNvSpPr txBox="1"/>
          <p:nvPr/>
        </p:nvSpPr>
        <p:spPr>
          <a:xfrm>
            <a:off x="7079874" y="641482"/>
            <a:ext cx="521328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절 인공지능산업 기반 조성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 개발 및 안전한 이용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인공지능기술의 표준화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학습용데이터 관련 시책의 수립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절 인공지능기술 개발 및 인공지능산업 활성화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 도입ㆍ활용 시책 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중소기업등을 위한 특별지원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창업의 활성화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융합의 촉진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제도개선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전문인력의 확보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국제협력 및 해외시장 진출의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조의</a:t>
            </a:r>
            <a:r>
              <a:rPr lang="en-US" altLang="ko-KR" sz="1400"/>
              <a:t>2(</a:t>
            </a:r>
            <a:r>
              <a:rPr lang="ko-KR" altLang="en-US" sz="1400"/>
              <a:t>인공지능연구소의 설립 및 지원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조의</a:t>
            </a:r>
            <a:r>
              <a:rPr lang="en-US" altLang="ko-KR" sz="1400"/>
              <a:t>3(</a:t>
            </a:r>
            <a:r>
              <a:rPr lang="ko-KR" altLang="en-US" sz="1400"/>
              <a:t>인공지능기술 확보를 위한 연구기관의 설립ㆍ운영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인공지능집적단지 지정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실증기반 조성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데이터센터 관련 시책의 추진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한국인공지능진흥협회의 설립</a:t>
            </a:r>
            <a:r>
              <a:rPr lang="en-US" altLang="ko-KR" sz="1400"/>
              <a:t>)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07CE3-F54C-1AC5-E423-2A6578C48679}"/>
              </a:ext>
            </a:extLst>
          </p:cNvPr>
          <p:cNvSpPr txBox="1"/>
          <p:nvPr/>
        </p:nvSpPr>
        <p:spPr>
          <a:xfrm>
            <a:off x="3440981" y="4278284"/>
            <a:ext cx="452078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27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윤리원칙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민간자율인공지능윤리위원회의 설치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신뢰 기반 조성을 위한 시책의 마련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안전성ㆍ신뢰성 검ㆍ인증등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투명성 확보 의무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안전성 확보 의무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인공지능의 확인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인공지능과 관련한 사업자의 책무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 영향평가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국내대리인 지정</a:t>
            </a:r>
            <a:r>
              <a:rPr lang="en-US" altLang="ko-KR" sz="140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D6FDF3-1BE0-4F9A-D4D3-C1A19223EF84}"/>
              </a:ext>
            </a:extLst>
          </p:cNvPr>
          <p:cNvSpPr txBox="1"/>
          <p:nvPr/>
        </p:nvSpPr>
        <p:spPr>
          <a:xfrm>
            <a:off x="7733728" y="5606762"/>
            <a:ext cx="44582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37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인공지능산업의 진흥을 위한 재원의 확충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실태조사</a:t>
            </a:r>
            <a:r>
              <a:rPr lang="en-US" altLang="ko-KR" sz="1400"/>
              <a:t>, </a:t>
            </a:r>
            <a:r>
              <a:rPr lang="ko-KR" altLang="en-US" sz="1400"/>
              <a:t>통계 및 지표의 작성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권한의 위임 및 업무의 위탁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사실조사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벌칙 적용에서 공무원 의제</a:t>
            </a:r>
            <a:r>
              <a:rPr lang="en-US" altLang="ko-KR" sz="1400"/>
              <a:t>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CAF87-1D3F-CC21-5DF5-D655F6AEC60A}"/>
              </a:ext>
            </a:extLst>
          </p:cNvPr>
          <p:cNvSpPr txBox="1"/>
          <p:nvPr/>
        </p:nvSpPr>
        <p:spPr>
          <a:xfrm>
            <a:off x="1745104" y="6239175"/>
            <a:ext cx="145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42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벌칙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과태료</a:t>
            </a:r>
            <a:r>
              <a:rPr lang="en-US" altLang="ko-KR" sz="1400"/>
              <a:t>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A18AA-C536-6479-D00D-50CB637B84B5}"/>
              </a:ext>
            </a:extLst>
          </p:cNvPr>
          <p:cNvSpPr txBox="1"/>
          <p:nvPr/>
        </p:nvSpPr>
        <p:spPr>
          <a:xfrm>
            <a:off x="178954" y="95605"/>
            <a:ext cx="537358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bg1"/>
                </a:solidFill>
              </a:rPr>
              <a:t>인공지능 발전과 신뢰 기반 조성 등에 관한 기본법</a:t>
            </a:r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9C207ED5-67AC-0383-D110-EDA470331952}"/>
              </a:ext>
            </a:extLst>
          </p:cNvPr>
          <p:cNvCxnSpPr>
            <a:stCxn id="4" idx="2"/>
            <a:endCxn id="10" idx="1"/>
          </p:cNvCxnSpPr>
          <p:nvPr/>
        </p:nvCxnSpPr>
        <p:spPr>
          <a:xfrm rot="16200000" flipH="1">
            <a:off x="970153" y="910870"/>
            <a:ext cx="204949" cy="546303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393B402D-9A11-27C4-6DE1-E982C2508D5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408798" y="3544932"/>
            <a:ext cx="2671076" cy="3811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16A5597A-AE9B-0C5C-D526-57943B59CB04}"/>
              </a:ext>
            </a:extLst>
          </p:cNvPr>
          <p:cNvCxnSpPr>
            <a:cxnSpLocks/>
            <a:stCxn id="7" idx="2"/>
            <a:endCxn id="13" idx="1"/>
          </p:cNvCxnSpPr>
          <p:nvPr/>
        </p:nvCxnSpPr>
        <p:spPr>
          <a:xfrm rot="16200000" flipH="1">
            <a:off x="2227836" y="4188523"/>
            <a:ext cx="789869" cy="1636422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7251A347-E7AB-EAEC-C5CF-04B934FB73B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542629" y="5401669"/>
            <a:ext cx="6175906" cy="1209783"/>
          </a:xfrm>
          <a:prstGeom prst="curvedConnector3">
            <a:avLst>
              <a:gd name="adj1" fmla="val 1263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구부러짐 44">
            <a:extLst>
              <a:ext uri="{FF2B5EF4-FFF2-40B4-BE49-F238E27FC236}">
                <a16:creationId xmlns:a16="http://schemas.microsoft.com/office/drawing/2014/main" id="{47B6AF2E-CA58-6102-2FCC-B7793EF3C884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542629" y="6376204"/>
            <a:ext cx="202475" cy="124581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57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6BE1-BB7C-D8D1-EBE4-2AB3EBBC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434A05-316F-6491-88E6-778FDF96F7A9}"/>
              </a:ext>
            </a:extLst>
          </p:cNvPr>
          <p:cNvSpPr txBox="1"/>
          <p:nvPr/>
        </p:nvSpPr>
        <p:spPr>
          <a:xfrm>
            <a:off x="138077" y="792426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1</a:t>
            </a:r>
            <a:r>
              <a:rPr lang="ko-KR" altLang="en-US" b="1">
                <a:solidFill>
                  <a:srgbClr val="0000FF"/>
                </a:solidFill>
              </a:rPr>
              <a:t>장 총칙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B5875-089C-008E-F20C-4BCF8C1A51C1}"/>
              </a:ext>
            </a:extLst>
          </p:cNvPr>
          <p:cNvSpPr txBox="1"/>
          <p:nvPr/>
        </p:nvSpPr>
        <p:spPr>
          <a:xfrm>
            <a:off x="138077" y="2207917"/>
            <a:ext cx="4248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2</a:t>
            </a:r>
            <a:r>
              <a:rPr lang="ko-KR" altLang="en-US" b="1">
                <a:solidFill>
                  <a:srgbClr val="0000FF"/>
                </a:solidFill>
              </a:rPr>
              <a:t>장 인공지능의 건전한 발전과 </a:t>
            </a:r>
            <a:endParaRPr lang="en-US" altLang="ko-KR" b="1">
              <a:solidFill>
                <a:srgbClr val="0000FF"/>
              </a:solidFill>
            </a:endParaRPr>
          </a:p>
          <a:p>
            <a:r>
              <a:rPr lang="en-US" altLang="ko-KR" b="1">
                <a:solidFill>
                  <a:srgbClr val="0000FF"/>
                </a:solidFill>
              </a:rPr>
              <a:t>        </a:t>
            </a:r>
            <a:r>
              <a:rPr lang="ko-KR" altLang="en-US" b="1">
                <a:solidFill>
                  <a:srgbClr val="0000FF"/>
                </a:solidFill>
              </a:rPr>
              <a:t>신뢰 기반 조성을 위한 추진체계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0E7FA-EE2F-CF25-7577-68CA39A2CD75}"/>
              </a:ext>
            </a:extLst>
          </p:cNvPr>
          <p:cNvSpPr txBox="1"/>
          <p:nvPr/>
        </p:nvSpPr>
        <p:spPr>
          <a:xfrm>
            <a:off x="138077" y="3440476"/>
            <a:ext cx="4270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3</a:t>
            </a:r>
            <a:r>
              <a:rPr lang="ko-KR" altLang="en-US" b="1">
                <a:solidFill>
                  <a:srgbClr val="0000FF"/>
                </a:solidFill>
              </a:rPr>
              <a:t>장 인공지능기술 개발 및 산업 육성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F6F93-3CA5-534C-BB9B-D686BB015C7A}"/>
              </a:ext>
            </a:extLst>
          </p:cNvPr>
          <p:cNvSpPr txBox="1"/>
          <p:nvPr/>
        </p:nvSpPr>
        <p:spPr>
          <a:xfrm>
            <a:off x="138077" y="4322678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4</a:t>
            </a:r>
            <a:r>
              <a:rPr lang="ko-KR" altLang="en-US" b="1">
                <a:solidFill>
                  <a:srgbClr val="0000FF"/>
                </a:solidFill>
              </a:rPr>
              <a:t>장 인공지능윤리 및 신뢰성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9E495-B1AB-9245-1A68-3A5700DF427D}"/>
              </a:ext>
            </a:extLst>
          </p:cNvPr>
          <p:cNvSpPr txBox="1"/>
          <p:nvPr/>
        </p:nvSpPr>
        <p:spPr>
          <a:xfrm>
            <a:off x="138077" y="5297213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5</a:t>
            </a:r>
            <a:r>
              <a:rPr lang="ko-KR" altLang="en-US" b="1">
                <a:solidFill>
                  <a:srgbClr val="0000FF"/>
                </a:solidFill>
              </a:rPr>
              <a:t>장 보칙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4F082-6228-0998-D0AE-939F133A1664}"/>
              </a:ext>
            </a:extLst>
          </p:cNvPr>
          <p:cNvSpPr txBox="1"/>
          <p:nvPr/>
        </p:nvSpPr>
        <p:spPr>
          <a:xfrm>
            <a:off x="138077" y="62717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부칙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684CA-899D-C95E-39A4-0A6ACC30BD30}"/>
              </a:ext>
            </a:extLst>
          </p:cNvPr>
          <p:cNvSpPr txBox="1"/>
          <p:nvPr/>
        </p:nvSpPr>
        <p:spPr>
          <a:xfrm>
            <a:off x="1588795" y="792426"/>
            <a:ext cx="2797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목적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법의 적용 제외 인공지능</a:t>
            </a:r>
            <a:r>
              <a:rPr lang="en-US" altLang="ko-KR" sz="1400"/>
              <a:t>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B4D63-CD99-449E-0FFE-554781A539B2}"/>
              </a:ext>
            </a:extLst>
          </p:cNvPr>
          <p:cNvSpPr txBox="1"/>
          <p:nvPr/>
        </p:nvSpPr>
        <p:spPr>
          <a:xfrm>
            <a:off x="4109018" y="1268399"/>
            <a:ext cx="357020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기본계획의 수립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국가인공지능전략위원회의 구성 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위원회의 운영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국가인공지능전략위원회지원단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개선권고의 이행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분과위원회 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인공지능정책센터의 지정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인공지능안전연구소의 운영 등</a:t>
            </a:r>
            <a:r>
              <a:rPr lang="en-US" altLang="ko-KR" sz="1400"/>
              <a:t>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B5214-4D0A-8D2D-96CB-C6767C9E72CD}"/>
              </a:ext>
            </a:extLst>
          </p:cNvPr>
          <p:cNvSpPr txBox="1"/>
          <p:nvPr/>
        </p:nvSpPr>
        <p:spPr>
          <a:xfrm>
            <a:off x="7679226" y="977092"/>
            <a:ext cx="451277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절 인공지능산업 기반 조성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 개발 및 안전한 이용 지원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학습용데이터 지원대상사업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학습용데이터 통합제공시스템의 구축 및 관리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비용의 징수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절 인공지능기술 개발 및 인공지능산업 활성화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 도입ㆍ활용 지원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국제협력 및 해외시장 진출 지원 위탁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인공지능집적단지 지정 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인공지능집적단지 전담기관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실증기반 조성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한국인공지능진흥협회의 설립인가ㆍ지정 등</a:t>
            </a:r>
            <a:r>
              <a:rPr lang="en-US" altLang="ko-KR" sz="1400"/>
              <a:t>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86757-F7B2-24CE-3E85-A9B02EE99376}"/>
              </a:ext>
            </a:extLst>
          </p:cNvPr>
          <p:cNvSpPr txBox="1"/>
          <p:nvPr/>
        </p:nvSpPr>
        <p:spPr>
          <a:xfrm>
            <a:off x="7315390" y="3773719"/>
            <a:ext cx="43332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21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윤리원칙의 제정 및 공표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안전성ㆍ신뢰성 검ㆍ인증등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투명성 확보 의무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안전성 확보 의무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인공지능의 확인 절차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전문위원회의 설치 및 운영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인공지능과 관련한 사업자의 책무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 영향평가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국내대리인 지정 사업자의 기준</a:t>
            </a:r>
            <a:r>
              <a:rPr lang="en-US" altLang="ko-KR" sz="140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19CC1-A37C-96C8-B12D-1FD5E5AE49AC}"/>
              </a:ext>
            </a:extLst>
          </p:cNvPr>
          <p:cNvSpPr txBox="1"/>
          <p:nvPr/>
        </p:nvSpPr>
        <p:spPr>
          <a:xfrm>
            <a:off x="1941803" y="4886753"/>
            <a:ext cx="53735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시행일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다른 법령의 폐지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전담기관에 관한 특례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국가인공지능전략위원회의 사무이관 등에 관한 경과조치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국가인공지능전략위원회지원단에 관한 경과조치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파견 공무원 등에 관한 경과조치</a:t>
            </a:r>
            <a:r>
              <a:rPr lang="en-US" altLang="ko-KR" sz="1400"/>
              <a:t>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424462-6645-253F-7AB5-94E5007D05A8}"/>
              </a:ext>
            </a:extLst>
          </p:cNvPr>
          <p:cNvSpPr txBox="1"/>
          <p:nvPr/>
        </p:nvSpPr>
        <p:spPr>
          <a:xfrm>
            <a:off x="8024688" y="5794694"/>
            <a:ext cx="32960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30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실태조사</a:t>
            </a:r>
            <a:r>
              <a:rPr lang="en-US" altLang="ko-KR" sz="1400"/>
              <a:t>, </a:t>
            </a:r>
            <a:r>
              <a:rPr lang="ko-KR" altLang="en-US" sz="1400"/>
              <a:t>통계 및 지표의 작성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업무의 위탁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과태료의 부과기준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규제의 재검토</a:t>
            </a:r>
            <a:r>
              <a:rPr lang="en-US" altLang="ko-KR" sz="1400"/>
              <a:t>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3A280C-5806-BBBC-5EF2-4F3826A038C5}"/>
              </a:ext>
            </a:extLst>
          </p:cNvPr>
          <p:cNvSpPr txBox="1"/>
          <p:nvPr/>
        </p:nvSpPr>
        <p:spPr>
          <a:xfrm>
            <a:off x="178954" y="95605"/>
            <a:ext cx="61478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bg1"/>
                </a:solidFill>
              </a:rPr>
              <a:t>인공지능 발전과 신뢰 기반 조성 등에 관한 기본법 시행령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2C057E6A-D540-2955-6274-49756273D45D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>
          <a:xfrm rot="5400000" flipH="1" flipV="1">
            <a:off x="1140274" y="713237"/>
            <a:ext cx="107722" cy="789319"/>
          </a:xfrm>
          <a:prstGeom prst="curvedConnector4">
            <a:avLst>
              <a:gd name="adj1" fmla="val -212213"/>
              <a:gd name="adj2" fmla="val 9189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C41C3E0E-C84A-8797-3CA2-39AE3E4AB686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3031166" y="1130066"/>
            <a:ext cx="308902" cy="1846801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D5931915-5B32-A0FD-487C-4B5F934DF649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408798" y="2315920"/>
            <a:ext cx="3247986" cy="1309222"/>
          </a:xfrm>
          <a:prstGeom prst="curvedConnector3">
            <a:avLst>
              <a:gd name="adj1" fmla="val 9558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555B9B95-DC6D-3AB7-1298-7F1185052B8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471041" y="4507344"/>
            <a:ext cx="3844349" cy="282038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0D39C5C4-FBD2-98EE-F3C9-3AA79608EA41}"/>
              </a:ext>
            </a:extLst>
          </p:cNvPr>
          <p:cNvCxnSpPr>
            <a:cxnSpLocks/>
            <a:stCxn id="8" idx="2"/>
            <a:endCxn id="14" idx="1"/>
          </p:cNvCxnSpPr>
          <p:nvPr/>
        </p:nvCxnSpPr>
        <p:spPr>
          <a:xfrm rot="5400000" flipH="1" flipV="1">
            <a:off x="1347431" y="5072173"/>
            <a:ext cx="87294" cy="1101450"/>
          </a:xfrm>
          <a:prstGeom prst="curvedConnector4">
            <a:avLst>
              <a:gd name="adj1" fmla="val -261874"/>
              <a:gd name="adj2" fmla="val 8188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44E75D4-1336-B47E-C1E6-8247E563C4C8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784408" y="6271748"/>
            <a:ext cx="7240280" cy="184666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65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AD0CF3-BB88-1A8A-5C27-BB7E78A7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4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A9E1-7547-9D9F-13AF-FB6C3C65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E4DA18-C284-6215-7173-01E5E811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113"/>
            <a:ext cx="12192000" cy="44087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D58A084-D474-0A32-0337-BFF18EE22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701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B883C5-6900-C341-3263-848191BB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8829"/>
            <a:ext cx="12192000" cy="20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08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FC11-0C84-867D-2879-ABDD5C0C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091BF6-9F5A-D548-F72E-06FDED36F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" y="381000"/>
            <a:ext cx="12181407" cy="6477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435793-CCD8-CE11-F9C8-15EB6D583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05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5367B0D-0257-3CAA-F924-D72A21EC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113"/>
            <a:ext cx="12192000" cy="33963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7ACBF0-05DE-2159-F8F5-907AD42DA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3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9319</TotalTime>
  <Words>1529</Words>
  <Application>Microsoft Office PowerPoint</Application>
  <PresentationFormat>와이드스크린</PresentationFormat>
  <Paragraphs>211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양희정</cp:lastModifiedBy>
  <cp:revision>266</cp:revision>
  <cp:lastPrinted>2026-03-11T07:44:21Z</cp:lastPrinted>
  <dcterms:created xsi:type="dcterms:W3CDTF">2026-02-24T07:28:13Z</dcterms:created>
  <dcterms:modified xsi:type="dcterms:W3CDTF">2026-03-29T13:30:16Z</dcterms:modified>
</cp:coreProperties>
</file>