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4" r:id="rId2"/>
    <p:sldId id="326" r:id="rId3"/>
    <p:sldId id="344" r:id="rId4"/>
    <p:sldId id="343" r:id="rId5"/>
    <p:sldId id="345" r:id="rId6"/>
    <p:sldId id="399" r:id="rId7"/>
    <p:sldId id="398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85604" autoAdjust="0"/>
  </p:normalViewPr>
  <p:slideViewPr>
    <p:cSldViewPr snapToGrid="0">
      <p:cViewPr varScale="1">
        <p:scale>
          <a:sx n="70" d="100"/>
          <a:sy n="70" d="100"/>
        </p:scale>
        <p:origin x="44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C218-3105-1216-96EA-F91ABE9D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DEF7A8-C8F6-2A33-491C-EAB6B3014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2DDC5C-C2FE-F18A-DC56-3EDDBB411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A1F159-4885-C452-4035-909638C78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122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9996-EFC5-BB6D-22D8-1DC6112A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4C1864-EA3C-3555-A700-344F14F51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5F65B-7B2C-D5E9-BC8C-77307E81F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B89965-BC46-3C31-6CFB-11F0F4D00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90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4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2234816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97269" y="1807632"/>
            <a:ext cx="2307773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6" y="116149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731978" y="1103181"/>
            <a:ext cx="2302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3</a:t>
            </a:r>
            <a:r>
              <a:rPr lang="ko-KR" altLang="en-US" sz="2400" b="1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/>
              <a:t>EU AI Act(1/2)</a:t>
            </a:r>
            <a:endParaRPr lang="ko-KR" alt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508D6-ABBD-4457-86E7-07DAA3257DB7}"/>
              </a:ext>
            </a:extLst>
          </p:cNvPr>
          <p:cNvSpPr txBox="1"/>
          <p:nvPr/>
        </p:nvSpPr>
        <p:spPr>
          <a:xfrm>
            <a:off x="3549337" y="674400"/>
            <a:ext cx="7334059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/>
              <a:t>EU</a:t>
            </a:r>
            <a:r>
              <a:rPr lang="ko-KR" altLang="en-US" sz="2000" b="1"/>
              <a:t> 조직</a:t>
            </a:r>
            <a:r>
              <a:rPr lang="en-US" altLang="ko-KR" sz="2000" b="1"/>
              <a:t>, </a:t>
            </a:r>
          </a:p>
          <a:p>
            <a:r>
              <a:rPr lang="en-US" altLang="ko-KR" sz="2000" b="1"/>
              <a:t>EU AI Act </a:t>
            </a:r>
            <a:r>
              <a:rPr lang="ko-KR" altLang="en-US" sz="2000" b="1"/>
              <a:t>주요내용</a:t>
            </a:r>
            <a:r>
              <a:rPr lang="en-US" altLang="ko-KR" sz="2000" b="1"/>
              <a:t>/</a:t>
            </a:r>
            <a:r>
              <a:rPr lang="ko-KR" altLang="en-US" sz="2000" b="1"/>
              <a:t>특징</a:t>
            </a:r>
            <a:r>
              <a:rPr lang="en-US" altLang="ko-KR" sz="2000" b="1"/>
              <a:t>/</a:t>
            </a:r>
            <a:r>
              <a:rPr lang="ko-KR" altLang="en-US" sz="2000" b="1"/>
              <a:t>타임라인</a:t>
            </a:r>
            <a:r>
              <a:rPr lang="en-US" altLang="ko-KR" sz="2000" b="1"/>
              <a:t>/</a:t>
            </a:r>
            <a:r>
              <a:rPr lang="ko-KR" altLang="en-US" sz="2000" b="1"/>
              <a:t>법률체계</a:t>
            </a:r>
            <a:r>
              <a:rPr lang="en-US" altLang="ko-KR" sz="2000" b="1"/>
              <a:t>/</a:t>
            </a:r>
            <a:r>
              <a:rPr lang="ko-KR" altLang="en-US" sz="2000" b="1"/>
              <a:t>세부구성</a:t>
            </a:r>
            <a:r>
              <a:rPr lang="en-US" altLang="ko-KR" sz="2000" b="1"/>
              <a:t>/</a:t>
            </a:r>
            <a:r>
              <a:rPr lang="ko-KR" altLang="en-US" sz="2000" b="1"/>
              <a:t>도입부</a:t>
            </a:r>
            <a:endParaRPr lang="en-US" altLang="ko-KR" sz="2000" b="1"/>
          </a:p>
          <a:p>
            <a:endParaRPr lang="en-US" altLang="ko-KR" sz="2800" b="1"/>
          </a:p>
          <a:p>
            <a:r>
              <a:rPr lang="ko-KR" altLang="en-US" sz="2800" b="1"/>
              <a:t>제</a:t>
            </a:r>
            <a:r>
              <a:rPr lang="en-US" altLang="ko-KR" sz="2800" b="1"/>
              <a:t>1</a:t>
            </a:r>
            <a:r>
              <a:rPr lang="ko-KR" altLang="en-US" sz="2800" b="1"/>
              <a:t>장</a:t>
            </a:r>
            <a:r>
              <a:rPr lang="en-US" altLang="ko-KR" sz="2800" b="1"/>
              <a:t>. </a:t>
            </a:r>
            <a:r>
              <a:rPr lang="ko-KR" altLang="en-US" sz="2800" b="1"/>
              <a:t>총칙</a:t>
            </a:r>
            <a:endParaRPr lang="en-US" altLang="ko-KR" sz="2800" b="1"/>
          </a:p>
          <a:p>
            <a:r>
              <a:rPr lang="ko-KR" altLang="en-US" sz="2000" b="1"/>
              <a:t>제</a:t>
            </a:r>
            <a:r>
              <a:rPr lang="en-US" altLang="ko-KR" sz="2000" b="1"/>
              <a:t>1</a:t>
            </a:r>
            <a:r>
              <a:rPr lang="ko-KR" altLang="en-US" sz="2000" b="1"/>
              <a:t>조 </a:t>
            </a:r>
            <a:r>
              <a:rPr lang="en-US" altLang="ko-KR" sz="2000" b="1"/>
              <a:t>(</a:t>
            </a:r>
            <a:r>
              <a:rPr lang="ko-KR" altLang="en-US" sz="2000" b="1"/>
              <a:t>주제</a:t>
            </a:r>
            <a:r>
              <a:rPr lang="en-US" altLang="ko-KR" sz="2000" b="1"/>
              <a:t>, Subject matter)</a:t>
            </a:r>
          </a:p>
          <a:p>
            <a:r>
              <a:rPr lang="en-US" altLang="ko-KR" sz="2000" b="1"/>
              <a:t>         </a:t>
            </a:r>
            <a:r>
              <a:rPr lang="en-US" altLang="ko-KR" sz="2000"/>
              <a:t>EU AI Act</a:t>
            </a:r>
            <a:r>
              <a:rPr lang="ko-KR" altLang="en-US" sz="2000"/>
              <a:t>의 입법 목적과 규율 대상을 선언</a:t>
            </a:r>
          </a:p>
          <a:p>
            <a:r>
              <a:rPr lang="ko-KR" altLang="en-US" sz="2000" b="1"/>
              <a:t>제</a:t>
            </a:r>
            <a:r>
              <a:rPr lang="en-US" altLang="ko-KR" sz="2000" b="1"/>
              <a:t>2</a:t>
            </a:r>
            <a:r>
              <a:rPr lang="ko-KR" altLang="en-US" sz="2000" b="1"/>
              <a:t>조 </a:t>
            </a:r>
            <a:r>
              <a:rPr lang="en-US" altLang="ko-KR" sz="2000" b="1"/>
              <a:t>(</a:t>
            </a:r>
            <a:r>
              <a:rPr lang="ko-KR" altLang="en-US" sz="2000" b="1"/>
              <a:t>적용범위</a:t>
            </a:r>
            <a:r>
              <a:rPr lang="en-US" altLang="ko-KR" sz="2000" b="1"/>
              <a:t>, Scope)</a:t>
            </a:r>
          </a:p>
          <a:p>
            <a:r>
              <a:rPr lang="en-US" altLang="ko-KR" sz="2000" b="1"/>
              <a:t>         </a:t>
            </a:r>
            <a:r>
              <a:rPr lang="ko-KR" altLang="en-US" sz="2000"/>
              <a:t>누가</a:t>
            </a:r>
            <a:r>
              <a:rPr lang="en-US" altLang="ko-KR" sz="2000"/>
              <a:t>, </a:t>
            </a:r>
            <a:r>
              <a:rPr lang="ko-KR" altLang="en-US" sz="2000"/>
              <a:t>언제</a:t>
            </a:r>
            <a:r>
              <a:rPr lang="en-US" altLang="ko-KR" sz="2000"/>
              <a:t>, </a:t>
            </a:r>
            <a:r>
              <a:rPr lang="ko-KR" altLang="en-US" sz="2000"/>
              <a:t>어디에서 이 규정을 따라야 하는지 규정</a:t>
            </a:r>
          </a:p>
          <a:p>
            <a:r>
              <a:rPr lang="ko-KR" altLang="en-US" sz="2000" b="1"/>
              <a:t>제</a:t>
            </a:r>
            <a:r>
              <a:rPr lang="en-US" altLang="ko-KR" sz="2000" b="1"/>
              <a:t>3</a:t>
            </a:r>
            <a:r>
              <a:rPr lang="ko-KR" altLang="en-US" sz="2000" b="1"/>
              <a:t>조 </a:t>
            </a:r>
            <a:r>
              <a:rPr lang="en-US" altLang="ko-KR" sz="2000" b="1"/>
              <a:t>(</a:t>
            </a:r>
            <a:r>
              <a:rPr lang="ko-KR" altLang="en-US" sz="2000" b="1"/>
              <a:t>정의</a:t>
            </a:r>
            <a:r>
              <a:rPr lang="en-US" altLang="ko-KR" sz="2000" b="1"/>
              <a:t>, Definitions)</a:t>
            </a:r>
          </a:p>
          <a:p>
            <a:r>
              <a:rPr lang="en-US" altLang="ko-KR" sz="2000" b="1"/>
              <a:t>         </a:t>
            </a:r>
            <a:r>
              <a:rPr lang="en-US" altLang="ko-KR" sz="2000"/>
              <a:t>EU AI Act </a:t>
            </a:r>
            <a:r>
              <a:rPr lang="ko-KR" altLang="en-US" sz="2000"/>
              <a:t>전체를 관통하는 핵심 개념 정의</a:t>
            </a:r>
          </a:p>
          <a:p>
            <a:r>
              <a:rPr lang="ko-KR" altLang="en-US" sz="2000" b="1"/>
              <a:t>제</a:t>
            </a:r>
            <a:r>
              <a:rPr lang="en-US" altLang="ko-KR" sz="2000" b="1"/>
              <a:t>4</a:t>
            </a:r>
            <a:r>
              <a:rPr lang="ko-KR" altLang="en-US" sz="2000" b="1"/>
              <a:t>조 </a:t>
            </a:r>
            <a:r>
              <a:rPr lang="en-US" altLang="ko-KR" sz="2000" b="1"/>
              <a:t>(</a:t>
            </a:r>
            <a:r>
              <a:rPr lang="ko-KR" altLang="en-US" sz="2000" b="1"/>
              <a:t>인공지능 문해력</a:t>
            </a:r>
            <a:r>
              <a:rPr lang="en-US" altLang="ko-KR" sz="2000" b="1"/>
              <a:t>, AI literacy)</a:t>
            </a:r>
          </a:p>
          <a:p>
            <a:r>
              <a:rPr lang="en-US" altLang="ko-KR" sz="2000" b="1"/>
              <a:t>         </a:t>
            </a:r>
            <a:r>
              <a:rPr lang="en-US" altLang="ko-KR" sz="2000"/>
              <a:t>AI </a:t>
            </a:r>
            <a:r>
              <a:rPr lang="ko-KR" altLang="en-US" sz="2000"/>
              <a:t>규제를 기술적 통제만이 아닌 역량 기반 규제로 확장</a:t>
            </a:r>
          </a:p>
          <a:p>
            <a:endParaRPr lang="ko-KR" altLang="en-US" sz="2000" b="1"/>
          </a:p>
          <a:p>
            <a:r>
              <a:rPr lang="ko-KR" altLang="en-US" sz="2800" b="1"/>
              <a:t>제</a:t>
            </a:r>
            <a:r>
              <a:rPr lang="en-US" altLang="ko-KR" sz="2800" b="1"/>
              <a:t>2</a:t>
            </a:r>
            <a:r>
              <a:rPr lang="ko-KR" altLang="en-US" sz="2800" b="1"/>
              <a:t>장</a:t>
            </a:r>
            <a:r>
              <a:rPr lang="en-US" altLang="ko-KR" sz="2800" b="1"/>
              <a:t>. </a:t>
            </a:r>
            <a:r>
              <a:rPr lang="ko-KR" altLang="en-US" sz="2800" b="1"/>
              <a:t>금지된 관행</a:t>
            </a:r>
            <a:endParaRPr lang="en-US" altLang="ko-KR" sz="2800" b="1"/>
          </a:p>
          <a:p>
            <a:r>
              <a:rPr lang="ko-KR" altLang="en-US" sz="2000" b="1"/>
              <a:t>제</a:t>
            </a:r>
            <a:r>
              <a:rPr lang="en-US" altLang="ko-KR" sz="2000" b="1"/>
              <a:t>5</a:t>
            </a:r>
            <a:r>
              <a:rPr lang="ko-KR" altLang="en-US" sz="2000" b="1"/>
              <a:t>조 </a:t>
            </a:r>
            <a:r>
              <a:rPr lang="en-US" altLang="ko-KR" sz="2000" b="1"/>
              <a:t>: </a:t>
            </a:r>
            <a:r>
              <a:rPr lang="ko-KR" altLang="en-US" sz="2000" b="1"/>
              <a:t>금지된 인공지능 관행</a:t>
            </a:r>
          </a:p>
          <a:p>
            <a:endParaRPr lang="ko-KR" altLang="en-US" sz="2000" b="1"/>
          </a:p>
          <a:p>
            <a:r>
              <a:rPr lang="ko-KR" altLang="en-US" sz="2800" b="1"/>
              <a:t>제</a:t>
            </a:r>
            <a:r>
              <a:rPr lang="en-US" altLang="ko-KR" sz="2800" b="1"/>
              <a:t>3</a:t>
            </a:r>
            <a:r>
              <a:rPr lang="ko-KR" altLang="en-US" sz="2800" b="1"/>
              <a:t>장</a:t>
            </a:r>
            <a:r>
              <a:rPr lang="en-US" altLang="ko-KR" sz="2800" b="1"/>
              <a:t>. </a:t>
            </a:r>
            <a:r>
              <a:rPr lang="ko-KR" altLang="en-US" sz="2800" b="1"/>
              <a:t>고위험 인공지능 시스템</a:t>
            </a:r>
          </a:p>
        </p:txBody>
      </p:sp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373959" y="2767280"/>
            <a:ext cx="31486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4</a:t>
            </a:r>
            <a:r>
              <a:rPr lang="ko-KR" altLang="en-US" sz="3200" b="1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EU AI </a:t>
            </a:r>
            <a:r>
              <a:rPr lang="en-US" altLang="ko-KR" sz="3200" b="1"/>
              <a:t>Act (2/2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1EB3-3D3E-5E00-0341-92404E65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B72CCA-A802-C59D-60AE-A3690645516C}"/>
              </a:ext>
            </a:extLst>
          </p:cNvPr>
          <p:cNvSpPr txBox="1"/>
          <p:nvPr/>
        </p:nvSpPr>
        <p:spPr>
          <a:xfrm>
            <a:off x="0" y="619032"/>
            <a:ext cx="542328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1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총칙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2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금지된 관행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3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고위험 인공지능 시스템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4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투명성 의무 </a:t>
            </a:r>
            <a:r>
              <a:rPr lang="en-US" altLang="ko-KR" b="1">
                <a:solidFill>
                  <a:srgbClr val="0000FF"/>
                </a:solidFill>
              </a:rPr>
              <a:t>/ </a:t>
            </a:r>
            <a:r>
              <a:rPr lang="ko-KR" altLang="en-US" b="1">
                <a:solidFill>
                  <a:srgbClr val="0000FF"/>
                </a:solidFill>
              </a:rPr>
              <a:t>특정 </a:t>
            </a:r>
            <a:r>
              <a:rPr lang="en-US" altLang="ko-KR" b="1">
                <a:solidFill>
                  <a:srgbClr val="0000FF"/>
                </a:solidFill>
              </a:rPr>
              <a:t>AI </a:t>
            </a:r>
            <a:r>
              <a:rPr lang="ko-KR" altLang="en-US" b="1">
                <a:solidFill>
                  <a:srgbClr val="0000FF"/>
                </a:solidFill>
              </a:rPr>
              <a:t>시스템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5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범용 </a:t>
            </a:r>
            <a:r>
              <a:rPr lang="en-US" altLang="ko-KR" b="1">
                <a:solidFill>
                  <a:srgbClr val="0000FF"/>
                </a:solidFill>
              </a:rPr>
              <a:t>AI(GPAI) </a:t>
            </a:r>
            <a:r>
              <a:rPr lang="ko-KR" altLang="en-US" b="1">
                <a:solidFill>
                  <a:srgbClr val="0000FF"/>
                </a:solidFill>
              </a:rPr>
              <a:t>및 고성능 </a:t>
            </a:r>
            <a:r>
              <a:rPr lang="en-US" altLang="ko-KR" b="1">
                <a:solidFill>
                  <a:srgbClr val="0000FF"/>
                </a:solidFill>
              </a:rPr>
              <a:t>GPAI </a:t>
            </a:r>
            <a:r>
              <a:rPr lang="ko-KR" altLang="en-US" b="1">
                <a:solidFill>
                  <a:srgbClr val="0000FF"/>
                </a:solidFill>
              </a:rPr>
              <a:t>규제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6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AI </a:t>
            </a:r>
            <a:r>
              <a:rPr lang="ko-KR" altLang="en-US" b="1">
                <a:solidFill>
                  <a:srgbClr val="0000FF"/>
                </a:solidFill>
              </a:rPr>
              <a:t>규제 샌드박스 및 혁신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7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거버넌스 </a:t>
            </a:r>
            <a:r>
              <a:rPr lang="en-US" altLang="ko-KR" b="1">
                <a:solidFill>
                  <a:srgbClr val="0000FF"/>
                </a:solidFill>
              </a:rPr>
              <a:t>(EU AI Office, </a:t>
            </a:r>
            <a:r>
              <a:rPr lang="ko-KR" altLang="en-US" b="1">
                <a:solidFill>
                  <a:srgbClr val="0000FF"/>
                </a:solidFill>
              </a:rPr>
              <a:t>위원회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국가 감독</a:t>
            </a:r>
            <a:r>
              <a:rPr lang="en-US" altLang="ko-KR" b="1">
                <a:solidFill>
                  <a:srgbClr val="0000FF"/>
                </a:solidFill>
              </a:rPr>
              <a:t>)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8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시장감시 </a:t>
            </a:r>
            <a:r>
              <a:rPr lang="en-US" altLang="ko-KR" b="1">
                <a:solidFill>
                  <a:srgbClr val="0000FF"/>
                </a:solidFill>
              </a:rPr>
              <a:t>/ </a:t>
            </a:r>
            <a:r>
              <a:rPr lang="ko-KR" altLang="en-US" b="1">
                <a:solidFill>
                  <a:srgbClr val="0000FF"/>
                </a:solidFill>
              </a:rPr>
              <a:t>집행 </a:t>
            </a:r>
            <a:r>
              <a:rPr lang="en-US" altLang="ko-KR" b="1">
                <a:solidFill>
                  <a:srgbClr val="0000FF"/>
                </a:solidFill>
              </a:rPr>
              <a:t>/ </a:t>
            </a:r>
            <a:r>
              <a:rPr lang="ko-KR" altLang="en-US" b="1">
                <a:solidFill>
                  <a:srgbClr val="0000FF"/>
                </a:solidFill>
              </a:rPr>
              <a:t>벌칙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9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문서</a:t>
            </a:r>
            <a:r>
              <a:rPr lang="en-US" altLang="ko-KR" b="1">
                <a:solidFill>
                  <a:srgbClr val="0000FF"/>
                </a:solidFill>
              </a:rPr>
              <a:t>·</a:t>
            </a:r>
            <a:r>
              <a:rPr lang="ko-KR" altLang="en-US" b="1">
                <a:solidFill>
                  <a:srgbClr val="0000FF"/>
                </a:solidFill>
              </a:rPr>
              <a:t>등록</a:t>
            </a:r>
            <a:r>
              <a:rPr lang="en-US" altLang="ko-KR" b="1">
                <a:solidFill>
                  <a:srgbClr val="0000FF"/>
                </a:solidFill>
              </a:rPr>
              <a:t>·</a:t>
            </a:r>
            <a:r>
              <a:rPr lang="ko-KR" altLang="en-US" b="1">
                <a:solidFill>
                  <a:srgbClr val="0000FF"/>
                </a:solidFill>
              </a:rPr>
              <a:t>표준</a:t>
            </a:r>
            <a:r>
              <a:rPr lang="en-US" altLang="ko-KR" b="1">
                <a:solidFill>
                  <a:srgbClr val="0000FF"/>
                </a:solidFill>
              </a:rPr>
              <a:t>·</a:t>
            </a:r>
            <a:r>
              <a:rPr lang="ko-KR" altLang="en-US" b="1">
                <a:solidFill>
                  <a:srgbClr val="0000FF"/>
                </a:solidFill>
              </a:rPr>
              <a:t>인증</a:t>
            </a:r>
            <a:r>
              <a:rPr lang="en-US" altLang="ko-KR" b="1">
                <a:solidFill>
                  <a:srgbClr val="0000FF"/>
                </a:solidFill>
              </a:rPr>
              <a:t>·CE </a:t>
            </a:r>
            <a:r>
              <a:rPr lang="ko-KR" altLang="en-US" b="1">
                <a:solidFill>
                  <a:srgbClr val="0000FF"/>
                </a:solidFill>
              </a:rPr>
              <a:t>마크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10</a:t>
            </a:r>
            <a:r>
              <a:rPr lang="ko-KR" altLang="en-US" b="1">
                <a:solidFill>
                  <a:srgbClr val="0000FF"/>
                </a:solidFill>
              </a:rPr>
              <a:t>장</a:t>
            </a:r>
            <a:r>
              <a:rPr lang="en-US" altLang="ko-KR" b="1">
                <a:solidFill>
                  <a:srgbClr val="0000FF"/>
                </a:solidFill>
              </a:rPr>
              <a:t>. </a:t>
            </a:r>
            <a:r>
              <a:rPr lang="ko-KR" altLang="en-US" b="1">
                <a:solidFill>
                  <a:srgbClr val="0000FF"/>
                </a:solidFill>
              </a:rPr>
              <a:t>최종 조항</a:t>
            </a:r>
          </a:p>
          <a:p>
            <a:endParaRPr lang="en-US" altLang="ko-KR" b="1">
              <a:solidFill>
                <a:srgbClr val="0000FF"/>
              </a:solidFill>
            </a:endParaRPr>
          </a:p>
          <a:p>
            <a:r>
              <a:rPr lang="ko-KR" altLang="en-US" b="1">
                <a:solidFill>
                  <a:srgbClr val="0000FF"/>
                </a:solidFill>
              </a:rPr>
              <a:t>부속서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B71EB7-EFDF-CF50-F772-727BA35F5C72}"/>
              </a:ext>
            </a:extLst>
          </p:cNvPr>
          <p:cNvSpPr txBox="1"/>
          <p:nvPr/>
        </p:nvSpPr>
        <p:spPr>
          <a:xfrm>
            <a:off x="1641166" y="215443"/>
            <a:ext cx="1906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1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주제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2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적용범위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3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정의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인공지능 문해력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81A45-1296-B53F-73B8-B3182C7F6BC8}"/>
              </a:ext>
            </a:extLst>
          </p:cNvPr>
          <p:cNvSpPr txBox="1"/>
          <p:nvPr/>
        </p:nvSpPr>
        <p:spPr>
          <a:xfrm>
            <a:off x="2189411" y="1189640"/>
            <a:ext cx="2214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제</a:t>
            </a:r>
            <a:r>
              <a:rPr lang="en-US" altLang="ko-KR" sz="1200"/>
              <a:t>5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금지된 인공지능 관행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4DFA-F58A-09ED-5A2E-98BA88894A57}"/>
              </a:ext>
            </a:extLst>
          </p:cNvPr>
          <p:cNvSpPr txBox="1"/>
          <p:nvPr/>
        </p:nvSpPr>
        <p:spPr>
          <a:xfrm>
            <a:off x="8927633" y="26561"/>
            <a:ext cx="324640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6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고위험 인공지능시스템의 분류 규칙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7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부속서 </a:t>
            </a:r>
            <a:r>
              <a:rPr lang="en-US" altLang="ko-KR" sz="1200">
                <a:solidFill>
                  <a:srgbClr val="0000FF"/>
                </a:solidFill>
              </a:rPr>
              <a:t>III</a:t>
            </a:r>
            <a:r>
              <a:rPr lang="ko-KR" altLang="en-US" sz="1200">
                <a:solidFill>
                  <a:srgbClr val="0000FF"/>
                </a:solidFill>
              </a:rPr>
              <a:t>의 개정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8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요건의 준수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9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위험관리시스템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10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데이터 및 데이터 거버넌스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11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기술문서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12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기록 관리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13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투명성 및 정보 제공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14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인적 감독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15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정확성</a:t>
            </a:r>
            <a:r>
              <a:rPr lang="en-US" altLang="ko-KR" sz="1200">
                <a:solidFill>
                  <a:srgbClr val="0000FF"/>
                </a:solidFill>
              </a:rPr>
              <a:t>·</a:t>
            </a:r>
            <a:r>
              <a:rPr lang="ko-KR" altLang="en-US" sz="1200">
                <a:solidFill>
                  <a:srgbClr val="0000FF"/>
                </a:solidFill>
              </a:rPr>
              <a:t>견고성</a:t>
            </a:r>
            <a:r>
              <a:rPr lang="en-US" altLang="ko-KR" sz="1200">
                <a:solidFill>
                  <a:srgbClr val="0000FF"/>
                </a:solidFill>
              </a:rPr>
              <a:t>·</a:t>
            </a:r>
            <a:r>
              <a:rPr lang="ko-KR" altLang="en-US" sz="1200">
                <a:solidFill>
                  <a:srgbClr val="0000FF"/>
                </a:solidFill>
              </a:rPr>
              <a:t>사이버보안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16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제공자의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17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품질관리시스템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18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문서 관리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19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자동 생성 로그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20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시정조치 및 정보의무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21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관할기관과의 협력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22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수권대리인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23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수입업자의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24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유통업자의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25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배포자의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26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사용자의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27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기본권 영향평가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28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고위험 </a:t>
            </a:r>
            <a:r>
              <a:rPr lang="en-US" altLang="ko-KR" sz="1200">
                <a:solidFill>
                  <a:srgbClr val="0000FF"/>
                </a:solidFill>
              </a:rPr>
              <a:t>AI </a:t>
            </a:r>
            <a:r>
              <a:rPr lang="ko-KR" altLang="en-US" sz="1200">
                <a:solidFill>
                  <a:srgbClr val="0000FF"/>
                </a:solidFill>
              </a:rPr>
              <a:t>사용 고지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29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데이터 품질 관련 사용자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30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기록 보관 의무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31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사고 및 중대 사건 보고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32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정보 제공 및 협력</a:t>
            </a:r>
          </a:p>
          <a:p>
            <a:r>
              <a:rPr lang="ko-KR" altLang="en-US" sz="1200">
                <a:solidFill>
                  <a:srgbClr val="0000FF"/>
                </a:solidFill>
              </a:rPr>
              <a:t> 제</a:t>
            </a:r>
            <a:r>
              <a:rPr lang="en-US" altLang="ko-KR" sz="1200">
                <a:solidFill>
                  <a:srgbClr val="0000FF"/>
                </a:solidFill>
              </a:rPr>
              <a:t>33</a:t>
            </a:r>
            <a:r>
              <a:rPr lang="ko-KR" altLang="en-US" sz="1200">
                <a:solidFill>
                  <a:srgbClr val="0000FF"/>
                </a:solidFill>
              </a:rPr>
              <a:t>조 </a:t>
            </a:r>
            <a:r>
              <a:rPr lang="en-US" altLang="ko-KR" sz="1200">
                <a:solidFill>
                  <a:srgbClr val="0000FF"/>
                </a:solidFill>
              </a:rPr>
              <a:t>: </a:t>
            </a:r>
            <a:r>
              <a:rPr lang="ko-KR" altLang="en-US" sz="1200">
                <a:solidFill>
                  <a:srgbClr val="0000FF"/>
                </a:solidFill>
              </a:rPr>
              <a:t>표준의 적용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A8B2F-52DB-6C8E-C645-E0701862BAEF}"/>
              </a:ext>
            </a:extLst>
          </p:cNvPr>
          <p:cNvSpPr txBox="1"/>
          <p:nvPr/>
        </p:nvSpPr>
        <p:spPr>
          <a:xfrm>
            <a:off x="5448489" y="565193"/>
            <a:ext cx="2640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34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투명성 의무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35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대화형 </a:t>
            </a:r>
            <a:r>
              <a:rPr lang="en-US" altLang="ko-KR" sz="1200"/>
              <a:t>AI </a:t>
            </a:r>
            <a:r>
              <a:rPr lang="ko-KR" altLang="en-US" sz="1200"/>
              <a:t>고지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36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감정인식</a:t>
            </a:r>
            <a:r>
              <a:rPr lang="en-US" altLang="ko-KR" sz="1200"/>
              <a:t>·</a:t>
            </a:r>
            <a:r>
              <a:rPr lang="ko-KR" altLang="en-US" sz="1200"/>
              <a:t>생체분류 투명성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37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딥페이크 표시 의무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7520D-9C96-6E76-1C1B-9156527813FE}"/>
              </a:ext>
            </a:extLst>
          </p:cNvPr>
          <p:cNvSpPr txBox="1"/>
          <p:nvPr/>
        </p:nvSpPr>
        <p:spPr>
          <a:xfrm>
            <a:off x="6662802" y="2727014"/>
            <a:ext cx="2396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45</a:t>
            </a:r>
            <a:r>
              <a:rPr lang="ko-KR" altLang="en-US" sz="1200"/>
              <a:t>조 </a:t>
            </a:r>
            <a:r>
              <a:rPr lang="en-US" altLang="ko-KR" sz="1200"/>
              <a:t>: AI </a:t>
            </a:r>
            <a:r>
              <a:rPr lang="ko-KR" altLang="en-US" sz="1200"/>
              <a:t>규제 샌드박스 설정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46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샌드박스 운영 요건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47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실세계 조건 시험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48</a:t>
            </a:r>
            <a:r>
              <a:rPr lang="ko-KR" altLang="en-US" sz="1200"/>
              <a:t>조 </a:t>
            </a:r>
            <a:r>
              <a:rPr lang="en-US" altLang="ko-KR" sz="1200"/>
              <a:t>: SME·</a:t>
            </a:r>
            <a:r>
              <a:rPr lang="ko-KR" altLang="en-US" sz="1200"/>
              <a:t>스타트업 지원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49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데이터 접근 지원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680D6-3375-12F1-3E46-A611259BB101}"/>
              </a:ext>
            </a:extLst>
          </p:cNvPr>
          <p:cNvSpPr txBox="1"/>
          <p:nvPr/>
        </p:nvSpPr>
        <p:spPr>
          <a:xfrm>
            <a:off x="6662802" y="3866589"/>
            <a:ext cx="21836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50</a:t>
            </a:r>
            <a:r>
              <a:rPr lang="ko-KR" altLang="en-US" sz="1200"/>
              <a:t>조 </a:t>
            </a:r>
            <a:r>
              <a:rPr lang="en-US" altLang="ko-KR" sz="1200"/>
              <a:t>: EU AI Office</a:t>
            </a:r>
          </a:p>
          <a:p>
            <a:r>
              <a:rPr lang="en-US" altLang="ko-KR" sz="1200"/>
              <a:t> </a:t>
            </a:r>
            <a:r>
              <a:rPr lang="ko-KR" altLang="en-US" sz="1200"/>
              <a:t>제</a:t>
            </a:r>
            <a:r>
              <a:rPr lang="en-US" altLang="ko-KR" sz="1200"/>
              <a:t>51</a:t>
            </a:r>
            <a:r>
              <a:rPr lang="ko-KR" altLang="en-US" sz="1200"/>
              <a:t>조 </a:t>
            </a:r>
            <a:r>
              <a:rPr lang="en-US" altLang="ko-KR" sz="1200"/>
              <a:t>: AI Office </a:t>
            </a:r>
            <a:r>
              <a:rPr lang="ko-KR" altLang="en-US" sz="1200"/>
              <a:t>권한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52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유럽 </a:t>
            </a:r>
            <a:r>
              <a:rPr lang="en-US" altLang="ko-KR" sz="1200"/>
              <a:t>AI </a:t>
            </a:r>
            <a:r>
              <a:rPr lang="ko-KR" altLang="en-US" sz="1200"/>
              <a:t>위원회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53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회원국 관할기관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54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통보기관</a:t>
            </a:r>
            <a:r>
              <a:rPr lang="en-US" altLang="ko-KR" sz="1200"/>
              <a:t>(</a:t>
            </a:r>
            <a:r>
              <a:rPr lang="ko-KR" altLang="en-US" sz="1200"/>
              <a:t>인증기관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 </a:t>
            </a:r>
            <a:r>
              <a:rPr lang="ko-KR" altLang="en-US" sz="1200"/>
              <a:t>제</a:t>
            </a:r>
            <a:r>
              <a:rPr lang="en-US" altLang="ko-KR" sz="1200"/>
              <a:t>55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인증</a:t>
            </a:r>
            <a:r>
              <a:rPr lang="en-US" altLang="ko-KR" sz="1200"/>
              <a:t>·</a:t>
            </a:r>
            <a:r>
              <a:rPr lang="ko-KR" altLang="en-US" sz="1200"/>
              <a:t>지정 요건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56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실무규약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B2E7B-1593-1A33-DE26-751FB287C631}"/>
              </a:ext>
            </a:extLst>
          </p:cNvPr>
          <p:cNvSpPr txBox="1"/>
          <p:nvPr/>
        </p:nvSpPr>
        <p:spPr>
          <a:xfrm>
            <a:off x="4730613" y="5466633"/>
            <a:ext cx="23663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64</a:t>
            </a:r>
            <a:r>
              <a:rPr lang="ko-KR" altLang="en-US" sz="1200"/>
              <a:t>조 </a:t>
            </a:r>
            <a:r>
              <a:rPr lang="en-US" altLang="ko-KR" sz="1200"/>
              <a:t>: CE </a:t>
            </a:r>
            <a:r>
              <a:rPr lang="ko-KR" altLang="en-US" sz="1200"/>
              <a:t>마킹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65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적합성 선언서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66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고위험 </a:t>
            </a:r>
            <a:r>
              <a:rPr lang="en-US" altLang="ko-KR" sz="1200"/>
              <a:t>AI </a:t>
            </a:r>
            <a:r>
              <a:rPr lang="ko-KR" altLang="en-US" sz="1200"/>
              <a:t>등록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67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기술문서 목록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68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표준</a:t>
            </a:r>
            <a:r>
              <a:rPr lang="en-US" altLang="ko-KR" sz="1200"/>
              <a:t>·</a:t>
            </a:r>
            <a:r>
              <a:rPr lang="ko-KR" altLang="en-US" sz="1200"/>
              <a:t>공통규격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69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적합성평가 절차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70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인증서 발급</a:t>
            </a:r>
            <a:r>
              <a:rPr lang="en-US" altLang="ko-KR" sz="1200"/>
              <a:t>·</a:t>
            </a:r>
            <a:r>
              <a:rPr lang="ko-KR" altLang="en-US" sz="1200"/>
              <a:t>정지</a:t>
            </a:r>
            <a:r>
              <a:rPr lang="en-US" altLang="ko-KR" sz="1200"/>
              <a:t>·</a:t>
            </a:r>
            <a:r>
              <a:rPr lang="ko-KR" altLang="en-US" sz="1200"/>
              <a:t>취소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981CB-C176-2862-168D-64DED2622BF8}"/>
              </a:ext>
            </a:extLst>
          </p:cNvPr>
          <p:cNvSpPr txBox="1"/>
          <p:nvPr/>
        </p:nvSpPr>
        <p:spPr>
          <a:xfrm>
            <a:off x="8234151" y="5325215"/>
            <a:ext cx="26949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57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규제 샌드박스</a:t>
            </a:r>
            <a:r>
              <a:rPr lang="en-US" altLang="ko-KR" sz="1200"/>
              <a:t>(</a:t>
            </a:r>
            <a:r>
              <a:rPr lang="ko-KR" altLang="en-US" sz="1200"/>
              <a:t>운영 규정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 </a:t>
            </a:r>
            <a:r>
              <a:rPr lang="ko-KR" altLang="en-US" sz="1200"/>
              <a:t>제</a:t>
            </a:r>
            <a:r>
              <a:rPr lang="en-US" altLang="ko-KR" sz="1200"/>
              <a:t>58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시장감시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59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사고 보고</a:t>
            </a:r>
            <a:r>
              <a:rPr lang="en-US" altLang="ko-KR" sz="1200"/>
              <a:t>·</a:t>
            </a:r>
            <a:r>
              <a:rPr lang="ko-KR" altLang="en-US" sz="1200"/>
              <a:t>리스크 모니터링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60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벌칙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61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과징금 감경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62</a:t>
            </a:r>
            <a:r>
              <a:rPr lang="ko-KR" altLang="en-US" sz="1200"/>
              <a:t>조 </a:t>
            </a:r>
            <a:r>
              <a:rPr lang="en-US" altLang="ko-KR" sz="1200"/>
              <a:t>: EU </a:t>
            </a:r>
            <a:r>
              <a:rPr lang="ko-KR" altLang="en-US" sz="1200"/>
              <a:t>기관에 대한 벌칙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63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피해 구제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95359F9C-BC6C-0042-6262-12E37B07F479}"/>
              </a:ext>
            </a:extLst>
          </p:cNvPr>
          <p:cNvCxnSpPr/>
          <p:nvPr/>
        </p:nvCxnSpPr>
        <p:spPr>
          <a:xfrm flipV="1">
            <a:off x="3385457" y="215443"/>
            <a:ext cx="5542176" cy="1678671"/>
          </a:xfrm>
          <a:prstGeom prst="curvedConnector3">
            <a:avLst>
              <a:gd name="adj1" fmla="val 23877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69F69B2A-639A-9425-4717-8B583BC4B76A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012737" y="980692"/>
            <a:ext cx="1435752" cy="1343678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386DFE6-267A-6D0A-7C20-EEDA3B8D72A9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635829" y="3234846"/>
            <a:ext cx="3026973" cy="358130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3D228326-2770-2C35-385A-F0519CB23B6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307819" y="4073279"/>
            <a:ext cx="1354983" cy="485808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948E23DB-CF89-43AE-BA0E-7A055797189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210502" y="4704954"/>
            <a:ext cx="5023649" cy="1312759"/>
          </a:xfrm>
          <a:prstGeom prst="curvedConnector3">
            <a:avLst>
              <a:gd name="adj1" fmla="val 5910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EA28D03E-DDE1-A5F2-B160-48C3270CE9E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28541" y="5289540"/>
            <a:ext cx="902072" cy="869591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4813CD1-B560-F806-38D3-103509F1E050}"/>
              </a:ext>
            </a:extLst>
          </p:cNvPr>
          <p:cNvSpPr txBox="1"/>
          <p:nvPr/>
        </p:nvSpPr>
        <p:spPr>
          <a:xfrm>
            <a:off x="5093199" y="1400559"/>
            <a:ext cx="277672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 제</a:t>
            </a:r>
            <a:r>
              <a:rPr lang="en-US" altLang="ko-KR" sz="1200"/>
              <a:t>38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범용 </a:t>
            </a:r>
            <a:r>
              <a:rPr lang="en-US" altLang="ko-KR" sz="1200"/>
              <a:t>AI </a:t>
            </a:r>
            <a:r>
              <a:rPr lang="ko-KR" altLang="en-US" sz="1200"/>
              <a:t>모델 정의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39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범용 </a:t>
            </a:r>
            <a:r>
              <a:rPr lang="en-US" altLang="ko-KR" sz="1200"/>
              <a:t>AI </a:t>
            </a:r>
            <a:r>
              <a:rPr lang="ko-KR" altLang="en-US" sz="1200"/>
              <a:t>모델 제공자 의무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40</a:t>
            </a:r>
            <a:r>
              <a:rPr lang="ko-KR" altLang="en-US" sz="1200"/>
              <a:t>조 </a:t>
            </a:r>
            <a:r>
              <a:rPr lang="en-US" altLang="ko-KR" sz="1200"/>
              <a:t>: GPAI </a:t>
            </a:r>
            <a:r>
              <a:rPr lang="ko-KR" altLang="en-US" sz="1200"/>
              <a:t>기술문서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41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오픈 모델</a:t>
            </a:r>
            <a:r>
              <a:rPr lang="en-US" altLang="ko-KR" sz="1200"/>
              <a:t>/</a:t>
            </a:r>
            <a:r>
              <a:rPr lang="ko-KR" altLang="en-US" sz="1200"/>
              <a:t>오픈 웨이트 조건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42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시스템적 위험 기준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43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시스템적 위험 모델 의무</a:t>
            </a:r>
          </a:p>
          <a:p>
            <a:r>
              <a:rPr lang="ko-KR" altLang="en-US" sz="1200"/>
              <a:t> 제</a:t>
            </a:r>
            <a:r>
              <a:rPr lang="en-US" altLang="ko-KR" sz="1200"/>
              <a:t>44</a:t>
            </a:r>
            <a:r>
              <a:rPr lang="ko-KR" altLang="en-US" sz="1200"/>
              <a:t>조 </a:t>
            </a:r>
            <a:r>
              <a:rPr lang="en-US" altLang="ko-KR" sz="1200"/>
              <a:t>: </a:t>
            </a:r>
            <a:r>
              <a:rPr lang="ko-KR" altLang="en-US" sz="1200"/>
              <a:t>보안 감사 및 위험 완화</a:t>
            </a:r>
          </a:p>
        </p:txBody>
      </p:sp>
      <p:cxnSp>
        <p:nvCxnSpPr>
          <p:cNvPr id="60" name="연결선: 구부러짐 59">
            <a:extLst>
              <a:ext uri="{FF2B5EF4-FFF2-40B4-BE49-F238E27FC236}">
                <a16:creationId xmlns:a16="http://schemas.microsoft.com/office/drawing/2014/main" id="{12944368-0A9B-22AE-A919-F79F800CDFA3}"/>
              </a:ext>
            </a:extLst>
          </p:cNvPr>
          <p:cNvCxnSpPr>
            <a:cxnSpLocks/>
            <a:endCxn id="54" idx="1"/>
          </p:cNvCxnSpPr>
          <p:nvPr/>
        </p:nvCxnSpPr>
        <p:spPr>
          <a:xfrm rot="5400000" flipH="1" flipV="1">
            <a:off x="4430605" y="2268828"/>
            <a:ext cx="838364" cy="486823"/>
          </a:xfrm>
          <a:prstGeom prst="curvedConnector2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구부러짐 63">
            <a:extLst>
              <a:ext uri="{FF2B5EF4-FFF2-40B4-BE49-F238E27FC236}">
                <a16:creationId xmlns:a16="http://schemas.microsoft.com/office/drawing/2014/main" id="{5E6027A2-C54E-29BF-1412-EC057C9A79D6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1372271" y="630942"/>
            <a:ext cx="268895" cy="198723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571C-A942-9918-D39E-11B2E3C9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1E7388-5C51-42C1-727A-A7A44C83C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23113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DC1F13-DCCC-F00A-5B72-35AF3985B590}"/>
              </a:ext>
            </a:extLst>
          </p:cNvPr>
          <p:cNvSpPr txBox="1"/>
          <p:nvPr/>
        </p:nvSpPr>
        <p:spPr>
          <a:xfrm>
            <a:off x="556764" y="314265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EU </a:t>
            </a:r>
            <a:r>
              <a:rPr lang="ko-KR" altLang="en-US" sz="3200" b="1"/>
              <a:t>조직</a:t>
            </a:r>
            <a:endParaRPr lang="ko-KR" alt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8896F-DA48-070D-0FD2-8D4E76FDC1FF}"/>
              </a:ext>
            </a:extLst>
          </p:cNvPr>
          <p:cNvSpPr txBox="1"/>
          <p:nvPr/>
        </p:nvSpPr>
        <p:spPr>
          <a:xfrm>
            <a:off x="556764" y="1068491"/>
            <a:ext cx="5184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EU</a:t>
            </a:r>
            <a:r>
              <a:rPr lang="ko-KR" altLang="en-US"/>
              <a:t>는 주요 </a:t>
            </a:r>
            <a:r>
              <a:rPr lang="en-US" altLang="ko-KR"/>
              <a:t>3</a:t>
            </a:r>
            <a:r>
              <a:rPr lang="ko-KR" altLang="en-US"/>
              <a:t>개 조직</a:t>
            </a:r>
            <a:r>
              <a:rPr lang="en-US" altLang="ko-KR"/>
              <a:t>(EC, EU </a:t>
            </a:r>
            <a:r>
              <a:rPr lang="ko-KR" altLang="en-US"/>
              <a:t>이사회</a:t>
            </a:r>
            <a:r>
              <a:rPr lang="en-US" altLang="ko-KR"/>
              <a:t>, </a:t>
            </a:r>
            <a:r>
              <a:rPr lang="ko-KR" altLang="en-US"/>
              <a:t>유럽의회</a:t>
            </a:r>
            <a:r>
              <a:rPr lang="en-US" altLang="ko-KR"/>
              <a:t>)</a:t>
            </a:r>
            <a:r>
              <a:rPr lang="ko-KR" altLang="en-US"/>
              <a:t>이 </a:t>
            </a:r>
            <a:endParaRPr lang="en-US" altLang="ko-KR"/>
          </a:p>
          <a:p>
            <a:r>
              <a:rPr lang="en-US" altLang="ko-KR"/>
              <a:t>3</a:t>
            </a:r>
            <a:r>
              <a:rPr lang="ko-KR" altLang="en-US"/>
              <a:t>자 협상을 진행하여 새로운 법안에 대한 </a:t>
            </a:r>
          </a:p>
          <a:p>
            <a:r>
              <a:rPr lang="ko-KR" altLang="en-US"/>
              <a:t>절충안을 마련하여 최종적으로 법률 제정</a:t>
            </a:r>
          </a:p>
        </p:txBody>
      </p:sp>
    </p:spTree>
    <p:extLst>
      <p:ext uri="{BB962C8B-B14F-4D97-AF65-F5344CB8AC3E}">
        <p14:creationId xmlns:p14="http://schemas.microsoft.com/office/powerpoint/2010/main" val="6724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8443</TotalTime>
  <Words>1041</Words>
  <Application>Microsoft Office PowerPoint</Application>
  <PresentationFormat>와이드스크린</PresentationFormat>
  <Paragraphs>157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양희정</cp:lastModifiedBy>
  <cp:revision>254</cp:revision>
  <cp:lastPrinted>2026-03-11T07:44:21Z</cp:lastPrinted>
  <dcterms:created xsi:type="dcterms:W3CDTF">2026-02-24T07:28:13Z</dcterms:created>
  <dcterms:modified xsi:type="dcterms:W3CDTF">2026-03-22T12:57:25Z</dcterms:modified>
</cp:coreProperties>
</file>