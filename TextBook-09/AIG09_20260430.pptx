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24" r:id="rId2"/>
    <p:sldId id="326" r:id="rId3"/>
    <p:sldId id="344" r:id="rId4"/>
    <p:sldId id="256" r:id="rId5"/>
    <p:sldId id="408" r:id="rId6"/>
    <p:sldId id="345" r:id="rId7"/>
    <p:sldId id="417" r:id="rId8"/>
    <p:sldId id="322" r:id="rId9"/>
    <p:sldId id="409" r:id="rId10"/>
    <p:sldId id="418" r:id="rId11"/>
    <p:sldId id="419" r:id="rId12"/>
    <p:sldId id="410" r:id="rId13"/>
    <p:sldId id="411" r:id="rId14"/>
    <p:sldId id="412" r:id="rId15"/>
    <p:sldId id="413" r:id="rId16"/>
    <p:sldId id="414" r:id="rId17"/>
    <p:sldId id="415" r:id="rId18"/>
    <p:sldId id="416" r:id="rId19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68" autoAdjust="0"/>
    <p:restoredTop sz="85604" autoAdjust="0"/>
  </p:normalViewPr>
  <p:slideViewPr>
    <p:cSldViewPr snapToGrid="0">
      <p:cViewPr varScale="1">
        <p:scale>
          <a:sx n="60" d="100"/>
          <a:sy n="60" d="100"/>
        </p:scale>
        <p:origin x="72" y="3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3" d="100"/>
          <a:sy n="113" d="100"/>
        </p:scale>
        <p:origin x="1372" y="1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DA0A7-FD9F-4435-B1D5-7267E1A37088}" type="datetimeFigureOut">
              <a:rPr lang="ko-KR" altLang="en-US" smtClean="0"/>
              <a:t>2026-04-30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F62DE-34EC-4057-822D-799CF81ECAA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2214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3503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8E23B-F0E9-4B10-94D7-7B62E5D5A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3AE85C-2281-4817-BE9E-E6379D56E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44FFC9-8220-4157-8FB9-B25881CE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2026-04-30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AEC6EB-1CAC-407E-A433-9F1281F3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A763EE-8B06-49EF-BA75-35242781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3365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5E23A-E0A9-405C-BF0A-72BB9BC2D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5C189B-AC77-4437-A885-00263F09D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1F04B-0F89-4984-9B60-50DD8A1D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2026-04-30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0816CC-AD95-4546-836F-99AE91EB7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98C12F-B0EA-454A-9466-FB5385C4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920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CB79D1-AC4B-4787-927B-7EF46AEC5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FE35A6-ADA7-460C-AD7C-E673C1AB6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5B3825-AED0-4BEC-8D29-A59AAF0A9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2026-04-30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25B07A-C113-4D8C-AAD6-1F78E6203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2BFBAE-DB5F-4B83-8E75-53207E96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2697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C1C0A-A78B-45D5-9F40-6304D25C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8295CC-148A-49C5-BA79-715ED4E992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B625EC-A024-4315-8018-96A5CB50E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00DF5A-7454-4574-9FCF-BBC4B35AE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2026-04-30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57DC97-CB44-47BC-8498-13D5714AD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BA68A6-A6A4-4AA7-9B5F-AD1C2BE99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099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4293F2-83B6-4772-815A-482DFE6D6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216F97-1748-4816-93E4-789F4F1DA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7BC754-21C2-4480-B8F5-2140DB2F8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553287-7BF8-49FB-BBC0-3047D7B46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52FC25-6EEE-4A5C-9987-C04EE2E3A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DBDE308-CFCC-483A-9595-29641FDE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2026-04-30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E4ADEA9-B683-4228-9FF6-75C7425C7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9DCC2C-3148-46EA-B7FA-F74F95D23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81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46B0E-E1A6-4B9C-BA80-B584DABC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03AF5E-E832-4276-AE70-9E3E7AB0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2026-04-30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3FCB58-064A-4A54-BC72-316F290E5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13771E-66FF-4CA8-834B-1D35A3F8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424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35B767-EE4D-42B6-BBC9-74C9E2F1C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2026-04-30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73DE23-3160-4BA4-BDC1-ACAD5B7A6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EC72F6-E106-4BD4-A7F1-BC1902A6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9362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6D8B5-8345-435E-AFEB-C09E0979A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9E06DC-C929-478D-AAF2-410E633B0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1758E4-78E1-499E-8896-E37973A78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FCE34F-58CF-45FD-9F50-7B9FDC91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2026-04-30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65251D-ABF8-4225-9230-1693511BF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1C334E-FAAE-47A5-B5C9-161A817A0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0626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02F8B-0C86-4553-A00F-6F778D101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A742D9B-53A2-45A2-A5C8-A11B564B74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0507A6-9901-4336-A6F6-09232163D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D2DAA8-0379-4F60-8838-3E74EF8D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2026-04-30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E97A47-FDF3-42CD-B879-95FD6CC58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62C005-1AAF-47C9-BE8B-09888906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919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8819-EE1A-40B9-B541-4A40C2F8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2FB293-A2FD-462C-9283-CE0131E4D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C85D8E-73F1-4886-87EF-0DBE95FF7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2026-04-30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38E4AA-6BDD-4A8E-952E-88E4A229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D0FCA-0A1B-471D-8171-8B29E57E6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7352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9D0B9C-E5E5-4E95-A480-EFEF19BDF3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66BA4C-4BE6-4FC2-8155-FC9E164D0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CBCAB0-916F-41EE-8276-8909FF58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2026-04-30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4E6C37-A87A-49FE-B81E-BF7C19008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10F43-0418-4CDD-8426-7D12DC36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7677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A9B92D0-C80B-40BB-8085-14F763244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08BACE-8542-441D-BA7E-B549B97A9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CADE8F-D911-4205-BE5B-EC32974BE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043F6-4F4D-4CB6-B54F-64438BCF3E22}" type="datetimeFigureOut">
              <a:rPr lang="ko-KR" altLang="en-US" smtClean="0"/>
              <a:t>2026-04-30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36DF68-EC07-408B-851E-4B231E488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AB029D-F13F-4D80-83D8-1332C6361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424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yangguibee/AIG" TargetMode="External"/><Relationship Id="rId5" Type="http://schemas.openxmlformats.org/officeDocument/2006/relationships/hyperlink" Target="mailto:heejung.yang@bok.or.kr" TargetMode="External"/><Relationship Id="rId4" Type="http://schemas.openxmlformats.org/officeDocument/2006/relationships/hyperlink" Target="mailto:guibee@konkuk.ac.k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hyperlink" Target="https://www.sw.or.kr/AI_act_helpdesk/board.jsp?bcIdx=64993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5AF8E-A806-1C68-09C1-6F93D2D8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48F682-6301-4D68-A1E2-FD20DE47E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720" y="2721452"/>
            <a:ext cx="3703258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F3E0DE-7586-70A7-661C-B8451F1B477E}"/>
              </a:ext>
            </a:extLst>
          </p:cNvPr>
          <p:cNvSpPr txBox="1"/>
          <p:nvPr/>
        </p:nvSpPr>
        <p:spPr>
          <a:xfrm>
            <a:off x="1268935" y="131389"/>
            <a:ext cx="37032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건국대학교 공학대학원 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AI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전공</a:t>
            </a:r>
            <a:endParaRPr lang="en-US" altLang="ko-K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그림 4" descr="텍스트, 폰트, 디자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0CAF15-BF6C-89C1-7946-F972B78DA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15" y="131389"/>
            <a:ext cx="1150720" cy="381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EC39D6-0EF0-B229-5081-12D7CBCE4A69}"/>
              </a:ext>
            </a:extLst>
          </p:cNvPr>
          <p:cNvSpPr txBox="1"/>
          <p:nvPr/>
        </p:nvSpPr>
        <p:spPr>
          <a:xfrm>
            <a:off x="1684789" y="2753771"/>
            <a:ext cx="86693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/>
              <a:t>AI </a:t>
            </a:r>
            <a:r>
              <a:rPr lang="ko-KR" altLang="en-US" sz="4400" b="1" dirty="0"/>
              <a:t>거버넌스 </a:t>
            </a:r>
            <a:r>
              <a:rPr lang="en-US" altLang="ko-KR" sz="4400" b="1" dirty="0"/>
              <a:t>: </a:t>
            </a:r>
            <a:r>
              <a:rPr lang="ko-KR" altLang="en-US" sz="4400" b="1" dirty="0"/>
              <a:t>관련 법과 국제표준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60427-D4E6-EABB-B166-EA68CCD6E4B4}"/>
              </a:ext>
            </a:extLst>
          </p:cNvPr>
          <p:cNvSpPr txBox="1"/>
          <p:nvPr/>
        </p:nvSpPr>
        <p:spPr>
          <a:xfrm>
            <a:off x="7122243" y="5283819"/>
            <a:ext cx="31390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2026</a:t>
            </a:r>
            <a:r>
              <a:rPr lang="ko-KR" altLang="en-US" sz="2400" b="1" dirty="0"/>
              <a:t>년 </a:t>
            </a:r>
            <a:r>
              <a:rPr lang="en-US" altLang="ko-KR" sz="2400" b="1" dirty="0"/>
              <a:t>1</a:t>
            </a:r>
            <a:r>
              <a:rPr lang="ko-KR" altLang="en-US" sz="2400" b="1" dirty="0"/>
              <a:t>학기 양희정</a:t>
            </a:r>
            <a:endParaRPr lang="en-US" altLang="ko-KR" sz="2400" b="1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7396F36-C076-0E42-DE70-544C319D2214}"/>
              </a:ext>
            </a:extLst>
          </p:cNvPr>
          <p:cNvCxnSpPr>
            <a:cxnSpLocks/>
          </p:cNvCxnSpPr>
          <p:nvPr/>
        </p:nvCxnSpPr>
        <p:spPr>
          <a:xfrm>
            <a:off x="1768651" y="3523212"/>
            <a:ext cx="839675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9582E5-F7B8-A99B-63B2-DDFA65998CB5}"/>
              </a:ext>
            </a:extLst>
          </p:cNvPr>
          <p:cNvSpPr txBox="1"/>
          <p:nvPr/>
        </p:nvSpPr>
        <p:spPr>
          <a:xfrm>
            <a:off x="8105205" y="5653151"/>
            <a:ext cx="2156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>
                <a:hlinkClick r:id="rId4"/>
              </a:rPr>
              <a:t>guibee@konkuk.ac.kr</a:t>
            </a:r>
            <a:endParaRPr lang="en-US" altLang="ko-KR" sz="1400" dirty="0"/>
          </a:p>
          <a:p>
            <a:pPr algn="r"/>
            <a:r>
              <a:rPr lang="en-US" altLang="ko-KR" sz="1400" dirty="0">
                <a:hlinkClick r:id="rId5"/>
              </a:rPr>
              <a:t>heejung.yang@bok.or.kr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EAD115-078E-E2E8-1F41-902AD1D1CA4F}"/>
              </a:ext>
            </a:extLst>
          </p:cNvPr>
          <p:cNvSpPr txBox="1"/>
          <p:nvPr/>
        </p:nvSpPr>
        <p:spPr>
          <a:xfrm>
            <a:off x="5673129" y="3523212"/>
            <a:ext cx="45881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hlinkClick r:id="rId6"/>
              </a:rPr>
              <a:t>https://github.com/yangguibee/AIG</a:t>
            </a:r>
            <a:endParaRPr lang="en-US" altLang="ko-KR" sz="2000" b="1" dirty="0"/>
          </a:p>
          <a:p>
            <a:endParaRPr lang="en-US" altLang="ko-KR" sz="2000" b="1" dirty="0"/>
          </a:p>
          <a:p>
            <a:endParaRPr lang="ko-KR" alt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19B286-40D1-466A-8738-FC70802ED0E7}"/>
              </a:ext>
            </a:extLst>
          </p:cNvPr>
          <p:cNvSpPr txBox="1"/>
          <p:nvPr/>
        </p:nvSpPr>
        <p:spPr>
          <a:xfrm>
            <a:off x="10424869" y="2846103"/>
            <a:ext cx="12426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rgbClr val="C00000"/>
                </a:solidFill>
              </a:rPr>
              <a:t>제</a:t>
            </a:r>
            <a:r>
              <a:rPr lang="en-US" altLang="ko-KR" sz="3200" b="1" dirty="0">
                <a:solidFill>
                  <a:srgbClr val="C00000"/>
                </a:solidFill>
              </a:rPr>
              <a:t>9</a:t>
            </a:r>
            <a:r>
              <a:rPr lang="ko-KR" altLang="en-US" sz="3200" b="1" dirty="0">
                <a:solidFill>
                  <a:srgbClr val="C00000"/>
                </a:solidFill>
              </a:rPr>
              <a:t>강</a:t>
            </a:r>
          </a:p>
        </p:txBody>
      </p:sp>
    </p:spTree>
    <p:extLst>
      <p:ext uri="{BB962C8B-B14F-4D97-AF65-F5344CB8AC3E}">
        <p14:creationId xmlns:p14="http://schemas.microsoft.com/office/powerpoint/2010/main" val="106007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6F453-B458-CA3C-258E-CC1732EC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9F8CE8-020B-44F0-B6A5-83F5C7558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83E127-B4EB-1785-F44E-CAC209D0C03F}"/>
              </a:ext>
            </a:extLst>
          </p:cNvPr>
          <p:cNvSpPr txBox="1"/>
          <p:nvPr/>
        </p:nvSpPr>
        <p:spPr>
          <a:xfrm>
            <a:off x="600930" y="194519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계획</a:t>
            </a:r>
          </a:p>
        </p:txBody>
      </p:sp>
      <p:pic>
        <p:nvPicPr>
          <p:cNvPr id="5" name="그림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0D3306-80B9-3F00-5A7F-FFAF1E98C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36" y="1003025"/>
            <a:ext cx="10749064" cy="5313615"/>
          </a:xfrm>
          <a:prstGeom prst="rect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29B1CE6A-827F-C148-5646-CBDB1EFA23BD}"/>
              </a:ext>
            </a:extLst>
          </p:cNvPr>
          <p:cNvSpPr/>
          <p:nvPr/>
        </p:nvSpPr>
        <p:spPr>
          <a:xfrm>
            <a:off x="631771" y="3801853"/>
            <a:ext cx="10830128" cy="345232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3346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D493D-3350-8DDE-9921-7DC7DEBA5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3B05EE-8576-BC2F-94A2-F8804A365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B56943-0E4D-9022-D1CC-22CF01198F39}"/>
              </a:ext>
            </a:extLst>
          </p:cNvPr>
          <p:cNvSpPr txBox="1"/>
          <p:nvPr/>
        </p:nvSpPr>
        <p:spPr>
          <a:xfrm>
            <a:off x="2589985" y="1285355"/>
            <a:ext cx="24529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AI </a:t>
            </a:r>
            <a:r>
              <a:rPr lang="ko-KR" altLang="en-US" sz="2400" b="1" dirty="0"/>
              <a:t>거버넌스①②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14B07-F78D-0253-5252-0DFBA57F37BC}"/>
              </a:ext>
            </a:extLst>
          </p:cNvPr>
          <p:cNvSpPr txBox="1"/>
          <p:nvPr/>
        </p:nvSpPr>
        <p:spPr>
          <a:xfrm>
            <a:off x="2589985" y="1834596"/>
            <a:ext cx="23150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EU AI Act③ ④</a:t>
            </a:r>
            <a:endParaRPr lang="ko-KR" alt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E2030-66AE-D504-0C65-BBC0BE35E5EF}"/>
              </a:ext>
            </a:extLst>
          </p:cNvPr>
          <p:cNvSpPr txBox="1"/>
          <p:nvPr/>
        </p:nvSpPr>
        <p:spPr>
          <a:xfrm>
            <a:off x="2589985" y="2383837"/>
            <a:ext cx="2883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KOR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AI</a:t>
            </a:r>
            <a:r>
              <a:rPr lang="ko-KR" altLang="en-US" sz="2400" b="1" dirty="0"/>
              <a:t>기본법⑤⑥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12DCF-DFDE-0291-3FB5-C8CA55401C3B}"/>
              </a:ext>
            </a:extLst>
          </p:cNvPr>
          <p:cNvSpPr txBox="1"/>
          <p:nvPr/>
        </p:nvSpPr>
        <p:spPr>
          <a:xfrm>
            <a:off x="2589985" y="2933079"/>
            <a:ext cx="2415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Case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Study⑦⑧</a:t>
            </a:r>
            <a:endParaRPr lang="ko-KR" altLang="en-US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EC03C-0090-F7A6-E089-5960FD9FB209}"/>
              </a:ext>
            </a:extLst>
          </p:cNvPr>
          <p:cNvSpPr txBox="1"/>
          <p:nvPr/>
        </p:nvSpPr>
        <p:spPr>
          <a:xfrm>
            <a:off x="1053612" y="2106392"/>
            <a:ext cx="914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AI </a:t>
            </a:r>
            <a:r>
              <a:rPr lang="ko-KR" altLang="en-US" sz="2400" b="1" dirty="0"/>
              <a:t>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67046E-560F-CFFA-113F-1D9A9FF25D8E}"/>
              </a:ext>
            </a:extLst>
          </p:cNvPr>
          <p:cNvSpPr txBox="1"/>
          <p:nvPr/>
        </p:nvSpPr>
        <p:spPr>
          <a:xfrm>
            <a:off x="441453" y="4713549"/>
            <a:ext cx="1837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AI </a:t>
            </a:r>
            <a:r>
              <a:rPr lang="ko-KR" altLang="en-US" sz="2400" b="1" dirty="0"/>
              <a:t>국제표준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7BF7-62FA-7818-FD34-C3885784B2AB}"/>
              </a:ext>
            </a:extLst>
          </p:cNvPr>
          <p:cNvSpPr txBox="1"/>
          <p:nvPr/>
        </p:nvSpPr>
        <p:spPr>
          <a:xfrm>
            <a:off x="3236720" y="6156339"/>
            <a:ext cx="2415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Case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Study</a:t>
            </a:r>
            <a:r>
              <a:rPr lang="ko-KR" altLang="en-US" sz="2400" b="1" dirty="0"/>
              <a:t>⑦⑧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FDC6D-EA54-113D-3A24-038A0C0C1BA8}"/>
              </a:ext>
            </a:extLst>
          </p:cNvPr>
          <p:cNvSpPr txBox="1"/>
          <p:nvPr/>
        </p:nvSpPr>
        <p:spPr>
          <a:xfrm>
            <a:off x="3236720" y="372113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개인정보보호①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24E79F-F8F3-0DB1-E253-014B979025FD}"/>
              </a:ext>
            </a:extLst>
          </p:cNvPr>
          <p:cNvSpPr txBox="1"/>
          <p:nvPr/>
        </p:nvSpPr>
        <p:spPr>
          <a:xfrm>
            <a:off x="3236720" y="420817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지식재산권②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C5A458-BC48-C20A-4C93-4EE293F7C525}"/>
              </a:ext>
            </a:extLst>
          </p:cNvPr>
          <p:cNvSpPr txBox="1"/>
          <p:nvPr/>
        </p:nvSpPr>
        <p:spPr>
          <a:xfrm>
            <a:off x="3236720" y="469521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책임법③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96A502-651B-15E7-1EB5-47B5BCCB6DE6}"/>
              </a:ext>
            </a:extLst>
          </p:cNvPr>
          <p:cNvSpPr txBox="1"/>
          <p:nvPr/>
        </p:nvSpPr>
        <p:spPr>
          <a:xfrm>
            <a:off x="3236720" y="5669300"/>
            <a:ext cx="19030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ISO/IEC</a:t>
            </a:r>
            <a:r>
              <a:rPr lang="ko-KR" altLang="en-US" sz="2400" b="1" dirty="0"/>
              <a:t>⑤⑥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B455BD-4EB9-0CCE-AC73-84333274AF50}"/>
              </a:ext>
            </a:extLst>
          </p:cNvPr>
          <p:cNvSpPr txBox="1"/>
          <p:nvPr/>
        </p:nvSpPr>
        <p:spPr>
          <a:xfrm>
            <a:off x="3236720" y="5182259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글로벌 규제④</a:t>
            </a:r>
          </a:p>
        </p:txBody>
      </p: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DF42A3C2-6FBF-D99C-96EC-443655ED5F14}"/>
              </a:ext>
            </a:extLst>
          </p:cNvPr>
          <p:cNvCxnSpPr>
            <a:stCxn id="8" idx="3"/>
            <a:endCxn id="4" idx="1"/>
          </p:cNvCxnSpPr>
          <p:nvPr/>
        </p:nvCxnSpPr>
        <p:spPr>
          <a:xfrm flipV="1">
            <a:off x="1967645" y="1516188"/>
            <a:ext cx="622340" cy="821037"/>
          </a:xfrm>
          <a:prstGeom prst="curvedConnector3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0F2827C1-CAE3-03FF-0782-5B66445A34CB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 flipV="1">
            <a:off x="1967645" y="2065429"/>
            <a:ext cx="622340" cy="271796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2F819FC1-7DBC-FE37-E7E6-1EF96C9D912D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1967645" y="2337225"/>
            <a:ext cx="622340" cy="277445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AF1AFCF4-06C3-695A-0E0E-CDAA3109938F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1967645" y="2337225"/>
            <a:ext cx="622340" cy="826687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9061310C-BE42-E67C-4051-2A1D77C843D1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2278815" y="3951969"/>
            <a:ext cx="957905" cy="992413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2FD31F0C-2CFD-E2A3-C798-8DC417C4A8A7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 flipV="1">
            <a:off x="2278815" y="4439010"/>
            <a:ext cx="957905" cy="505372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구부러짐 32">
            <a:extLst>
              <a:ext uri="{FF2B5EF4-FFF2-40B4-BE49-F238E27FC236}">
                <a16:creationId xmlns:a16="http://schemas.microsoft.com/office/drawing/2014/main" id="{CD2B2603-D6FA-0E20-7730-3CE7F2CED473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 flipV="1">
            <a:off x="2278815" y="4926051"/>
            <a:ext cx="957905" cy="1833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FEC31CBA-191D-02B0-1EB4-C53DE70165EE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2278815" y="4944382"/>
            <a:ext cx="957905" cy="468710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구부러짐 38">
            <a:extLst>
              <a:ext uri="{FF2B5EF4-FFF2-40B4-BE49-F238E27FC236}">
                <a16:creationId xmlns:a16="http://schemas.microsoft.com/office/drawing/2014/main" id="{FD9CB859-D481-16B9-B1DA-433B4C19442E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>
            <a:off x="2278815" y="4944382"/>
            <a:ext cx="957905" cy="95575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구부러짐 41">
            <a:extLst>
              <a:ext uri="{FF2B5EF4-FFF2-40B4-BE49-F238E27FC236}">
                <a16:creationId xmlns:a16="http://schemas.microsoft.com/office/drawing/2014/main" id="{ED0FF77A-460F-EA59-8413-BA5794B460F1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2278815" y="4944382"/>
            <a:ext cx="957905" cy="1442790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D8C4D769-7FCC-61CE-8C54-099B4CAF9FDF}"/>
              </a:ext>
            </a:extLst>
          </p:cNvPr>
          <p:cNvGrpSpPr/>
          <p:nvPr/>
        </p:nvGrpSpPr>
        <p:grpSpPr>
          <a:xfrm>
            <a:off x="5473660" y="962892"/>
            <a:ext cx="4609329" cy="1748072"/>
            <a:chOff x="5473660" y="962892"/>
            <a:chExt cx="4609329" cy="1748072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46258CA8-9C12-ED22-9CAD-9C5481B1AF22}"/>
                </a:ext>
              </a:extLst>
            </p:cNvPr>
            <p:cNvGrpSpPr/>
            <p:nvPr/>
          </p:nvGrpSpPr>
          <p:grpSpPr>
            <a:xfrm>
              <a:off x="6096000" y="962892"/>
              <a:ext cx="3986989" cy="1748072"/>
              <a:chOff x="6096000" y="962892"/>
              <a:chExt cx="3986989" cy="1748072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56140AF-916D-7E2D-A518-5FC225909E40}"/>
                  </a:ext>
                </a:extLst>
              </p:cNvPr>
              <p:cNvSpPr txBox="1"/>
              <p:nvPr/>
            </p:nvSpPr>
            <p:spPr>
              <a:xfrm>
                <a:off x="6096000" y="962892"/>
                <a:ext cx="3212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1. AI</a:t>
                </a:r>
                <a:r>
                  <a:rPr lang="ko-KR" altLang="en-US" dirty="0"/>
                  <a:t> 투명성 확보 가이드라인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BACBBB3-C8E5-9151-E750-E13C37C39937}"/>
                  </a:ext>
                </a:extLst>
              </p:cNvPr>
              <p:cNvSpPr txBox="1"/>
              <p:nvPr/>
            </p:nvSpPr>
            <p:spPr>
              <a:xfrm>
                <a:off x="6096000" y="1996947"/>
                <a:ext cx="39869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4. </a:t>
                </a:r>
                <a:r>
                  <a:rPr lang="ko-KR" altLang="en-US" dirty="0"/>
                  <a:t>고영향 </a:t>
                </a:r>
                <a:r>
                  <a:rPr lang="en-US" altLang="ko-KR" dirty="0"/>
                  <a:t>AI</a:t>
                </a:r>
                <a:r>
                  <a:rPr lang="ko-KR" altLang="en-US" dirty="0"/>
                  <a:t> 사업자 책무 가이드라인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3A30C5C-44BC-A9DB-E8B8-BB4167D3C24D}"/>
                  </a:ext>
                </a:extLst>
              </p:cNvPr>
              <p:cNvSpPr txBox="1"/>
              <p:nvPr/>
            </p:nvSpPr>
            <p:spPr>
              <a:xfrm>
                <a:off x="6096000" y="1307577"/>
                <a:ext cx="3212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2. AI</a:t>
                </a:r>
                <a:r>
                  <a:rPr lang="ko-KR" altLang="en-US" dirty="0"/>
                  <a:t> 안전성 확보 가이드라인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954E14E-DBD0-FAB8-C9F5-DC6258AF3079}"/>
                  </a:ext>
                </a:extLst>
              </p:cNvPr>
              <p:cNvSpPr txBox="1"/>
              <p:nvPr/>
            </p:nvSpPr>
            <p:spPr>
              <a:xfrm>
                <a:off x="6096000" y="1652262"/>
                <a:ext cx="3212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3. </a:t>
                </a:r>
                <a:r>
                  <a:rPr lang="ko-KR" altLang="en-US" dirty="0"/>
                  <a:t>고영향 </a:t>
                </a:r>
                <a:r>
                  <a:rPr lang="en-US" altLang="ko-KR" dirty="0"/>
                  <a:t>AI</a:t>
                </a:r>
                <a:r>
                  <a:rPr lang="ko-KR" altLang="en-US" dirty="0"/>
                  <a:t> 판단 가이드라인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AF4CFB8-3662-66DC-CD5C-15D4581747CC}"/>
                  </a:ext>
                </a:extLst>
              </p:cNvPr>
              <p:cNvSpPr txBox="1"/>
              <p:nvPr/>
            </p:nvSpPr>
            <p:spPr>
              <a:xfrm>
                <a:off x="6096000" y="2341632"/>
                <a:ext cx="29001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5. AI</a:t>
                </a:r>
                <a:r>
                  <a:rPr lang="ko-KR" altLang="en-US" dirty="0"/>
                  <a:t> 영향평가 가이드라인</a:t>
                </a:r>
              </a:p>
            </p:txBody>
          </p:sp>
        </p:grpSp>
        <p:sp>
          <p:nvSpPr>
            <p:cNvPr id="66" name="왼쪽 중괄호 65">
              <a:extLst>
                <a:ext uri="{FF2B5EF4-FFF2-40B4-BE49-F238E27FC236}">
                  <a16:creationId xmlns:a16="http://schemas.microsoft.com/office/drawing/2014/main" id="{09BD34B1-BC01-00EB-71CF-4CA3A16484EE}"/>
                </a:ext>
              </a:extLst>
            </p:cNvPr>
            <p:cNvSpPr/>
            <p:nvPr/>
          </p:nvSpPr>
          <p:spPr>
            <a:xfrm>
              <a:off x="5862537" y="1147558"/>
              <a:ext cx="233463" cy="1375681"/>
            </a:xfrm>
            <a:prstGeom prst="lef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67" name="연결선: 구부러짐 66">
              <a:extLst>
                <a:ext uri="{FF2B5EF4-FFF2-40B4-BE49-F238E27FC236}">
                  <a16:creationId xmlns:a16="http://schemas.microsoft.com/office/drawing/2014/main" id="{9552A930-E597-31F9-4DDA-4AACC0B63222}"/>
                </a:ext>
              </a:extLst>
            </p:cNvPr>
            <p:cNvCxnSpPr>
              <a:cxnSpLocks/>
              <a:stCxn id="6" idx="3"/>
              <a:endCxn id="66" idx="1"/>
            </p:cNvCxnSpPr>
            <p:nvPr/>
          </p:nvCxnSpPr>
          <p:spPr>
            <a:xfrm flipV="1">
              <a:off x="5473660" y="1835399"/>
              <a:ext cx="388877" cy="779271"/>
            </a:xfrm>
            <a:prstGeom prst="curvedConnector3">
              <a:avLst>
                <a:gd name="adj1" fmla="val 50000"/>
              </a:avLst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6E08F9BE-2115-1C74-49A8-FFCA1B201611}"/>
              </a:ext>
            </a:extLst>
          </p:cNvPr>
          <p:cNvSpPr txBox="1"/>
          <p:nvPr/>
        </p:nvSpPr>
        <p:spPr>
          <a:xfrm>
            <a:off x="486799" y="187001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구성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223F18F-B407-0E7F-FB9F-CC1A54CB8AC0}"/>
              </a:ext>
            </a:extLst>
          </p:cNvPr>
          <p:cNvGrpSpPr/>
          <p:nvPr/>
        </p:nvGrpSpPr>
        <p:grpSpPr>
          <a:xfrm>
            <a:off x="5139805" y="3268237"/>
            <a:ext cx="6655191" cy="2862322"/>
            <a:chOff x="5139805" y="3268237"/>
            <a:chExt cx="6655191" cy="286232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17B5F04-8CA4-3BA8-586E-EC3CFCB9287F}"/>
                </a:ext>
              </a:extLst>
            </p:cNvPr>
            <p:cNvSpPr txBox="1"/>
            <p:nvPr/>
          </p:nvSpPr>
          <p:spPr>
            <a:xfrm>
              <a:off x="6096000" y="3268237"/>
              <a:ext cx="5698996" cy="28623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1. </a:t>
              </a:r>
              <a:r>
                <a:rPr lang="ko-KR" altLang="en-US" dirty="0"/>
                <a:t>준비 단계 </a:t>
              </a:r>
              <a:r>
                <a:rPr lang="en-US" altLang="ko-KR" dirty="0"/>
                <a:t>: ISO/IEC 22989 (</a:t>
              </a:r>
              <a:r>
                <a:rPr lang="ko-KR" altLang="en-US" dirty="0"/>
                <a:t>개념 및 용어</a:t>
              </a:r>
              <a:r>
                <a:rPr lang="en-US" altLang="ko-KR" dirty="0"/>
                <a:t>) </a:t>
              </a:r>
            </a:p>
            <a:p>
              <a:r>
                <a:rPr lang="en-US" altLang="ko-KR" dirty="0"/>
                <a:t>                  ISO/IEC 23053 (ML </a:t>
              </a:r>
              <a:r>
                <a:rPr lang="ko-KR" altLang="en-US" dirty="0"/>
                <a:t>프레임워크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2. </a:t>
              </a:r>
              <a:r>
                <a:rPr lang="ko-KR" altLang="en-US" dirty="0"/>
                <a:t>방향 설정 </a:t>
              </a:r>
              <a:r>
                <a:rPr lang="en-US" altLang="ko-KR" dirty="0"/>
                <a:t>: ISO/IEC 38507 (AI </a:t>
              </a:r>
              <a:r>
                <a:rPr lang="ko-KR" altLang="en-US" dirty="0"/>
                <a:t>거버넌스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3. </a:t>
              </a:r>
              <a:r>
                <a:rPr lang="ko-KR" altLang="en-US" dirty="0"/>
                <a:t>시스템 구축 </a:t>
              </a:r>
              <a:r>
                <a:rPr lang="en-US" altLang="ko-KR" dirty="0"/>
                <a:t>: ISO/IEC 42001 (AI </a:t>
              </a:r>
              <a:r>
                <a:rPr lang="ko-KR" altLang="en-US" dirty="0"/>
                <a:t>경영시스템</a:t>
              </a:r>
              <a:r>
                <a:rPr lang="en-US" altLang="ko-KR" dirty="0"/>
                <a:t>) </a:t>
              </a:r>
            </a:p>
            <a:p>
              <a:r>
                <a:rPr lang="en-US" altLang="ko-KR" dirty="0"/>
                <a:t>                     ISO/IEC 25059 (AI </a:t>
              </a:r>
              <a:r>
                <a:rPr lang="ko-KR" altLang="en-US" dirty="0"/>
                <a:t>시스템 품질 모델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4. </a:t>
              </a:r>
              <a:r>
                <a:rPr lang="ko-KR" altLang="en-US" dirty="0"/>
                <a:t>실행 및 관리 </a:t>
              </a:r>
              <a:r>
                <a:rPr lang="en-US" altLang="ko-KR" dirty="0"/>
                <a:t>: ISO/IEC 5259 (</a:t>
              </a:r>
              <a:r>
                <a:rPr lang="ko-KR" altLang="en-US" dirty="0"/>
                <a:t>데이터 품질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                 ISO/IEC 23894 (</a:t>
              </a:r>
              <a:r>
                <a:rPr lang="ko-KR" altLang="en-US" dirty="0"/>
                <a:t>리스크 관리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                 ISO/IEC 27090/27091 (</a:t>
              </a:r>
              <a:r>
                <a:rPr lang="ko-KR" altLang="en-US" dirty="0"/>
                <a:t>정보 보호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5. </a:t>
              </a:r>
              <a:r>
                <a:rPr lang="ko-KR" altLang="en-US" dirty="0"/>
                <a:t>검증 및 개선 </a:t>
              </a:r>
              <a:r>
                <a:rPr lang="en-US" altLang="ko-KR" dirty="0"/>
                <a:t>: ISO/IEC 24029 (</a:t>
              </a:r>
              <a:r>
                <a:rPr lang="ko-KR" altLang="en-US" dirty="0"/>
                <a:t>분석적 평가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                 ISO/IEC 24028 (</a:t>
              </a:r>
              <a:r>
                <a:rPr lang="ko-KR" altLang="en-US" dirty="0"/>
                <a:t>신뢰성 편향</a:t>
              </a:r>
              <a:r>
                <a:rPr lang="en-US" altLang="ko-KR" dirty="0"/>
                <a:t>)</a:t>
              </a:r>
            </a:p>
          </p:txBody>
        </p:sp>
        <p:sp>
          <p:nvSpPr>
            <p:cNvPr id="19" name="왼쪽 중괄호 18">
              <a:extLst>
                <a:ext uri="{FF2B5EF4-FFF2-40B4-BE49-F238E27FC236}">
                  <a16:creationId xmlns:a16="http://schemas.microsoft.com/office/drawing/2014/main" id="{E43CB37F-61B0-1B45-6B28-FCA0EEC00999}"/>
                </a:ext>
              </a:extLst>
            </p:cNvPr>
            <p:cNvSpPr/>
            <p:nvPr/>
          </p:nvSpPr>
          <p:spPr>
            <a:xfrm>
              <a:off x="5862537" y="3449844"/>
              <a:ext cx="233463" cy="2206499"/>
            </a:xfrm>
            <a:prstGeom prst="lef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0" name="연결선: 구부러짐 19">
              <a:extLst>
                <a:ext uri="{FF2B5EF4-FFF2-40B4-BE49-F238E27FC236}">
                  <a16:creationId xmlns:a16="http://schemas.microsoft.com/office/drawing/2014/main" id="{9BE293F5-BB91-8FB0-9BBC-9680A78EB124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 flipV="1">
              <a:off x="5139805" y="4553094"/>
              <a:ext cx="722732" cy="1347039"/>
            </a:xfrm>
            <a:prstGeom prst="curvedConnector3">
              <a:avLst>
                <a:gd name="adj1" fmla="val 50000"/>
              </a:avLst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4106597-5500-FEA9-7554-53512EECAC2A}"/>
              </a:ext>
            </a:extLst>
          </p:cNvPr>
          <p:cNvSpPr/>
          <p:nvPr/>
        </p:nvSpPr>
        <p:spPr>
          <a:xfrm>
            <a:off x="2937375" y="3647574"/>
            <a:ext cx="2779781" cy="553559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843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5D17F66-11D4-CBF8-D0A4-094509968563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14851" y="3806124"/>
            <a:ext cx="2160000" cy="2880000"/>
          </a:xfrm>
          <a:prstGeom prst="rect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</p:pic>
      <p:pic>
        <p:nvPicPr>
          <p:cNvPr id="3" name="그림 2" descr="텍스트, 스크린샷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0845D8-EF17-5263-34DC-760FB4219E96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621281" y="3806124"/>
            <a:ext cx="2160000" cy="2880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4" name="그림 3" descr="텍스트, 시계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FCD517-B207-AA03-F3F4-3EC3647FE3EB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027711" y="3806124"/>
            <a:ext cx="2160000" cy="2880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5" name="그림 4" descr="텍스트, 스크린샷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7C2B4B-B5BC-F875-E882-C64B309297FB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411797" y="3806124"/>
            <a:ext cx="2160000" cy="2880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6" name="그림 5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C34FB1-1A43-2054-0A91-9984204708D6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9818227" y="3806124"/>
            <a:ext cx="2160000" cy="2880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8" name="그림 7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32BEAE-12F6-4F31-8E41-B93E066DA2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694" y="2797559"/>
            <a:ext cx="2990973" cy="9236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92B791-8F3C-4E61-9F8C-09E8BC35586A}"/>
              </a:ext>
            </a:extLst>
          </p:cNvPr>
          <p:cNvSpPr txBox="1"/>
          <p:nvPr/>
        </p:nvSpPr>
        <p:spPr>
          <a:xfrm>
            <a:off x="668991" y="2967012"/>
            <a:ext cx="2585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AI Guideline</a:t>
            </a:r>
            <a:endParaRPr lang="ko-KR" altLang="en-US" sz="3200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798224F-B0AB-42D2-989E-52B35E41EE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85" y="18207"/>
            <a:ext cx="2806070" cy="25967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7AD79D-DB9C-4D52-87CE-7111392EC606}"/>
              </a:ext>
            </a:extLst>
          </p:cNvPr>
          <p:cNvSpPr txBox="1"/>
          <p:nvPr/>
        </p:nvSpPr>
        <p:spPr>
          <a:xfrm>
            <a:off x="477990" y="760174"/>
            <a:ext cx="27478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/>
              <a:t>6</a:t>
            </a:r>
            <a:r>
              <a:rPr lang="ko-KR" altLang="en-US" sz="2400" b="1" dirty="0"/>
              <a:t>강</a:t>
            </a:r>
            <a:r>
              <a:rPr lang="en-US" altLang="ko-KR" sz="2400" b="1" dirty="0"/>
              <a:t>.</a:t>
            </a:r>
          </a:p>
          <a:p>
            <a:pPr algn="ctr"/>
            <a:endParaRPr lang="en-US" altLang="ko-KR" sz="1200" b="1" dirty="0"/>
          </a:p>
          <a:p>
            <a:pPr algn="ctr"/>
            <a:r>
              <a:rPr lang="ko-KR" altLang="en-US" sz="2400" b="1" dirty="0"/>
              <a:t>국내</a:t>
            </a:r>
            <a:r>
              <a:rPr lang="en-US" altLang="ko-KR" sz="2400" b="1" dirty="0"/>
              <a:t>AI</a:t>
            </a:r>
            <a:r>
              <a:rPr lang="ko-KR" altLang="en-US" sz="2400" b="1" dirty="0"/>
              <a:t>기본법</a:t>
            </a:r>
            <a:r>
              <a:rPr lang="en-US" altLang="ko-KR" sz="2400" b="1" dirty="0"/>
              <a:t>(2/2)</a:t>
            </a:r>
            <a:endParaRPr lang="ko-KR" alt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A639C9-2F1B-4187-B570-AE09CFE87E55}"/>
              </a:ext>
            </a:extLst>
          </p:cNvPr>
          <p:cNvSpPr txBox="1"/>
          <p:nvPr/>
        </p:nvSpPr>
        <p:spPr>
          <a:xfrm>
            <a:off x="3701281" y="389804"/>
            <a:ext cx="7675499" cy="3270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600" b="1" i="0" dirty="0">
                <a:solidFill>
                  <a:srgbClr val="1F2328"/>
                </a:solidFill>
                <a:effectLst/>
                <a:latin typeface="Mona Sans VF"/>
              </a:rPr>
              <a:t>[1] AI </a:t>
            </a:r>
            <a:r>
              <a:rPr lang="ko-KR" altLang="en-US" sz="1600" b="1" i="0" dirty="0">
                <a:solidFill>
                  <a:srgbClr val="1F2328"/>
                </a:solidFill>
                <a:effectLst/>
                <a:latin typeface="Mona Sans VF"/>
              </a:rPr>
              <a:t>투명성 확보 가이드라인</a:t>
            </a:r>
            <a:r>
              <a:rPr lang="en-US" altLang="ko-KR" sz="1600" b="1" i="0" dirty="0">
                <a:solidFill>
                  <a:srgbClr val="1F2328"/>
                </a:solidFill>
                <a:effectLst/>
                <a:latin typeface="Mona Sans VF"/>
              </a:rPr>
              <a:t>(</a:t>
            </a:r>
            <a:r>
              <a:rPr lang="ko-KR" altLang="en-US" sz="1600" b="1" dirty="0">
                <a:solidFill>
                  <a:srgbClr val="0000FF"/>
                </a:solidFill>
              </a:rPr>
              <a:t>한국정보통신기술협회</a:t>
            </a:r>
            <a:r>
              <a:rPr lang="en-US" altLang="ko-KR" sz="1600" b="1" dirty="0">
                <a:solidFill>
                  <a:srgbClr val="0000FF"/>
                </a:solidFill>
              </a:rPr>
              <a:t>, </a:t>
            </a:r>
            <a:r>
              <a:rPr lang="ko-KR" altLang="en-US" sz="1600" b="1" i="0" dirty="0">
                <a:solidFill>
                  <a:srgbClr val="1F2328"/>
                </a:solidFill>
                <a:effectLst/>
                <a:latin typeface="Mona Sans VF"/>
              </a:rPr>
              <a:t>과학기술정보통신부</a:t>
            </a:r>
            <a:r>
              <a:rPr lang="en-US" altLang="ko-KR" sz="1600" b="1" i="0" dirty="0">
                <a:solidFill>
                  <a:srgbClr val="1F2328"/>
                </a:solidFill>
                <a:effectLst/>
                <a:latin typeface="Mona Sans VF"/>
              </a:rPr>
              <a:t>)</a:t>
            </a:r>
            <a:r>
              <a:rPr lang="ko-KR" altLang="en-US" sz="1600" b="0" i="0" dirty="0">
                <a:solidFill>
                  <a:srgbClr val="1F2328"/>
                </a:solidFill>
                <a:effectLst/>
                <a:latin typeface="Mona Sans VF"/>
              </a:rPr>
              <a:t> </a:t>
            </a:r>
            <a:endParaRPr lang="en-US" altLang="ko-KR" sz="1600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algn="l"/>
            <a:r>
              <a:rPr lang="en-US" altLang="ko-KR" sz="1600" dirty="0">
                <a:solidFill>
                  <a:srgbClr val="1F2328"/>
                </a:solidFill>
                <a:latin typeface="Mona Sans VF"/>
              </a:rPr>
              <a:t>      </a:t>
            </a:r>
            <a:r>
              <a:rPr lang="en-US" altLang="ko-KR" sz="1600" b="0" i="0" dirty="0">
                <a:solidFill>
                  <a:srgbClr val="1F2328"/>
                </a:solidFill>
                <a:effectLst/>
                <a:latin typeface="Mona Sans VF"/>
              </a:rPr>
              <a:t>AI </a:t>
            </a:r>
            <a:r>
              <a:rPr lang="ko-KR" altLang="en-US" sz="1600" b="0" i="0" dirty="0">
                <a:solidFill>
                  <a:srgbClr val="1F2328"/>
                </a:solidFill>
                <a:effectLst/>
                <a:latin typeface="Mona Sans VF"/>
              </a:rPr>
              <a:t>사용</a:t>
            </a:r>
            <a:r>
              <a:rPr lang="en-US" altLang="ko-KR" sz="1600" b="0" i="0" dirty="0">
                <a:solidFill>
                  <a:srgbClr val="1F2328"/>
                </a:solidFill>
                <a:effectLst/>
                <a:latin typeface="Mona Sans VF"/>
              </a:rPr>
              <a:t>·</a:t>
            </a:r>
            <a:r>
              <a:rPr lang="ko-KR" altLang="en-US" sz="1600" b="0" i="0" dirty="0">
                <a:solidFill>
                  <a:srgbClr val="1F2328"/>
                </a:solidFill>
                <a:effectLst/>
                <a:latin typeface="Mona Sans VF"/>
              </a:rPr>
              <a:t>생성 결과를 사용자에게 명확히 알림</a:t>
            </a:r>
            <a:br>
              <a:rPr lang="ko-KR" altLang="en-US" sz="1600" b="0" i="0" dirty="0">
                <a:solidFill>
                  <a:srgbClr val="1F2328"/>
                </a:solidFill>
                <a:effectLst/>
                <a:latin typeface="Mona Sans VF"/>
              </a:rPr>
            </a:br>
            <a:endParaRPr lang="ko-KR" altLang="en-US" sz="500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algn="l"/>
            <a:r>
              <a:rPr lang="en-US" altLang="ko-KR" sz="1600" b="1" i="0" dirty="0">
                <a:solidFill>
                  <a:srgbClr val="1F2328"/>
                </a:solidFill>
                <a:effectLst/>
                <a:latin typeface="Mona Sans VF"/>
              </a:rPr>
              <a:t>[2] AI </a:t>
            </a:r>
            <a:r>
              <a:rPr lang="ko-KR" altLang="en-US" sz="1600" b="1" i="0" dirty="0">
                <a:solidFill>
                  <a:srgbClr val="1F2328"/>
                </a:solidFill>
                <a:effectLst/>
                <a:latin typeface="Mona Sans VF"/>
              </a:rPr>
              <a:t>안전성 확보 가이드라인</a:t>
            </a:r>
            <a:r>
              <a:rPr lang="en-US" altLang="ko-KR" sz="1600" b="1" i="0" dirty="0">
                <a:solidFill>
                  <a:srgbClr val="1F2328"/>
                </a:solidFill>
                <a:effectLst/>
                <a:latin typeface="Mona Sans VF"/>
              </a:rPr>
              <a:t>(</a:t>
            </a:r>
            <a:r>
              <a:rPr lang="ko-KR" altLang="en-US" sz="1600" b="1" i="0" dirty="0">
                <a:solidFill>
                  <a:srgbClr val="1F2328"/>
                </a:solidFill>
                <a:effectLst/>
                <a:latin typeface="Mona Sans VF"/>
              </a:rPr>
              <a:t>과학기술정보통신부</a:t>
            </a:r>
            <a:r>
              <a:rPr lang="en-US" altLang="ko-KR" sz="1600" b="1" i="0" dirty="0">
                <a:solidFill>
                  <a:srgbClr val="1F2328"/>
                </a:solidFill>
                <a:effectLst/>
                <a:latin typeface="Mona Sans VF"/>
              </a:rPr>
              <a:t>, </a:t>
            </a:r>
            <a:r>
              <a:rPr lang="ko-KR" altLang="en-US" sz="1600" b="1" dirty="0">
                <a:solidFill>
                  <a:srgbClr val="0000FF"/>
                </a:solidFill>
              </a:rPr>
              <a:t>한국전자통신연구원</a:t>
            </a:r>
            <a:r>
              <a:rPr lang="en-US" altLang="ko-KR" sz="1600" b="1" i="0" dirty="0">
                <a:solidFill>
                  <a:srgbClr val="1F2328"/>
                </a:solidFill>
                <a:effectLst/>
                <a:latin typeface="Mona Sans VF"/>
              </a:rPr>
              <a:t>)</a:t>
            </a:r>
          </a:p>
          <a:p>
            <a:pPr algn="l"/>
            <a:r>
              <a:rPr lang="en-US" altLang="ko-KR" sz="1600" b="1" dirty="0">
                <a:solidFill>
                  <a:srgbClr val="1F2328"/>
                </a:solidFill>
                <a:latin typeface="Mona Sans VF"/>
              </a:rPr>
              <a:t>     </a:t>
            </a:r>
            <a:r>
              <a:rPr lang="en-US" altLang="ko-KR" sz="1600" b="0" i="0" dirty="0">
                <a:solidFill>
                  <a:srgbClr val="1F2328"/>
                </a:solidFill>
                <a:effectLst/>
                <a:latin typeface="Mona Sans VF"/>
              </a:rPr>
              <a:t> </a:t>
            </a:r>
            <a:r>
              <a:rPr lang="ko-KR" altLang="en-US" sz="1600" b="0" i="0" dirty="0">
                <a:solidFill>
                  <a:srgbClr val="1F2328"/>
                </a:solidFill>
                <a:effectLst/>
                <a:latin typeface="Mona Sans VF"/>
              </a:rPr>
              <a:t>위험관리</a:t>
            </a:r>
            <a:r>
              <a:rPr lang="en-US" altLang="ko-KR" sz="1600" b="0" i="0" dirty="0">
                <a:solidFill>
                  <a:srgbClr val="1F2328"/>
                </a:solidFill>
                <a:effectLst/>
                <a:latin typeface="Mona Sans VF"/>
              </a:rPr>
              <a:t>·</a:t>
            </a:r>
            <a:r>
              <a:rPr lang="ko-KR" altLang="en-US" sz="1600" b="0" i="0" dirty="0">
                <a:solidFill>
                  <a:srgbClr val="1F2328"/>
                </a:solidFill>
                <a:effectLst/>
                <a:latin typeface="Mona Sans VF"/>
              </a:rPr>
              <a:t>리스크 완화 체계 구축</a:t>
            </a:r>
            <a:br>
              <a:rPr lang="ko-KR" altLang="en-US" sz="1600" b="0" i="0" dirty="0">
                <a:solidFill>
                  <a:srgbClr val="1F2328"/>
                </a:solidFill>
                <a:effectLst/>
                <a:latin typeface="Mona Sans VF"/>
              </a:rPr>
            </a:br>
            <a:endParaRPr lang="ko-KR" altLang="en-US" sz="500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algn="l"/>
            <a:r>
              <a:rPr lang="en-US" altLang="ko-KR" sz="1600" b="1" i="0" dirty="0">
                <a:solidFill>
                  <a:srgbClr val="1F2328"/>
                </a:solidFill>
                <a:effectLst/>
                <a:latin typeface="Mona Sans VF"/>
              </a:rPr>
              <a:t>[3] </a:t>
            </a:r>
            <a:r>
              <a:rPr lang="ko-KR" altLang="en-US" sz="1600" b="1" i="0" dirty="0">
                <a:solidFill>
                  <a:srgbClr val="1F2328"/>
                </a:solidFill>
                <a:effectLst/>
                <a:latin typeface="Mona Sans VF"/>
              </a:rPr>
              <a:t>고영향 </a:t>
            </a:r>
            <a:r>
              <a:rPr lang="en-US" altLang="ko-KR" sz="1600" b="1" i="0" dirty="0">
                <a:solidFill>
                  <a:srgbClr val="1F2328"/>
                </a:solidFill>
                <a:effectLst/>
                <a:latin typeface="Mona Sans VF"/>
              </a:rPr>
              <a:t>AI </a:t>
            </a:r>
            <a:r>
              <a:rPr lang="ko-KR" altLang="en-US" sz="1600" b="1" i="0" dirty="0">
                <a:solidFill>
                  <a:srgbClr val="1F2328"/>
                </a:solidFill>
                <a:effectLst/>
                <a:latin typeface="Mona Sans VF"/>
              </a:rPr>
              <a:t>판단 가이드라인</a:t>
            </a:r>
            <a:r>
              <a:rPr lang="en-US" altLang="ko-KR" sz="1600" b="1" i="0" dirty="0">
                <a:solidFill>
                  <a:srgbClr val="1F2328"/>
                </a:solidFill>
                <a:effectLst/>
                <a:latin typeface="Mona Sans VF"/>
              </a:rPr>
              <a:t>(</a:t>
            </a:r>
            <a:r>
              <a:rPr lang="ko-KR" altLang="en-US" sz="1600" b="1" i="0" dirty="0">
                <a:solidFill>
                  <a:srgbClr val="1F2328"/>
                </a:solidFill>
                <a:effectLst/>
                <a:latin typeface="Mona Sans VF"/>
              </a:rPr>
              <a:t>과학기술정보통신부</a:t>
            </a:r>
            <a:r>
              <a:rPr lang="en-US" altLang="ko-KR" sz="1600" b="1" i="0" dirty="0">
                <a:solidFill>
                  <a:srgbClr val="1F2328"/>
                </a:solidFill>
                <a:effectLst/>
                <a:latin typeface="Mona Sans VF"/>
              </a:rPr>
              <a:t>,</a:t>
            </a:r>
            <a:r>
              <a:rPr lang="ko-KR" altLang="en-US" sz="1600" b="1" dirty="0">
                <a:solidFill>
                  <a:srgbClr val="0000FF"/>
                </a:solidFill>
              </a:rPr>
              <a:t> 한국지능정보화사회진흥원</a:t>
            </a:r>
            <a:r>
              <a:rPr lang="en-US" altLang="ko-KR" sz="1600" b="1" i="0" dirty="0">
                <a:solidFill>
                  <a:srgbClr val="1F2328"/>
                </a:solidFill>
                <a:effectLst/>
                <a:latin typeface="Mona Sans VF"/>
              </a:rPr>
              <a:t>)</a:t>
            </a:r>
          </a:p>
          <a:p>
            <a:pPr algn="l"/>
            <a:r>
              <a:rPr lang="en-US" altLang="ko-KR" sz="1600" b="1" dirty="0">
                <a:solidFill>
                  <a:srgbClr val="1F2328"/>
                </a:solidFill>
                <a:latin typeface="Mona Sans VF"/>
              </a:rPr>
              <a:t>      </a:t>
            </a:r>
            <a:r>
              <a:rPr lang="ko-KR" altLang="en-US" sz="1600" b="0" i="0" dirty="0">
                <a:solidFill>
                  <a:srgbClr val="1F2328"/>
                </a:solidFill>
                <a:effectLst/>
                <a:latin typeface="Mona Sans VF"/>
              </a:rPr>
              <a:t>어떤 </a:t>
            </a:r>
            <a:r>
              <a:rPr lang="en-US" altLang="ko-KR" sz="1600" b="0" i="0" dirty="0">
                <a:solidFill>
                  <a:srgbClr val="1F2328"/>
                </a:solidFill>
                <a:effectLst/>
                <a:latin typeface="Mona Sans VF"/>
              </a:rPr>
              <a:t>AI</a:t>
            </a:r>
            <a:r>
              <a:rPr lang="ko-KR" altLang="en-US" sz="1600" b="0" i="0" dirty="0">
                <a:solidFill>
                  <a:srgbClr val="1F2328"/>
                </a:solidFill>
                <a:effectLst/>
                <a:latin typeface="Mona Sans VF"/>
              </a:rPr>
              <a:t>가 고영향 </a:t>
            </a:r>
            <a:r>
              <a:rPr lang="en-US" altLang="ko-KR" sz="1600" b="0" i="0" dirty="0">
                <a:solidFill>
                  <a:srgbClr val="1F2328"/>
                </a:solidFill>
                <a:effectLst/>
                <a:latin typeface="Mona Sans VF"/>
              </a:rPr>
              <a:t>AI</a:t>
            </a:r>
            <a:r>
              <a:rPr lang="ko-KR" altLang="en-US" sz="1600" b="0" i="0" dirty="0">
                <a:solidFill>
                  <a:srgbClr val="1F2328"/>
                </a:solidFill>
                <a:effectLst/>
                <a:latin typeface="Mona Sans VF"/>
              </a:rPr>
              <a:t>인지 판정하는 기준 제공</a:t>
            </a:r>
            <a:br>
              <a:rPr lang="ko-KR" altLang="en-US" sz="1600" b="0" i="0" dirty="0">
                <a:solidFill>
                  <a:srgbClr val="1F2328"/>
                </a:solidFill>
                <a:effectLst/>
                <a:latin typeface="Mona Sans VF"/>
              </a:rPr>
            </a:br>
            <a:endParaRPr lang="ko-KR" altLang="en-US" sz="500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algn="l"/>
            <a:r>
              <a:rPr lang="en-US" altLang="ko-KR" sz="1600" b="1" i="0" dirty="0">
                <a:solidFill>
                  <a:srgbClr val="1F2328"/>
                </a:solidFill>
                <a:effectLst/>
                <a:latin typeface="Mona Sans VF"/>
              </a:rPr>
              <a:t>[4] </a:t>
            </a:r>
            <a:r>
              <a:rPr lang="ko-KR" altLang="en-US" sz="1600" b="1" i="0" dirty="0">
                <a:solidFill>
                  <a:srgbClr val="1F2328"/>
                </a:solidFill>
                <a:effectLst/>
                <a:latin typeface="Mona Sans VF"/>
              </a:rPr>
              <a:t>고영향 </a:t>
            </a:r>
            <a:r>
              <a:rPr lang="en-US" altLang="ko-KR" sz="1600" b="1" i="0" dirty="0">
                <a:solidFill>
                  <a:srgbClr val="1F2328"/>
                </a:solidFill>
                <a:effectLst/>
                <a:latin typeface="Mona Sans VF"/>
              </a:rPr>
              <a:t>AI </a:t>
            </a:r>
            <a:r>
              <a:rPr lang="ko-KR" altLang="en-US" sz="1600" b="1" i="0" dirty="0">
                <a:solidFill>
                  <a:srgbClr val="1F2328"/>
                </a:solidFill>
                <a:effectLst/>
                <a:latin typeface="Mona Sans VF"/>
              </a:rPr>
              <a:t>사업자 책무 가이드라인</a:t>
            </a:r>
            <a:r>
              <a:rPr lang="en-US" altLang="ko-KR" sz="1600" b="1" i="0" dirty="0">
                <a:solidFill>
                  <a:srgbClr val="1F2328"/>
                </a:solidFill>
                <a:effectLst/>
                <a:latin typeface="Mona Sans VF"/>
              </a:rPr>
              <a:t>(</a:t>
            </a:r>
            <a:r>
              <a:rPr lang="ko-KR" altLang="en-US" sz="1600" b="1" i="0" dirty="0">
                <a:solidFill>
                  <a:srgbClr val="1F2328"/>
                </a:solidFill>
                <a:effectLst/>
                <a:latin typeface="Mona Sans VF"/>
              </a:rPr>
              <a:t>과학기술정보통신부</a:t>
            </a:r>
            <a:r>
              <a:rPr lang="en-US" altLang="ko-KR" sz="1600" b="1" i="0" dirty="0">
                <a:solidFill>
                  <a:srgbClr val="1F2328"/>
                </a:solidFill>
                <a:effectLst/>
                <a:latin typeface="Mona Sans VF"/>
              </a:rPr>
              <a:t>, </a:t>
            </a:r>
            <a:r>
              <a:rPr lang="ko-KR" altLang="en-US" sz="1600" b="1" dirty="0">
                <a:solidFill>
                  <a:srgbClr val="0000FF"/>
                </a:solidFill>
              </a:rPr>
              <a:t>한국정보통신기술협회</a:t>
            </a:r>
            <a:r>
              <a:rPr lang="en-US" altLang="ko-KR" sz="1600" b="1" i="0" dirty="0">
                <a:solidFill>
                  <a:srgbClr val="1F2328"/>
                </a:solidFill>
                <a:effectLst/>
                <a:latin typeface="Mona Sans VF"/>
              </a:rPr>
              <a:t>)</a:t>
            </a:r>
            <a:r>
              <a:rPr lang="ko-KR" altLang="en-US" sz="1600" b="0" i="0" dirty="0">
                <a:solidFill>
                  <a:srgbClr val="1F2328"/>
                </a:solidFill>
                <a:effectLst/>
                <a:latin typeface="Mona Sans VF"/>
              </a:rPr>
              <a:t> </a:t>
            </a:r>
            <a:endParaRPr lang="en-US" altLang="ko-KR" sz="1600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algn="l"/>
            <a:r>
              <a:rPr lang="en-US" altLang="ko-KR" sz="1600" dirty="0">
                <a:solidFill>
                  <a:srgbClr val="1F2328"/>
                </a:solidFill>
                <a:latin typeface="Mona Sans VF"/>
              </a:rPr>
              <a:t>      </a:t>
            </a:r>
            <a:r>
              <a:rPr lang="ko-KR" altLang="en-US" sz="1600" b="0" i="0" dirty="0">
                <a:solidFill>
                  <a:srgbClr val="1F2328"/>
                </a:solidFill>
                <a:effectLst/>
                <a:latin typeface="Mona Sans VF"/>
              </a:rPr>
              <a:t>고영향 </a:t>
            </a:r>
            <a:r>
              <a:rPr lang="en-US" altLang="ko-KR" sz="1600" b="0" i="0" dirty="0">
                <a:solidFill>
                  <a:srgbClr val="1F2328"/>
                </a:solidFill>
                <a:effectLst/>
                <a:latin typeface="Mona Sans VF"/>
              </a:rPr>
              <a:t>AI </a:t>
            </a:r>
            <a:r>
              <a:rPr lang="ko-KR" altLang="en-US" sz="1600" b="0" i="0" dirty="0">
                <a:solidFill>
                  <a:srgbClr val="1F2328"/>
                </a:solidFill>
                <a:effectLst/>
                <a:latin typeface="Mona Sans VF"/>
              </a:rPr>
              <a:t>운영자에 대한 구체적 책임 규정</a:t>
            </a:r>
            <a:br>
              <a:rPr lang="ko-KR" altLang="en-US" sz="1600" b="0" i="0" dirty="0">
                <a:solidFill>
                  <a:srgbClr val="1F2328"/>
                </a:solidFill>
                <a:effectLst/>
                <a:latin typeface="Mona Sans VF"/>
              </a:rPr>
            </a:br>
            <a:endParaRPr lang="ko-KR" altLang="en-US" sz="500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algn="l"/>
            <a:r>
              <a:rPr lang="en-US" altLang="ko-KR" sz="1600" b="1" i="0" dirty="0">
                <a:solidFill>
                  <a:srgbClr val="1F2328"/>
                </a:solidFill>
                <a:effectLst/>
                <a:latin typeface="Mona Sans VF"/>
              </a:rPr>
              <a:t>[5] AI </a:t>
            </a:r>
            <a:r>
              <a:rPr lang="ko-KR" altLang="en-US" sz="1600" b="1" i="0" dirty="0">
                <a:solidFill>
                  <a:srgbClr val="1F2328"/>
                </a:solidFill>
                <a:effectLst/>
                <a:latin typeface="Mona Sans VF"/>
              </a:rPr>
              <a:t>영향평가 가이드라인</a:t>
            </a:r>
            <a:r>
              <a:rPr lang="en-US" altLang="ko-KR" sz="1600" b="1" i="0" dirty="0">
                <a:solidFill>
                  <a:srgbClr val="1F2328"/>
                </a:solidFill>
                <a:effectLst/>
                <a:latin typeface="Mona Sans VF"/>
              </a:rPr>
              <a:t>(</a:t>
            </a:r>
            <a:r>
              <a:rPr lang="ko-KR" altLang="en-US" sz="1600" b="1" i="0" dirty="0">
                <a:solidFill>
                  <a:srgbClr val="1F2328"/>
                </a:solidFill>
                <a:effectLst/>
                <a:latin typeface="Mona Sans VF"/>
              </a:rPr>
              <a:t>과학기술정보통신부</a:t>
            </a:r>
            <a:r>
              <a:rPr lang="en-US" altLang="ko-KR" sz="1600" b="1" i="0" dirty="0">
                <a:solidFill>
                  <a:srgbClr val="1F2328"/>
                </a:solidFill>
                <a:effectLst/>
                <a:latin typeface="Mona Sans VF"/>
              </a:rPr>
              <a:t>, </a:t>
            </a:r>
            <a:r>
              <a:rPr lang="ko-KR" altLang="en-US" sz="1600" b="1" dirty="0">
                <a:solidFill>
                  <a:srgbClr val="0000FF"/>
                </a:solidFill>
              </a:rPr>
              <a:t>정보통신정책연구원</a:t>
            </a:r>
            <a:r>
              <a:rPr lang="en-US" altLang="ko-KR" sz="1600" b="1" i="0" dirty="0">
                <a:solidFill>
                  <a:srgbClr val="1F2328"/>
                </a:solidFill>
                <a:effectLst/>
                <a:latin typeface="Mona Sans VF"/>
              </a:rPr>
              <a:t>)</a:t>
            </a:r>
          </a:p>
          <a:p>
            <a:pPr algn="l"/>
            <a:r>
              <a:rPr lang="en-US" altLang="ko-KR" sz="1600" b="1" dirty="0">
                <a:solidFill>
                  <a:srgbClr val="1F2328"/>
                </a:solidFill>
                <a:latin typeface="Mona Sans VF"/>
              </a:rPr>
              <a:t>     </a:t>
            </a:r>
            <a:r>
              <a:rPr lang="ko-KR" altLang="en-US" sz="1600" b="0" i="0" dirty="0">
                <a:solidFill>
                  <a:srgbClr val="1F2328"/>
                </a:solidFill>
                <a:effectLst/>
                <a:latin typeface="Mona Sans VF"/>
              </a:rPr>
              <a:t>기본권</a:t>
            </a:r>
            <a:r>
              <a:rPr lang="en-US" altLang="ko-KR" sz="1600" b="0" i="0" dirty="0">
                <a:solidFill>
                  <a:srgbClr val="1F2328"/>
                </a:solidFill>
                <a:effectLst/>
                <a:latin typeface="Mona Sans VF"/>
              </a:rPr>
              <a:t>·</a:t>
            </a:r>
            <a:r>
              <a:rPr lang="ko-KR" altLang="en-US" sz="1600" b="0" i="0" dirty="0">
                <a:solidFill>
                  <a:srgbClr val="1F2328"/>
                </a:solidFill>
                <a:effectLst/>
                <a:latin typeface="Mona Sans VF"/>
              </a:rPr>
              <a:t>사회적 영향의 사전</a:t>
            </a:r>
            <a:r>
              <a:rPr lang="en-US" altLang="ko-KR" sz="1600" b="0" i="0" dirty="0">
                <a:solidFill>
                  <a:srgbClr val="1F2328"/>
                </a:solidFill>
                <a:effectLst/>
                <a:latin typeface="Mona Sans VF"/>
              </a:rPr>
              <a:t>·</a:t>
            </a:r>
            <a:r>
              <a:rPr lang="ko-KR" altLang="en-US" sz="1600" b="0" i="0" dirty="0">
                <a:solidFill>
                  <a:srgbClr val="1F2328"/>
                </a:solidFill>
                <a:effectLst/>
                <a:latin typeface="Mona Sans VF"/>
              </a:rPr>
              <a:t>사후 평가</a:t>
            </a:r>
            <a:br>
              <a:rPr lang="ko-KR" altLang="en-US" sz="1600" b="0" i="0" dirty="0">
                <a:solidFill>
                  <a:srgbClr val="1F2328"/>
                </a:solidFill>
                <a:effectLst/>
                <a:latin typeface="Mona Sans VF"/>
              </a:rPr>
            </a:br>
            <a:br>
              <a:rPr lang="ko-KR" altLang="en-US" sz="1050" b="0" i="0" dirty="0">
                <a:solidFill>
                  <a:srgbClr val="1F2328"/>
                </a:solidFill>
                <a:effectLst/>
                <a:latin typeface="Mona Sans VF"/>
              </a:rPr>
            </a:br>
            <a:r>
              <a:rPr lang="en-US" altLang="ko-KR" sz="1600" b="0" i="0" u="sng" dirty="0">
                <a:solidFill>
                  <a:srgbClr val="0969DA"/>
                </a:solidFill>
                <a:effectLst/>
                <a:latin typeface="Mona Sans VF"/>
                <a:hlinkClick r:id="rId9"/>
              </a:rPr>
              <a:t>https://www.sw.or.kr/AI_act_helpdesk/board.jsp?bcIdx=64993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46594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13F7C84-8480-4B93-824B-59D56C76C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3" y="9241"/>
            <a:ext cx="5426147" cy="276636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A44CA14-6136-4DDF-849E-D03FD85B2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500" y="4817"/>
            <a:ext cx="5688416" cy="280787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498490F-03C8-4D3D-947A-F1CCD5B72A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49" y="4119109"/>
            <a:ext cx="4864859" cy="273889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4C52BB7-BCF9-4FD3-BD9B-1CF3347603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4288" y="2953382"/>
            <a:ext cx="3242931" cy="217398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40C4FB1-D43C-42C2-93D2-E605CC6463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7219" y="4061639"/>
            <a:ext cx="4638031" cy="273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921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644D-339B-C914-72D4-B1854E220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5E1C1AA-1915-C11D-451D-0C10294A93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914" y="1203649"/>
            <a:ext cx="4450702" cy="4301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D2571C-DEB5-B5F3-A192-00E50638052D}"/>
              </a:ext>
            </a:extLst>
          </p:cNvPr>
          <p:cNvSpPr txBox="1"/>
          <p:nvPr/>
        </p:nvSpPr>
        <p:spPr>
          <a:xfrm>
            <a:off x="4139924" y="2767280"/>
            <a:ext cx="361669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/>
              <a:t>9</a:t>
            </a:r>
            <a:r>
              <a:rPr lang="ko-KR" altLang="en-US" sz="3200" b="1" dirty="0"/>
              <a:t>강</a:t>
            </a:r>
            <a:r>
              <a:rPr lang="en-US" altLang="ko-KR" sz="3200" b="1" dirty="0"/>
              <a:t>.</a:t>
            </a:r>
          </a:p>
          <a:p>
            <a:pPr algn="ctr"/>
            <a:endParaRPr lang="en-US" altLang="ko-KR" sz="1600" b="1" dirty="0"/>
          </a:p>
          <a:p>
            <a:pPr algn="ctr"/>
            <a:r>
              <a:rPr lang="en-US" altLang="ko-KR" sz="3200" b="1" dirty="0"/>
              <a:t>AI</a:t>
            </a:r>
            <a:r>
              <a:rPr lang="ko-KR" altLang="en-US" sz="3200" b="1" dirty="0"/>
              <a:t>와 개인정보보호</a:t>
            </a:r>
          </a:p>
        </p:txBody>
      </p:sp>
    </p:spTree>
    <p:extLst>
      <p:ext uri="{BB962C8B-B14F-4D97-AF65-F5344CB8AC3E}">
        <p14:creationId xmlns:p14="http://schemas.microsoft.com/office/powerpoint/2010/main" val="644475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9501BEA-FE06-4384-8E91-CFF2FA446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141" y="1104636"/>
            <a:ext cx="3730769" cy="5008652"/>
          </a:xfrm>
          <a:prstGeom prst="rect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</a:ln>
        </p:spPr>
      </p:pic>
      <p:pic>
        <p:nvPicPr>
          <p:cNvPr id="6" name="그림 5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0B8569-DE17-40D5-A099-CB933CCE4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55" y="109260"/>
            <a:ext cx="3601191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FC3950-49E6-40F8-8315-4DFEB5EFB196}"/>
              </a:ext>
            </a:extLst>
          </p:cNvPr>
          <p:cNvSpPr txBox="1"/>
          <p:nvPr/>
        </p:nvSpPr>
        <p:spPr>
          <a:xfrm>
            <a:off x="428646" y="488907"/>
            <a:ext cx="33522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공개된 개인정보처리안내서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6AE369-90C5-44D1-9E61-635E3D236DA3}"/>
              </a:ext>
            </a:extLst>
          </p:cNvPr>
          <p:cNvSpPr txBox="1"/>
          <p:nvPr/>
        </p:nvSpPr>
        <p:spPr>
          <a:xfrm>
            <a:off x="428646" y="273288"/>
            <a:ext cx="20377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AI</a:t>
            </a:r>
            <a:r>
              <a:rPr lang="ko-KR" altLang="en-US" sz="1400" dirty="0"/>
              <a:t> 개발 서비스를 위한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629BCD-98DE-408A-A984-1A5A7601ADC3}"/>
              </a:ext>
            </a:extLst>
          </p:cNvPr>
          <p:cNvSpPr txBox="1"/>
          <p:nvPr/>
        </p:nvSpPr>
        <p:spPr>
          <a:xfrm>
            <a:off x="5813329" y="889017"/>
            <a:ext cx="5195653" cy="5693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Ⅰ </a:t>
            </a:r>
            <a:r>
              <a:rPr lang="ko-KR" altLang="en-US" sz="1400" b="1" dirty="0"/>
              <a:t>개요</a:t>
            </a:r>
          </a:p>
          <a:p>
            <a:r>
              <a:rPr lang="en-US" altLang="ko-KR" sz="1400" dirty="0"/>
              <a:t> (1) </a:t>
            </a:r>
            <a:r>
              <a:rPr lang="ko-KR" altLang="en-US" sz="1400" dirty="0"/>
              <a:t>안내서 성격</a:t>
            </a:r>
          </a:p>
          <a:p>
            <a:r>
              <a:rPr lang="en-US" altLang="ko-KR" sz="1400" dirty="0"/>
              <a:t> (2) </a:t>
            </a:r>
            <a:r>
              <a:rPr lang="ko-KR" altLang="en-US" sz="1400" dirty="0"/>
              <a:t>적용 대상</a:t>
            </a:r>
          </a:p>
          <a:p>
            <a:r>
              <a:rPr lang="en-US" altLang="ko-KR" sz="1400" b="1" dirty="0"/>
              <a:t>Ⅱ </a:t>
            </a:r>
            <a:r>
              <a:rPr lang="ko-KR" altLang="en-US" sz="1400" b="1" dirty="0"/>
              <a:t>공개된 게인정보 처리의 법적 근거</a:t>
            </a:r>
          </a:p>
          <a:p>
            <a:r>
              <a:rPr lang="en-US" altLang="ko-KR" sz="1400" b="1" dirty="0"/>
              <a:t>Ⅲ </a:t>
            </a:r>
            <a:r>
              <a:rPr lang="ko-KR" altLang="en-US" sz="1400" b="1" dirty="0"/>
              <a:t>안전성 확보조치 기준</a:t>
            </a:r>
            <a:endParaRPr lang="en-US" altLang="ko-KR" sz="1400" b="1" dirty="0"/>
          </a:p>
          <a:p>
            <a:r>
              <a:rPr lang="ko-KR" altLang="en-US" sz="1400" dirty="0"/>
              <a:t>기술적 조치</a:t>
            </a:r>
          </a:p>
          <a:p>
            <a:r>
              <a:rPr lang="en-US" altLang="ko-KR" sz="1400" dirty="0"/>
              <a:t> (1-1) </a:t>
            </a:r>
            <a:r>
              <a:rPr lang="ko-KR" altLang="en-US" sz="1400" dirty="0"/>
              <a:t>학습데이터 수집 출처 검증</a:t>
            </a:r>
            <a:r>
              <a:rPr lang="en-US" altLang="ko-KR" sz="1400" dirty="0"/>
              <a:t>·</a:t>
            </a:r>
            <a:r>
              <a:rPr lang="ko-KR" altLang="en-US" sz="1400" dirty="0"/>
              <a:t>관리</a:t>
            </a:r>
          </a:p>
          <a:p>
            <a:r>
              <a:rPr lang="en-US" altLang="ko-KR" sz="1400" dirty="0"/>
              <a:t> (1-2) </a:t>
            </a:r>
            <a:r>
              <a:rPr lang="ko-KR" altLang="en-US" sz="1400" dirty="0"/>
              <a:t>개인정보 유</a:t>
            </a:r>
            <a:r>
              <a:rPr lang="en-US" altLang="ko-KR" sz="1400" dirty="0"/>
              <a:t>·</a:t>
            </a:r>
            <a:r>
              <a:rPr lang="ko-KR" altLang="en-US" sz="1400" dirty="0"/>
              <a:t>노출 방지</a:t>
            </a:r>
          </a:p>
          <a:p>
            <a:r>
              <a:rPr lang="en-US" altLang="ko-KR" sz="1400" dirty="0"/>
              <a:t> (1-3) </a:t>
            </a:r>
            <a:r>
              <a:rPr lang="ko-KR" altLang="en-US" sz="1400" dirty="0"/>
              <a:t>개인정보의 안전한 저장 및 관리</a:t>
            </a:r>
          </a:p>
          <a:p>
            <a:r>
              <a:rPr lang="en-US" altLang="ko-KR" sz="1400" dirty="0"/>
              <a:t> (1-4) </a:t>
            </a:r>
            <a:r>
              <a:rPr lang="ko-KR" altLang="en-US" sz="1400" dirty="0"/>
              <a:t>미세조정을 통한 안전장치 추가</a:t>
            </a:r>
          </a:p>
          <a:p>
            <a:r>
              <a:rPr lang="en-US" altLang="ko-KR" sz="1400" dirty="0"/>
              <a:t> (1-5) </a:t>
            </a:r>
            <a:r>
              <a:rPr lang="ko-KR" altLang="en-US" sz="1400" dirty="0"/>
              <a:t>프롬프트 및 출력 필터링 적용</a:t>
            </a:r>
          </a:p>
          <a:p>
            <a:r>
              <a:rPr lang="en-US" altLang="ko-KR" sz="1400" dirty="0"/>
              <a:t> (1-6) </a:t>
            </a:r>
            <a:r>
              <a:rPr lang="ko-KR" altLang="en-US" sz="1400" dirty="0"/>
              <a:t>학습 결과에서 특정 데이터 삭제</a:t>
            </a:r>
            <a:r>
              <a:rPr lang="en-US" altLang="ko-KR" sz="1400" dirty="0"/>
              <a:t>(</a:t>
            </a:r>
            <a:r>
              <a:rPr lang="ko-KR" altLang="en-US" sz="1400" dirty="0"/>
              <a:t>머신 언러닝 등</a:t>
            </a:r>
            <a:r>
              <a:rPr lang="en-US" altLang="ko-KR" sz="1400" dirty="0"/>
              <a:t>)</a:t>
            </a:r>
          </a:p>
          <a:p>
            <a:endParaRPr lang="en-US" altLang="ko-KR" sz="1400" dirty="0"/>
          </a:p>
          <a:p>
            <a:r>
              <a:rPr lang="ko-KR" altLang="en-US" sz="1400" dirty="0"/>
              <a:t>관리적 조치</a:t>
            </a:r>
          </a:p>
          <a:p>
            <a:r>
              <a:rPr lang="en-US" altLang="ko-KR" sz="1400" dirty="0"/>
              <a:t> (2-1) </a:t>
            </a:r>
            <a:r>
              <a:rPr lang="ko-KR" altLang="en-US" sz="1400" dirty="0"/>
              <a:t>학습데이터 처리기준 정립 및 개인정보 처리방침에 공개</a:t>
            </a:r>
          </a:p>
          <a:p>
            <a:r>
              <a:rPr lang="en-US" altLang="ko-KR" sz="1400" dirty="0"/>
              <a:t> (2-2) </a:t>
            </a:r>
            <a:r>
              <a:rPr lang="ko-KR" altLang="en-US" sz="1400" dirty="0"/>
              <a:t>개인정보 영향평가 수행 고려</a:t>
            </a:r>
          </a:p>
          <a:p>
            <a:r>
              <a:rPr lang="en-US" altLang="ko-KR" sz="1400" dirty="0"/>
              <a:t> (2-3) ‘(</a:t>
            </a:r>
            <a:r>
              <a:rPr lang="ko-KR" altLang="en-US" sz="1400" dirty="0"/>
              <a:t>가칭</a:t>
            </a:r>
            <a:r>
              <a:rPr lang="en-US" altLang="ko-KR" sz="1400" dirty="0"/>
              <a:t>) AI </a:t>
            </a:r>
            <a:r>
              <a:rPr lang="ko-KR" altLang="en-US" sz="1400" dirty="0"/>
              <a:t>프라이버시 레드팀’ 구성</a:t>
            </a:r>
            <a:r>
              <a:rPr lang="en-US" altLang="ko-KR" sz="1400" dirty="0"/>
              <a:t>·</a:t>
            </a:r>
            <a:r>
              <a:rPr lang="ko-KR" altLang="en-US" sz="1400" dirty="0"/>
              <a:t>운영</a:t>
            </a:r>
          </a:p>
          <a:p>
            <a:r>
              <a:rPr lang="en-US" altLang="ko-KR" sz="1400" dirty="0"/>
              <a:t> (2-4) </a:t>
            </a:r>
            <a:r>
              <a:rPr lang="ko-KR" altLang="en-US" sz="1400" dirty="0"/>
              <a:t>오픈소스</a:t>
            </a:r>
            <a:r>
              <a:rPr lang="en-US" altLang="ko-KR" sz="1400" dirty="0"/>
              <a:t>, API </a:t>
            </a:r>
            <a:r>
              <a:rPr lang="ko-KR" altLang="en-US" sz="1400" dirty="0"/>
              <a:t>등 </a:t>
            </a:r>
            <a:r>
              <a:rPr lang="en-US" altLang="ko-KR" sz="1400" dirty="0"/>
              <a:t>AI </a:t>
            </a:r>
            <a:r>
              <a:rPr lang="ko-KR" altLang="en-US" sz="1400" dirty="0"/>
              <a:t>개발</a:t>
            </a:r>
            <a:r>
              <a:rPr lang="en-US" altLang="ko-KR" sz="1400" dirty="0"/>
              <a:t>·</a:t>
            </a:r>
            <a:r>
              <a:rPr lang="ko-KR" altLang="en-US" sz="1400" dirty="0"/>
              <a:t>배포 특성에 따른 안전조치</a:t>
            </a:r>
          </a:p>
          <a:p>
            <a:endParaRPr lang="ko-KR" altLang="en-US" sz="1400" dirty="0"/>
          </a:p>
          <a:p>
            <a:r>
              <a:rPr lang="en-US" altLang="ko-KR" sz="1400" b="1" dirty="0"/>
              <a:t>Ⅳ. </a:t>
            </a:r>
            <a:r>
              <a:rPr lang="ko-KR" altLang="en-US" sz="1400" b="1" dirty="0"/>
              <a:t>정보주체 권리보장 방안</a:t>
            </a:r>
          </a:p>
          <a:p>
            <a:r>
              <a:rPr lang="en-US" altLang="ko-KR" sz="1400" b="1" dirty="0"/>
              <a:t>V. </a:t>
            </a:r>
            <a:r>
              <a:rPr lang="ko-KR" altLang="en-US" sz="1400" b="1" dirty="0"/>
              <a:t>책임있는 </a:t>
            </a:r>
            <a:r>
              <a:rPr lang="en-US" altLang="ko-KR" sz="1400" b="1" dirty="0"/>
              <a:t>AI</a:t>
            </a:r>
            <a:r>
              <a:rPr lang="ko-KR" altLang="en-US" sz="1400" b="1" dirty="0"/>
              <a:t>개발 활용을 위한 </a:t>
            </a:r>
            <a:r>
              <a:rPr lang="en-US" altLang="ko-KR" sz="1400" b="1" dirty="0"/>
              <a:t>AI </a:t>
            </a:r>
            <a:r>
              <a:rPr lang="ko-KR" altLang="en-US" sz="1400" b="1" dirty="0"/>
              <a:t>기업 등의 역할</a:t>
            </a:r>
          </a:p>
          <a:p>
            <a:r>
              <a:rPr lang="ko-KR" altLang="en-US" sz="1400" b="1" dirty="0"/>
              <a:t>부록</a:t>
            </a:r>
          </a:p>
          <a:p>
            <a:r>
              <a:rPr lang="ko-KR" altLang="en-US" sz="1400" dirty="0"/>
              <a:t>자주 묻는 질문</a:t>
            </a:r>
            <a:r>
              <a:rPr lang="en-US" altLang="ko-KR" sz="1400" dirty="0"/>
              <a:t>(FAQ)</a:t>
            </a:r>
          </a:p>
          <a:p>
            <a:r>
              <a:rPr lang="en-US" altLang="ko-KR" sz="1400" dirty="0"/>
              <a:t>AI </a:t>
            </a:r>
            <a:r>
              <a:rPr lang="ko-KR" altLang="en-US" sz="1400" dirty="0"/>
              <a:t>단계별 주요 프라이버시 이슈</a:t>
            </a:r>
            <a:endParaRPr lang="en-US" altLang="ko-KR" sz="1400" dirty="0"/>
          </a:p>
          <a:p>
            <a:r>
              <a:rPr lang="ko-KR" altLang="en-US" sz="1400" dirty="0"/>
              <a:t>공개된 개인정보 관련 국내외 논의 동향 </a:t>
            </a:r>
          </a:p>
        </p:txBody>
      </p:sp>
    </p:spTree>
    <p:extLst>
      <p:ext uri="{BB962C8B-B14F-4D97-AF65-F5344CB8AC3E}">
        <p14:creationId xmlns:p14="http://schemas.microsoft.com/office/powerpoint/2010/main" val="1028540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83C55-01A1-6D26-6D23-CAADDF728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55D9BE-1846-4882-BDA9-668F5989C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55" y="109260"/>
            <a:ext cx="2990973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0E2569-8063-27A5-DB6A-389327B21742}"/>
              </a:ext>
            </a:extLst>
          </p:cNvPr>
          <p:cNvSpPr txBox="1"/>
          <p:nvPr/>
        </p:nvSpPr>
        <p:spPr>
          <a:xfrm>
            <a:off x="428646" y="488907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개인정보처리안내서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8BAF885-B877-4581-A1A6-F91CB11A5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141" y="1032939"/>
            <a:ext cx="4000847" cy="541829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C1D0A4A-CE2C-4F43-8DBF-6227BC7BAFA4}"/>
              </a:ext>
            </a:extLst>
          </p:cNvPr>
          <p:cNvSpPr txBox="1"/>
          <p:nvPr/>
        </p:nvSpPr>
        <p:spPr>
          <a:xfrm>
            <a:off x="6037169" y="1110594"/>
            <a:ext cx="4224233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Ⅰ </a:t>
            </a:r>
            <a:r>
              <a:rPr lang="ko-KR" altLang="en-US" sz="1400" b="1" dirty="0"/>
              <a:t>개요</a:t>
            </a:r>
          </a:p>
          <a:p>
            <a:r>
              <a:rPr lang="en-US" altLang="ko-KR" sz="1400" dirty="0"/>
              <a:t>1. </a:t>
            </a:r>
            <a:r>
              <a:rPr lang="ko-KR" altLang="en-US" sz="1400" dirty="0"/>
              <a:t>발간 배경 및 목적</a:t>
            </a:r>
          </a:p>
          <a:p>
            <a:r>
              <a:rPr lang="en-US" altLang="ko-KR" sz="1400" dirty="0"/>
              <a:t>[</a:t>
            </a:r>
            <a:r>
              <a:rPr lang="ko-KR" altLang="en-US" sz="1400" dirty="0"/>
              <a:t>참고</a:t>
            </a:r>
            <a:r>
              <a:rPr lang="en-US" altLang="ko-KR" sz="1400" dirty="0"/>
              <a:t>] </a:t>
            </a:r>
            <a:r>
              <a:rPr lang="ko-KR" altLang="en-US" sz="1400" dirty="0"/>
              <a:t>본 안내서에 포함된 주요 법령 및 정책 사례</a:t>
            </a:r>
          </a:p>
          <a:p>
            <a:r>
              <a:rPr lang="en-US" altLang="ko-KR" sz="1400" dirty="0"/>
              <a:t>2. </a:t>
            </a:r>
            <a:r>
              <a:rPr lang="ko-KR" altLang="en-US" sz="1400" dirty="0"/>
              <a:t>적용 범위 및 성격</a:t>
            </a:r>
          </a:p>
          <a:p>
            <a:endParaRPr lang="ko-KR" altLang="en-US" sz="1400" b="1" dirty="0"/>
          </a:p>
          <a:p>
            <a:r>
              <a:rPr lang="en-US" altLang="ko-KR" sz="1400" b="1" dirty="0"/>
              <a:t>Ⅱ </a:t>
            </a:r>
            <a:r>
              <a:rPr lang="ko-KR" altLang="en-US" sz="1400" b="1" dirty="0"/>
              <a:t>생성형 </a:t>
            </a:r>
            <a:r>
              <a:rPr lang="en-US" altLang="ko-KR" sz="1400" b="1" dirty="0"/>
              <a:t>AI </a:t>
            </a:r>
            <a:r>
              <a:rPr lang="ko-KR" altLang="en-US" sz="1400" b="1" dirty="0"/>
              <a:t>개발･활용 단계</a:t>
            </a:r>
          </a:p>
          <a:p>
            <a:endParaRPr lang="ko-KR" altLang="en-US" sz="1400" b="1" dirty="0"/>
          </a:p>
          <a:p>
            <a:r>
              <a:rPr lang="en-US" altLang="ko-KR" sz="1400" b="1" dirty="0"/>
              <a:t>Ⅲ </a:t>
            </a:r>
            <a:r>
              <a:rPr lang="ko-KR" altLang="en-US" sz="1400" b="1" dirty="0"/>
              <a:t>생성형 </a:t>
            </a:r>
            <a:r>
              <a:rPr lang="en-US" altLang="ko-KR" sz="1400" b="1" dirty="0"/>
              <a:t>AI </a:t>
            </a:r>
            <a:r>
              <a:rPr lang="ko-KR" altLang="en-US" sz="1400" b="1" dirty="0"/>
              <a:t>개발･활용 단계별 고려사항</a:t>
            </a:r>
          </a:p>
          <a:p>
            <a:r>
              <a:rPr lang="en-US" altLang="ko-KR" sz="1400" dirty="0"/>
              <a:t>1. </a:t>
            </a:r>
            <a:r>
              <a:rPr lang="ko-KR" altLang="en-US" sz="1400" dirty="0"/>
              <a:t>목적 설정</a:t>
            </a:r>
          </a:p>
          <a:p>
            <a:r>
              <a:rPr lang="ko-KR" altLang="en-US" sz="1400" dirty="0"/>
              <a:t>가</a:t>
            </a:r>
            <a:r>
              <a:rPr lang="en-US" altLang="ko-KR" sz="1400" dirty="0"/>
              <a:t>. </a:t>
            </a:r>
            <a:r>
              <a:rPr lang="ko-KR" altLang="en-US" sz="1400" dirty="0"/>
              <a:t>수집 목적 내 서비스 개선･고도화</a:t>
            </a:r>
          </a:p>
          <a:p>
            <a:r>
              <a:rPr lang="ko-KR" altLang="en-US" sz="1400" dirty="0"/>
              <a:t>나</a:t>
            </a:r>
            <a:r>
              <a:rPr lang="en-US" altLang="ko-KR" sz="1400" dirty="0"/>
              <a:t>. </a:t>
            </a:r>
            <a:r>
              <a:rPr lang="ko-KR" altLang="en-US" sz="1400" dirty="0"/>
              <a:t>수집 목적과의 합리적 관련성 있는 이용</a:t>
            </a:r>
          </a:p>
          <a:p>
            <a:r>
              <a:rPr lang="ko-KR" altLang="en-US" sz="1400" dirty="0"/>
              <a:t>다</a:t>
            </a:r>
            <a:r>
              <a:rPr lang="en-US" altLang="ko-KR" sz="1400" dirty="0"/>
              <a:t>. </a:t>
            </a:r>
            <a:r>
              <a:rPr lang="ko-KR" altLang="en-US" sz="1400" dirty="0"/>
              <a:t>당초 수집 목적과 별개의 신규 서비스 개발</a:t>
            </a:r>
          </a:p>
          <a:p>
            <a:r>
              <a:rPr lang="ko-KR" altLang="en-US" sz="1400" dirty="0"/>
              <a:t>라</a:t>
            </a:r>
            <a:r>
              <a:rPr lang="en-US" altLang="ko-KR" sz="1400" dirty="0"/>
              <a:t>. </a:t>
            </a:r>
            <a:r>
              <a:rPr lang="ko-KR" altLang="en-US" sz="1400" dirty="0"/>
              <a:t>특수한 개인정보의 처리</a:t>
            </a:r>
          </a:p>
          <a:p>
            <a:r>
              <a:rPr lang="en-US" altLang="ko-KR" sz="1400" dirty="0"/>
              <a:t>2. </a:t>
            </a:r>
            <a:r>
              <a:rPr lang="ko-KR" altLang="en-US" sz="1400" dirty="0"/>
              <a:t>전략 수립</a:t>
            </a:r>
          </a:p>
          <a:p>
            <a:r>
              <a:rPr lang="en-US" altLang="ko-KR" sz="1400" dirty="0"/>
              <a:t>3. AI </a:t>
            </a:r>
            <a:r>
              <a:rPr lang="ko-KR" altLang="en-US" sz="1400" dirty="0"/>
              <a:t>학습 및 개발</a:t>
            </a:r>
          </a:p>
          <a:p>
            <a:r>
              <a:rPr lang="ko-KR" altLang="en-US" sz="1400" dirty="0"/>
              <a:t>데이터 수준</a:t>
            </a:r>
          </a:p>
          <a:p>
            <a:r>
              <a:rPr lang="ko-KR" altLang="en-US" sz="1400" dirty="0"/>
              <a:t>모델 수준</a:t>
            </a:r>
          </a:p>
          <a:p>
            <a:r>
              <a:rPr lang="ko-KR" altLang="en-US" sz="1400" dirty="0"/>
              <a:t>시스템 수준</a:t>
            </a:r>
          </a:p>
          <a:p>
            <a:endParaRPr lang="ko-KR" altLang="en-US" sz="1400" dirty="0"/>
          </a:p>
          <a:p>
            <a:r>
              <a:rPr lang="en-US" altLang="ko-KR" sz="1400" dirty="0"/>
              <a:t>4. </a:t>
            </a:r>
            <a:r>
              <a:rPr lang="ko-KR" altLang="en-US" sz="1400" dirty="0"/>
              <a:t>시스템 적용 및 관리</a:t>
            </a:r>
          </a:p>
          <a:p>
            <a:r>
              <a:rPr lang="ko-KR" altLang="en-US" sz="1400" dirty="0"/>
              <a:t>배포전 점검사항</a:t>
            </a:r>
          </a:p>
          <a:p>
            <a:r>
              <a:rPr lang="ko-KR" altLang="en-US" sz="1400" dirty="0"/>
              <a:t>모니터링</a:t>
            </a:r>
            <a:r>
              <a:rPr lang="en-US" altLang="ko-KR" sz="1400" dirty="0"/>
              <a:t>, </a:t>
            </a:r>
            <a:r>
              <a:rPr lang="ko-KR" altLang="en-US" sz="1400" dirty="0"/>
              <a:t>정보주체 권리보장</a:t>
            </a:r>
            <a:r>
              <a:rPr lang="en-US" altLang="ko-KR" sz="1400" dirty="0"/>
              <a:t>, </a:t>
            </a:r>
            <a:r>
              <a:rPr lang="ko-KR" altLang="en-US" sz="1400" dirty="0"/>
              <a:t>투명성 확보</a:t>
            </a:r>
          </a:p>
          <a:p>
            <a:endParaRPr lang="ko-KR" altLang="en-US" sz="1400" dirty="0"/>
          </a:p>
          <a:p>
            <a:r>
              <a:rPr lang="en-US" altLang="ko-KR" sz="1400" dirty="0"/>
              <a:t>5. AI </a:t>
            </a:r>
            <a:r>
              <a:rPr lang="ko-KR" altLang="en-US" sz="1400" dirty="0"/>
              <a:t>프라이버시 거버넌스 체계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0334FA-D826-4CA6-895A-A45445ED0DEB}"/>
              </a:ext>
            </a:extLst>
          </p:cNvPr>
          <p:cNvSpPr txBox="1"/>
          <p:nvPr/>
        </p:nvSpPr>
        <p:spPr>
          <a:xfrm>
            <a:off x="428646" y="273288"/>
            <a:ext cx="23342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생성형 </a:t>
            </a:r>
            <a:r>
              <a:rPr lang="en-US" altLang="ko-KR" sz="1400" dirty="0"/>
              <a:t>AI</a:t>
            </a:r>
            <a:r>
              <a:rPr lang="ko-KR" altLang="en-US" sz="1400" dirty="0"/>
              <a:t> 개발활용을 위한</a:t>
            </a:r>
          </a:p>
        </p:txBody>
      </p:sp>
    </p:spTree>
    <p:extLst>
      <p:ext uri="{BB962C8B-B14F-4D97-AF65-F5344CB8AC3E}">
        <p14:creationId xmlns:p14="http://schemas.microsoft.com/office/powerpoint/2010/main" val="4208839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83C55-01A1-6D26-6D23-CAADDF728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55D9BE-1846-4882-BDA9-668F5989C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55" y="109260"/>
            <a:ext cx="4073368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0E2569-8063-27A5-DB6A-389327B21742}"/>
              </a:ext>
            </a:extLst>
          </p:cNvPr>
          <p:cNvSpPr txBox="1"/>
          <p:nvPr/>
        </p:nvSpPr>
        <p:spPr>
          <a:xfrm>
            <a:off x="437952" y="278713"/>
            <a:ext cx="36134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AI</a:t>
            </a:r>
            <a:r>
              <a:rPr lang="ko-KR" altLang="en-US" sz="2000" b="1" dirty="0"/>
              <a:t>프라이버시 리스크관리모델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1D0A4A-CE2C-4F43-8DBF-6227BC7BAFA4}"/>
              </a:ext>
            </a:extLst>
          </p:cNvPr>
          <p:cNvSpPr txBox="1"/>
          <p:nvPr/>
        </p:nvSpPr>
        <p:spPr>
          <a:xfrm>
            <a:off x="5941452" y="66728"/>
            <a:ext cx="6070893" cy="6771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Ⅰ </a:t>
            </a:r>
            <a:r>
              <a:rPr lang="ko-KR" altLang="en-US" sz="1400" b="1" dirty="0"/>
              <a:t>개요</a:t>
            </a:r>
          </a:p>
          <a:p>
            <a:r>
              <a:rPr lang="en-US" altLang="ko-KR" sz="1400" dirty="0"/>
              <a:t>01 </a:t>
            </a:r>
            <a:r>
              <a:rPr lang="ko-KR" altLang="en-US" sz="1400" dirty="0"/>
              <a:t>논의 배경</a:t>
            </a:r>
          </a:p>
          <a:p>
            <a:r>
              <a:rPr lang="en-US" altLang="ko-KR" sz="1400" dirty="0"/>
              <a:t>02 </a:t>
            </a:r>
            <a:r>
              <a:rPr lang="ko-KR" altLang="en-US" sz="1400" dirty="0"/>
              <a:t>적용 범위</a:t>
            </a:r>
          </a:p>
          <a:p>
            <a:r>
              <a:rPr lang="en-US" altLang="ko-KR" sz="1400" dirty="0"/>
              <a:t>03 </a:t>
            </a:r>
            <a:r>
              <a:rPr lang="ko-KR" altLang="en-US" sz="1400" dirty="0"/>
              <a:t>개인정보 보호법 및 타 안내서 등과의 관계</a:t>
            </a:r>
          </a:p>
          <a:p>
            <a:endParaRPr lang="ko-KR" altLang="en-US" sz="1400" dirty="0"/>
          </a:p>
          <a:p>
            <a:r>
              <a:rPr lang="en-US" altLang="ko-KR" sz="1400" b="1" dirty="0"/>
              <a:t>Ⅱ AI </a:t>
            </a:r>
            <a:r>
              <a:rPr lang="ko-KR" altLang="en-US" sz="1400" b="1" dirty="0"/>
              <a:t>프라이버시 리스크 관리의 절차</a:t>
            </a:r>
          </a:p>
          <a:p>
            <a:r>
              <a:rPr lang="en-US" altLang="ko-KR" sz="1400" dirty="0"/>
              <a:t>01 AI</a:t>
            </a:r>
            <a:r>
              <a:rPr lang="ko-KR" altLang="en-US" sz="1400" dirty="0"/>
              <a:t>의 유형</a:t>
            </a:r>
            <a:r>
              <a:rPr lang="en-US" altLang="ko-KR" sz="1400" dirty="0"/>
              <a:t>·</a:t>
            </a:r>
            <a:r>
              <a:rPr lang="ko-KR" altLang="en-US" sz="1400" dirty="0"/>
              <a:t>용례 파악</a:t>
            </a:r>
          </a:p>
          <a:p>
            <a:r>
              <a:rPr lang="en-US" altLang="ko-KR" sz="1400" dirty="0"/>
              <a:t>02 </a:t>
            </a:r>
            <a:r>
              <a:rPr lang="ko-KR" altLang="en-US" sz="1400" dirty="0"/>
              <a:t>용례에 대응하는 리스크의 식별</a:t>
            </a:r>
          </a:p>
          <a:p>
            <a:r>
              <a:rPr lang="en-US" altLang="ko-KR" sz="1400" dirty="0"/>
              <a:t>03 </a:t>
            </a:r>
            <a:r>
              <a:rPr lang="ko-KR" altLang="en-US" sz="1400" dirty="0"/>
              <a:t>리스크의 측정</a:t>
            </a:r>
          </a:p>
          <a:p>
            <a:r>
              <a:rPr lang="en-US" altLang="ko-KR" sz="1400" dirty="0"/>
              <a:t>04 </a:t>
            </a:r>
            <a:r>
              <a:rPr lang="ko-KR" altLang="en-US" sz="1400" dirty="0"/>
              <a:t>리스크 경감방안의 검토와 도입</a:t>
            </a:r>
          </a:p>
          <a:p>
            <a:r>
              <a:rPr lang="en-US" altLang="ko-KR" sz="1400" dirty="0"/>
              <a:t>[</a:t>
            </a:r>
            <a:r>
              <a:rPr lang="ko-KR" altLang="en-US" sz="1400" dirty="0"/>
              <a:t>붙임 </a:t>
            </a:r>
            <a:r>
              <a:rPr lang="en-US" altLang="ko-KR" sz="1400" dirty="0"/>
              <a:t>1 ] AI </a:t>
            </a:r>
            <a:r>
              <a:rPr lang="ko-KR" altLang="en-US" sz="1400" dirty="0"/>
              <a:t>리스크 관련 글로벌 논의 현황</a:t>
            </a:r>
          </a:p>
          <a:p>
            <a:r>
              <a:rPr lang="en-US" altLang="ko-KR" sz="1400" dirty="0"/>
              <a:t>[</a:t>
            </a:r>
            <a:r>
              <a:rPr lang="ko-KR" altLang="en-US" sz="1400" dirty="0"/>
              <a:t>붙임 </a:t>
            </a:r>
            <a:r>
              <a:rPr lang="en-US" altLang="ko-KR" sz="1400" dirty="0"/>
              <a:t>2] </a:t>
            </a:r>
            <a:r>
              <a:rPr lang="ko-KR" altLang="en-US" sz="1400" dirty="0"/>
              <a:t>지향되는 리스크 관리 체계의 원리</a:t>
            </a:r>
          </a:p>
          <a:p>
            <a:r>
              <a:rPr lang="en-US" altLang="ko-KR" sz="1400" dirty="0"/>
              <a:t>[</a:t>
            </a:r>
            <a:r>
              <a:rPr lang="ko-KR" altLang="en-US" sz="1400" dirty="0"/>
              <a:t>붙임 </a:t>
            </a:r>
            <a:r>
              <a:rPr lang="en-US" altLang="ko-KR" sz="1400" dirty="0"/>
              <a:t>3] AI </a:t>
            </a:r>
            <a:r>
              <a:rPr lang="ko-KR" altLang="en-US" sz="1400" dirty="0"/>
              <a:t>리스크 관리 관련 표준</a:t>
            </a:r>
          </a:p>
          <a:p>
            <a:endParaRPr lang="ko-KR" altLang="en-US" sz="1400" dirty="0"/>
          </a:p>
          <a:p>
            <a:r>
              <a:rPr lang="en-US" altLang="ko-KR" sz="1400" b="1" dirty="0"/>
              <a:t>Ⅲ </a:t>
            </a:r>
            <a:r>
              <a:rPr lang="ko-KR" altLang="en-US" sz="1400" b="1" dirty="0"/>
              <a:t>리스크의 식별</a:t>
            </a:r>
          </a:p>
          <a:p>
            <a:r>
              <a:rPr lang="en-US" altLang="ko-KR" sz="1400" dirty="0"/>
              <a:t>01 </a:t>
            </a:r>
            <a:r>
              <a:rPr lang="ko-KR" altLang="en-US" sz="1400" dirty="0"/>
              <a:t>기획</a:t>
            </a:r>
            <a:r>
              <a:rPr lang="en-US" altLang="ko-KR" sz="1400" dirty="0"/>
              <a:t>·</a:t>
            </a:r>
            <a:r>
              <a:rPr lang="ko-KR" altLang="en-US" sz="1400" dirty="0"/>
              <a:t>개발 단계</a:t>
            </a:r>
          </a:p>
          <a:p>
            <a:r>
              <a:rPr lang="en-US" altLang="ko-KR" sz="1400" dirty="0"/>
              <a:t>[</a:t>
            </a:r>
            <a:r>
              <a:rPr lang="ko-KR" altLang="en-US" sz="1400" dirty="0"/>
              <a:t>붙임 </a:t>
            </a:r>
            <a:r>
              <a:rPr lang="en-US" altLang="ko-KR" sz="1400" dirty="0"/>
              <a:t>4] AI </a:t>
            </a:r>
            <a:r>
              <a:rPr lang="ko-KR" altLang="en-US" sz="1400" dirty="0"/>
              <a:t>학습데이터 수집</a:t>
            </a:r>
            <a:r>
              <a:rPr lang="en-US" altLang="ko-KR" sz="1400" dirty="0"/>
              <a:t>·</a:t>
            </a:r>
            <a:r>
              <a:rPr lang="ko-KR" altLang="en-US" sz="1400" dirty="0"/>
              <a:t>이용의 적법 근거 예시</a:t>
            </a:r>
          </a:p>
          <a:p>
            <a:r>
              <a:rPr lang="en-US" altLang="ko-KR" sz="1400" dirty="0"/>
              <a:t>02 </a:t>
            </a:r>
            <a:r>
              <a:rPr lang="ko-KR" altLang="en-US" sz="1400" dirty="0"/>
              <a:t>서비스 제공 단계</a:t>
            </a:r>
          </a:p>
          <a:p>
            <a:endParaRPr lang="ko-KR" altLang="en-US" sz="1400" dirty="0"/>
          </a:p>
          <a:p>
            <a:r>
              <a:rPr lang="en-US" altLang="ko-KR" sz="1400" b="1" dirty="0"/>
              <a:t>Ⅳ </a:t>
            </a:r>
            <a:r>
              <a:rPr lang="ko-KR" altLang="en-US" sz="1400" b="1" dirty="0"/>
              <a:t>리스크의 경감</a:t>
            </a:r>
          </a:p>
          <a:p>
            <a:r>
              <a:rPr lang="en-US" altLang="ko-KR" sz="1400" dirty="0"/>
              <a:t>01 </a:t>
            </a:r>
            <a:r>
              <a:rPr lang="ko-KR" altLang="en-US" sz="1400" dirty="0"/>
              <a:t>관리적 조치</a:t>
            </a:r>
          </a:p>
          <a:p>
            <a:r>
              <a:rPr lang="en-US" altLang="ko-KR" sz="1400" dirty="0"/>
              <a:t>02 </a:t>
            </a:r>
            <a:r>
              <a:rPr lang="ko-KR" altLang="en-US" sz="1400" dirty="0"/>
              <a:t>기술적 조치</a:t>
            </a:r>
          </a:p>
          <a:p>
            <a:endParaRPr lang="ko-KR" altLang="en-US" sz="1400" dirty="0"/>
          </a:p>
          <a:p>
            <a:r>
              <a:rPr lang="en-US" altLang="ko-KR" sz="1400" b="1" dirty="0"/>
              <a:t>Ⅴ AI </a:t>
            </a:r>
            <a:r>
              <a:rPr lang="ko-KR" altLang="en-US" sz="1400" b="1" dirty="0"/>
              <a:t>프라이버시 리스크 관리 체계</a:t>
            </a:r>
          </a:p>
          <a:p>
            <a:r>
              <a:rPr lang="en-US" altLang="ko-KR" sz="1400" dirty="0"/>
              <a:t>01 AI </a:t>
            </a:r>
            <a:r>
              <a:rPr lang="ko-KR" altLang="en-US" sz="1400" dirty="0"/>
              <a:t>프라이버시 거버넌스 구축</a:t>
            </a:r>
          </a:p>
          <a:p>
            <a:r>
              <a:rPr lang="en-US" altLang="ko-KR" sz="1400" dirty="0"/>
              <a:t>02 AI </a:t>
            </a:r>
            <a:r>
              <a:rPr lang="ko-KR" altLang="en-US" sz="1400" dirty="0"/>
              <a:t>가치망 내 참여자와의 협력</a:t>
            </a:r>
          </a:p>
          <a:p>
            <a:endParaRPr lang="ko-KR" altLang="en-US" sz="1400" dirty="0"/>
          </a:p>
          <a:p>
            <a:r>
              <a:rPr lang="en-US" altLang="ko-KR" sz="1400" dirty="0"/>
              <a:t>[</a:t>
            </a:r>
            <a:r>
              <a:rPr lang="ko-KR" altLang="en-US" sz="1400" dirty="0"/>
              <a:t>부록 </a:t>
            </a:r>
            <a:r>
              <a:rPr lang="en-US" altLang="ko-KR" sz="1400" dirty="0"/>
              <a:t>1 ] AI </a:t>
            </a:r>
            <a:r>
              <a:rPr lang="ko-KR" altLang="en-US" sz="1400" dirty="0"/>
              <a:t>개인정보 리스크 자율평가 항목</a:t>
            </a:r>
          </a:p>
          <a:p>
            <a:r>
              <a:rPr lang="en-US" altLang="ko-KR" sz="1400" dirty="0"/>
              <a:t>[</a:t>
            </a:r>
            <a:r>
              <a:rPr lang="ko-KR" altLang="en-US" sz="1400" dirty="0"/>
              <a:t>부록 </a:t>
            </a:r>
            <a:r>
              <a:rPr lang="en-US" altLang="ko-KR" sz="1400" dirty="0"/>
              <a:t>2] </a:t>
            </a:r>
            <a:r>
              <a:rPr lang="ko-KR" altLang="en-US" sz="1400" dirty="0"/>
              <a:t>언어모델</a:t>
            </a:r>
            <a:r>
              <a:rPr lang="en-US" altLang="ko-KR" sz="1400" dirty="0"/>
              <a:t>(LLM) </a:t>
            </a:r>
            <a:r>
              <a:rPr lang="ko-KR" altLang="en-US" sz="1400" dirty="0"/>
              <a:t>대상 프라이버시 리스크 경감기술의 유형 및 효과</a:t>
            </a:r>
          </a:p>
          <a:p>
            <a:r>
              <a:rPr lang="en-US" altLang="ko-KR" sz="1400" dirty="0"/>
              <a:t>[</a:t>
            </a:r>
            <a:r>
              <a:rPr lang="ko-KR" altLang="en-US" sz="1400" dirty="0"/>
              <a:t>부록 </a:t>
            </a:r>
            <a:r>
              <a:rPr lang="en-US" altLang="ko-KR" sz="1400" dirty="0"/>
              <a:t>3] AI </a:t>
            </a:r>
            <a:r>
              <a:rPr lang="ko-KR" altLang="en-US" sz="1400" dirty="0"/>
              <a:t>프라이버시 리스크 유형 및 경감방안 도식화</a:t>
            </a:r>
          </a:p>
          <a:p>
            <a:endParaRPr lang="ko-KR" altLang="en-US" sz="1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1748E09-507B-41B9-AF8E-C91967960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141" y="1032939"/>
            <a:ext cx="3863675" cy="5380186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39350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C4086A4-BC23-4390-B159-E65B5398CAA3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027949" y="724479"/>
            <a:ext cx="2520000" cy="3240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0872C20-109E-45EB-9A61-5ABEEAFB6328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85699" y="751060"/>
            <a:ext cx="2520000" cy="3240000"/>
          </a:xfrm>
          <a:prstGeom prst="rect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8D7F9E3-6C7A-4232-9988-16AEBEB81F1E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949088" y="724479"/>
            <a:ext cx="2520000" cy="3240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F497F7E-0847-41B8-9B61-A0C764479D9C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9672000" y="1084308"/>
            <a:ext cx="2520000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745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C4086A4-BC23-4390-B159-E65B5398CAA3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556005" y="113906"/>
            <a:ext cx="2520000" cy="2464494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0872C20-109E-45EB-9A61-5ABEEAFB6328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09399" y="106326"/>
            <a:ext cx="2425187" cy="2546502"/>
          </a:xfrm>
          <a:prstGeom prst="rect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8D7F9E3-6C7A-4232-9988-16AEBEB81F1E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697425" y="106326"/>
            <a:ext cx="2520000" cy="2546502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D06456-78AF-425B-B206-FA75236D600D}"/>
              </a:ext>
            </a:extLst>
          </p:cNvPr>
          <p:cNvSpPr txBox="1"/>
          <p:nvPr/>
        </p:nvSpPr>
        <p:spPr>
          <a:xfrm>
            <a:off x="4322226" y="2891046"/>
            <a:ext cx="3801041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Ⅰ. </a:t>
            </a:r>
            <a:r>
              <a:rPr lang="ko-KR" altLang="en-US" sz="1200" b="1" dirty="0"/>
              <a:t>개요</a:t>
            </a:r>
          </a:p>
          <a:p>
            <a:r>
              <a:rPr lang="en-US" altLang="ko-KR" sz="1200" dirty="0"/>
              <a:t>1. </a:t>
            </a:r>
            <a:r>
              <a:rPr lang="ko-KR" altLang="en-US" sz="1200" dirty="0"/>
              <a:t>발간 배경 및 목적</a:t>
            </a:r>
          </a:p>
          <a:p>
            <a:r>
              <a:rPr lang="en-US" altLang="ko-KR" sz="1200" dirty="0"/>
              <a:t>   [</a:t>
            </a:r>
            <a:r>
              <a:rPr lang="ko-KR" altLang="en-US" sz="1200" dirty="0"/>
              <a:t>참고</a:t>
            </a:r>
            <a:r>
              <a:rPr lang="en-US" altLang="ko-KR" sz="1200" dirty="0"/>
              <a:t>] </a:t>
            </a:r>
            <a:r>
              <a:rPr lang="ko-KR" altLang="en-US" sz="1200" dirty="0"/>
              <a:t>본 안내서에 포함된 주요 법령 및 정책 사례</a:t>
            </a:r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적용 범위 및 성격</a:t>
            </a:r>
          </a:p>
          <a:p>
            <a:r>
              <a:rPr lang="en-US" altLang="ko-KR" sz="1200" b="1" dirty="0"/>
              <a:t>Ⅱ. </a:t>
            </a:r>
            <a:r>
              <a:rPr lang="ko-KR" altLang="en-US" sz="1200" b="1" dirty="0"/>
              <a:t>생성형 </a:t>
            </a:r>
            <a:r>
              <a:rPr lang="en-US" altLang="ko-KR" sz="1200" b="1" dirty="0"/>
              <a:t>AI </a:t>
            </a:r>
            <a:r>
              <a:rPr lang="ko-KR" altLang="en-US" sz="1200" b="1" dirty="0"/>
              <a:t>개발･활용 단계</a:t>
            </a:r>
          </a:p>
          <a:p>
            <a:r>
              <a:rPr lang="en-US" altLang="ko-KR" sz="1200" b="1" dirty="0"/>
              <a:t>Ⅲ. </a:t>
            </a:r>
            <a:r>
              <a:rPr lang="ko-KR" altLang="en-US" sz="1200" b="1" dirty="0"/>
              <a:t>생성형 </a:t>
            </a:r>
            <a:r>
              <a:rPr lang="en-US" altLang="ko-KR" sz="1200" b="1" dirty="0"/>
              <a:t>AI </a:t>
            </a:r>
            <a:r>
              <a:rPr lang="ko-KR" altLang="en-US" sz="1200" b="1" dirty="0"/>
              <a:t>개발･활용 단계별 고려사항</a:t>
            </a:r>
          </a:p>
          <a:p>
            <a:r>
              <a:rPr lang="en-US" altLang="ko-KR" sz="1200" dirty="0"/>
              <a:t>1. </a:t>
            </a:r>
            <a:r>
              <a:rPr lang="ko-KR" altLang="en-US" sz="1200" dirty="0"/>
              <a:t>목적 설정</a:t>
            </a:r>
          </a:p>
          <a:p>
            <a:r>
              <a:rPr lang="ko-KR" altLang="en-US" sz="1200" dirty="0"/>
              <a:t> 가</a:t>
            </a:r>
            <a:r>
              <a:rPr lang="en-US" altLang="ko-KR" sz="1200" dirty="0"/>
              <a:t>. </a:t>
            </a:r>
            <a:r>
              <a:rPr lang="ko-KR" altLang="en-US" sz="1200" dirty="0"/>
              <a:t>수집 목적 내 서비스 개선･고도화</a:t>
            </a:r>
          </a:p>
          <a:p>
            <a:r>
              <a:rPr lang="ko-KR" altLang="en-US" sz="1200" dirty="0"/>
              <a:t> 나</a:t>
            </a:r>
            <a:r>
              <a:rPr lang="en-US" altLang="ko-KR" sz="1200" dirty="0"/>
              <a:t>. </a:t>
            </a:r>
            <a:r>
              <a:rPr lang="ko-KR" altLang="en-US" sz="1200" dirty="0"/>
              <a:t>수집 목적과의 합리적 관련성 있는 이용</a:t>
            </a:r>
          </a:p>
          <a:p>
            <a:r>
              <a:rPr lang="ko-KR" altLang="en-US" sz="1200" dirty="0"/>
              <a:t> 다</a:t>
            </a:r>
            <a:r>
              <a:rPr lang="en-US" altLang="ko-KR" sz="1200" dirty="0"/>
              <a:t>. </a:t>
            </a:r>
            <a:r>
              <a:rPr lang="ko-KR" altLang="en-US" sz="1200" dirty="0"/>
              <a:t>당초 수집 목적과 별개의 신규 서비스 개발</a:t>
            </a:r>
          </a:p>
          <a:p>
            <a:r>
              <a:rPr lang="ko-KR" altLang="en-US" sz="1200" dirty="0"/>
              <a:t> 라</a:t>
            </a:r>
            <a:r>
              <a:rPr lang="en-US" altLang="ko-KR" sz="1200" dirty="0"/>
              <a:t>. </a:t>
            </a:r>
            <a:r>
              <a:rPr lang="ko-KR" altLang="en-US" sz="1200" dirty="0"/>
              <a:t>특수한 개인정보의 처리</a:t>
            </a:r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전략 수립</a:t>
            </a:r>
          </a:p>
          <a:p>
            <a:r>
              <a:rPr lang="en-US" altLang="ko-KR" sz="1200" dirty="0"/>
              <a:t>3. AI </a:t>
            </a:r>
            <a:r>
              <a:rPr lang="ko-KR" altLang="en-US" sz="1200" dirty="0"/>
              <a:t>학습 및 개발</a:t>
            </a:r>
          </a:p>
          <a:p>
            <a:r>
              <a:rPr lang="ko-KR" altLang="en-US" sz="1200" dirty="0"/>
              <a:t>   </a:t>
            </a:r>
            <a:r>
              <a:rPr lang="en-US" altLang="ko-KR" sz="1200" dirty="0"/>
              <a:t>- </a:t>
            </a:r>
            <a:r>
              <a:rPr lang="ko-KR" altLang="en-US" sz="1200" dirty="0"/>
              <a:t>데이터 수준</a:t>
            </a:r>
          </a:p>
          <a:p>
            <a:r>
              <a:rPr lang="ko-KR" altLang="en-US" sz="1200" dirty="0"/>
              <a:t>   </a:t>
            </a:r>
            <a:r>
              <a:rPr lang="en-US" altLang="ko-KR" sz="1200" dirty="0"/>
              <a:t>- </a:t>
            </a:r>
            <a:r>
              <a:rPr lang="ko-KR" altLang="en-US" sz="1200" dirty="0"/>
              <a:t>모델 수준</a:t>
            </a:r>
          </a:p>
          <a:p>
            <a:r>
              <a:rPr lang="ko-KR" altLang="en-US" sz="1200" dirty="0"/>
              <a:t>   </a:t>
            </a:r>
            <a:r>
              <a:rPr lang="en-US" altLang="ko-KR" sz="1200" dirty="0"/>
              <a:t>- </a:t>
            </a:r>
            <a:r>
              <a:rPr lang="ko-KR" altLang="en-US" sz="1200" dirty="0"/>
              <a:t>시스템 수준</a:t>
            </a:r>
          </a:p>
          <a:p>
            <a:r>
              <a:rPr lang="en-US" altLang="ko-KR" sz="1200" dirty="0"/>
              <a:t>4. </a:t>
            </a:r>
            <a:r>
              <a:rPr lang="ko-KR" altLang="en-US" sz="1200" dirty="0"/>
              <a:t>시스템 적용 및 관리</a:t>
            </a:r>
          </a:p>
          <a:p>
            <a:r>
              <a:rPr lang="ko-KR" altLang="en-US" sz="1200" dirty="0"/>
              <a:t>   </a:t>
            </a:r>
            <a:r>
              <a:rPr lang="en-US" altLang="ko-KR" sz="1200" dirty="0"/>
              <a:t>- </a:t>
            </a:r>
            <a:r>
              <a:rPr lang="ko-KR" altLang="en-US" sz="1200" dirty="0"/>
              <a:t>배포전 점검사항</a:t>
            </a:r>
          </a:p>
          <a:p>
            <a:r>
              <a:rPr lang="ko-KR" altLang="en-US" sz="1200" dirty="0"/>
              <a:t>   </a:t>
            </a:r>
            <a:r>
              <a:rPr lang="en-US" altLang="ko-KR" sz="1200" dirty="0"/>
              <a:t>- </a:t>
            </a:r>
            <a:r>
              <a:rPr lang="ko-KR" altLang="en-US" sz="1200" dirty="0"/>
              <a:t>모니터링</a:t>
            </a:r>
            <a:r>
              <a:rPr lang="en-US" altLang="ko-KR" sz="1200" dirty="0"/>
              <a:t>, </a:t>
            </a:r>
            <a:r>
              <a:rPr lang="ko-KR" altLang="en-US" sz="1200" dirty="0"/>
              <a:t>정보주체 권리보장</a:t>
            </a:r>
            <a:r>
              <a:rPr lang="en-US" altLang="ko-KR" sz="1200" dirty="0"/>
              <a:t>, </a:t>
            </a:r>
            <a:r>
              <a:rPr lang="ko-KR" altLang="en-US" sz="1200" dirty="0"/>
              <a:t>투명성 확보</a:t>
            </a:r>
          </a:p>
          <a:p>
            <a:r>
              <a:rPr lang="en-US" altLang="ko-KR" sz="1200" dirty="0"/>
              <a:t>5. AI </a:t>
            </a:r>
            <a:r>
              <a:rPr lang="ko-KR" altLang="en-US" sz="1200" dirty="0"/>
              <a:t>프라이버시 거버넌스 체계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FA5BFF-B5DB-46A1-95E4-6EA97316E194}"/>
              </a:ext>
            </a:extLst>
          </p:cNvPr>
          <p:cNvSpPr txBox="1"/>
          <p:nvPr/>
        </p:nvSpPr>
        <p:spPr>
          <a:xfrm>
            <a:off x="11431" y="2891046"/>
            <a:ext cx="4310795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Ⅰ. </a:t>
            </a:r>
            <a:r>
              <a:rPr lang="ko-KR" altLang="en-US" sz="1200" b="1" dirty="0"/>
              <a:t>개요</a:t>
            </a:r>
          </a:p>
          <a:p>
            <a:r>
              <a:rPr lang="en-US" altLang="ko-KR" sz="1200" dirty="0"/>
              <a:t> (1) </a:t>
            </a:r>
            <a:r>
              <a:rPr lang="ko-KR" altLang="en-US" sz="1200" dirty="0"/>
              <a:t>안내서 성격</a:t>
            </a:r>
            <a:r>
              <a:rPr lang="en-US" altLang="ko-KR" sz="1200" dirty="0"/>
              <a:t>,  (2) </a:t>
            </a:r>
            <a:r>
              <a:rPr lang="ko-KR" altLang="en-US" sz="1200" dirty="0"/>
              <a:t>적용 대상</a:t>
            </a:r>
          </a:p>
          <a:p>
            <a:r>
              <a:rPr lang="en-US" altLang="ko-KR" sz="1200" b="1" dirty="0"/>
              <a:t>Ⅱ. </a:t>
            </a:r>
            <a:r>
              <a:rPr lang="ko-KR" altLang="en-US" sz="1200" b="1" dirty="0"/>
              <a:t>공개된 게인정보 처리의 법적 근거</a:t>
            </a:r>
          </a:p>
          <a:p>
            <a:r>
              <a:rPr lang="en-US" altLang="ko-KR" sz="1200" b="1" dirty="0"/>
              <a:t>Ⅲ. </a:t>
            </a:r>
            <a:r>
              <a:rPr lang="ko-KR" altLang="en-US" sz="1200" b="1" dirty="0"/>
              <a:t>안전성 확보조치 기준</a:t>
            </a:r>
            <a:endParaRPr lang="en-US" altLang="ko-KR" sz="1200" b="1" dirty="0"/>
          </a:p>
          <a:p>
            <a:r>
              <a:rPr lang="ko-KR" altLang="en-US" sz="1200" dirty="0"/>
              <a:t>기술적 조치</a:t>
            </a:r>
          </a:p>
          <a:p>
            <a:r>
              <a:rPr lang="en-US" altLang="ko-KR" sz="1200" dirty="0"/>
              <a:t> (1-1) </a:t>
            </a:r>
            <a:r>
              <a:rPr lang="ko-KR" altLang="en-US" sz="1200" dirty="0"/>
              <a:t>학습데이터 수집 출처 검증</a:t>
            </a:r>
            <a:r>
              <a:rPr lang="en-US" altLang="ko-KR" sz="1200" dirty="0"/>
              <a:t>·</a:t>
            </a:r>
            <a:r>
              <a:rPr lang="ko-KR" altLang="en-US" sz="1200" dirty="0"/>
              <a:t>관리</a:t>
            </a:r>
          </a:p>
          <a:p>
            <a:r>
              <a:rPr lang="en-US" altLang="ko-KR" sz="1200" dirty="0"/>
              <a:t> (1-2) </a:t>
            </a:r>
            <a:r>
              <a:rPr lang="ko-KR" altLang="en-US" sz="1200" dirty="0"/>
              <a:t>개인정보 유</a:t>
            </a:r>
            <a:r>
              <a:rPr lang="en-US" altLang="ko-KR" sz="1200" dirty="0"/>
              <a:t>·</a:t>
            </a:r>
            <a:r>
              <a:rPr lang="ko-KR" altLang="en-US" sz="1200" dirty="0"/>
              <a:t>노출 방지</a:t>
            </a:r>
          </a:p>
          <a:p>
            <a:r>
              <a:rPr lang="en-US" altLang="ko-KR" sz="1200" dirty="0"/>
              <a:t> (1-3) </a:t>
            </a:r>
            <a:r>
              <a:rPr lang="ko-KR" altLang="en-US" sz="1200" dirty="0"/>
              <a:t>개인정보의 안전한 저장 및 관리</a:t>
            </a:r>
          </a:p>
          <a:p>
            <a:r>
              <a:rPr lang="en-US" altLang="ko-KR" sz="1200" dirty="0"/>
              <a:t> (1-4) </a:t>
            </a:r>
            <a:r>
              <a:rPr lang="ko-KR" altLang="en-US" sz="1200" dirty="0"/>
              <a:t>미세조정을 통한 안전장치 추가</a:t>
            </a:r>
          </a:p>
          <a:p>
            <a:r>
              <a:rPr lang="en-US" altLang="ko-KR" sz="1200" dirty="0"/>
              <a:t> (1-5) </a:t>
            </a:r>
            <a:r>
              <a:rPr lang="ko-KR" altLang="en-US" sz="1200" dirty="0"/>
              <a:t>프롬프트 및 출력 필터링 적용</a:t>
            </a:r>
          </a:p>
          <a:p>
            <a:r>
              <a:rPr lang="en-US" altLang="ko-KR" sz="1200" dirty="0"/>
              <a:t> (1-6) </a:t>
            </a:r>
            <a:r>
              <a:rPr lang="ko-KR" altLang="en-US" sz="1200" dirty="0"/>
              <a:t>학습 결과에서 특정 데이터 삭제</a:t>
            </a:r>
            <a:r>
              <a:rPr lang="en-US" altLang="ko-KR" sz="1200" dirty="0"/>
              <a:t>(</a:t>
            </a:r>
            <a:r>
              <a:rPr lang="ko-KR" altLang="en-US" sz="1200" dirty="0"/>
              <a:t>머신 언러닝 등</a:t>
            </a:r>
            <a:r>
              <a:rPr lang="en-US" altLang="ko-KR" sz="1200" dirty="0"/>
              <a:t>)</a:t>
            </a:r>
          </a:p>
          <a:p>
            <a:r>
              <a:rPr lang="ko-KR" altLang="en-US" sz="1200" dirty="0"/>
              <a:t>관리적 조치</a:t>
            </a:r>
          </a:p>
          <a:p>
            <a:r>
              <a:rPr lang="en-US" altLang="ko-KR" sz="1200" dirty="0"/>
              <a:t> (2-1) </a:t>
            </a:r>
            <a:r>
              <a:rPr lang="ko-KR" altLang="en-US" sz="1200" dirty="0"/>
              <a:t>학습데이터 처리기준 정립</a:t>
            </a:r>
            <a:r>
              <a:rPr lang="en-US" altLang="ko-KR" sz="1200" dirty="0"/>
              <a:t>, </a:t>
            </a:r>
            <a:r>
              <a:rPr lang="ko-KR" altLang="en-US" sz="1200" dirty="0"/>
              <a:t>개인정보 처리방침에 공개</a:t>
            </a:r>
          </a:p>
          <a:p>
            <a:r>
              <a:rPr lang="en-US" altLang="ko-KR" sz="1200" dirty="0"/>
              <a:t> (2-2) </a:t>
            </a:r>
            <a:r>
              <a:rPr lang="ko-KR" altLang="en-US" sz="1200" dirty="0"/>
              <a:t>개인정보 영향평가 수행 고려</a:t>
            </a:r>
          </a:p>
          <a:p>
            <a:r>
              <a:rPr lang="en-US" altLang="ko-KR" sz="1200" dirty="0"/>
              <a:t> (2-3) ‘(</a:t>
            </a:r>
            <a:r>
              <a:rPr lang="ko-KR" altLang="en-US" sz="1200" dirty="0"/>
              <a:t>가칭</a:t>
            </a:r>
            <a:r>
              <a:rPr lang="en-US" altLang="ko-KR" sz="1200" dirty="0"/>
              <a:t>) AI </a:t>
            </a:r>
            <a:r>
              <a:rPr lang="ko-KR" altLang="en-US" sz="1200" dirty="0"/>
              <a:t>프라이버시 레드팀’ 구성</a:t>
            </a:r>
            <a:r>
              <a:rPr lang="en-US" altLang="ko-KR" sz="1200" dirty="0"/>
              <a:t>·</a:t>
            </a:r>
            <a:r>
              <a:rPr lang="ko-KR" altLang="en-US" sz="1200" dirty="0"/>
              <a:t>운영</a:t>
            </a:r>
          </a:p>
          <a:p>
            <a:r>
              <a:rPr lang="en-US" altLang="ko-KR" sz="1200" dirty="0"/>
              <a:t> (2-4) </a:t>
            </a:r>
            <a:r>
              <a:rPr lang="ko-KR" altLang="en-US" sz="1200" dirty="0"/>
              <a:t>오픈소스</a:t>
            </a:r>
            <a:r>
              <a:rPr lang="en-US" altLang="ko-KR" sz="1200" dirty="0"/>
              <a:t>, API </a:t>
            </a:r>
            <a:r>
              <a:rPr lang="ko-KR" altLang="en-US" sz="1200" dirty="0"/>
              <a:t>등 </a:t>
            </a:r>
            <a:r>
              <a:rPr lang="en-US" altLang="ko-KR" sz="1200" dirty="0"/>
              <a:t>AI </a:t>
            </a:r>
            <a:r>
              <a:rPr lang="ko-KR" altLang="en-US" sz="1200" dirty="0"/>
              <a:t>개발</a:t>
            </a:r>
            <a:r>
              <a:rPr lang="en-US" altLang="ko-KR" sz="1200" dirty="0"/>
              <a:t>·</a:t>
            </a:r>
            <a:r>
              <a:rPr lang="ko-KR" altLang="en-US" sz="1200" dirty="0"/>
              <a:t>배포 특성에 따른 안전조치</a:t>
            </a:r>
          </a:p>
          <a:p>
            <a:r>
              <a:rPr lang="en-US" altLang="ko-KR" sz="1200" b="1" dirty="0"/>
              <a:t>Ⅳ. </a:t>
            </a:r>
            <a:r>
              <a:rPr lang="ko-KR" altLang="en-US" sz="1200" b="1" dirty="0"/>
              <a:t>정보주체 권리보장 방안</a:t>
            </a:r>
          </a:p>
          <a:p>
            <a:r>
              <a:rPr lang="en-US" altLang="ko-KR" sz="1200" b="1" dirty="0"/>
              <a:t>V. </a:t>
            </a:r>
            <a:r>
              <a:rPr lang="ko-KR" altLang="en-US" sz="1200" b="1" dirty="0"/>
              <a:t>책임있는 </a:t>
            </a:r>
            <a:r>
              <a:rPr lang="en-US" altLang="ko-KR" sz="1200" b="1" dirty="0"/>
              <a:t>AI</a:t>
            </a:r>
            <a:r>
              <a:rPr lang="ko-KR" altLang="en-US" sz="1200" b="1" dirty="0"/>
              <a:t>개발 활용을 위한 </a:t>
            </a:r>
            <a:r>
              <a:rPr lang="en-US" altLang="ko-KR" sz="1200" b="1" dirty="0"/>
              <a:t>AI </a:t>
            </a:r>
            <a:r>
              <a:rPr lang="ko-KR" altLang="en-US" sz="1200" b="1" dirty="0"/>
              <a:t>기업 등의 역할</a:t>
            </a:r>
          </a:p>
          <a:p>
            <a:r>
              <a:rPr lang="ko-KR" altLang="en-US" sz="1200" b="1" dirty="0"/>
              <a:t>부록 </a:t>
            </a:r>
            <a:r>
              <a:rPr lang="en-US" altLang="ko-KR" sz="1200" b="1" dirty="0"/>
              <a:t>- </a:t>
            </a:r>
            <a:r>
              <a:rPr lang="ko-KR" altLang="en-US" sz="1200" dirty="0"/>
              <a:t>자주 묻는 질문</a:t>
            </a:r>
            <a:r>
              <a:rPr lang="en-US" altLang="ko-KR" sz="1200" dirty="0"/>
              <a:t>(FAQ)</a:t>
            </a:r>
          </a:p>
          <a:p>
            <a:r>
              <a:rPr lang="en-US" altLang="ko-KR" sz="1200" dirty="0"/>
              <a:t>       - AI </a:t>
            </a:r>
            <a:r>
              <a:rPr lang="ko-KR" altLang="en-US" sz="1200" dirty="0"/>
              <a:t>단계별 주요 프라이버시 이슈</a:t>
            </a:r>
            <a:endParaRPr lang="en-US" altLang="ko-KR" sz="1200" dirty="0"/>
          </a:p>
          <a:p>
            <a:r>
              <a:rPr lang="ko-KR" altLang="en-US" sz="1200" dirty="0"/>
              <a:t>       </a:t>
            </a:r>
            <a:r>
              <a:rPr lang="en-US" altLang="ko-KR" sz="1200" dirty="0"/>
              <a:t>- </a:t>
            </a:r>
            <a:r>
              <a:rPr lang="ko-KR" altLang="en-US" sz="1200" dirty="0"/>
              <a:t>공개된 개인정보 관련 국내외 논의 동향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15FE7F-C316-4548-9E06-CD99B65A681C}"/>
              </a:ext>
            </a:extLst>
          </p:cNvPr>
          <p:cNvSpPr txBox="1"/>
          <p:nvPr/>
        </p:nvSpPr>
        <p:spPr>
          <a:xfrm>
            <a:off x="8014802" y="2891046"/>
            <a:ext cx="4198585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Ⅰ </a:t>
            </a:r>
            <a:r>
              <a:rPr lang="ko-KR" altLang="en-US" sz="1200" b="1" dirty="0"/>
              <a:t>개요</a:t>
            </a:r>
          </a:p>
          <a:p>
            <a:r>
              <a:rPr lang="en-US" altLang="ko-KR" sz="1200" dirty="0"/>
              <a:t> 1. </a:t>
            </a:r>
            <a:r>
              <a:rPr lang="ko-KR" altLang="en-US" sz="1200" dirty="0"/>
              <a:t>논의 배경</a:t>
            </a:r>
          </a:p>
          <a:p>
            <a:r>
              <a:rPr lang="en-US" altLang="ko-KR" sz="1200" dirty="0"/>
              <a:t> 2. </a:t>
            </a:r>
            <a:r>
              <a:rPr lang="ko-KR" altLang="en-US" sz="1200" dirty="0"/>
              <a:t>적용 범위</a:t>
            </a:r>
          </a:p>
          <a:p>
            <a:r>
              <a:rPr lang="en-US" altLang="ko-KR" sz="1200" dirty="0"/>
              <a:t> 3. </a:t>
            </a:r>
            <a:r>
              <a:rPr lang="ko-KR" altLang="en-US" sz="1200" dirty="0"/>
              <a:t>개인정보 보호법 및 타 안내서 등과의 관계</a:t>
            </a:r>
          </a:p>
          <a:p>
            <a:r>
              <a:rPr lang="en-US" altLang="ko-KR" sz="1200" b="1" dirty="0"/>
              <a:t>Ⅱ AI </a:t>
            </a:r>
            <a:r>
              <a:rPr lang="ko-KR" altLang="en-US" sz="1200" b="1" dirty="0"/>
              <a:t>프라이버시 리스크 관리의 절차</a:t>
            </a:r>
          </a:p>
          <a:p>
            <a:r>
              <a:rPr lang="en-US" altLang="ko-KR" sz="1200" dirty="0"/>
              <a:t> 1. AI</a:t>
            </a:r>
            <a:r>
              <a:rPr lang="ko-KR" altLang="en-US" sz="1200" dirty="0"/>
              <a:t>의 유형</a:t>
            </a:r>
            <a:r>
              <a:rPr lang="en-US" altLang="ko-KR" sz="1200" dirty="0"/>
              <a:t>·</a:t>
            </a:r>
            <a:r>
              <a:rPr lang="ko-KR" altLang="en-US" sz="1200" dirty="0"/>
              <a:t>용례 파악</a:t>
            </a:r>
          </a:p>
          <a:p>
            <a:r>
              <a:rPr lang="en-US" altLang="ko-KR" sz="1200" dirty="0"/>
              <a:t> 2. </a:t>
            </a:r>
            <a:r>
              <a:rPr lang="ko-KR" altLang="en-US" sz="1200" dirty="0"/>
              <a:t>용례에 대응하는 리스크의 식별</a:t>
            </a:r>
          </a:p>
          <a:p>
            <a:r>
              <a:rPr lang="en-US" altLang="ko-KR" sz="1200" dirty="0"/>
              <a:t> 3. </a:t>
            </a:r>
            <a:r>
              <a:rPr lang="ko-KR" altLang="en-US" sz="1200" dirty="0"/>
              <a:t>리스크의 측정</a:t>
            </a:r>
          </a:p>
          <a:p>
            <a:r>
              <a:rPr lang="en-US" altLang="ko-KR" sz="1200" dirty="0"/>
              <a:t> 4. </a:t>
            </a:r>
            <a:r>
              <a:rPr lang="ko-KR" altLang="en-US" sz="1200" dirty="0"/>
              <a:t>리스크 경감방안의 검토와 도입</a:t>
            </a:r>
          </a:p>
          <a:p>
            <a:r>
              <a:rPr lang="en-US" altLang="ko-KR" sz="1200" b="1" dirty="0"/>
              <a:t>Ⅲ </a:t>
            </a:r>
            <a:r>
              <a:rPr lang="ko-KR" altLang="en-US" sz="1200" b="1" dirty="0"/>
              <a:t>리스크의 식별</a:t>
            </a:r>
          </a:p>
          <a:p>
            <a:r>
              <a:rPr lang="en-US" altLang="ko-KR" sz="1200" dirty="0"/>
              <a:t> 1. </a:t>
            </a:r>
            <a:r>
              <a:rPr lang="ko-KR" altLang="en-US" sz="1200" dirty="0"/>
              <a:t>기획</a:t>
            </a:r>
            <a:r>
              <a:rPr lang="en-US" altLang="ko-KR" sz="1200" dirty="0"/>
              <a:t>·</a:t>
            </a:r>
            <a:r>
              <a:rPr lang="ko-KR" altLang="en-US" sz="1200" dirty="0"/>
              <a:t>개발 단계</a:t>
            </a:r>
          </a:p>
          <a:p>
            <a:r>
              <a:rPr lang="en-US" altLang="ko-KR" sz="1200" dirty="0"/>
              <a:t> 2. </a:t>
            </a:r>
            <a:r>
              <a:rPr lang="ko-KR" altLang="en-US" sz="1200" dirty="0"/>
              <a:t>서비스 제공 단계</a:t>
            </a:r>
          </a:p>
          <a:p>
            <a:r>
              <a:rPr lang="en-US" altLang="ko-KR" sz="1200" b="1" dirty="0"/>
              <a:t>Ⅳ </a:t>
            </a:r>
            <a:r>
              <a:rPr lang="ko-KR" altLang="en-US" sz="1200" b="1" dirty="0"/>
              <a:t>리스크의 경감</a:t>
            </a:r>
          </a:p>
          <a:p>
            <a:r>
              <a:rPr lang="en-US" altLang="ko-KR" sz="1200" dirty="0"/>
              <a:t> 1. </a:t>
            </a:r>
            <a:r>
              <a:rPr lang="ko-KR" altLang="en-US" sz="1200" dirty="0"/>
              <a:t>관리적 조치</a:t>
            </a:r>
          </a:p>
          <a:p>
            <a:r>
              <a:rPr lang="en-US" altLang="ko-KR" sz="1200" dirty="0"/>
              <a:t> 2. </a:t>
            </a:r>
            <a:r>
              <a:rPr lang="ko-KR" altLang="en-US" sz="1200" dirty="0"/>
              <a:t>기술적 조치</a:t>
            </a:r>
          </a:p>
          <a:p>
            <a:r>
              <a:rPr lang="en-US" altLang="ko-KR" sz="1200" b="1" dirty="0"/>
              <a:t>Ⅴ AI </a:t>
            </a:r>
            <a:r>
              <a:rPr lang="ko-KR" altLang="en-US" sz="1200" b="1" dirty="0"/>
              <a:t>프라이버시 리스크 관리 체계</a:t>
            </a:r>
          </a:p>
          <a:p>
            <a:r>
              <a:rPr lang="en-US" altLang="ko-KR" sz="1200" dirty="0"/>
              <a:t> 1. AI </a:t>
            </a:r>
            <a:r>
              <a:rPr lang="ko-KR" altLang="en-US" sz="1200" dirty="0"/>
              <a:t>프라이버시 거버넌스 구축</a:t>
            </a:r>
          </a:p>
          <a:p>
            <a:r>
              <a:rPr lang="en-US" altLang="ko-KR" sz="1200" dirty="0"/>
              <a:t> 2. AI </a:t>
            </a:r>
            <a:r>
              <a:rPr lang="ko-KR" altLang="en-US" sz="1200" dirty="0"/>
              <a:t>가치망 내 참여자와의 협력</a:t>
            </a:r>
          </a:p>
          <a:p>
            <a:r>
              <a:rPr lang="en-US" altLang="ko-KR" sz="1200" dirty="0"/>
              <a:t>[</a:t>
            </a:r>
            <a:r>
              <a:rPr lang="ko-KR" altLang="en-US" sz="1200" dirty="0"/>
              <a:t>부록 </a:t>
            </a:r>
            <a:r>
              <a:rPr lang="en-US" altLang="ko-KR" sz="1200" dirty="0"/>
              <a:t>1] AI </a:t>
            </a:r>
            <a:r>
              <a:rPr lang="ko-KR" altLang="en-US" sz="1200" dirty="0"/>
              <a:t>개인정보 리스크 자율평가 항목</a:t>
            </a:r>
          </a:p>
          <a:p>
            <a:r>
              <a:rPr lang="en-US" altLang="ko-KR" sz="1200" dirty="0"/>
              <a:t>[</a:t>
            </a:r>
            <a:r>
              <a:rPr lang="ko-KR" altLang="en-US" sz="1200" dirty="0"/>
              <a:t>부록 </a:t>
            </a:r>
            <a:r>
              <a:rPr lang="en-US" altLang="ko-KR" sz="1200" dirty="0"/>
              <a:t>2] LLM </a:t>
            </a:r>
            <a:r>
              <a:rPr lang="ko-KR" altLang="en-US" sz="1200" dirty="0"/>
              <a:t>대상 프라이버시 리스크 경감기술 유형</a:t>
            </a:r>
            <a:r>
              <a:rPr lang="en-US" altLang="ko-KR" sz="1200" dirty="0"/>
              <a:t>, </a:t>
            </a:r>
            <a:r>
              <a:rPr lang="ko-KR" altLang="en-US" sz="1200" dirty="0"/>
              <a:t>효과</a:t>
            </a:r>
          </a:p>
          <a:p>
            <a:r>
              <a:rPr lang="en-US" altLang="ko-KR" sz="1200" dirty="0"/>
              <a:t>[</a:t>
            </a:r>
            <a:r>
              <a:rPr lang="ko-KR" altLang="en-US" sz="1200" dirty="0"/>
              <a:t>부록 </a:t>
            </a:r>
            <a:r>
              <a:rPr lang="en-US" altLang="ko-KR" sz="1200" dirty="0"/>
              <a:t>3] AI </a:t>
            </a:r>
            <a:r>
              <a:rPr lang="ko-KR" altLang="en-US" sz="1200" dirty="0"/>
              <a:t>프라이버시 리스크 유형 및 경감방안 도식화</a:t>
            </a:r>
          </a:p>
        </p:txBody>
      </p:sp>
    </p:spTree>
    <p:extLst>
      <p:ext uri="{BB962C8B-B14F-4D97-AF65-F5344CB8AC3E}">
        <p14:creationId xmlns:p14="http://schemas.microsoft.com/office/powerpoint/2010/main" val="2413092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6A9223-43FE-4B60-9001-97A12F8ADAA5}"/>
              </a:ext>
            </a:extLst>
          </p:cNvPr>
          <p:cNvSpPr txBox="1"/>
          <p:nvPr/>
        </p:nvSpPr>
        <p:spPr>
          <a:xfrm>
            <a:off x="4761" y="0"/>
            <a:ext cx="2659702" cy="64767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1</a:t>
            </a:r>
            <a:r>
              <a:rPr lang="ko-KR" altLang="en-US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장 총칙</a:t>
            </a:r>
            <a:endParaRPr lang="ko-KR" altLang="en-US" sz="1000" b="1" kern="0" spc="0" dirty="0">
              <a:solidFill>
                <a:srgbClr val="0000FF"/>
              </a:solidFill>
              <a:effectLst/>
              <a:latin typeface="바탕" panose="02030600000101010101" pitchFamily="18" charset="-127"/>
              <a:ea typeface="한양견고딕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1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목적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정의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3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개인정보 보호 원칙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4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정보주체의 권리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5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국가 등의 책무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6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다른 법률과의 관계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2</a:t>
            </a:r>
            <a:r>
              <a:rPr lang="ko-KR" altLang="en-US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장 개인정보 보호정책의 수립 등</a:t>
            </a:r>
            <a:endParaRPr lang="ko-KR" altLang="en-US" sz="1000" b="1" kern="0" spc="0" dirty="0">
              <a:solidFill>
                <a:srgbClr val="0000FF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7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개인정보 보호위원회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7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보호위원회의 구성 등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7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3(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위원장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7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4(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위원의 임기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7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5(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위원의 신분보장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7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6(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겸직금지 등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7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7(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결격사유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7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8(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보호위원회의 소관 사무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7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9(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보호위원회의 심의ㆍ의결 사항 등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7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10(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회의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7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11(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위원의 제척ㆍ기피ㆍ회피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7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12(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소위원회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7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13(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사무처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7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14(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운영 등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8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조삭 제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8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개인정보 침해요인 평가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9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기본계획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10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시행계획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11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자료제출 요구 등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11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개인정보 보호수준 평가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12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개인정보 보호지침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13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자율규제의 촉진 및 지원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13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개인정보 보호의 날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14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국제협력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874A81-34A9-4ED1-9DB0-8F7C31AE034C}"/>
              </a:ext>
            </a:extLst>
          </p:cNvPr>
          <p:cNvSpPr txBox="1"/>
          <p:nvPr/>
        </p:nvSpPr>
        <p:spPr>
          <a:xfrm>
            <a:off x="2522223" y="0"/>
            <a:ext cx="3929281" cy="6865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3</a:t>
            </a:r>
            <a:r>
              <a:rPr lang="ko-KR" altLang="en-US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장 개인정보의 처리</a:t>
            </a:r>
            <a:endParaRPr lang="ko-KR" altLang="en-US" sz="1000" b="1" kern="0" spc="0" dirty="0">
              <a:solidFill>
                <a:srgbClr val="0000FF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1</a:t>
            </a:r>
            <a:r>
              <a:rPr lang="ko-KR" altLang="en-US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절 개인정보의 수집</a:t>
            </a:r>
            <a:r>
              <a:rPr lang="en-US" altLang="ko-KR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, </a:t>
            </a:r>
            <a:r>
              <a:rPr lang="ko-KR" altLang="en-US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이용</a:t>
            </a:r>
            <a:r>
              <a:rPr lang="en-US" altLang="ko-KR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, </a:t>
            </a:r>
            <a:r>
              <a:rPr lang="ko-KR" altLang="en-US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제공 등</a:t>
            </a:r>
            <a:endParaRPr lang="ko-KR" altLang="en-US" sz="1000" b="1" kern="0" spc="0" dirty="0">
              <a:solidFill>
                <a:srgbClr val="0000FF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15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개인정보의 수집ㆍ이용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16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개인정보의 수집 제한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17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개인정보의 제공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18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개인정보의 목적 외 이용ㆍ제공 제한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19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개인정보를 제공받은 자의 이용ㆍ제공 제한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20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정보주체 이외로부터 수집한 개인정보의 수집 출처 등 통지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20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개인정보 이용ㆍ제공 내역의 통지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21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개인정보의 파기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22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동의를 받는 방법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22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아동의 개인정보 보호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2</a:t>
            </a:r>
            <a:r>
              <a:rPr lang="ko-KR" altLang="en-US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절 개인정보의 처리 제한</a:t>
            </a:r>
            <a:endParaRPr lang="ko-KR" altLang="en-US" sz="1000" b="1" kern="0" spc="0" dirty="0">
              <a:solidFill>
                <a:srgbClr val="0000FF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23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민감정보의 처리 제한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24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고유식별정보의 처리 제한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24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주민등록번호 처리의 제한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25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고정형 영상정보처리기기의 설치ㆍ운영 제한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25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이동형 영상정보처리기기의 운영 제한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26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업무위탁에 따른 개인정보의 처리 제한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27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영업양도 등에 따른 개인정보의 이전 제한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28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개인정보취급자에 대한 감독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3</a:t>
            </a:r>
            <a:r>
              <a:rPr lang="ko-KR" altLang="en-US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절 가명정보의 처리에 관한 특례 </a:t>
            </a:r>
            <a:endParaRPr lang="ko-KR" altLang="en-US" sz="1000" b="1" kern="0" spc="0" dirty="0">
              <a:solidFill>
                <a:srgbClr val="0000FF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28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가명정보의 처리 등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28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3(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가명정보의 결합 제한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28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4(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가명정보에 대한 안전조치의무 등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28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5(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가명정보 처리 시 금지의무 등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28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6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삭 제</a:t>
            </a:r>
            <a:endParaRPr lang="en-US" altLang="ko-KR" sz="1000" kern="0" spc="0" dirty="0">
              <a:solidFill>
                <a:srgbClr val="000000"/>
              </a:solidFill>
              <a:effectLst/>
              <a:latin typeface="한양견고딕"/>
              <a:ea typeface="한양견고딕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28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7(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적용범위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4</a:t>
            </a:r>
            <a:r>
              <a:rPr lang="ko-KR" altLang="en-US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절 개인정보의 국외 이전 </a:t>
            </a:r>
            <a:endParaRPr lang="ko-KR" altLang="en-US" sz="1000" b="1" kern="0" spc="0" dirty="0">
              <a:solidFill>
                <a:srgbClr val="0000FF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28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8(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개인정보의 국외 이전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28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9(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개인정보의 국외 이전 중지 명령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28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10(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상호주의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28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11(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준용규정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1DF36-8045-43CA-BDF8-3266B2C9EABF}"/>
              </a:ext>
            </a:extLst>
          </p:cNvPr>
          <p:cNvSpPr txBox="1"/>
          <p:nvPr/>
        </p:nvSpPr>
        <p:spPr>
          <a:xfrm>
            <a:off x="6293648" y="0"/>
            <a:ext cx="3167855" cy="58657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4</a:t>
            </a:r>
            <a:r>
              <a:rPr lang="ko-KR" altLang="en-US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장 개인정보의 안전한 관리</a:t>
            </a:r>
            <a:endParaRPr lang="ko-KR" altLang="en-US" sz="1000" b="1" kern="0" spc="0" dirty="0">
              <a:solidFill>
                <a:srgbClr val="0000FF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29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안전조치의무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30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개인정보 처리방침의 수립 및 공개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30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개인정보 처리방침의 평가 및 개선권고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31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개인정보 보호책임자의 지정 등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31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국내대리인의 지정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32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개인정보파일의 등록 및 공개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32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개인정보 보호 인증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33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개인정보 영향평가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34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개인정보 유출 등의 통지ㆍ신고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34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노출된 개인정보의 삭제ㆍ차단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5</a:t>
            </a:r>
            <a:r>
              <a:rPr lang="ko-KR" altLang="en-US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장 정보주체의 권리 보장</a:t>
            </a:r>
            <a:endParaRPr lang="ko-KR" altLang="en-US" sz="1000" b="1" kern="0" spc="0" dirty="0">
              <a:solidFill>
                <a:srgbClr val="0000FF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35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개인정보의 열람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35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개인정보의 전송 요구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35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3(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개인정보관리 전문기관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35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4(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개인정보 전송 관리 및 지원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36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개인정보의 정정ㆍ삭제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37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개인정보의 처리정지 등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37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자동화된 결정에 대한 정보주체의 권리 등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38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권리행사의 방법 및 절차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39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손해배상책임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39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법정손해배상의 청구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6</a:t>
            </a:r>
            <a:r>
              <a:rPr lang="ko-KR" altLang="en-US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장 삭제 </a:t>
            </a:r>
            <a:endParaRPr lang="ko-KR" altLang="en-US" sz="1000" b="1" kern="0" spc="0" dirty="0">
              <a:solidFill>
                <a:srgbClr val="0000FF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39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3(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자료의 제출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39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4(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비밀유지명령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39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5(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비밀유지명령의 취소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39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6(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소송기록 열람 등의 청구 통지 등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39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7(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손해배상의 보장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1E9C53-BE69-4B8D-AC05-F57581DF7031}"/>
              </a:ext>
            </a:extLst>
          </p:cNvPr>
          <p:cNvSpPr txBox="1"/>
          <p:nvPr/>
        </p:nvSpPr>
        <p:spPr>
          <a:xfrm>
            <a:off x="9461503" y="0"/>
            <a:ext cx="2175596" cy="48750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7</a:t>
            </a:r>
            <a:r>
              <a:rPr lang="ko-KR" altLang="en-US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장 개인정보 분쟁조정위원회 </a:t>
            </a:r>
            <a:endParaRPr lang="ko-KR" altLang="en-US" sz="1000" b="1" kern="0" spc="0" dirty="0">
              <a:solidFill>
                <a:srgbClr val="0000FF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40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설치 및 구성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41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위원의 신분보장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42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위원의 제척ㆍ기피ㆍ회피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43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조정의 신청 등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44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처리기간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45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자료의 요청 및 사실조사 등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45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진술의 원용 제한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46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조정 전 합의 권고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47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분쟁의 조정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48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조정의 거부 및 중지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49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집단분쟁조정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50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조정절차 등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50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2(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개선의견의 통보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8</a:t>
            </a:r>
            <a:r>
              <a:rPr lang="ko-KR" altLang="en-US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장 개인정보 단체소송 </a:t>
            </a:r>
            <a:endParaRPr lang="ko-KR" altLang="en-US" sz="1000" b="1" kern="0" spc="0" dirty="0">
              <a:solidFill>
                <a:srgbClr val="0000FF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51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단체소송의 대상 등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52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전속관할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53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소송대리인의 선임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54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소송허가신청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55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소송허가요건 등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56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확정판결의 효력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57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「민사소송법」의 적용 등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한양견고딕"/>
                <a:ea typeface="한양견고딕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9</a:t>
            </a:r>
            <a:r>
              <a:rPr lang="ko-KR" altLang="en-US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장 보칙 </a:t>
            </a:r>
            <a:endParaRPr lang="ko-KR" altLang="en-US" sz="1000" b="1" kern="0" spc="0" dirty="0">
              <a:solidFill>
                <a:srgbClr val="0000FF"/>
              </a:solidFill>
              <a:effectLst/>
              <a:latin typeface="바탕" panose="02030600000101010101" pitchFamily="18" charset="-127"/>
            </a:endParaRPr>
          </a:p>
          <a:p>
            <a:pPr marL="292100" marR="0" indent="-29210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제</a:t>
            </a:r>
            <a:r>
              <a:rPr lang="en-US" altLang="ko-KR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10</a:t>
            </a:r>
            <a:r>
              <a:rPr lang="ko-KR" altLang="en-US" sz="1000" b="1" kern="0" spc="0" dirty="0">
                <a:solidFill>
                  <a:srgbClr val="0000FF"/>
                </a:solidFill>
                <a:effectLst/>
                <a:latin typeface="한양견고딕"/>
                <a:ea typeface="한양견고딕"/>
              </a:rPr>
              <a:t>장 벌칙</a:t>
            </a:r>
            <a:endParaRPr lang="ko-KR" altLang="en-US" sz="1000" b="1" kern="0" spc="0" dirty="0">
              <a:solidFill>
                <a:srgbClr val="0000FF"/>
              </a:solidFill>
              <a:effectLst/>
              <a:latin typeface="바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6647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F3E4A4F-7AE8-4E32-89A8-43063B516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517" y="1853307"/>
            <a:ext cx="3442746" cy="7823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2CE236-2003-4CD0-899D-93BB48B9C8E9}"/>
              </a:ext>
            </a:extLst>
          </p:cNvPr>
          <p:cNvSpPr txBox="1"/>
          <p:nvPr/>
        </p:nvSpPr>
        <p:spPr>
          <a:xfrm>
            <a:off x="4658263" y="2080121"/>
            <a:ext cx="2060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</a:rPr>
              <a:t>https://pipc.go.kr/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22368-C44E-4BD5-A574-B3755769EFC8}"/>
              </a:ext>
            </a:extLst>
          </p:cNvPr>
          <p:cNvSpPr txBox="1"/>
          <p:nvPr/>
        </p:nvSpPr>
        <p:spPr>
          <a:xfrm>
            <a:off x="1343802" y="2821801"/>
            <a:ext cx="9716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0" i="0" dirty="0">
                <a:solidFill>
                  <a:srgbClr val="1F2328"/>
                </a:solidFill>
                <a:effectLst/>
                <a:latin typeface="Mona Sans VF"/>
              </a:rPr>
              <a:t>개인정보의 처리와 보호에 관한 사안을 독립적으로 수행하기 위해 설립된 합의제 중앙행정기관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58AF8E1-F6CA-4604-935F-39D75FC54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79700"/>
            <a:ext cx="12192000" cy="170915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8ACA4C56-634B-4337-A5A8-B0A83D66B332}"/>
              </a:ext>
            </a:extLst>
          </p:cNvPr>
          <p:cNvSpPr/>
          <p:nvPr/>
        </p:nvSpPr>
        <p:spPr>
          <a:xfrm>
            <a:off x="41095" y="4094480"/>
            <a:ext cx="12113232" cy="2001520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40971F0-0D6F-4680-9D5E-6BE83D933DA0}"/>
              </a:ext>
            </a:extLst>
          </p:cNvPr>
          <p:cNvSpPr/>
          <p:nvPr/>
        </p:nvSpPr>
        <p:spPr>
          <a:xfrm>
            <a:off x="901557" y="1750567"/>
            <a:ext cx="10388885" cy="1596906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0593DE74-A441-439E-8915-A2095685D906}"/>
              </a:ext>
            </a:extLst>
          </p:cNvPr>
          <p:cNvSpPr/>
          <p:nvPr/>
        </p:nvSpPr>
        <p:spPr>
          <a:xfrm>
            <a:off x="5650787" y="3429000"/>
            <a:ext cx="708916" cy="543559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856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5CEA0ED-F269-4544-9182-1AC97115D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4690"/>
            <a:ext cx="12192000" cy="347741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B160893-FC0E-42C3-B52B-FC194514D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47" y="351878"/>
            <a:ext cx="2724834" cy="6742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327472-D4A6-468A-8EAF-9861F048DE62}"/>
              </a:ext>
            </a:extLst>
          </p:cNvPr>
          <p:cNvSpPr txBox="1"/>
          <p:nvPr/>
        </p:nvSpPr>
        <p:spPr>
          <a:xfrm>
            <a:off x="2793261" y="504352"/>
            <a:ext cx="2879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</a:rPr>
              <a:t>https://www.privacy.go.kr/</a:t>
            </a:r>
            <a:endParaRPr lang="ko-KR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697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A1275CF-50AA-46EA-8638-B1C2B5D78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2045"/>
            <a:ext cx="12192000" cy="463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221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6160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7967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740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11570</TotalTime>
  <Words>2222</Words>
  <Application>Microsoft Office PowerPoint</Application>
  <PresentationFormat>와이드스크린</PresentationFormat>
  <Paragraphs>320</Paragraphs>
  <Slides>18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Mona Sans VF</vt:lpstr>
      <vt:lpstr>맑은 고딕</vt:lpstr>
      <vt:lpstr>바탕</vt:lpstr>
      <vt:lpstr>한양견고딕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양희정</dc:creator>
  <cp:lastModifiedBy>양 희정</cp:lastModifiedBy>
  <cp:revision>296</cp:revision>
  <cp:lastPrinted>2026-04-30T06:21:50Z</cp:lastPrinted>
  <dcterms:created xsi:type="dcterms:W3CDTF">2026-02-24T07:28:13Z</dcterms:created>
  <dcterms:modified xsi:type="dcterms:W3CDTF">2026-04-30T06:22:12Z</dcterms:modified>
</cp:coreProperties>
</file>