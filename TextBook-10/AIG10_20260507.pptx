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4" r:id="rId2"/>
    <p:sldId id="326" r:id="rId3"/>
    <p:sldId id="344" r:id="rId4"/>
    <p:sldId id="419" r:id="rId5"/>
    <p:sldId id="345" r:id="rId6"/>
    <p:sldId id="414" r:id="rId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8" autoAdjust="0"/>
    <p:restoredTop sz="85604" autoAdjust="0"/>
  </p:normalViewPr>
  <p:slideViewPr>
    <p:cSldViewPr snapToGrid="0">
      <p:cViewPr varScale="1">
        <p:scale>
          <a:sx n="70" d="100"/>
          <a:sy n="70" d="100"/>
        </p:scale>
        <p:origin x="80" y="9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7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503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10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40404" y="4113910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31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 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3236720" y="4201132"/>
            <a:ext cx="2031325" cy="46871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C4086A4-BC23-4390-B159-E65B5398CAA3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10847" y="113906"/>
            <a:ext cx="1800000" cy="252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872C20-109E-45EB-9A61-5ABEEAFB6328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32948" y="113906"/>
            <a:ext cx="1800000" cy="2520000"/>
          </a:xfrm>
          <a:prstGeom prst="rect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8D7F9E3-6C7A-4232-9988-16AEBEB81F1E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320" y="113906"/>
            <a:ext cx="1800000" cy="252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D06456-78AF-425B-B206-FA75236D600D}"/>
              </a:ext>
            </a:extLst>
          </p:cNvPr>
          <p:cNvSpPr txBox="1"/>
          <p:nvPr/>
        </p:nvSpPr>
        <p:spPr>
          <a:xfrm>
            <a:off x="4322226" y="2891046"/>
            <a:ext cx="38010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Ⅰ. </a:t>
            </a:r>
            <a:r>
              <a:rPr lang="ko-KR" altLang="en-US" sz="1200" b="1" dirty="0"/>
              <a:t>개요</a:t>
            </a:r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발간 배경 및 목적</a:t>
            </a:r>
          </a:p>
          <a:p>
            <a:r>
              <a:rPr lang="en-US" altLang="ko-KR" sz="1200" dirty="0"/>
              <a:t>   [</a:t>
            </a:r>
            <a:r>
              <a:rPr lang="ko-KR" altLang="en-US" sz="1200" dirty="0"/>
              <a:t>참고</a:t>
            </a:r>
            <a:r>
              <a:rPr lang="en-US" altLang="ko-KR" sz="1200" dirty="0"/>
              <a:t>] </a:t>
            </a:r>
            <a:r>
              <a:rPr lang="ko-KR" altLang="en-US" sz="1200" dirty="0"/>
              <a:t>본 안내서에 포함된 주요 법령 및 정책 사례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적용 범위 및 성격</a:t>
            </a:r>
          </a:p>
          <a:p>
            <a:r>
              <a:rPr lang="en-US" altLang="ko-KR" sz="1200" b="1" dirty="0"/>
              <a:t>Ⅱ. </a:t>
            </a:r>
            <a:r>
              <a:rPr lang="ko-KR" altLang="en-US" sz="1200" b="1" dirty="0"/>
              <a:t>생성형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개발･활용 단계</a:t>
            </a:r>
          </a:p>
          <a:p>
            <a:r>
              <a:rPr lang="en-US" altLang="ko-KR" sz="1200" b="1" dirty="0"/>
              <a:t>Ⅲ. </a:t>
            </a:r>
            <a:r>
              <a:rPr lang="ko-KR" altLang="en-US" sz="1200" b="1" dirty="0"/>
              <a:t>생성형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개발･활용 단계별 고려사항</a:t>
            </a:r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목적 설정</a:t>
            </a:r>
          </a:p>
          <a:p>
            <a:r>
              <a:rPr lang="ko-KR" altLang="en-US" sz="1200" dirty="0"/>
              <a:t> 가</a:t>
            </a:r>
            <a:r>
              <a:rPr lang="en-US" altLang="ko-KR" sz="1200" dirty="0"/>
              <a:t>. </a:t>
            </a:r>
            <a:r>
              <a:rPr lang="ko-KR" altLang="en-US" sz="1200" dirty="0"/>
              <a:t>수집 목적 내 서비스 개선･고도화</a:t>
            </a:r>
          </a:p>
          <a:p>
            <a:r>
              <a:rPr lang="ko-KR" altLang="en-US" sz="1200" dirty="0"/>
              <a:t> 나</a:t>
            </a:r>
            <a:r>
              <a:rPr lang="en-US" altLang="ko-KR" sz="1200" dirty="0"/>
              <a:t>. </a:t>
            </a:r>
            <a:r>
              <a:rPr lang="ko-KR" altLang="en-US" sz="1200" dirty="0"/>
              <a:t>수집 목적과의 합리적 관련성 있는 이용</a:t>
            </a:r>
          </a:p>
          <a:p>
            <a:r>
              <a:rPr lang="ko-KR" altLang="en-US" sz="1200" dirty="0"/>
              <a:t> 다</a:t>
            </a:r>
            <a:r>
              <a:rPr lang="en-US" altLang="ko-KR" sz="1200" dirty="0"/>
              <a:t>. </a:t>
            </a:r>
            <a:r>
              <a:rPr lang="ko-KR" altLang="en-US" sz="1200" dirty="0"/>
              <a:t>당초 수집 목적과 별개의 신규 서비스 개발</a:t>
            </a:r>
          </a:p>
          <a:p>
            <a:r>
              <a:rPr lang="ko-KR" altLang="en-US" sz="1200" dirty="0"/>
              <a:t> 라</a:t>
            </a:r>
            <a:r>
              <a:rPr lang="en-US" altLang="ko-KR" sz="1200" dirty="0"/>
              <a:t>. </a:t>
            </a:r>
            <a:r>
              <a:rPr lang="ko-KR" altLang="en-US" sz="1200" dirty="0"/>
              <a:t>특수한 개인정보의 처리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전략 수립</a:t>
            </a:r>
          </a:p>
          <a:p>
            <a:r>
              <a:rPr lang="en-US" altLang="ko-KR" sz="1200" dirty="0"/>
              <a:t>3. AI </a:t>
            </a:r>
            <a:r>
              <a:rPr lang="ko-KR" altLang="en-US" sz="1200" dirty="0"/>
              <a:t>학습 및 개발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데이터 수준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모델 수준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시스템 수준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시스템 적용 및 관리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배포전 점검사항</a:t>
            </a:r>
          </a:p>
          <a:p>
            <a:r>
              <a:rPr lang="ko-KR" altLang="en-US" sz="1200" dirty="0"/>
              <a:t>   </a:t>
            </a:r>
            <a:r>
              <a:rPr lang="en-US" altLang="ko-KR" sz="1200" dirty="0"/>
              <a:t>- </a:t>
            </a:r>
            <a:r>
              <a:rPr lang="ko-KR" altLang="en-US" sz="1200" dirty="0"/>
              <a:t>모니터링</a:t>
            </a:r>
            <a:r>
              <a:rPr lang="en-US" altLang="ko-KR" sz="1200" dirty="0"/>
              <a:t>, </a:t>
            </a:r>
            <a:r>
              <a:rPr lang="ko-KR" altLang="en-US" sz="1200" dirty="0"/>
              <a:t>정보주체 권리보장</a:t>
            </a:r>
            <a:r>
              <a:rPr lang="en-US" altLang="ko-KR" sz="1200" dirty="0"/>
              <a:t>, </a:t>
            </a:r>
            <a:r>
              <a:rPr lang="ko-KR" altLang="en-US" sz="1200" dirty="0"/>
              <a:t>투명성 확보</a:t>
            </a:r>
          </a:p>
          <a:p>
            <a:r>
              <a:rPr lang="en-US" altLang="ko-KR" sz="1200" dirty="0"/>
              <a:t>5. AI </a:t>
            </a:r>
            <a:r>
              <a:rPr lang="ko-KR" altLang="en-US" sz="1200" dirty="0"/>
              <a:t>프라이버시 거버넌스 체계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A5BFF-B5DB-46A1-95E4-6EA97316E194}"/>
              </a:ext>
            </a:extLst>
          </p:cNvPr>
          <p:cNvSpPr txBox="1"/>
          <p:nvPr/>
        </p:nvSpPr>
        <p:spPr>
          <a:xfrm>
            <a:off x="11431" y="2891046"/>
            <a:ext cx="431079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Ⅰ. </a:t>
            </a:r>
            <a:r>
              <a:rPr lang="ko-KR" altLang="en-US" sz="1200" b="1" dirty="0"/>
              <a:t>개요</a:t>
            </a:r>
          </a:p>
          <a:p>
            <a:r>
              <a:rPr lang="en-US" altLang="ko-KR" sz="1200" dirty="0"/>
              <a:t> (1) </a:t>
            </a:r>
            <a:r>
              <a:rPr lang="ko-KR" altLang="en-US" sz="1200" dirty="0"/>
              <a:t>안내서 성격</a:t>
            </a:r>
            <a:r>
              <a:rPr lang="en-US" altLang="ko-KR" sz="1200" dirty="0"/>
              <a:t>,  (2) </a:t>
            </a:r>
            <a:r>
              <a:rPr lang="ko-KR" altLang="en-US" sz="1200" dirty="0"/>
              <a:t>적용 대상</a:t>
            </a:r>
          </a:p>
          <a:p>
            <a:r>
              <a:rPr lang="en-US" altLang="ko-KR" sz="1200" b="1" dirty="0"/>
              <a:t>Ⅱ. </a:t>
            </a:r>
            <a:r>
              <a:rPr lang="ko-KR" altLang="en-US" sz="1200" b="1" dirty="0"/>
              <a:t>공개된 게인정보 처리의 법적 근거</a:t>
            </a:r>
          </a:p>
          <a:p>
            <a:r>
              <a:rPr lang="en-US" altLang="ko-KR" sz="1200" b="1" dirty="0"/>
              <a:t>Ⅲ. </a:t>
            </a:r>
            <a:r>
              <a:rPr lang="ko-KR" altLang="en-US" sz="1200" b="1" dirty="0"/>
              <a:t>안전성 확보조치 기준</a:t>
            </a:r>
            <a:endParaRPr lang="en-US" altLang="ko-KR" sz="1200" b="1" dirty="0"/>
          </a:p>
          <a:p>
            <a:r>
              <a:rPr lang="ko-KR" altLang="en-US" sz="1200" dirty="0"/>
              <a:t>기술적 조치</a:t>
            </a:r>
          </a:p>
          <a:p>
            <a:r>
              <a:rPr lang="en-US" altLang="ko-KR" sz="1200" dirty="0"/>
              <a:t> (1-1) </a:t>
            </a:r>
            <a:r>
              <a:rPr lang="ko-KR" altLang="en-US" sz="1200" dirty="0"/>
              <a:t>학습데이터 수집 출처 검증</a:t>
            </a:r>
            <a:r>
              <a:rPr lang="en-US" altLang="ko-KR" sz="1200" dirty="0"/>
              <a:t>·</a:t>
            </a:r>
            <a:r>
              <a:rPr lang="ko-KR" altLang="en-US" sz="1200" dirty="0"/>
              <a:t>관리</a:t>
            </a:r>
          </a:p>
          <a:p>
            <a:r>
              <a:rPr lang="en-US" altLang="ko-KR" sz="1200" dirty="0"/>
              <a:t> (1-2) </a:t>
            </a:r>
            <a:r>
              <a:rPr lang="ko-KR" altLang="en-US" sz="1200" dirty="0"/>
              <a:t>개인정보 유</a:t>
            </a:r>
            <a:r>
              <a:rPr lang="en-US" altLang="ko-KR" sz="1200" dirty="0"/>
              <a:t>·</a:t>
            </a:r>
            <a:r>
              <a:rPr lang="ko-KR" altLang="en-US" sz="1200" dirty="0"/>
              <a:t>노출 방지</a:t>
            </a:r>
          </a:p>
          <a:p>
            <a:r>
              <a:rPr lang="en-US" altLang="ko-KR" sz="1200" dirty="0"/>
              <a:t> (1-3) </a:t>
            </a:r>
            <a:r>
              <a:rPr lang="ko-KR" altLang="en-US" sz="1200" dirty="0"/>
              <a:t>개인정보의 안전한 저장 및 관리</a:t>
            </a:r>
          </a:p>
          <a:p>
            <a:r>
              <a:rPr lang="en-US" altLang="ko-KR" sz="1200" dirty="0"/>
              <a:t> (1-4) </a:t>
            </a:r>
            <a:r>
              <a:rPr lang="ko-KR" altLang="en-US" sz="1200" dirty="0"/>
              <a:t>미세조정을 통한 안전장치 추가</a:t>
            </a:r>
          </a:p>
          <a:p>
            <a:r>
              <a:rPr lang="en-US" altLang="ko-KR" sz="1200" dirty="0"/>
              <a:t> (1-5) </a:t>
            </a:r>
            <a:r>
              <a:rPr lang="ko-KR" altLang="en-US" sz="1200" dirty="0"/>
              <a:t>프롬프트 및 출력 필터링 적용</a:t>
            </a:r>
          </a:p>
          <a:p>
            <a:r>
              <a:rPr lang="en-US" altLang="ko-KR" sz="1200" dirty="0"/>
              <a:t> (1-6) </a:t>
            </a:r>
            <a:r>
              <a:rPr lang="ko-KR" altLang="en-US" sz="1200" dirty="0"/>
              <a:t>학습 결과에서 특정 데이터 삭제</a:t>
            </a:r>
            <a:r>
              <a:rPr lang="en-US" altLang="ko-KR" sz="1200" dirty="0"/>
              <a:t>(</a:t>
            </a:r>
            <a:r>
              <a:rPr lang="ko-KR" altLang="en-US" sz="1200" dirty="0"/>
              <a:t>머신 언러닝 등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관리적 조치</a:t>
            </a:r>
          </a:p>
          <a:p>
            <a:r>
              <a:rPr lang="en-US" altLang="ko-KR" sz="1200" dirty="0"/>
              <a:t> (2-1) </a:t>
            </a:r>
            <a:r>
              <a:rPr lang="ko-KR" altLang="en-US" sz="1200" dirty="0"/>
              <a:t>학습데이터 처리기준 정립</a:t>
            </a:r>
            <a:r>
              <a:rPr lang="en-US" altLang="ko-KR" sz="1200" dirty="0"/>
              <a:t>, </a:t>
            </a:r>
            <a:r>
              <a:rPr lang="ko-KR" altLang="en-US" sz="1200" dirty="0"/>
              <a:t>개인정보 처리방침에 공개</a:t>
            </a:r>
          </a:p>
          <a:p>
            <a:r>
              <a:rPr lang="en-US" altLang="ko-KR" sz="1200" dirty="0"/>
              <a:t> (2-2) </a:t>
            </a:r>
            <a:r>
              <a:rPr lang="ko-KR" altLang="en-US" sz="1200" dirty="0"/>
              <a:t>개인정보 영향평가 수행 고려</a:t>
            </a:r>
          </a:p>
          <a:p>
            <a:r>
              <a:rPr lang="en-US" altLang="ko-KR" sz="1200" dirty="0"/>
              <a:t> (2-3) ‘(</a:t>
            </a:r>
            <a:r>
              <a:rPr lang="ko-KR" altLang="en-US" sz="1200" dirty="0"/>
              <a:t>가칭</a:t>
            </a:r>
            <a:r>
              <a:rPr lang="en-US" altLang="ko-KR" sz="1200" dirty="0"/>
              <a:t>) AI </a:t>
            </a:r>
            <a:r>
              <a:rPr lang="ko-KR" altLang="en-US" sz="1200" dirty="0"/>
              <a:t>프라이버시 레드팀’ 구성</a:t>
            </a:r>
            <a:r>
              <a:rPr lang="en-US" altLang="ko-KR" sz="1200" dirty="0"/>
              <a:t>·</a:t>
            </a:r>
            <a:r>
              <a:rPr lang="ko-KR" altLang="en-US" sz="1200" dirty="0"/>
              <a:t>운영</a:t>
            </a:r>
          </a:p>
          <a:p>
            <a:r>
              <a:rPr lang="en-US" altLang="ko-KR" sz="1200" dirty="0"/>
              <a:t> (2-4) </a:t>
            </a:r>
            <a:r>
              <a:rPr lang="ko-KR" altLang="en-US" sz="1200" dirty="0"/>
              <a:t>오픈소스</a:t>
            </a:r>
            <a:r>
              <a:rPr lang="en-US" altLang="ko-KR" sz="1200" dirty="0"/>
              <a:t>, API </a:t>
            </a:r>
            <a:r>
              <a:rPr lang="ko-KR" altLang="en-US" sz="1200" dirty="0"/>
              <a:t>등 </a:t>
            </a:r>
            <a:r>
              <a:rPr lang="en-US" altLang="ko-KR" sz="1200" dirty="0"/>
              <a:t>AI </a:t>
            </a:r>
            <a:r>
              <a:rPr lang="ko-KR" altLang="en-US" sz="1200" dirty="0"/>
              <a:t>개발</a:t>
            </a:r>
            <a:r>
              <a:rPr lang="en-US" altLang="ko-KR" sz="1200" dirty="0"/>
              <a:t>·</a:t>
            </a:r>
            <a:r>
              <a:rPr lang="ko-KR" altLang="en-US" sz="1200" dirty="0"/>
              <a:t>배포 특성에 따른 안전조치</a:t>
            </a:r>
          </a:p>
          <a:p>
            <a:r>
              <a:rPr lang="en-US" altLang="ko-KR" sz="1200" b="1" dirty="0"/>
              <a:t>Ⅳ. </a:t>
            </a:r>
            <a:r>
              <a:rPr lang="ko-KR" altLang="en-US" sz="1200" b="1" dirty="0"/>
              <a:t>정보주체 권리보장 방안</a:t>
            </a:r>
          </a:p>
          <a:p>
            <a:r>
              <a:rPr lang="en-US" altLang="ko-KR" sz="1200" b="1" dirty="0"/>
              <a:t>V. </a:t>
            </a:r>
            <a:r>
              <a:rPr lang="ko-KR" altLang="en-US" sz="1200" b="1" dirty="0"/>
              <a:t>책임있는 </a:t>
            </a:r>
            <a:r>
              <a:rPr lang="en-US" altLang="ko-KR" sz="1200" b="1" dirty="0"/>
              <a:t>AI</a:t>
            </a:r>
            <a:r>
              <a:rPr lang="ko-KR" altLang="en-US" sz="1200" b="1" dirty="0"/>
              <a:t>개발 활용을 위한 </a:t>
            </a:r>
            <a:r>
              <a:rPr lang="en-US" altLang="ko-KR" sz="1200" b="1" dirty="0"/>
              <a:t>AI </a:t>
            </a:r>
            <a:r>
              <a:rPr lang="ko-KR" altLang="en-US" sz="1200" b="1" dirty="0"/>
              <a:t>기업 등의 역할</a:t>
            </a:r>
          </a:p>
          <a:p>
            <a:r>
              <a:rPr lang="ko-KR" altLang="en-US" sz="1200" b="1" dirty="0"/>
              <a:t>부록 </a:t>
            </a:r>
            <a:r>
              <a:rPr lang="en-US" altLang="ko-KR" sz="1200" b="1" dirty="0"/>
              <a:t>- </a:t>
            </a:r>
            <a:r>
              <a:rPr lang="ko-KR" altLang="en-US" sz="1200" dirty="0"/>
              <a:t>자주 묻는 질문</a:t>
            </a:r>
            <a:r>
              <a:rPr lang="en-US" altLang="ko-KR" sz="1200" dirty="0"/>
              <a:t>(FAQ)</a:t>
            </a:r>
          </a:p>
          <a:p>
            <a:r>
              <a:rPr lang="en-US" altLang="ko-KR" sz="1200" dirty="0"/>
              <a:t>       - AI </a:t>
            </a:r>
            <a:r>
              <a:rPr lang="ko-KR" altLang="en-US" sz="1200" dirty="0"/>
              <a:t>단계별 주요 프라이버시 이슈</a:t>
            </a:r>
            <a:endParaRPr lang="en-US" altLang="ko-KR" sz="1200" dirty="0"/>
          </a:p>
          <a:p>
            <a:r>
              <a:rPr lang="ko-KR" altLang="en-US" sz="1200" dirty="0"/>
              <a:t>       </a:t>
            </a:r>
            <a:r>
              <a:rPr lang="en-US" altLang="ko-KR" sz="1200" dirty="0"/>
              <a:t>- </a:t>
            </a:r>
            <a:r>
              <a:rPr lang="ko-KR" altLang="en-US" sz="1200" dirty="0"/>
              <a:t>공개된 개인정보 관련 국내외 논의 동향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5FE7F-C316-4548-9E06-CD99B65A681C}"/>
              </a:ext>
            </a:extLst>
          </p:cNvPr>
          <p:cNvSpPr txBox="1"/>
          <p:nvPr/>
        </p:nvSpPr>
        <p:spPr>
          <a:xfrm>
            <a:off x="8014802" y="2891046"/>
            <a:ext cx="419858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Ⅰ </a:t>
            </a:r>
            <a:r>
              <a:rPr lang="ko-KR" altLang="en-US" sz="1200" b="1" dirty="0"/>
              <a:t>개요</a:t>
            </a:r>
          </a:p>
          <a:p>
            <a:r>
              <a:rPr lang="en-US" altLang="ko-KR" sz="1200" dirty="0"/>
              <a:t> 1. </a:t>
            </a:r>
            <a:r>
              <a:rPr lang="ko-KR" altLang="en-US" sz="1200" dirty="0"/>
              <a:t>논의 배경</a:t>
            </a:r>
          </a:p>
          <a:p>
            <a:r>
              <a:rPr lang="en-US" altLang="ko-KR" sz="1200" dirty="0"/>
              <a:t> 2. </a:t>
            </a:r>
            <a:r>
              <a:rPr lang="ko-KR" altLang="en-US" sz="1200" dirty="0"/>
              <a:t>적용 범위</a:t>
            </a:r>
          </a:p>
          <a:p>
            <a:r>
              <a:rPr lang="en-US" altLang="ko-KR" sz="1200" dirty="0"/>
              <a:t> 3. </a:t>
            </a:r>
            <a:r>
              <a:rPr lang="ko-KR" altLang="en-US" sz="1200" dirty="0"/>
              <a:t>개인정보 보호법 및 타 안내서 등과의 관계</a:t>
            </a:r>
          </a:p>
          <a:p>
            <a:r>
              <a:rPr lang="en-US" altLang="ko-KR" sz="1200" b="1" dirty="0"/>
              <a:t>Ⅱ AI </a:t>
            </a:r>
            <a:r>
              <a:rPr lang="ko-KR" altLang="en-US" sz="1200" b="1" dirty="0"/>
              <a:t>프라이버시 리스크 관리의 절차</a:t>
            </a:r>
          </a:p>
          <a:p>
            <a:r>
              <a:rPr lang="en-US" altLang="ko-KR" sz="1200" dirty="0"/>
              <a:t> 1. AI</a:t>
            </a:r>
            <a:r>
              <a:rPr lang="ko-KR" altLang="en-US" sz="1200" dirty="0"/>
              <a:t>의 유형</a:t>
            </a:r>
            <a:r>
              <a:rPr lang="en-US" altLang="ko-KR" sz="1200" dirty="0"/>
              <a:t>·</a:t>
            </a:r>
            <a:r>
              <a:rPr lang="ko-KR" altLang="en-US" sz="1200" dirty="0"/>
              <a:t>용례 파악</a:t>
            </a:r>
          </a:p>
          <a:p>
            <a:r>
              <a:rPr lang="en-US" altLang="ko-KR" sz="1200" dirty="0"/>
              <a:t> 2. </a:t>
            </a:r>
            <a:r>
              <a:rPr lang="ko-KR" altLang="en-US" sz="1200" dirty="0"/>
              <a:t>용례에 대응하는 리스크의 식별</a:t>
            </a:r>
          </a:p>
          <a:p>
            <a:r>
              <a:rPr lang="en-US" altLang="ko-KR" sz="1200" dirty="0"/>
              <a:t> 3. </a:t>
            </a:r>
            <a:r>
              <a:rPr lang="ko-KR" altLang="en-US" sz="1200" dirty="0"/>
              <a:t>리스크의 측정</a:t>
            </a:r>
          </a:p>
          <a:p>
            <a:r>
              <a:rPr lang="en-US" altLang="ko-KR" sz="1200" dirty="0"/>
              <a:t> 4. </a:t>
            </a:r>
            <a:r>
              <a:rPr lang="ko-KR" altLang="en-US" sz="1200" dirty="0"/>
              <a:t>리스크 경감방안의 검토와 도입</a:t>
            </a:r>
          </a:p>
          <a:p>
            <a:r>
              <a:rPr lang="en-US" altLang="ko-KR" sz="1200" b="1" dirty="0"/>
              <a:t>Ⅲ </a:t>
            </a:r>
            <a:r>
              <a:rPr lang="ko-KR" altLang="en-US" sz="1200" b="1" dirty="0"/>
              <a:t>리스크의 식별</a:t>
            </a:r>
          </a:p>
          <a:p>
            <a:r>
              <a:rPr lang="en-US" altLang="ko-KR" sz="1200" dirty="0"/>
              <a:t> 1. </a:t>
            </a:r>
            <a:r>
              <a:rPr lang="ko-KR" altLang="en-US" sz="1200" dirty="0"/>
              <a:t>기획</a:t>
            </a:r>
            <a:r>
              <a:rPr lang="en-US" altLang="ko-KR" sz="1200" dirty="0"/>
              <a:t>·</a:t>
            </a:r>
            <a:r>
              <a:rPr lang="ko-KR" altLang="en-US" sz="1200" dirty="0"/>
              <a:t>개발 단계</a:t>
            </a:r>
          </a:p>
          <a:p>
            <a:r>
              <a:rPr lang="en-US" altLang="ko-KR" sz="1200" dirty="0"/>
              <a:t> 2. </a:t>
            </a:r>
            <a:r>
              <a:rPr lang="ko-KR" altLang="en-US" sz="1200" dirty="0"/>
              <a:t>서비스 제공 단계</a:t>
            </a:r>
          </a:p>
          <a:p>
            <a:r>
              <a:rPr lang="en-US" altLang="ko-KR" sz="1200" b="1" dirty="0"/>
              <a:t>Ⅳ </a:t>
            </a:r>
            <a:r>
              <a:rPr lang="ko-KR" altLang="en-US" sz="1200" b="1" dirty="0"/>
              <a:t>리스크의 경감</a:t>
            </a:r>
          </a:p>
          <a:p>
            <a:r>
              <a:rPr lang="en-US" altLang="ko-KR" sz="1200" dirty="0"/>
              <a:t> 1. </a:t>
            </a:r>
            <a:r>
              <a:rPr lang="ko-KR" altLang="en-US" sz="1200" dirty="0"/>
              <a:t>관리적 조치</a:t>
            </a:r>
          </a:p>
          <a:p>
            <a:r>
              <a:rPr lang="en-US" altLang="ko-KR" sz="1200" dirty="0"/>
              <a:t> 2. </a:t>
            </a:r>
            <a:r>
              <a:rPr lang="ko-KR" altLang="en-US" sz="1200" dirty="0"/>
              <a:t>기술적 조치</a:t>
            </a:r>
          </a:p>
          <a:p>
            <a:r>
              <a:rPr lang="en-US" altLang="ko-KR" sz="1200" b="1" dirty="0"/>
              <a:t>Ⅴ AI </a:t>
            </a:r>
            <a:r>
              <a:rPr lang="ko-KR" altLang="en-US" sz="1200" b="1" dirty="0"/>
              <a:t>프라이버시 리스크 관리 체계</a:t>
            </a:r>
          </a:p>
          <a:p>
            <a:r>
              <a:rPr lang="en-US" altLang="ko-KR" sz="1200" dirty="0"/>
              <a:t> 1. AI </a:t>
            </a:r>
            <a:r>
              <a:rPr lang="ko-KR" altLang="en-US" sz="1200" dirty="0"/>
              <a:t>프라이버시 거버넌스 구축</a:t>
            </a:r>
          </a:p>
          <a:p>
            <a:r>
              <a:rPr lang="en-US" altLang="ko-KR" sz="1200" dirty="0"/>
              <a:t> 2. AI </a:t>
            </a:r>
            <a:r>
              <a:rPr lang="ko-KR" altLang="en-US" sz="1200" dirty="0"/>
              <a:t>가치망 내 참여자와의 협력</a:t>
            </a:r>
          </a:p>
          <a:p>
            <a:r>
              <a:rPr lang="en-US" altLang="ko-KR" sz="1200" dirty="0"/>
              <a:t>[</a:t>
            </a:r>
            <a:r>
              <a:rPr lang="ko-KR" altLang="en-US" sz="1200" dirty="0"/>
              <a:t>부록 </a:t>
            </a:r>
            <a:r>
              <a:rPr lang="en-US" altLang="ko-KR" sz="1200" dirty="0"/>
              <a:t>1] AI </a:t>
            </a:r>
            <a:r>
              <a:rPr lang="ko-KR" altLang="en-US" sz="1200" dirty="0"/>
              <a:t>개인정보 리스크 자율평가 항목</a:t>
            </a:r>
          </a:p>
          <a:p>
            <a:r>
              <a:rPr lang="en-US" altLang="ko-KR" sz="1200" dirty="0"/>
              <a:t>[</a:t>
            </a:r>
            <a:r>
              <a:rPr lang="ko-KR" altLang="en-US" sz="1200" dirty="0"/>
              <a:t>부록 </a:t>
            </a:r>
            <a:r>
              <a:rPr lang="en-US" altLang="ko-KR" sz="1200" dirty="0"/>
              <a:t>2] LLM </a:t>
            </a:r>
            <a:r>
              <a:rPr lang="ko-KR" altLang="en-US" sz="1200" dirty="0"/>
              <a:t>대상 프라이버시 리스크 경감기술 유형</a:t>
            </a:r>
            <a:r>
              <a:rPr lang="en-US" altLang="ko-KR" sz="1200" dirty="0"/>
              <a:t>, </a:t>
            </a:r>
            <a:r>
              <a:rPr lang="ko-KR" altLang="en-US" sz="1200" dirty="0"/>
              <a:t>효과</a:t>
            </a:r>
          </a:p>
          <a:p>
            <a:r>
              <a:rPr lang="en-US" altLang="ko-KR" sz="1200" dirty="0"/>
              <a:t>[</a:t>
            </a:r>
            <a:r>
              <a:rPr lang="ko-KR" altLang="en-US" sz="1200" dirty="0"/>
              <a:t>부록 </a:t>
            </a:r>
            <a:r>
              <a:rPr lang="en-US" altLang="ko-KR" sz="1200" dirty="0"/>
              <a:t>3] AI </a:t>
            </a:r>
            <a:r>
              <a:rPr lang="ko-KR" altLang="en-US" sz="1200" dirty="0"/>
              <a:t>프라이버시 리스크 유형 및 경감방안 도식화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6FAB1DE-CFC0-4DDC-8CC7-5077CAF26D12}"/>
              </a:ext>
            </a:extLst>
          </p:cNvPr>
          <p:cNvCxnSpPr>
            <a:cxnSpLocks/>
          </p:cNvCxnSpPr>
          <p:nvPr/>
        </p:nvCxnSpPr>
        <p:spPr>
          <a:xfrm>
            <a:off x="4261104" y="0"/>
            <a:ext cx="0" cy="6858000"/>
          </a:xfrm>
          <a:prstGeom prst="line">
            <a:avLst/>
          </a:prstGeom>
          <a:ln w="254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966478C-8002-496D-94A6-5E450766E898}"/>
              </a:ext>
            </a:extLst>
          </p:cNvPr>
          <p:cNvCxnSpPr>
            <a:cxnSpLocks/>
          </p:cNvCxnSpPr>
          <p:nvPr/>
        </p:nvCxnSpPr>
        <p:spPr>
          <a:xfrm>
            <a:off x="8048330" y="0"/>
            <a:ext cx="0" cy="6858000"/>
          </a:xfrm>
          <a:prstGeom prst="line">
            <a:avLst/>
          </a:prstGeom>
          <a:ln w="254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8AF963B-BD90-4876-9456-8A4627F34E0F}"/>
              </a:ext>
            </a:extLst>
          </p:cNvPr>
          <p:cNvCxnSpPr>
            <a:cxnSpLocks/>
          </p:cNvCxnSpPr>
          <p:nvPr/>
        </p:nvCxnSpPr>
        <p:spPr>
          <a:xfrm>
            <a:off x="12112752" y="0"/>
            <a:ext cx="0" cy="6858000"/>
          </a:xfrm>
          <a:prstGeom prst="line">
            <a:avLst/>
          </a:prstGeom>
          <a:ln w="254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D6EDFFEF-CADD-42F5-AD16-960CC17508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1" y="47590"/>
            <a:ext cx="2322231" cy="18099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99EBB5-7275-4D50-B3A0-F7C0B7638EE1}"/>
              </a:ext>
            </a:extLst>
          </p:cNvPr>
          <p:cNvSpPr txBox="1"/>
          <p:nvPr/>
        </p:nvSpPr>
        <p:spPr>
          <a:xfrm>
            <a:off x="300566" y="478455"/>
            <a:ext cx="1723549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9</a:t>
            </a:r>
            <a:r>
              <a:rPr lang="ko-KR" altLang="en-US" sz="2000" b="1" dirty="0"/>
              <a:t>강</a:t>
            </a:r>
            <a:r>
              <a:rPr lang="en-US" altLang="ko-KR" sz="2000" b="1" dirty="0"/>
              <a:t>.</a:t>
            </a:r>
          </a:p>
          <a:p>
            <a:pPr algn="ctr"/>
            <a:endParaRPr lang="en-US" altLang="ko-KR" sz="1100" b="1" dirty="0"/>
          </a:p>
          <a:p>
            <a:pPr algn="ctr"/>
            <a:r>
              <a:rPr lang="en-US" altLang="ko-KR" sz="2000" b="1" dirty="0"/>
              <a:t>AI</a:t>
            </a:r>
            <a:r>
              <a:rPr lang="ko-KR" altLang="en-US" sz="2000" b="1" dirty="0"/>
              <a:t>와 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개인정보보호</a:t>
            </a:r>
          </a:p>
        </p:txBody>
      </p:sp>
    </p:spTree>
    <p:extLst>
      <p:ext uri="{BB962C8B-B14F-4D97-AF65-F5344CB8AC3E}">
        <p14:creationId xmlns:p14="http://schemas.microsoft.com/office/powerpoint/2010/main" val="2413092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345110" y="2767280"/>
            <a:ext cx="32063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10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AI</a:t>
            </a:r>
            <a:r>
              <a:rPr lang="ko-KR" altLang="en-US" sz="3200" b="1" dirty="0"/>
              <a:t>와 지식재산권</a:t>
            </a: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160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11772</TotalTime>
  <Words>685</Words>
  <Application>Microsoft Office PowerPoint</Application>
  <PresentationFormat>와이드스크린</PresentationFormat>
  <Paragraphs>106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299</cp:revision>
  <cp:lastPrinted>2026-04-30T06:21:50Z</cp:lastPrinted>
  <dcterms:created xsi:type="dcterms:W3CDTF">2026-02-24T07:28:13Z</dcterms:created>
  <dcterms:modified xsi:type="dcterms:W3CDTF">2026-05-04T10:36:09Z</dcterms:modified>
</cp:coreProperties>
</file>