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24" r:id="rId2"/>
    <p:sldId id="326" r:id="rId3"/>
    <p:sldId id="344" r:id="rId4"/>
    <p:sldId id="420" r:id="rId5"/>
    <p:sldId id="345" r:id="rId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8" autoAdjust="0"/>
    <p:restoredTop sz="85604" autoAdjust="0"/>
  </p:normalViewPr>
  <p:slideViewPr>
    <p:cSldViewPr snapToGrid="0">
      <p:cViewPr varScale="1">
        <p:scale>
          <a:sx n="51" d="100"/>
          <a:sy n="51" d="100"/>
        </p:scale>
        <p:origin x="60" y="13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1372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3503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2026-05-08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3703258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86693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/>
              <a:t>AI </a:t>
            </a:r>
            <a:r>
              <a:rPr lang="ko-KR" altLang="en-US" sz="4400" b="1" dirty="0"/>
              <a:t>거버넌스 </a:t>
            </a:r>
            <a:r>
              <a:rPr lang="en-US" altLang="ko-KR" sz="4400" b="1" dirty="0"/>
              <a:t>: </a:t>
            </a:r>
            <a:r>
              <a:rPr lang="ko-KR" altLang="en-US" sz="4400" b="1" dirty="0"/>
              <a:t>관련 법과 국제표준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588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https://github.com/yangguibee/AIG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11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D3306-80B9-3F00-5A7F-FFAF1E98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003025"/>
            <a:ext cx="10749064" cy="5313615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640404" y="4407208"/>
            <a:ext cx="10830128" cy="345232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2452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거버넌스①②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2315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EU AI Act③ ④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883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KOR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AI</a:t>
            </a:r>
            <a:r>
              <a:rPr lang="ko-KR" altLang="en-US" sz="2400" b="1" dirty="0"/>
              <a:t>기본법⑤⑥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Study⑦⑧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1053612" y="2106392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국제표준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7BF7-62FA-7818-FD34-C3885784B2AB}"/>
              </a:ext>
            </a:extLst>
          </p:cNvPr>
          <p:cNvSpPr txBox="1"/>
          <p:nvPr/>
        </p:nvSpPr>
        <p:spPr>
          <a:xfrm>
            <a:off x="3236720" y="615633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</a:t>
            </a:r>
            <a:r>
              <a:rPr lang="ko-KR" altLang="en-US" sz="2400" b="1" dirty="0"/>
              <a:t>⑦⑧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3236720" y="372113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개인정보보호①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지식재산권②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책임법③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ISO/IEC</a:t>
            </a:r>
            <a:r>
              <a:rPr lang="ko-KR" altLang="en-US" sz="2400" b="1" dirty="0"/>
              <a:t>⑤⑥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글로벌 규제④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1967645" y="1516188"/>
            <a:ext cx="622340" cy="821037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1967645" y="2065429"/>
            <a:ext cx="622340" cy="271796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967645" y="2337225"/>
            <a:ext cx="622340" cy="27744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967645" y="2337225"/>
            <a:ext cx="622340" cy="82668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278815" y="3951969"/>
            <a:ext cx="957905" cy="99241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2278815" y="4439010"/>
            <a:ext cx="957905" cy="505372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278815" y="4926051"/>
            <a:ext cx="957905" cy="1833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278815" y="4944382"/>
            <a:ext cx="957905" cy="46871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2278815" y="4944382"/>
            <a:ext cx="957905" cy="95575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ED0FF77A-460F-EA59-8413-BA5794B460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78815" y="4944382"/>
            <a:ext cx="957905" cy="144279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C4D769-7FCC-61CE-8C54-099B4CAF9FDF}"/>
              </a:ext>
            </a:extLst>
          </p:cNvPr>
          <p:cNvGrpSpPr/>
          <p:nvPr/>
        </p:nvGrpSpPr>
        <p:grpSpPr>
          <a:xfrm>
            <a:off x="5473660" y="962892"/>
            <a:ext cx="4609329" cy="1748072"/>
            <a:chOff x="5473660" y="962892"/>
            <a:chExt cx="4609329" cy="174807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6258CA8-9C12-ED22-9CAD-9C5481B1AF22}"/>
                </a:ext>
              </a:extLst>
            </p:cNvPr>
            <p:cNvGrpSpPr/>
            <p:nvPr/>
          </p:nvGrpSpPr>
          <p:grpSpPr>
            <a:xfrm>
              <a:off x="6096000" y="962892"/>
              <a:ext cx="3986989" cy="1748072"/>
              <a:chOff x="6096000" y="962892"/>
              <a:chExt cx="3986989" cy="1748072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56140AF-916D-7E2D-A518-5FC225909E40}"/>
                  </a:ext>
                </a:extLst>
              </p:cNvPr>
              <p:cNvSpPr txBox="1"/>
              <p:nvPr/>
            </p:nvSpPr>
            <p:spPr>
              <a:xfrm>
                <a:off x="6096000" y="96289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1. AI</a:t>
                </a:r>
                <a:r>
                  <a:rPr lang="ko-KR" altLang="en-US" dirty="0"/>
                  <a:t> 투명성 확보 가이드라인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ACBBB3-C8E5-9151-E750-E13C37C39937}"/>
                  </a:ext>
                </a:extLst>
              </p:cNvPr>
              <p:cNvSpPr txBox="1"/>
              <p:nvPr/>
            </p:nvSpPr>
            <p:spPr>
              <a:xfrm>
                <a:off x="6096000" y="1996947"/>
                <a:ext cx="3986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4.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사업자 책무 가이드라인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A30C5C-44BC-A9DB-E8B8-BB4167D3C24D}"/>
                  </a:ext>
                </a:extLst>
              </p:cNvPr>
              <p:cNvSpPr txBox="1"/>
              <p:nvPr/>
            </p:nvSpPr>
            <p:spPr>
              <a:xfrm>
                <a:off x="6096000" y="1307577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2. AI</a:t>
                </a:r>
                <a:r>
                  <a:rPr lang="ko-KR" altLang="en-US" dirty="0"/>
                  <a:t> 안전성 확보 가이드라인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54E14E-DBD0-FAB8-C9F5-DC6258AF3079}"/>
                  </a:ext>
                </a:extLst>
              </p:cNvPr>
              <p:cNvSpPr txBox="1"/>
              <p:nvPr/>
            </p:nvSpPr>
            <p:spPr>
              <a:xfrm>
                <a:off x="6096000" y="165226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3.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판단 가이드라인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F4CFB8-3662-66DC-CD5C-15D4581747CC}"/>
                  </a:ext>
                </a:extLst>
              </p:cNvPr>
              <p:cNvSpPr txBox="1"/>
              <p:nvPr/>
            </p:nvSpPr>
            <p:spPr>
              <a:xfrm>
                <a:off x="6096000" y="2341632"/>
                <a:ext cx="2900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5. AI</a:t>
                </a:r>
                <a:r>
                  <a:rPr lang="ko-KR" altLang="en-US" dirty="0"/>
                  <a:t> 영향평가 가이드라인</a:t>
                </a:r>
              </a:p>
            </p:txBody>
          </p:sp>
        </p:grp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09BD34B1-BC01-00EB-71CF-4CA3A16484EE}"/>
                </a:ext>
              </a:extLst>
            </p:cNvPr>
            <p:cNvSpPr/>
            <p:nvPr/>
          </p:nvSpPr>
          <p:spPr>
            <a:xfrm>
              <a:off x="5862537" y="1147558"/>
              <a:ext cx="233463" cy="1375681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7" name="연결선: 구부러짐 66">
              <a:extLst>
                <a:ext uri="{FF2B5EF4-FFF2-40B4-BE49-F238E27FC236}">
                  <a16:creationId xmlns:a16="http://schemas.microsoft.com/office/drawing/2014/main" id="{9552A930-E597-31F9-4DDA-4AACC0B63222}"/>
                </a:ext>
              </a:extLst>
            </p:cNvPr>
            <p:cNvCxnSpPr>
              <a:cxnSpLocks/>
              <a:stCxn id="6" idx="3"/>
              <a:endCxn id="66" idx="1"/>
            </p:cNvCxnSpPr>
            <p:nvPr/>
          </p:nvCxnSpPr>
          <p:spPr>
            <a:xfrm flipV="1">
              <a:off x="5473660" y="1835399"/>
              <a:ext cx="388877" cy="779271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23F18F-B407-0E7F-FB9F-CC1A54CB8AC0}"/>
              </a:ext>
            </a:extLst>
          </p:cNvPr>
          <p:cNvGrpSpPr/>
          <p:nvPr/>
        </p:nvGrpSpPr>
        <p:grpSpPr>
          <a:xfrm>
            <a:off x="5139805" y="3268237"/>
            <a:ext cx="6655191" cy="2862322"/>
            <a:chOff x="5139805" y="3268237"/>
            <a:chExt cx="6655191" cy="286232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7B5F04-8CA4-3BA8-586E-EC3CFCB9287F}"/>
                </a:ext>
              </a:extLst>
            </p:cNvPr>
            <p:cNvSpPr txBox="1"/>
            <p:nvPr/>
          </p:nvSpPr>
          <p:spPr>
            <a:xfrm>
              <a:off x="6096000" y="3268237"/>
              <a:ext cx="569899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1. </a:t>
              </a:r>
              <a:r>
                <a:rPr lang="ko-KR" altLang="en-US" dirty="0"/>
                <a:t>준비 단계 </a:t>
              </a:r>
              <a:r>
                <a:rPr lang="en-US" altLang="ko-KR" dirty="0"/>
                <a:t>: ISO/IEC 22989 (</a:t>
              </a:r>
              <a:r>
                <a:rPr lang="ko-KR" altLang="en-US" dirty="0"/>
                <a:t>개념 및 용어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ISO/IEC 23053 (ML </a:t>
              </a:r>
              <a:r>
                <a:rPr lang="ko-KR" altLang="en-US" dirty="0"/>
                <a:t>프레임워크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2. </a:t>
              </a:r>
              <a:r>
                <a:rPr lang="ko-KR" altLang="en-US" dirty="0"/>
                <a:t>방향 설정 </a:t>
              </a:r>
              <a:r>
                <a:rPr lang="en-US" altLang="ko-KR" dirty="0"/>
                <a:t>: ISO/IEC 38507 (AI </a:t>
              </a:r>
              <a:r>
                <a:rPr lang="ko-KR" altLang="en-US" dirty="0"/>
                <a:t>거버넌스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3. </a:t>
              </a:r>
              <a:r>
                <a:rPr lang="ko-KR" altLang="en-US" dirty="0"/>
                <a:t>시스템 구축 </a:t>
              </a:r>
              <a:r>
                <a:rPr lang="en-US" altLang="ko-KR" dirty="0"/>
                <a:t>: ISO/IEC 42001 (AI </a:t>
              </a:r>
              <a:r>
                <a:rPr lang="ko-KR" altLang="en-US" dirty="0"/>
                <a:t>경영시스템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   ISO/IEC 25059 (AI </a:t>
              </a:r>
              <a:r>
                <a:rPr lang="ko-KR" altLang="en-US" dirty="0"/>
                <a:t>시스템 품질 모델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4. </a:t>
              </a:r>
              <a:r>
                <a:rPr lang="ko-KR" altLang="en-US" dirty="0"/>
                <a:t>실행 및 관리 </a:t>
              </a:r>
              <a:r>
                <a:rPr lang="en-US" altLang="ko-KR" dirty="0"/>
                <a:t>: ISO/IEC 5259 (</a:t>
              </a:r>
              <a:r>
                <a:rPr lang="ko-KR" altLang="en-US" dirty="0"/>
                <a:t>데이터 품질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23894 (</a:t>
              </a:r>
              <a:r>
                <a:rPr lang="ko-KR" altLang="en-US" dirty="0"/>
                <a:t>리스크 관리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27090/27091 (</a:t>
              </a:r>
              <a:r>
                <a:rPr lang="ko-KR" altLang="en-US" dirty="0"/>
                <a:t>정보 보호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5. </a:t>
              </a:r>
              <a:r>
                <a:rPr lang="ko-KR" altLang="en-US" dirty="0"/>
                <a:t>검증 및 개선 </a:t>
              </a:r>
              <a:r>
                <a:rPr lang="en-US" altLang="ko-KR" dirty="0"/>
                <a:t>: ISO/IEC 24029 (</a:t>
              </a:r>
              <a:r>
                <a:rPr lang="ko-KR" altLang="en-US" dirty="0"/>
                <a:t>분석적 평가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24028 (</a:t>
              </a:r>
              <a:r>
                <a:rPr lang="ko-KR" altLang="en-US" dirty="0"/>
                <a:t>신뢰성 편향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19" name="왼쪽 중괄호 18">
              <a:extLst>
                <a:ext uri="{FF2B5EF4-FFF2-40B4-BE49-F238E27FC236}">
                  <a16:creationId xmlns:a16="http://schemas.microsoft.com/office/drawing/2014/main" id="{E43CB37F-61B0-1B45-6B28-FCA0EEC00999}"/>
                </a:ext>
              </a:extLst>
            </p:cNvPr>
            <p:cNvSpPr/>
            <p:nvPr/>
          </p:nvSpPr>
          <p:spPr>
            <a:xfrm>
              <a:off x="5862537" y="3449844"/>
              <a:ext cx="233463" cy="2206499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9BE293F5-BB91-8FB0-9BBC-9680A78EB124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5139805" y="4553094"/>
              <a:ext cx="722732" cy="1347039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3235010" y="4691693"/>
            <a:ext cx="2031325" cy="46871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FDB8DB5-89A7-40BD-8FED-6EB29D637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123" y="1179430"/>
            <a:ext cx="10384077" cy="54729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4446CA-1970-4EDF-A195-7E43B7DE4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672" y="4200517"/>
            <a:ext cx="576511" cy="47169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373193E-1E9E-4A10-8456-ED9B0885C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418" y="4238095"/>
            <a:ext cx="849043" cy="4716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173A2E-16A5-4A4F-AFBA-8080A3C04FB5}"/>
              </a:ext>
            </a:extLst>
          </p:cNvPr>
          <p:cNvSpPr txBox="1"/>
          <p:nvPr/>
        </p:nvSpPr>
        <p:spPr>
          <a:xfrm>
            <a:off x="7369147" y="1655569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[1]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244317-EBBC-47D6-8BA2-D22149754BDA}"/>
              </a:ext>
            </a:extLst>
          </p:cNvPr>
          <p:cNvSpPr txBox="1"/>
          <p:nvPr/>
        </p:nvSpPr>
        <p:spPr>
          <a:xfrm>
            <a:off x="7010695" y="4309676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[2]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2D9E65-E40E-46D5-9807-D255954A55E0}"/>
              </a:ext>
            </a:extLst>
          </p:cNvPr>
          <p:cNvSpPr txBox="1"/>
          <p:nvPr/>
        </p:nvSpPr>
        <p:spPr>
          <a:xfrm>
            <a:off x="4183880" y="3540839"/>
            <a:ext cx="51648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[3]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5964A0-CEF6-4D51-BC87-980BBB6605BC}"/>
              </a:ext>
            </a:extLst>
          </p:cNvPr>
          <p:cNvSpPr txBox="1"/>
          <p:nvPr/>
        </p:nvSpPr>
        <p:spPr>
          <a:xfrm>
            <a:off x="4183880" y="4250621"/>
            <a:ext cx="51648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[4]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573B31-CFD8-4E94-8FF2-5568BDE1D276}"/>
              </a:ext>
            </a:extLst>
          </p:cNvPr>
          <p:cNvSpPr txBox="1"/>
          <p:nvPr/>
        </p:nvSpPr>
        <p:spPr>
          <a:xfrm>
            <a:off x="4193357" y="4942681"/>
            <a:ext cx="51648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[5]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A488EF-93C1-41BB-B2BD-888D8E449835}"/>
              </a:ext>
            </a:extLst>
          </p:cNvPr>
          <p:cNvSpPr txBox="1"/>
          <p:nvPr/>
        </p:nvSpPr>
        <p:spPr>
          <a:xfrm>
            <a:off x="4143253" y="5614653"/>
            <a:ext cx="51648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[6]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331E8-4D60-49E0-B4CD-D53D386D75CA}"/>
              </a:ext>
            </a:extLst>
          </p:cNvPr>
          <p:cNvSpPr txBox="1"/>
          <p:nvPr/>
        </p:nvSpPr>
        <p:spPr>
          <a:xfrm>
            <a:off x="8190229" y="4734838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[7]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C6D317-561E-43A0-BE49-2031BE66361A}"/>
              </a:ext>
            </a:extLst>
          </p:cNvPr>
          <p:cNvSpPr txBox="1"/>
          <p:nvPr/>
        </p:nvSpPr>
        <p:spPr>
          <a:xfrm>
            <a:off x="10941695" y="4272098"/>
            <a:ext cx="51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[8]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E014835-437A-4E8F-AF1B-7A0DD2543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93" y="210428"/>
            <a:ext cx="2322231" cy="18099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00F15E-9D50-4F9C-B372-86281C503797}"/>
              </a:ext>
            </a:extLst>
          </p:cNvPr>
          <p:cNvSpPr txBox="1"/>
          <p:nvPr/>
        </p:nvSpPr>
        <p:spPr>
          <a:xfrm>
            <a:off x="613674" y="598161"/>
            <a:ext cx="1467068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/>
              <a:t>10</a:t>
            </a:r>
            <a:r>
              <a:rPr lang="ko-KR" altLang="en-US" sz="2000" b="1" dirty="0"/>
              <a:t>강</a:t>
            </a:r>
            <a:r>
              <a:rPr lang="en-US" altLang="ko-KR" sz="2000" b="1" dirty="0"/>
              <a:t>.</a:t>
            </a:r>
          </a:p>
          <a:p>
            <a:pPr algn="ctr"/>
            <a:endParaRPr lang="en-US" altLang="ko-KR" sz="1100" b="1" dirty="0"/>
          </a:p>
          <a:p>
            <a:pPr algn="ctr"/>
            <a:r>
              <a:rPr lang="en-US" altLang="ko-KR" sz="2000" b="1" dirty="0"/>
              <a:t>AI</a:t>
            </a:r>
            <a:r>
              <a:rPr lang="ko-KR" altLang="en-US" sz="2000" b="1" dirty="0"/>
              <a:t>와 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지식재산권</a:t>
            </a:r>
          </a:p>
        </p:txBody>
      </p:sp>
    </p:spTree>
    <p:extLst>
      <p:ext uri="{BB962C8B-B14F-4D97-AF65-F5344CB8AC3E}">
        <p14:creationId xmlns:p14="http://schemas.microsoft.com/office/powerpoint/2010/main" val="75565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755479" y="2767280"/>
            <a:ext cx="23855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11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en-US" altLang="ko-KR" sz="3200" b="1" dirty="0"/>
              <a:t>AI</a:t>
            </a:r>
            <a:r>
              <a:rPr lang="ko-KR" altLang="en-US" sz="3200" b="1" dirty="0"/>
              <a:t>와 </a:t>
            </a:r>
            <a:r>
              <a:rPr lang="ko-KR" altLang="en-US" sz="3200" b="1" dirty="0" err="1"/>
              <a:t>책임법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11847</TotalTime>
  <Words>264</Words>
  <Application>Microsoft Office PowerPoint</Application>
  <PresentationFormat>와이드스크린</PresentationFormat>
  <Paragraphs>52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302</cp:revision>
  <cp:lastPrinted>2026-04-30T06:21:50Z</cp:lastPrinted>
  <dcterms:created xsi:type="dcterms:W3CDTF">2026-02-24T07:28:13Z</dcterms:created>
  <dcterms:modified xsi:type="dcterms:W3CDTF">2026-05-08T08:33:21Z</dcterms:modified>
</cp:coreProperties>
</file>