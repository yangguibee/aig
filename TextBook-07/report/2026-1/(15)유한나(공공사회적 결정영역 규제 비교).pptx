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16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DD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거버넌스: 관련법과 국제표준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Act와 국내 AI법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DD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공공·사회적 결정영역 규제 비교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2697480"/>
            <a:ext cx="0" cy="228600"/>
          </a:xfrm>
          <a:prstGeom prst="line">
            <a:avLst/>
          </a:prstGeom>
          <a:noFill/>
          <a:ln w="1270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697480" y="2651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거버넌스: 관련법과 국제표준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담당교수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3154680"/>
            <a:ext cx="0" cy="228600"/>
          </a:xfrm>
          <a:prstGeom prst="line">
            <a:avLst/>
          </a:prstGeom>
          <a:noFill/>
          <a:ln w="1270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697480" y="31089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양희정 교수님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출 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3611880"/>
            <a:ext cx="0" cy="228600"/>
          </a:xfrm>
          <a:prstGeom prst="line">
            <a:avLst/>
          </a:prstGeom>
          <a:noFill/>
          <a:ln w="1270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697480" y="3566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유한나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출 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4069080"/>
            <a:ext cx="0" cy="228600"/>
          </a:xfrm>
          <a:prstGeom prst="line">
            <a:avLst/>
          </a:prstGeom>
          <a:noFill/>
          <a:ln w="1270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697480" y="4023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2026. 04. 16.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658368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11795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78608" y="11795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배경 및 EU AI Act vs 한국 AI기본법 핵심 비교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8412480" cy="0"/>
          </a:xfrm>
          <a:prstGeom prst="line">
            <a:avLst/>
          </a:prstGeom>
          <a:noFill/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746504"/>
            <a:ext cx="658368" cy="38404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74650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17830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교육·채용·복지·금융 분야 EU식 고위험 규제 도입 영향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185416"/>
            <a:ext cx="8412480" cy="0"/>
          </a:xfrm>
          <a:prstGeom prst="line">
            <a:avLst/>
          </a:prstGeom>
          <a:noFill/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658368" cy="38404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35000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" y="23865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78608" y="238658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한국 법령과의 충돌 분석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953512"/>
            <a:ext cx="658368" cy="38404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95351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2990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78608" y="299008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 차별 방지의 기술적 구현 가능성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392424"/>
            <a:ext cx="8412480" cy="0"/>
          </a:xfrm>
          <a:prstGeom prst="line">
            <a:avLst/>
          </a:prstGeom>
          <a:noFill/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3557016"/>
            <a:ext cx="658368" cy="38404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5760" y="355701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" y="3593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78608" y="359359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사회적 약자 보호를 위한 추가 제도 방안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995928"/>
            <a:ext cx="8412480" cy="0"/>
          </a:xfrm>
          <a:prstGeom prst="line">
            <a:avLst/>
          </a:prstGeom>
          <a:noFill/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658368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65760" y="41605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" y="41970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78608" y="419709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요약 및 정책 제언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서론 — 두 법제의 핵심 비교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DD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방향, 다른 강도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0233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4023360" cy="475488"/>
          </a:xfrm>
          <a:prstGeom prst="rect">
            <a:avLst/>
          </a:prstGeom>
          <a:solidFill>
            <a:srgbClr val="F5F6F8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발효일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00200" y="1444752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8월 1일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95681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분류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00200" y="1956816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4단계: 허용불가·고위험·제한·최소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023360" cy="475488"/>
          </a:xfrm>
          <a:prstGeom prst="rect">
            <a:avLst/>
          </a:prstGeom>
          <a:solidFill>
            <a:srgbClr val="F5F6F8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의무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2468880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적합성 평가·CE마킹·EU DB 등록·인간 감독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80944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98094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00200" y="2980944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매출 최대 7% 또는 3,500만 유로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4023360" cy="475488"/>
          </a:xfrm>
          <a:prstGeom prst="rect">
            <a:avLst/>
          </a:prstGeom>
          <a:solidFill>
            <a:srgbClr val="F5F6F8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철학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3493008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기본권 보호 중심, 사전 금지 규정 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78992"/>
            <a:ext cx="4023360" cy="347472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75488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AI기본법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4023360" cy="475488"/>
          </a:xfrm>
          <a:prstGeom prst="rect">
            <a:avLst/>
          </a:prstGeom>
          <a:solidFill>
            <a:srgbClr val="F5F6F8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46320" y="14447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시행일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9320" y="1444752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1월 22일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56816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46320" y="195681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분류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89320" y="1956816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고영향 / 일반 + 생성형 별도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4023360" cy="475488"/>
          </a:xfrm>
          <a:prstGeom prst="rect">
            <a:avLst/>
          </a:prstGeom>
          <a:solidFill>
            <a:srgbClr val="F5F6F8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46320" y="246888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의무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2468880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위험관리·설명방안·영향평가(노력)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980944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46320" y="298094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2980944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3,000만 원 과태료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493008"/>
            <a:ext cx="4023360" cy="475488"/>
          </a:xfrm>
          <a:prstGeom prst="rect">
            <a:avLst/>
          </a:prstGeom>
          <a:solidFill>
            <a:srgbClr val="F5F6F8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46320" y="349300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철학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89320" y="3493008"/>
            <a:ext cx="2706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진흥·혁신 균형, 산업 친화적 접근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Ⅱ-1. 교육·채용·복지·금융 — EU식 고위험 규제 도입 영향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DD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단기: 규제 비용 증가 → 중장기: AI 결정 신뢰 확보 + 글로벌 표준 적합성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7중 의무:  적합성 평가  →  데이터 관리 체계  →  인간 감독  →  기술 문서화  →  CE 마킹  →  EU DB 등록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2468880"/>
        </p:xfrm>
        <a:graphic>
          <a:graphicData uri="http://schemas.openxmlformats.org/drawingml/2006/table">
            <a:tbl>
              <a:tblPr/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규제 도입 시 주요 영향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 및 규모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기반 학습·평가 시스템, 사전 안전 심사 의무화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알고리즘 결정에 대한 설명권 보장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AI 교육 서비스 시장 약 5조 원 (2023)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이력서 필터링·면접 AI 전면 재설계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인간 감독 의무·편향 검증 법제화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대기업 10곳 중 6곳 이상 AI 채용 활용 (2024)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수급 자격 결정 AI 적합성 평가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지자체 재정 부담 증가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복지 AI 도입 지자체 급증 추세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 심사·신용평가 AI, 판단 근거 설명 의무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정기 모델 점검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 AI 시장 2030년 1.58조 달러 전망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Ⅱ-2. 기존 한국 법령과의 충돌 분석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DD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AI가 결정했을 때 책임은 누가 지는가?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64008" cy="29260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21208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분야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426464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AI기본법 제2조 제4호 차목: 학생 평가 AI → 고영향 AI 지정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00784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교육공무원법 제19조·제44조: 교육평가 주체 = '교원' → AI가 평가 주체 시 충돌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975104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초중등교육법 제25조: 생활기록부는 교원 직접 관찰 결과 → AI 생성 평가 기재 근거 부재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889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64008" cy="29260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1208" y="24140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분야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743200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고용보험법 시행령 제19조: 직업능력평가 주체 = 직업상담사 → AI 대체 시 업무 주체 충돌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채용절차법: 차별 금지·정보 공개 의무 있으나 AI 편향 검증 기준 부재 → 규제 공백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0"/>
          </a:xfrm>
          <a:prstGeom prst="line">
            <a:avLst/>
          </a:prstGeom>
          <a:noFill/>
          <a:ln w="889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456432"/>
            <a:ext cx="64008" cy="29260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21208" y="34564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금융·복지 분야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785616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신용정보법 제35조의2 설명의무 준수 → AI기본법 시행령 별표1: 의무 이행으로 인정 (연계 규정)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059936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단, 보험·투자 분야 연계 규정 없음 → 규제 공백 잔존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334256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사회보장급여법 제5조: 복지 수급 결정 AI의 행정처분 성격 → AI 설명 의무와 복합 충돌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F5F6F8"/>
          </a:solidFill>
          <a:ln w="635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AI기본법 하나로는 해결 불가. 교육공무원법·고용보험법·사회보장급여법 등 개별 법령 정비 병행 필요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Ⅱ-3. 알고리즘 차별 방지의 기술적 구현 가능성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DD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구현은 가능하나, 공정성 기준들을 동시에 충족하는 것은 수학적으로 불가능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64008" cy="27432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93776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3단계 편향 제거 기법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1472184"/>
        </p:xfrm>
        <a:graphic>
          <a:graphicData uri="http://schemas.openxmlformats.org/drawingml/2006/table">
            <a:tbl>
              <a:tblPr/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예시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Reweighting, Disparate Impact Remover, Fair Data Augmentation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 데이터의 성별·연령 불균형 교정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Adversarial Debiasing, Fairness Regularization, Reductions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단계에서 처음부터 공정성 조건 반영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Equalized Odds Post-processing, Calibrated EO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출력 후 집단 간 오류율 보정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770632"/>
            <a:ext cx="8412480" cy="0"/>
          </a:xfrm>
          <a:prstGeom prst="line">
            <a:avLst/>
          </a:prstGeom>
          <a:noFill/>
          <a:ln w="1016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8"/>
          <p:cNvSpPr/>
          <p:nvPr/>
        </p:nvSpPr>
        <p:spPr>
          <a:xfrm>
            <a:off x="365760" y="2816352"/>
            <a:ext cx="64008" cy="27432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93776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핵심 기술적 한계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1272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공정성 지표 비양립성: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34640" y="312724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Chouldechova(2017), Kleinberg et al.(2016): 집단 간 오류율 균등, 기회 균등 같은 공정성 기준들은 수학적으로 동시 충족 불가능. 하나를 잡으면 다른 하나가 어긋남.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36210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설명 가능성 한계: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34640" y="362102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모델은 정확할수록 왜 그런 결론을 냈는지 설명하기 어려워짐. 법이 요구하는 수준의 명확한 설명을 기술적으로 완벽하게 제공하는 데 한계 있음.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133088"/>
            <a:ext cx="8412480" cy="0"/>
          </a:xfrm>
          <a:prstGeom prst="line">
            <a:avLst/>
          </a:prstGeom>
          <a:noFill/>
          <a:ln w="1016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65760" y="41879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AI기본법: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'할 수 있는 범위에서 설명하면 된다'는 유연한 기준 채택 (제34조 제1항 제2호)    </a:t>
            </a: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AI법: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인간 감독 의무화로 기술 한계를 사람이 보완하는 구조 채택 (제14조)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Ⅱ-4. 사회적 약자 보호를 위한 추가 제도 방안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DD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선언에서 실질적 의무로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64008" cy="27432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93776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AI기본법 현황 (원칙 선언 수준)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8275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제3조 제5항: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취약계층 정책 참여 보장 (2026.7.21. 시행)    </a:t>
            </a: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제35조 제1항: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영향평가 시 취약계층 특성 반영 의무    </a:t>
            </a:r>
            <a:r>
              <a:rPr lang="en-US" sz="95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제17조의2: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지원 근거 신설 → 모두 구체적 집행 수단 미비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0"/>
          </a:xfrm>
          <a:prstGeom prst="line">
            <a:avLst/>
          </a:prstGeom>
          <a:noFill/>
          <a:ln w="1016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64008" cy="27432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추가 제도 제언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21408"/>
          <a:ext cx="8412480" cy="2331720"/>
        </p:xfrm>
        <a:graphic>
          <a:graphicData uri="http://schemas.openxmlformats.org/drawingml/2006/table">
            <a:tbl>
              <a:tblPr/>
              <a:tblGrid>
                <a:gridCol w="15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참조 모델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독립 영향평가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의무화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공공기관 고영향 AI 사용 전, 외부 전문가 독립 심사 의무화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국가인공지능전략위원회 산하 전문 심사 기구 설치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FRIA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(기본권 영향평가)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시정 청구권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법제화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AI가 불공정한 결정을 내렸을 때 이의 제기 및 설명 요구 권리를 법에 명시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채용·복지·교육 분야 전반 적용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신용정보법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제35조의2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접근성 지원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저소득층·고령자·장애인도 AI 서비스를 동등하게 이용할 수 있도록 비용·접근성 지원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제17조의2 비용 지원 조항 구체화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AI법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 Recitals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정기 점검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제도화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AI가 실제로 공정하게 작동하는지 정기적으로 점검하고 결과 공개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독립 외부 기관이 점검 담당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적합성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체계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결론 — 종합 요약 및 정책 제언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256032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1208" y="1078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요약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1444752"/>
        </p:xfrm>
        <a:graphic>
          <a:graphicData uri="http://schemas.openxmlformats.org/drawingml/2006/table">
            <a:tbl>
              <a:tblPr/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3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쟁점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결론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 도입 영향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단기: 비용 증가 / 중장기: AI 결정 신뢰 구축 + 글로벌 표준 적합성 확보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법령 충돌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결정의 책임 주체 문제가 핵심 → 개별 법령 정비 불가피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알고리즘 차별 방지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구현 가능하나 공정성 기준 동시 충족 불가 → 법 기준에 기술적 현실 반영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사회적 약자 보호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선언 수준 → 의무화 전환 필요: 독립 영향평가·시정청구권·접근성 지원·정기 점검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365760" y="2907792"/>
            <a:ext cx="8412480" cy="0"/>
          </a:xfrm>
          <a:prstGeom prst="line">
            <a:avLst/>
          </a:prstGeom>
          <a:noFill/>
          <a:ln w="10160">
            <a:solidFill>
              <a:srgbClr val="C5C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65760" y="2980944"/>
            <a:ext cx="64008" cy="256032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21208" y="29809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제언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337560"/>
            <a:ext cx="548640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02920" y="33375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" y="3291840"/>
            <a:ext cx="7626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AI기본법 시행령 정비, 교육·채용·복지 분야 AI 업무 주체 명확화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3675888"/>
            <a:ext cx="548640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02920" y="36758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" y="3630168"/>
            <a:ext cx="7626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교육공무원법·고용보험법·사회보장급여법 개정으로 AI기본법 연계 규정 마련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4014216"/>
            <a:ext cx="548640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02920" y="40142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" y="3968496"/>
            <a:ext cx="7626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고위험 AI 독립 심사 체계·정기 점검 제도화·시정 청구권 명문화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1092</Words>
  <Application>Microsoft Office PowerPoint</Application>
  <PresentationFormat>화면 슬라이드 쇼(16:9)</PresentationFormat>
  <Paragraphs>170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AI Act와 국내 AI법 비교</dc:title>
  <dc:subject>PptxGenJS Presentation</dc:subject>
  <dc:creator>유한나</dc:creator>
  <cp:lastModifiedBy>한나 유</cp:lastModifiedBy>
  <cp:revision>3</cp:revision>
  <cp:lastPrinted>2026-04-16T02:42:04Z</cp:lastPrinted>
  <dcterms:created xsi:type="dcterms:W3CDTF">2026-04-15T22:04:32Z</dcterms:created>
  <dcterms:modified xsi:type="dcterms:W3CDTF">2026-04-16T02:43:36Z</dcterms:modified>
</cp:coreProperties>
</file>