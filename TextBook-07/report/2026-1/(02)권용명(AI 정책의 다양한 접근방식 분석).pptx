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1" r:id="rId2"/>
    <p:sldId id="2562" r:id="rId3"/>
    <p:sldId id="2563" r:id="rId4"/>
    <p:sldId id="2564" r:id="rId5"/>
    <p:sldId id="2565" r:id="rId6"/>
    <p:sldId id="2566" r:id="rId7"/>
    <p:sldId id="2567" r:id="rId8"/>
    <p:sldId id="2568" r:id="rId9"/>
    <p:sldId id="2569" r:id="rId10"/>
    <p:sldId id="2570"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EU 위험기반 AI 규제와 한국 원칙 기반 AI 규제 비교" id="{FD74D688-07CC-43F4-8667-74EE52683A72}">
          <p14:sldIdLst>
            <p14:sldId id="2561"/>
          </p14:sldIdLst>
        </p14:section>
        <p14:section name="Case Study (1): EU AI Act와 한국 AI 기본법 비교" id="{B9BD13B2-FA94-4B7E-AB86-1B00A9913CC5}">
          <p14:sldIdLst>
            <p14:sldId id="2562"/>
            <p14:sldId id="2563"/>
            <p14:sldId id="2564"/>
            <p14:sldId id="2565"/>
            <p14:sldId id="2566"/>
            <p14:sldId id="2567"/>
            <p14:sldId id="2568"/>
            <p14:sldId id="2569"/>
            <p14:sldId id="257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8483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6540" autoAdjust="0"/>
  </p:normalViewPr>
  <p:slideViewPr>
    <p:cSldViewPr snapToGrid="0">
      <p:cViewPr varScale="1">
        <p:scale>
          <a:sx n="136" d="100"/>
          <a:sy n="136" d="100"/>
        </p:scale>
        <p:origin x="1134" y="114"/>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diagrams/_rels/data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_rels/drawing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image" Target="../media/image8.jpeg"/></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87D0D6-FD8F-4A10-B44B-D43A0A2645CC}" type="doc">
      <dgm:prSet loTypeId="urn:microsoft.com/office/officeart/2024/3/layout/verticalVisualTextBlock1" loCatId="Picture" qsTypeId="urn:microsoft.com/office/officeart/2005/8/quickstyle/simple4" qsCatId="simple" csTypeId="urn:microsoft.com/office/officeart/2005/8/colors/accent0_3" csCatId="mainScheme" phldr="1"/>
      <dgm:spPr/>
      <dgm:t>
        <a:bodyPr/>
        <a:lstStyle/>
        <a:p>
          <a:endParaRPr lang="en-US"/>
        </a:p>
      </dgm:t>
    </dgm:pt>
    <dgm:pt modelId="{3E2639D4-D20C-4BCD-8FC6-BEE0ECE1E55B}">
      <dgm:prSet/>
      <dgm:spPr/>
      <dgm:t>
        <a:bodyPr/>
        <a:lstStyle/>
        <a:p>
          <a:pPr>
            <a:lnSpc>
              <a:spcPct val="100000"/>
            </a:lnSpc>
            <a:defRPr b="1"/>
          </a:pPr>
          <a:r>
            <a:rPr lang="en-US" dirty="0"/>
            <a:t>EU </a:t>
          </a:r>
          <a:r>
            <a:rPr lang="en-US" dirty="0" err="1"/>
            <a:t>규제</a:t>
          </a:r>
          <a:r>
            <a:rPr lang="en-US" dirty="0"/>
            <a:t> </a:t>
          </a:r>
          <a:r>
            <a:rPr lang="en-US" dirty="0" err="1"/>
            <a:t>모델</a:t>
          </a:r>
          <a:endParaRPr lang="en-US" dirty="0"/>
        </a:p>
      </dgm:t>
    </dgm:pt>
    <dgm:pt modelId="{0E2DD9F7-47AD-4469-A7BF-F4213A8DD965}" type="parTrans" cxnId="{22D68282-A8D1-4BDC-B911-1490060E1539}">
      <dgm:prSet/>
      <dgm:spPr/>
      <dgm:t>
        <a:bodyPr/>
        <a:lstStyle/>
        <a:p>
          <a:endParaRPr lang="en-US"/>
        </a:p>
      </dgm:t>
    </dgm:pt>
    <dgm:pt modelId="{4BB014DF-3891-4E4B-884A-BD070145E07B}" type="sibTrans" cxnId="{22D68282-A8D1-4BDC-B911-1490060E1539}">
      <dgm:prSet/>
      <dgm:spPr/>
      <dgm:t>
        <a:bodyPr/>
        <a:lstStyle/>
        <a:p>
          <a:pPr>
            <a:lnSpc>
              <a:spcPct val="100000"/>
            </a:lnSpc>
            <a:defRPr b="1"/>
          </a:pPr>
          <a:endParaRPr lang="en-US"/>
        </a:p>
      </dgm:t>
    </dgm:pt>
    <dgm:pt modelId="{DAEFDA2D-D002-4BD4-BF66-031F12888A51}">
      <dgm:prSet/>
      <dgm:spPr/>
      <dgm:t>
        <a:bodyPr/>
        <a:lstStyle/>
        <a:p>
          <a:pPr>
            <a:lnSpc>
              <a:spcPct val="100000"/>
            </a:lnSpc>
          </a:pPr>
          <a:r>
            <a:rPr lang="en-US" dirty="0" err="1"/>
            <a:t>기본권</a:t>
          </a:r>
          <a:r>
            <a:rPr lang="en-US" dirty="0"/>
            <a:t> </a:t>
          </a:r>
          <a:r>
            <a:rPr lang="en-US" dirty="0" err="1"/>
            <a:t>보호를</a:t>
          </a:r>
          <a:r>
            <a:rPr lang="en-US" dirty="0"/>
            <a:t> </a:t>
          </a:r>
          <a:r>
            <a:rPr lang="en-US" dirty="0" err="1"/>
            <a:t>최우선으로</a:t>
          </a:r>
          <a:r>
            <a:rPr lang="en-US" dirty="0"/>
            <a:t> </a:t>
          </a:r>
          <a:r>
            <a:rPr lang="en-US" dirty="0" err="1"/>
            <a:t>하며</a:t>
          </a:r>
          <a:r>
            <a:rPr lang="en-US" dirty="0"/>
            <a:t> </a:t>
          </a:r>
          <a:r>
            <a:rPr lang="en-US" b="1" dirty="0" err="1">
              <a:solidFill>
                <a:srgbClr val="FFC000"/>
              </a:solidFill>
            </a:rPr>
            <a:t>사전</a:t>
          </a:r>
          <a:r>
            <a:rPr lang="en-US" b="1" dirty="0">
              <a:solidFill>
                <a:srgbClr val="FFC000"/>
              </a:solidFill>
            </a:rPr>
            <a:t> </a:t>
          </a:r>
          <a:r>
            <a:rPr lang="en-US" b="1" dirty="0" err="1">
              <a:solidFill>
                <a:srgbClr val="FFC000"/>
              </a:solidFill>
            </a:rPr>
            <a:t>규제</a:t>
          </a:r>
          <a:r>
            <a:rPr lang="en-US" dirty="0" err="1">
              <a:solidFill>
                <a:srgbClr val="FFC000"/>
              </a:solidFill>
            </a:rPr>
            <a:t>로</a:t>
          </a:r>
          <a:r>
            <a:rPr lang="en-US" dirty="0"/>
            <a:t> </a:t>
          </a:r>
          <a:r>
            <a:rPr lang="en-US" dirty="0" err="1"/>
            <a:t>위험을</a:t>
          </a:r>
          <a:r>
            <a:rPr lang="en-US" dirty="0"/>
            <a:t> </a:t>
          </a:r>
          <a:r>
            <a:rPr lang="en-US" dirty="0" err="1"/>
            <a:t>예방하는</a:t>
          </a:r>
          <a:r>
            <a:rPr lang="en-US" dirty="0"/>
            <a:t> </a:t>
          </a:r>
          <a:r>
            <a:rPr lang="en-US" dirty="0" err="1"/>
            <a:t>구조를</a:t>
          </a:r>
          <a:r>
            <a:rPr lang="en-US" dirty="0"/>
            <a:t> </a:t>
          </a:r>
          <a:r>
            <a:rPr lang="en-US" dirty="0" err="1"/>
            <a:t>갖추고</a:t>
          </a:r>
          <a:r>
            <a:rPr lang="en-US" dirty="0"/>
            <a:t> 있</a:t>
          </a:r>
          <a:r>
            <a:rPr lang="ko-KR" altLang="en-US" dirty="0"/>
            <a:t>음</a:t>
          </a:r>
          <a:r>
            <a:rPr lang="en-US" dirty="0"/>
            <a:t>.</a:t>
          </a:r>
        </a:p>
      </dgm:t>
    </dgm:pt>
    <dgm:pt modelId="{76F6E98B-D536-482A-8E81-D30B2C75D6B7}" type="parTrans" cxnId="{C9ECBEF5-D1F8-42F3-B42D-B0F34FB180BF}">
      <dgm:prSet/>
      <dgm:spPr/>
      <dgm:t>
        <a:bodyPr/>
        <a:lstStyle/>
        <a:p>
          <a:endParaRPr lang="en-US"/>
        </a:p>
      </dgm:t>
    </dgm:pt>
    <dgm:pt modelId="{81E69602-E6D9-48EA-8DF0-88CDBE595B08}" type="sibTrans" cxnId="{C9ECBEF5-D1F8-42F3-B42D-B0F34FB180BF}">
      <dgm:prSet/>
      <dgm:spPr/>
      <dgm:t>
        <a:bodyPr/>
        <a:lstStyle/>
        <a:p>
          <a:endParaRPr lang="en-US"/>
        </a:p>
      </dgm:t>
    </dgm:pt>
    <dgm:pt modelId="{AEC50FD5-C6ED-4161-8CBE-24B5E4B7E3BF}">
      <dgm:prSet/>
      <dgm:spPr/>
      <dgm:t>
        <a:bodyPr/>
        <a:lstStyle/>
        <a:p>
          <a:pPr>
            <a:lnSpc>
              <a:spcPct val="100000"/>
            </a:lnSpc>
            <a:defRPr b="1"/>
          </a:pPr>
          <a:r>
            <a:rPr lang="en-US" dirty="0" err="1"/>
            <a:t>한국</a:t>
          </a:r>
          <a:r>
            <a:rPr lang="en-US" dirty="0"/>
            <a:t> </a:t>
          </a:r>
          <a:r>
            <a:rPr lang="en-US" dirty="0" err="1"/>
            <a:t>규제</a:t>
          </a:r>
          <a:r>
            <a:rPr lang="en-US" dirty="0"/>
            <a:t> </a:t>
          </a:r>
          <a:r>
            <a:rPr lang="en-US" dirty="0" err="1"/>
            <a:t>모델</a:t>
          </a:r>
          <a:endParaRPr lang="en-US" dirty="0"/>
        </a:p>
      </dgm:t>
    </dgm:pt>
    <dgm:pt modelId="{ED6F2CD6-09C3-4D64-9C26-470252A07E64}" type="parTrans" cxnId="{12C2755A-5E32-472A-AFF4-D7855D205C28}">
      <dgm:prSet/>
      <dgm:spPr/>
      <dgm:t>
        <a:bodyPr/>
        <a:lstStyle/>
        <a:p>
          <a:endParaRPr lang="en-US"/>
        </a:p>
      </dgm:t>
    </dgm:pt>
    <dgm:pt modelId="{52E1BD3B-C16A-4635-9D99-2292749BB86A}" type="sibTrans" cxnId="{12C2755A-5E32-472A-AFF4-D7855D205C28}">
      <dgm:prSet/>
      <dgm:spPr/>
      <dgm:t>
        <a:bodyPr/>
        <a:lstStyle/>
        <a:p>
          <a:pPr>
            <a:lnSpc>
              <a:spcPct val="100000"/>
            </a:lnSpc>
            <a:defRPr b="1"/>
          </a:pPr>
          <a:endParaRPr lang="en-US"/>
        </a:p>
      </dgm:t>
    </dgm:pt>
    <dgm:pt modelId="{BBFA53F5-9062-4A30-A54D-2B8843EDEA95}">
      <dgm:prSet/>
      <dgm:spPr/>
      <dgm:t>
        <a:bodyPr/>
        <a:lstStyle/>
        <a:p>
          <a:pPr>
            <a:lnSpc>
              <a:spcPct val="100000"/>
            </a:lnSpc>
          </a:pPr>
          <a:r>
            <a:rPr lang="en-US" dirty="0" err="1"/>
            <a:t>산업</a:t>
          </a:r>
          <a:r>
            <a:rPr lang="en-US" dirty="0"/>
            <a:t> </a:t>
          </a:r>
          <a:r>
            <a:rPr lang="en-US" dirty="0" err="1"/>
            <a:t>진흥과</a:t>
          </a:r>
          <a:r>
            <a:rPr lang="en-US" dirty="0"/>
            <a:t> </a:t>
          </a:r>
          <a:r>
            <a:rPr lang="en-US" dirty="0" err="1"/>
            <a:t>기술</a:t>
          </a:r>
          <a:r>
            <a:rPr lang="en-US" dirty="0"/>
            <a:t> </a:t>
          </a:r>
          <a:r>
            <a:rPr lang="en-US" dirty="0" err="1"/>
            <a:t>혁신을</a:t>
          </a:r>
          <a:r>
            <a:rPr lang="en-US" dirty="0"/>
            <a:t> </a:t>
          </a:r>
          <a:r>
            <a:rPr lang="en-US" dirty="0" err="1"/>
            <a:t>중시하며</a:t>
          </a:r>
          <a:r>
            <a:rPr lang="en-US" dirty="0"/>
            <a:t> </a:t>
          </a:r>
          <a:r>
            <a:rPr lang="en-US" b="1" dirty="0" err="1">
              <a:solidFill>
                <a:srgbClr val="FFC000"/>
              </a:solidFill>
            </a:rPr>
            <a:t>사후</a:t>
          </a:r>
          <a:r>
            <a:rPr lang="en-US" b="1" dirty="0">
              <a:solidFill>
                <a:srgbClr val="FFC000"/>
              </a:solidFill>
            </a:rPr>
            <a:t> </a:t>
          </a:r>
          <a:r>
            <a:rPr lang="en-US" b="1" dirty="0" err="1">
              <a:solidFill>
                <a:srgbClr val="FFC000"/>
              </a:solidFill>
            </a:rPr>
            <a:t>대응</a:t>
          </a:r>
          <a:r>
            <a:rPr lang="en-US" dirty="0"/>
            <a:t> </a:t>
          </a:r>
          <a:r>
            <a:rPr lang="en-US" dirty="0" err="1"/>
            <a:t>중심의</a:t>
          </a:r>
          <a:r>
            <a:rPr lang="en-US" dirty="0"/>
            <a:t> </a:t>
          </a:r>
          <a:r>
            <a:rPr lang="en-US" dirty="0" err="1"/>
            <a:t>규제를</a:t>
          </a:r>
          <a:r>
            <a:rPr lang="en-US" dirty="0"/>
            <a:t> </a:t>
          </a:r>
          <a:r>
            <a:rPr lang="en-US" dirty="0" err="1"/>
            <a:t>시행</a:t>
          </a:r>
          <a:r>
            <a:rPr lang="en-US" dirty="0"/>
            <a:t>.</a:t>
          </a:r>
        </a:p>
      </dgm:t>
    </dgm:pt>
    <dgm:pt modelId="{227F39F0-26E3-4FB7-B693-BA8F1EB3F23B}" type="parTrans" cxnId="{4391CFE9-ED64-4993-9AA5-2934D226A126}">
      <dgm:prSet/>
      <dgm:spPr/>
      <dgm:t>
        <a:bodyPr/>
        <a:lstStyle/>
        <a:p>
          <a:endParaRPr lang="en-US"/>
        </a:p>
      </dgm:t>
    </dgm:pt>
    <dgm:pt modelId="{58340E3C-FC0A-4371-920F-5E1053F8CF6C}" type="sibTrans" cxnId="{4391CFE9-ED64-4993-9AA5-2934D226A126}">
      <dgm:prSet/>
      <dgm:spPr/>
      <dgm:t>
        <a:bodyPr/>
        <a:lstStyle/>
        <a:p>
          <a:endParaRPr lang="en-US"/>
        </a:p>
      </dgm:t>
    </dgm:pt>
    <dgm:pt modelId="{58BF35CA-37D6-4FAF-A458-6C978EECA031}">
      <dgm:prSet/>
      <dgm:spPr/>
      <dgm:t>
        <a:bodyPr/>
        <a:lstStyle/>
        <a:p>
          <a:pPr>
            <a:lnSpc>
              <a:spcPct val="100000"/>
            </a:lnSpc>
            <a:defRPr b="1"/>
          </a:pPr>
          <a:r>
            <a:rPr lang="en-US" dirty="0" err="1"/>
            <a:t>규제</a:t>
          </a:r>
          <a:r>
            <a:rPr lang="en-US" dirty="0"/>
            <a:t> </a:t>
          </a:r>
          <a:r>
            <a:rPr lang="en-US" dirty="0" err="1"/>
            <a:t>철학</a:t>
          </a:r>
          <a:r>
            <a:rPr lang="en-US" dirty="0"/>
            <a:t> </a:t>
          </a:r>
          <a:r>
            <a:rPr lang="en-US" dirty="0" err="1"/>
            <a:t>차이</a:t>
          </a:r>
          <a:endParaRPr lang="en-US" dirty="0"/>
        </a:p>
      </dgm:t>
    </dgm:pt>
    <dgm:pt modelId="{E0E7990D-2786-4EE3-B08A-5B6AC06242B0}" type="parTrans" cxnId="{87323B65-6B82-4BD7-9EE3-0F3744F308A0}">
      <dgm:prSet/>
      <dgm:spPr/>
      <dgm:t>
        <a:bodyPr/>
        <a:lstStyle/>
        <a:p>
          <a:endParaRPr lang="en-US"/>
        </a:p>
      </dgm:t>
    </dgm:pt>
    <dgm:pt modelId="{D43B51FF-98E8-4F0F-AA64-6A3EC3EDA185}" type="sibTrans" cxnId="{87323B65-6B82-4BD7-9EE3-0F3744F308A0}">
      <dgm:prSet/>
      <dgm:spPr/>
      <dgm:t>
        <a:bodyPr/>
        <a:lstStyle/>
        <a:p>
          <a:endParaRPr lang="en-US"/>
        </a:p>
      </dgm:t>
    </dgm:pt>
    <dgm:pt modelId="{55B4065A-94C0-424D-9331-BFB7610D48F8}">
      <dgm:prSet/>
      <dgm:spPr/>
      <dgm:t>
        <a:bodyPr/>
        <a:lstStyle/>
        <a:p>
          <a:pPr>
            <a:lnSpc>
              <a:spcPct val="100000"/>
            </a:lnSpc>
          </a:pPr>
          <a:r>
            <a:rPr lang="en-US" dirty="0" err="1"/>
            <a:t>각국의</a:t>
          </a:r>
          <a:r>
            <a:rPr lang="en-US" dirty="0"/>
            <a:t> </a:t>
          </a:r>
          <a:r>
            <a:rPr lang="en-US" dirty="0" err="1"/>
            <a:t>산업</a:t>
          </a:r>
          <a:r>
            <a:rPr lang="en-US" dirty="0"/>
            <a:t> </a:t>
          </a:r>
          <a:r>
            <a:rPr lang="en-US" dirty="0" err="1"/>
            <a:t>구조와</a:t>
          </a:r>
          <a:r>
            <a:rPr lang="en-US" dirty="0"/>
            <a:t> </a:t>
          </a:r>
          <a:r>
            <a:rPr lang="en-US" dirty="0" err="1"/>
            <a:t>정책</a:t>
          </a:r>
          <a:r>
            <a:rPr lang="en-US" dirty="0"/>
            <a:t> </a:t>
          </a:r>
          <a:r>
            <a:rPr lang="en-US" dirty="0" err="1"/>
            <a:t>목표에</a:t>
          </a:r>
          <a:r>
            <a:rPr lang="en-US" dirty="0"/>
            <a:t> </a:t>
          </a:r>
          <a:r>
            <a:rPr lang="en-US" dirty="0" err="1"/>
            <a:t>따른</a:t>
          </a:r>
          <a:r>
            <a:rPr lang="en-US" dirty="0"/>
            <a:t> </a:t>
          </a:r>
          <a:r>
            <a:rPr lang="en-US" dirty="0" err="1"/>
            <a:t>규제</a:t>
          </a:r>
          <a:r>
            <a:rPr lang="en-US" dirty="0"/>
            <a:t> </a:t>
          </a:r>
          <a:r>
            <a:rPr lang="en-US" dirty="0" err="1"/>
            <a:t>방식의</a:t>
          </a:r>
          <a:r>
            <a:rPr lang="en-US" dirty="0"/>
            <a:t> </a:t>
          </a:r>
          <a:r>
            <a:rPr lang="en-US" dirty="0" err="1"/>
            <a:t>차이를</a:t>
          </a:r>
          <a:r>
            <a:rPr lang="en-US" dirty="0"/>
            <a:t> </a:t>
          </a:r>
          <a:r>
            <a:rPr lang="en-US" dirty="0" err="1"/>
            <a:t>반영하며</a:t>
          </a:r>
          <a:r>
            <a:rPr lang="en-US" dirty="0"/>
            <a:t>, </a:t>
          </a:r>
          <a:r>
            <a:rPr lang="en-US" b="1" dirty="0" err="1">
              <a:solidFill>
                <a:srgbClr val="FFC000"/>
              </a:solidFill>
            </a:rPr>
            <a:t>우열을</a:t>
          </a:r>
          <a:r>
            <a:rPr lang="en-US" b="1" dirty="0">
              <a:solidFill>
                <a:srgbClr val="FFC000"/>
              </a:solidFill>
            </a:rPr>
            <a:t> </a:t>
          </a:r>
          <a:r>
            <a:rPr lang="ko-KR" altLang="en-US" b="1" dirty="0">
              <a:solidFill>
                <a:srgbClr val="FFC000"/>
              </a:solidFill>
            </a:rPr>
            <a:t>평가할 수 없음</a:t>
          </a:r>
          <a:r>
            <a:rPr lang="en-US" dirty="0">
              <a:solidFill>
                <a:srgbClr val="FFC000"/>
              </a:solidFill>
            </a:rPr>
            <a:t>.</a:t>
          </a:r>
        </a:p>
      </dgm:t>
    </dgm:pt>
    <dgm:pt modelId="{937B4585-FE25-45D7-85D1-8B06EDDFE9EA}" type="parTrans" cxnId="{C81CDF19-47D3-4C2E-B9DF-9C31BC4E19AD}">
      <dgm:prSet/>
      <dgm:spPr/>
      <dgm:t>
        <a:bodyPr/>
        <a:lstStyle/>
        <a:p>
          <a:endParaRPr lang="en-US"/>
        </a:p>
      </dgm:t>
    </dgm:pt>
    <dgm:pt modelId="{7003D2F2-5C89-4030-A209-987D5F4EED12}" type="sibTrans" cxnId="{C81CDF19-47D3-4C2E-B9DF-9C31BC4E19AD}">
      <dgm:prSet/>
      <dgm:spPr/>
      <dgm:t>
        <a:bodyPr/>
        <a:lstStyle/>
        <a:p>
          <a:endParaRPr lang="en-US"/>
        </a:p>
      </dgm:t>
    </dgm:pt>
    <dgm:pt modelId="{88A6DEEE-B89E-4011-B4BA-24BDC26E2381}" type="pres">
      <dgm:prSet presAssocID="{BA87D0D6-FD8F-4A10-B44B-D43A0A2645CC}" presName="Root" presStyleCnt="0">
        <dgm:presLayoutVars>
          <dgm:dir/>
          <dgm:resizeHandles val="exact"/>
        </dgm:presLayoutVars>
      </dgm:prSet>
      <dgm:spPr/>
    </dgm:pt>
    <dgm:pt modelId="{5FEB8899-95FC-4D92-B377-DD68713114AB}" type="pres">
      <dgm:prSet presAssocID="{3E2639D4-D20C-4BCD-8FC6-BEE0ECE1E55B}" presName="Composite" presStyleCnt="0"/>
      <dgm:spPr/>
    </dgm:pt>
    <dgm:pt modelId="{97FBE7E8-161C-46FC-82AA-F0F1E0BF17DB}" type="pres">
      <dgm:prSet presAssocID="{3E2639D4-D20C-4BCD-8FC6-BEE0ECE1E55B}" presName="Picture" presStyleLbl="node1" presStyleIdx="0" presStyleCnt="3"/>
      <dgm:spPr>
        <a:blipFill>
          <a:blip xmlns:r="http://schemas.openxmlformats.org/officeDocument/2006/relationships" r:embed="rId1" cstate="print">
            <a:extLst>
              <a:ext uri="{28A0092B-C50C-407E-A947-70E740481C1C}">
                <a14:useLocalDpi xmlns:a14="http://schemas.microsoft.com/office/drawing/2010/main" val="0"/>
              </a:ext>
            </a:extLst>
          </a:blip>
          <a:srcRect r="38245" b="-8"/>
          <a:stretch/>
        </a:blipFill>
      </dgm:spPr>
      <dgm:extLst>
        <a:ext uri="{E40237B7-FDA0-4F09-8148-C483321AD2D9}">
          <dgm14:cNvPr xmlns:dgm14="http://schemas.microsoft.com/office/drawing/2010/diagram" id="0" name="" descr="연결 네트워크와 함께 가상 세계를 손잡고 있습니다. 글로벌 데이터 정보와 기술 교환. 스톡 사진"/>
        </a:ext>
      </dgm:extLst>
    </dgm:pt>
    <dgm:pt modelId="{EDE85006-A41A-4BCE-AE4C-AA54820C9AC5}" type="pres">
      <dgm:prSet presAssocID="{3E2639D4-D20C-4BCD-8FC6-BEE0ECE1E55B}" presName="Subtitle" presStyleLbl="revTx" presStyleIdx="0" presStyleCnt="6">
        <dgm:presLayoutVars>
          <dgm:chMax val="0"/>
          <dgm:bulletEnabled/>
        </dgm:presLayoutVars>
      </dgm:prSet>
      <dgm:spPr/>
    </dgm:pt>
    <dgm:pt modelId="{4EB42A7E-A8F8-4A82-996C-5B7D222D3710}" type="pres">
      <dgm:prSet presAssocID="{3E2639D4-D20C-4BCD-8FC6-BEE0ECE1E55B}" presName="Description" presStyleLbl="revTx" presStyleIdx="1" presStyleCnt="6">
        <dgm:presLayoutVars>
          <dgm:bulletEnabled/>
        </dgm:presLayoutVars>
      </dgm:prSet>
      <dgm:spPr/>
    </dgm:pt>
    <dgm:pt modelId="{BB36E206-268B-4B87-AE12-C74268C9061B}" type="pres">
      <dgm:prSet presAssocID="{4BB014DF-3891-4E4B-884A-BD070145E07B}" presName="sibTrans" presStyleLbl="sibTrans2D1" presStyleIdx="0" presStyleCnt="0"/>
      <dgm:spPr/>
    </dgm:pt>
    <dgm:pt modelId="{9366A81E-08D0-4ACD-9C0D-7D967635B851}" type="pres">
      <dgm:prSet presAssocID="{AEC50FD5-C6ED-4161-8CBE-24B5E4B7E3BF}" presName="Composite" presStyleCnt="0"/>
      <dgm:spPr/>
    </dgm:pt>
    <dgm:pt modelId="{B43140E5-7141-4DD3-AB19-7B6966A1FD68}" type="pres">
      <dgm:prSet presAssocID="{AEC50FD5-C6ED-4161-8CBE-24B5E4B7E3BF}" presName="Picture" presStyleLbl="node1" presStyleIdx="1" presStyleCnt="3"/>
      <dgm:spPr>
        <a:blipFill>
          <a:blip xmlns:r="http://schemas.openxmlformats.org/officeDocument/2006/relationships" r:embed="rId2" cstate="print">
            <a:extLst>
              <a:ext uri="{28A0092B-C50C-407E-A947-70E740481C1C}">
                <a14:useLocalDpi xmlns:a14="http://schemas.microsoft.com/office/drawing/2010/main" val="0"/>
              </a:ext>
            </a:extLst>
          </a:blip>
          <a:srcRect l="16643" r="27106" b="-3"/>
          <a:stretch/>
        </a:blipFill>
      </dgm:spPr>
      <dgm:extLst>
        <a:ext uri="{E40237B7-FDA0-4F09-8148-C483321AD2D9}">
          <dgm14:cNvPr xmlns:dgm14="http://schemas.microsoft.com/office/drawing/2010/diagram" id="0" name="" descr="제4차 산업혁명 기술 개념"/>
        </a:ext>
      </dgm:extLst>
    </dgm:pt>
    <dgm:pt modelId="{899D6227-5DAF-45E0-A9B4-4F3811314558}" type="pres">
      <dgm:prSet presAssocID="{AEC50FD5-C6ED-4161-8CBE-24B5E4B7E3BF}" presName="Subtitle" presStyleLbl="revTx" presStyleIdx="2" presStyleCnt="6">
        <dgm:presLayoutVars>
          <dgm:chMax val="0"/>
          <dgm:bulletEnabled/>
        </dgm:presLayoutVars>
      </dgm:prSet>
      <dgm:spPr/>
    </dgm:pt>
    <dgm:pt modelId="{095CF69D-7963-41FA-94E7-3C71CA15620D}" type="pres">
      <dgm:prSet presAssocID="{AEC50FD5-C6ED-4161-8CBE-24B5E4B7E3BF}" presName="Description" presStyleLbl="revTx" presStyleIdx="3" presStyleCnt="6">
        <dgm:presLayoutVars>
          <dgm:bulletEnabled/>
        </dgm:presLayoutVars>
      </dgm:prSet>
      <dgm:spPr/>
    </dgm:pt>
    <dgm:pt modelId="{DA53E8FA-E0DB-428C-81D0-C751F21B20D4}" type="pres">
      <dgm:prSet presAssocID="{52E1BD3B-C16A-4635-9D99-2292749BB86A}" presName="sibTrans" presStyleLbl="sibTrans2D1" presStyleIdx="0" presStyleCnt="0"/>
      <dgm:spPr/>
    </dgm:pt>
    <dgm:pt modelId="{E1D10C64-4CE7-4032-8B3D-B8ACF02F14E8}" type="pres">
      <dgm:prSet presAssocID="{58BF35CA-37D6-4FAF-A458-6C978EECA031}" presName="Composite" presStyleCnt="0"/>
      <dgm:spPr/>
    </dgm:pt>
    <dgm:pt modelId="{5325E85F-2F27-4E4E-A141-AC2BE54DDB95}" type="pres">
      <dgm:prSet presAssocID="{58BF35CA-37D6-4FAF-A458-6C978EECA031}" presName="Picture" presStyleLbl="node1" presStyleIdx="2" presStyleCnt="3"/>
      <dgm:spPr>
        <a:blipFill>
          <a:blip xmlns:r="http://schemas.openxmlformats.org/officeDocument/2006/relationships" r:embed="rId3" cstate="print">
            <a:extLst>
              <a:ext uri="{28A0092B-C50C-407E-A947-70E740481C1C}">
                <a14:useLocalDpi xmlns:a14="http://schemas.microsoft.com/office/drawing/2010/main" val="0"/>
              </a:ext>
            </a:extLst>
          </a:blip>
          <a:srcRect l="13962" r="9783" b="-6"/>
          <a:stretch/>
        </a:blipFill>
      </dgm:spPr>
      <dgm:extLst>
        <a:ext uri="{E40237B7-FDA0-4F09-8148-C483321AD2D9}">
          <dgm14:cNvPr xmlns:dgm14="http://schemas.microsoft.com/office/drawing/2010/diagram" id="0" name="" descr="흰색 배경에 축척된 보드게임 말들"/>
        </a:ext>
      </dgm:extLst>
    </dgm:pt>
    <dgm:pt modelId="{61CD1334-A461-4A81-9356-49F36CD5410B}" type="pres">
      <dgm:prSet presAssocID="{58BF35CA-37D6-4FAF-A458-6C978EECA031}" presName="Subtitle" presStyleLbl="revTx" presStyleIdx="4" presStyleCnt="6">
        <dgm:presLayoutVars>
          <dgm:chMax val="0"/>
          <dgm:bulletEnabled/>
        </dgm:presLayoutVars>
      </dgm:prSet>
      <dgm:spPr/>
    </dgm:pt>
    <dgm:pt modelId="{8C1C50C2-487A-42C3-9305-29433B456E40}" type="pres">
      <dgm:prSet presAssocID="{58BF35CA-37D6-4FAF-A458-6C978EECA031}" presName="Description" presStyleLbl="revTx" presStyleIdx="5" presStyleCnt="6">
        <dgm:presLayoutVars>
          <dgm:bulletEnabled/>
        </dgm:presLayoutVars>
      </dgm:prSet>
      <dgm:spPr/>
    </dgm:pt>
  </dgm:ptLst>
  <dgm:cxnLst>
    <dgm:cxn modelId="{54D9C904-43D5-4401-83F6-1E1361F0981F}" type="presOf" srcId="{BA87D0D6-FD8F-4A10-B44B-D43A0A2645CC}" destId="{88A6DEEE-B89E-4011-B4BA-24BDC26E2381}" srcOrd="0" destOrd="0" presId="urn:microsoft.com/office/officeart/2024/3/layout/verticalVisualTextBlock1"/>
    <dgm:cxn modelId="{C81CDF19-47D3-4C2E-B9DF-9C31BC4E19AD}" srcId="{58BF35CA-37D6-4FAF-A458-6C978EECA031}" destId="{55B4065A-94C0-424D-9331-BFB7610D48F8}" srcOrd="0" destOrd="0" parTransId="{937B4585-FE25-45D7-85D1-8B06EDDFE9EA}" sibTransId="{7003D2F2-5C89-4030-A209-987D5F4EED12}"/>
    <dgm:cxn modelId="{D6B1033C-4C33-4D4E-BE53-CCBB9EE0CE1B}" type="presOf" srcId="{BBFA53F5-9062-4A30-A54D-2B8843EDEA95}" destId="{095CF69D-7963-41FA-94E7-3C71CA15620D}" srcOrd="0" destOrd="0" presId="urn:microsoft.com/office/officeart/2024/3/layout/verticalVisualTextBlock1"/>
    <dgm:cxn modelId="{88EB5F5B-D0B4-4D05-B4D1-C0740DD42A68}" type="presOf" srcId="{52E1BD3B-C16A-4635-9D99-2292749BB86A}" destId="{DA53E8FA-E0DB-428C-81D0-C751F21B20D4}" srcOrd="0" destOrd="0" presId="urn:microsoft.com/office/officeart/2024/3/layout/verticalVisualTextBlock1"/>
    <dgm:cxn modelId="{87323B65-6B82-4BD7-9EE3-0F3744F308A0}" srcId="{BA87D0D6-FD8F-4A10-B44B-D43A0A2645CC}" destId="{58BF35CA-37D6-4FAF-A458-6C978EECA031}" srcOrd="2" destOrd="0" parTransId="{E0E7990D-2786-4EE3-B08A-5B6AC06242B0}" sibTransId="{D43B51FF-98E8-4F0F-AA64-6A3EC3EDA185}"/>
    <dgm:cxn modelId="{31A5126C-BC38-460F-AEB4-CB4C11F9BE58}" type="presOf" srcId="{DAEFDA2D-D002-4BD4-BF66-031F12888A51}" destId="{4EB42A7E-A8F8-4A82-996C-5B7D222D3710}" srcOrd="0" destOrd="0" presId="urn:microsoft.com/office/officeart/2024/3/layout/verticalVisualTextBlock1"/>
    <dgm:cxn modelId="{12C2755A-5E32-472A-AFF4-D7855D205C28}" srcId="{BA87D0D6-FD8F-4A10-B44B-D43A0A2645CC}" destId="{AEC50FD5-C6ED-4161-8CBE-24B5E4B7E3BF}" srcOrd="1" destOrd="0" parTransId="{ED6F2CD6-09C3-4D64-9C26-470252A07E64}" sibTransId="{52E1BD3B-C16A-4635-9D99-2292749BB86A}"/>
    <dgm:cxn modelId="{22D68282-A8D1-4BDC-B911-1490060E1539}" srcId="{BA87D0D6-FD8F-4A10-B44B-D43A0A2645CC}" destId="{3E2639D4-D20C-4BCD-8FC6-BEE0ECE1E55B}" srcOrd="0" destOrd="0" parTransId="{0E2DD9F7-47AD-4469-A7BF-F4213A8DD965}" sibTransId="{4BB014DF-3891-4E4B-884A-BD070145E07B}"/>
    <dgm:cxn modelId="{0F378A88-42D8-48B9-9964-12E04C0959D3}" type="presOf" srcId="{55B4065A-94C0-424D-9331-BFB7610D48F8}" destId="{8C1C50C2-487A-42C3-9305-29433B456E40}" srcOrd="0" destOrd="0" presId="urn:microsoft.com/office/officeart/2024/3/layout/verticalVisualTextBlock1"/>
    <dgm:cxn modelId="{DAB3E0BE-FF80-408E-92AC-1985FFE0DC00}" type="presOf" srcId="{4BB014DF-3891-4E4B-884A-BD070145E07B}" destId="{BB36E206-268B-4B87-AE12-C74268C9061B}" srcOrd="0" destOrd="0" presId="urn:microsoft.com/office/officeart/2024/3/layout/verticalVisualTextBlock1"/>
    <dgm:cxn modelId="{6F8B0ACA-D612-4B5E-97F2-52359329C5DC}" type="presOf" srcId="{3E2639D4-D20C-4BCD-8FC6-BEE0ECE1E55B}" destId="{EDE85006-A41A-4BCE-AE4C-AA54820C9AC5}" srcOrd="0" destOrd="0" presId="urn:microsoft.com/office/officeart/2024/3/layout/verticalVisualTextBlock1"/>
    <dgm:cxn modelId="{71F8BACE-400F-4370-9362-88BD1C45D401}" type="presOf" srcId="{AEC50FD5-C6ED-4161-8CBE-24B5E4B7E3BF}" destId="{899D6227-5DAF-45E0-A9B4-4F3811314558}" srcOrd="0" destOrd="0" presId="urn:microsoft.com/office/officeart/2024/3/layout/verticalVisualTextBlock1"/>
    <dgm:cxn modelId="{9292A2D6-748D-4A29-BF16-796958BA43EA}" type="presOf" srcId="{58BF35CA-37D6-4FAF-A458-6C978EECA031}" destId="{61CD1334-A461-4A81-9356-49F36CD5410B}" srcOrd="0" destOrd="0" presId="urn:microsoft.com/office/officeart/2024/3/layout/verticalVisualTextBlock1"/>
    <dgm:cxn modelId="{4391CFE9-ED64-4993-9AA5-2934D226A126}" srcId="{AEC50FD5-C6ED-4161-8CBE-24B5E4B7E3BF}" destId="{BBFA53F5-9062-4A30-A54D-2B8843EDEA95}" srcOrd="0" destOrd="0" parTransId="{227F39F0-26E3-4FB7-B693-BA8F1EB3F23B}" sibTransId="{58340E3C-FC0A-4371-920F-5E1053F8CF6C}"/>
    <dgm:cxn modelId="{C9ECBEF5-D1F8-42F3-B42D-B0F34FB180BF}" srcId="{3E2639D4-D20C-4BCD-8FC6-BEE0ECE1E55B}" destId="{DAEFDA2D-D002-4BD4-BF66-031F12888A51}" srcOrd="0" destOrd="0" parTransId="{76F6E98B-D536-482A-8E81-D30B2C75D6B7}" sibTransId="{81E69602-E6D9-48EA-8DF0-88CDBE595B08}"/>
    <dgm:cxn modelId="{E0E28473-973A-4398-A852-B451A6E8D5C1}" type="presParOf" srcId="{88A6DEEE-B89E-4011-B4BA-24BDC26E2381}" destId="{5FEB8899-95FC-4D92-B377-DD68713114AB}" srcOrd="0" destOrd="0" presId="urn:microsoft.com/office/officeart/2024/3/layout/verticalVisualTextBlock1"/>
    <dgm:cxn modelId="{1FEDBF63-2ECB-4E0F-BBA5-49046554DDF9}" type="presParOf" srcId="{5FEB8899-95FC-4D92-B377-DD68713114AB}" destId="{97FBE7E8-161C-46FC-82AA-F0F1E0BF17DB}" srcOrd="0" destOrd="0" presId="urn:microsoft.com/office/officeart/2024/3/layout/verticalVisualTextBlock1"/>
    <dgm:cxn modelId="{DC9DD31A-893F-48C1-9ED0-9DEF05DF98CB}" type="presParOf" srcId="{5FEB8899-95FC-4D92-B377-DD68713114AB}" destId="{EDE85006-A41A-4BCE-AE4C-AA54820C9AC5}" srcOrd="1" destOrd="0" presId="urn:microsoft.com/office/officeart/2024/3/layout/verticalVisualTextBlock1"/>
    <dgm:cxn modelId="{73EDC6A9-E2E9-4A82-A952-A5340D4267A4}" type="presParOf" srcId="{5FEB8899-95FC-4D92-B377-DD68713114AB}" destId="{4EB42A7E-A8F8-4A82-996C-5B7D222D3710}" srcOrd="2" destOrd="0" presId="urn:microsoft.com/office/officeart/2024/3/layout/verticalVisualTextBlock1"/>
    <dgm:cxn modelId="{AEE75849-79C4-4FB8-BAC6-5D4F0634B9CE}" type="presParOf" srcId="{88A6DEEE-B89E-4011-B4BA-24BDC26E2381}" destId="{BB36E206-268B-4B87-AE12-C74268C9061B}" srcOrd="1" destOrd="0" presId="urn:microsoft.com/office/officeart/2024/3/layout/verticalVisualTextBlock1"/>
    <dgm:cxn modelId="{CED5263F-102C-478F-B2E3-48C57E276EE4}" type="presParOf" srcId="{88A6DEEE-B89E-4011-B4BA-24BDC26E2381}" destId="{9366A81E-08D0-4ACD-9C0D-7D967635B851}" srcOrd="2" destOrd="0" presId="urn:microsoft.com/office/officeart/2024/3/layout/verticalVisualTextBlock1"/>
    <dgm:cxn modelId="{B66F5A92-3CF7-4FCE-A726-50B5601EFDA3}" type="presParOf" srcId="{9366A81E-08D0-4ACD-9C0D-7D967635B851}" destId="{B43140E5-7141-4DD3-AB19-7B6966A1FD68}" srcOrd="0" destOrd="0" presId="urn:microsoft.com/office/officeart/2024/3/layout/verticalVisualTextBlock1"/>
    <dgm:cxn modelId="{65523378-DE3C-4154-ADA0-96CB8CC47F32}" type="presParOf" srcId="{9366A81E-08D0-4ACD-9C0D-7D967635B851}" destId="{899D6227-5DAF-45E0-A9B4-4F3811314558}" srcOrd="1" destOrd="0" presId="urn:microsoft.com/office/officeart/2024/3/layout/verticalVisualTextBlock1"/>
    <dgm:cxn modelId="{B411B505-AC2A-4384-B47F-FC6EEEAE3B47}" type="presParOf" srcId="{9366A81E-08D0-4ACD-9C0D-7D967635B851}" destId="{095CF69D-7963-41FA-94E7-3C71CA15620D}" srcOrd="2" destOrd="0" presId="urn:microsoft.com/office/officeart/2024/3/layout/verticalVisualTextBlock1"/>
    <dgm:cxn modelId="{C47C76DE-93F7-40F7-9450-478063B4F760}" type="presParOf" srcId="{88A6DEEE-B89E-4011-B4BA-24BDC26E2381}" destId="{DA53E8FA-E0DB-428C-81D0-C751F21B20D4}" srcOrd="3" destOrd="0" presId="urn:microsoft.com/office/officeart/2024/3/layout/verticalVisualTextBlock1"/>
    <dgm:cxn modelId="{D3E8142D-4C28-4C39-A3FC-DF3167360E72}" type="presParOf" srcId="{88A6DEEE-B89E-4011-B4BA-24BDC26E2381}" destId="{E1D10C64-4CE7-4032-8B3D-B8ACF02F14E8}" srcOrd="4" destOrd="0" presId="urn:microsoft.com/office/officeart/2024/3/layout/verticalVisualTextBlock1"/>
    <dgm:cxn modelId="{C8C6F2B0-E3D1-4173-821E-C34426F01B41}" type="presParOf" srcId="{E1D10C64-4CE7-4032-8B3D-B8ACF02F14E8}" destId="{5325E85F-2F27-4E4E-A141-AC2BE54DDB95}" srcOrd="0" destOrd="0" presId="urn:microsoft.com/office/officeart/2024/3/layout/verticalVisualTextBlock1"/>
    <dgm:cxn modelId="{138EC840-6CE9-489B-BD29-426CFC0F8022}" type="presParOf" srcId="{E1D10C64-4CE7-4032-8B3D-B8ACF02F14E8}" destId="{61CD1334-A461-4A81-9356-49F36CD5410B}" srcOrd="1" destOrd="0" presId="urn:microsoft.com/office/officeart/2024/3/layout/verticalVisualTextBlock1"/>
    <dgm:cxn modelId="{9244CCD8-3296-458B-BC20-B84839F7173E}" type="presParOf" srcId="{E1D10C64-4CE7-4032-8B3D-B8ACF02F14E8}" destId="{8C1C50C2-487A-42C3-9305-29433B456E40}" srcOrd="2" destOrd="0" presId="urn:microsoft.com/office/officeart/2024/3/layout/verticalVisualTextBlock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7FBE7E8-161C-46FC-82AA-F0F1E0BF17DB}">
      <dsp:nvSpPr>
        <dsp:cNvPr id="0" name=""/>
        <dsp:cNvSpPr/>
      </dsp:nvSpPr>
      <dsp:spPr>
        <a:xfrm>
          <a:off x="0" y="0"/>
          <a:ext cx="1425010" cy="1425010"/>
        </a:xfrm>
        <a:prstGeom prst="rect">
          <a:avLst/>
        </a:prstGeom>
        <a:blipFill>
          <a:blip xmlns:r="http://schemas.openxmlformats.org/officeDocument/2006/relationships" r:embed="rId1" cstate="print">
            <a:extLst>
              <a:ext uri="{28A0092B-C50C-407E-A947-70E740481C1C}">
                <a14:useLocalDpi xmlns:a14="http://schemas.microsoft.com/office/drawing/2010/main" val="0"/>
              </a:ext>
            </a:extLst>
          </a:blip>
          <a:srcRect r="38245" b="-8"/>
          <a:stretch/>
        </a:blipFill>
        <a:ln>
          <a:noFill/>
        </a:ln>
        <a:effectLst/>
      </dsp:spPr>
      <dsp:style>
        <a:lnRef idx="0">
          <a:scrgbClr r="0" g="0" b="0"/>
        </a:lnRef>
        <a:fillRef idx="3">
          <a:scrgbClr r="0" g="0" b="0"/>
        </a:fillRef>
        <a:effectRef idx="2">
          <a:scrgbClr r="0" g="0" b="0"/>
        </a:effectRef>
        <a:fontRef idx="minor">
          <a:schemeClr val="lt1"/>
        </a:fontRef>
      </dsp:style>
    </dsp:sp>
    <dsp:sp modelId="{EDE85006-A41A-4BCE-AE4C-AA54820C9AC5}">
      <dsp:nvSpPr>
        <dsp:cNvPr id="0" name=""/>
        <dsp:cNvSpPr/>
      </dsp:nvSpPr>
      <dsp:spPr>
        <a:xfrm>
          <a:off x="1605010" y="0"/>
          <a:ext cx="4795789" cy="475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a:t>EU </a:t>
          </a:r>
          <a:r>
            <a:rPr lang="en-US" sz="1800" kern="1200" dirty="0" err="1"/>
            <a:t>규제</a:t>
          </a:r>
          <a:r>
            <a:rPr lang="en-US" sz="1800" kern="1200" dirty="0"/>
            <a:t> </a:t>
          </a:r>
          <a:r>
            <a:rPr lang="en-US" sz="1800" kern="1200" dirty="0" err="1"/>
            <a:t>모델</a:t>
          </a:r>
          <a:endParaRPr lang="en-US" sz="1800" kern="1200" dirty="0"/>
        </a:p>
      </dsp:txBody>
      <dsp:txXfrm>
        <a:off x="1605010" y="0"/>
        <a:ext cx="4795789" cy="475466"/>
      </dsp:txXfrm>
    </dsp:sp>
    <dsp:sp modelId="{4EB42A7E-A8F8-4A82-996C-5B7D222D3710}">
      <dsp:nvSpPr>
        <dsp:cNvPr id="0" name=""/>
        <dsp:cNvSpPr/>
      </dsp:nvSpPr>
      <dsp:spPr>
        <a:xfrm>
          <a:off x="1605010" y="475466"/>
          <a:ext cx="4795789" cy="949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err="1"/>
            <a:t>기본권</a:t>
          </a:r>
          <a:r>
            <a:rPr lang="en-US" sz="1400" kern="1200" dirty="0"/>
            <a:t> </a:t>
          </a:r>
          <a:r>
            <a:rPr lang="en-US" sz="1400" kern="1200" dirty="0" err="1"/>
            <a:t>보호를</a:t>
          </a:r>
          <a:r>
            <a:rPr lang="en-US" sz="1400" kern="1200" dirty="0"/>
            <a:t> </a:t>
          </a:r>
          <a:r>
            <a:rPr lang="en-US" sz="1400" kern="1200" dirty="0" err="1"/>
            <a:t>최우선으로</a:t>
          </a:r>
          <a:r>
            <a:rPr lang="en-US" sz="1400" kern="1200" dirty="0"/>
            <a:t> </a:t>
          </a:r>
          <a:r>
            <a:rPr lang="en-US" sz="1400" kern="1200" dirty="0" err="1"/>
            <a:t>하며</a:t>
          </a:r>
          <a:r>
            <a:rPr lang="en-US" sz="1400" kern="1200" dirty="0"/>
            <a:t> </a:t>
          </a:r>
          <a:r>
            <a:rPr lang="en-US" sz="1400" b="1" kern="1200" dirty="0" err="1">
              <a:solidFill>
                <a:srgbClr val="FFC000"/>
              </a:solidFill>
            </a:rPr>
            <a:t>사전</a:t>
          </a:r>
          <a:r>
            <a:rPr lang="en-US" sz="1400" b="1" kern="1200" dirty="0">
              <a:solidFill>
                <a:srgbClr val="FFC000"/>
              </a:solidFill>
            </a:rPr>
            <a:t> </a:t>
          </a:r>
          <a:r>
            <a:rPr lang="en-US" sz="1400" b="1" kern="1200" dirty="0" err="1">
              <a:solidFill>
                <a:srgbClr val="FFC000"/>
              </a:solidFill>
            </a:rPr>
            <a:t>규제</a:t>
          </a:r>
          <a:r>
            <a:rPr lang="en-US" sz="1400" kern="1200" dirty="0" err="1">
              <a:solidFill>
                <a:srgbClr val="FFC000"/>
              </a:solidFill>
            </a:rPr>
            <a:t>로</a:t>
          </a:r>
          <a:r>
            <a:rPr lang="en-US" sz="1400" kern="1200" dirty="0"/>
            <a:t> </a:t>
          </a:r>
          <a:r>
            <a:rPr lang="en-US" sz="1400" kern="1200" dirty="0" err="1"/>
            <a:t>위험을</a:t>
          </a:r>
          <a:r>
            <a:rPr lang="en-US" sz="1400" kern="1200" dirty="0"/>
            <a:t> </a:t>
          </a:r>
          <a:r>
            <a:rPr lang="en-US" sz="1400" kern="1200" dirty="0" err="1"/>
            <a:t>예방하는</a:t>
          </a:r>
          <a:r>
            <a:rPr lang="en-US" sz="1400" kern="1200" dirty="0"/>
            <a:t> </a:t>
          </a:r>
          <a:r>
            <a:rPr lang="en-US" sz="1400" kern="1200" dirty="0" err="1"/>
            <a:t>구조를</a:t>
          </a:r>
          <a:r>
            <a:rPr lang="en-US" sz="1400" kern="1200" dirty="0"/>
            <a:t> </a:t>
          </a:r>
          <a:r>
            <a:rPr lang="en-US" sz="1400" kern="1200" dirty="0" err="1"/>
            <a:t>갖추고</a:t>
          </a:r>
          <a:r>
            <a:rPr lang="en-US" sz="1400" kern="1200" dirty="0"/>
            <a:t> 있</a:t>
          </a:r>
          <a:r>
            <a:rPr lang="ko-KR" altLang="en-US" sz="1400" kern="1200" dirty="0"/>
            <a:t>음</a:t>
          </a:r>
          <a:r>
            <a:rPr lang="en-US" sz="1400" kern="1200" dirty="0"/>
            <a:t>.</a:t>
          </a:r>
        </a:p>
      </dsp:txBody>
      <dsp:txXfrm>
        <a:off x="1605010" y="475466"/>
        <a:ext cx="4795789" cy="949544"/>
      </dsp:txXfrm>
    </dsp:sp>
    <dsp:sp modelId="{B43140E5-7141-4DD3-AB19-7B6966A1FD68}">
      <dsp:nvSpPr>
        <dsp:cNvPr id="0" name=""/>
        <dsp:cNvSpPr/>
      </dsp:nvSpPr>
      <dsp:spPr>
        <a:xfrm>
          <a:off x="0" y="1539011"/>
          <a:ext cx="1425010" cy="1425010"/>
        </a:xfrm>
        <a:prstGeom prst="rect">
          <a:avLst/>
        </a:prstGeom>
        <a:blipFill>
          <a:blip xmlns:r="http://schemas.openxmlformats.org/officeDocument/2006/relationships" r:embed="rId2" cstate="print">
            <a:extLst>
              <a:ext uri="{28A0092B-C50C-407E-A947-70E740481C1C}">
                <a14:useLocalDpi xmlns:a14="http://schemas.microsoft.com/office/drawing/2010/main" val="0"/>
              </a:ext>
            </a:extLst>
          </a:blip>
          <a:srcRect l="16643" r="27106" b="-3"/>
          <a:stretch/>
        </a:blipFill>
        <a:ln>
          <a:noFill/>
        </a:ln>
        <a:effectLst/>
      </dsp:spPr>
      <dsp:style>
        <a:lnRef idx="0">
          <a:scrgbClr r="0" g="0" b="0"/>
        </a:lnRef>
        <a:fillRef idx="3">
          <a:scrgbClr r="0" g="0" b="0"/>
        </a:fillRef>
        <a:effectRef idx="2">
          <a:scrgbClr r="0" g="0" b="0"/>
        </a:effectRef>
        <a:fontRef idx="minor">
          <a:schemeClr val="lt1"/>
        </a:fontRef>
      </dsp:style>
    </dsp:sp>
    <dsp:sp modelId="{899D6227-5DAF-45E0-A9B4-4F3811314558}">
      <dsp:nvSpPr>
        <dsp:cNvPr id="0" name=""/>
        <dsp:cNvSpPr/>
      </dsp:nvSpPr>
      <dsp:spPr>
        <a:xfrm>
          <a:off x="1605010" y="1539011"/>
          <a:ext cx="4795789" cy="475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err="1"/>
            <a:t>한국</a:t>
          </a:r>
          <a:r>
            <a:rPr lang="en-US" sz="1800" kern="1200" dirty="0"/>
            <a:t> </a:t>
          </a:r>
          <a:r>
            <a:rPr lang="en-US" sz="1800" kern="1200" dirty="0" err="1"/>
            <a:t>규제</a:t>
          </a:r>
          <a:r>
            <a:rPr lang="en-US" sz="1800" kern="1200" dirty="0"/>
            <a:t> </a:t>
          </a:r>
          <a:r>
            <a:rPr lang="en-US" sz="1800" kern="1200" dirty="0" err="1"/>
            <a:t>모델</a:t>
          </a:r>
          <a:endParaRPr lang="en-US" sz="1800" kern="1200" dirty="0"/>
        </a:p>
      </dsp:txBody>
      <dsp:txXfrm>
        <a:off x="1605010" y="1539011"/>
        <a:ext cx="4795789" cy="475466"/>
      </dsp:txXfrm>
    </dsp:sp>
    <dsp:sp modelId="{095CF69D-7963-41FA-94E7-3C71CA15620D}">
      <dsp:nvSpPr>
        <dsp:cNvPr id="0" name=""/>
        <dsp:cNvSpPr/>
      </dsp:nvSpPr>
      <dsp:spPr>
        <a:xfrm>
          <a:off x="1605010" y="2014478"/>
          <a:ext cx="4795789" cy="949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err="1"/>
            <a:t>산업</a:t>
          </a:r>
          <a:r>
            <a:rPr lang="en-US" sz="1400" kern="1200" dirty="0"/>
            <a:t> </a:t>
          </a:r>
          <a:r>
            <a:rPr lang="en-US" sz="1400" kern="1200" dirty="0" err="1"/>
            <a:t>진흥과</a:t>
          </a:r>
          <a:r>
            <a:rPr lang="en-US" sz="1400" kern="1200" dirty="0"/>
            <a:t> </a:t>
          </a:r>
          <a:r>
            <a:rPr lang="en-US" sz="1400" kern="1200" dirty="0" err="1"/>
            <a:t>기술</a:t>
          </a:r>
          <a:r>
            <a:rPr lang="en-US" sz="1400" kern="1200" dirty="0"/>
            <a:t> </a:t>
          </a:r>
          <a:r>
            <a:rPr lang="en-US" sz="1400" kern="1200" dirty="0" err="1"/>
            <a:t>혁신을</a:t>
          </a:r>
          <a:r>
            <a:rPr lang="en-US" sz="1400" kern="1200" dirty="0"/>
            <a:t> </a:t>
          </a:r>
          <a:r>
            <a:rPr lang="en-US" sz="1400" kern="1200" dirty="0" err="1"/>
            <a:t>중시하며</a:t>
          </a:r>
          <a:r>
            <a:rPr lang="en-US" sz="1400" kern="1200" dirty="0"/>
            <a:t> </a:t>
          </a:r>
          <a:r>
            <a:rPr lang="en-US" sz="1400" b="1" kern="1200" dirty="0" err="1">
              <a:solidFill>
                <a:srgbClr val="FFC000"/>
              </a:solidFill>
            </a:rPr>
            <a:t>사후</a:t>
          </a:r>
          <a:r>
            <a:rPr lang="en-US" sz="1400" b="1" kern="1200" dirty="0">
              <a:solidFill>
                <a:srgbClr val="FFC000"/>
              </a:solidFill>
            </a:rPr>
            <a:t> </a:t>
          </a:r>
          <a:r>
            <a:rPr lang="en-US" sz="1400" b="1" kern="1200" dirty="0" err="1">
              <a:solidFill>
                <a:srgbClr val="FFC000"/>
              </a:solidFill>
            </a:rPr>
            <a:t>대응</a:t>
          </a:r>
          <a:r>
            <a:rPr lang="en-US" sz="1400" kern="1200" dirty="0"/>
            <a:t> </a:t>
          </a:r>
          <a:r>
            <a:rPr lang="en-US" sz="1400" kern="1200" dirty="0" err="1"/>
            <a:t>중심의</a:t>
          </a:r>
          <a:r>
            <a:rPr lang="en-US" sz="1400" kern="1200" dirty="0"/>
            <a:t> </a:t>
          </a:r>
          <a:r>
            <a:rPr lang="en-US" sz="1400" kern="1200" dirty="0" err="1"/>
            <a:t>규제를</a:t>
          </a:r>
          <a:r>
            <a:rPr lang="en-US" sz="1400" kern="1200" dirty="0"/>
            <a:t> </a:t>
          </a:r>
          <a:r>
            <a:rPr lang="en-US" sz="1400" kern="1200" dirty="0" err="1"/>
            <a:t>시행</a:t>
          </a:r>
          <a:r>
            <a:rPr lang="en-US" sz="1400" kern="1200" dirty="0"/>
            <a:t>.</a:t>
          </a:r>
        </a:p>
      </dsp:txBody>
      <dsp:txXfrm>
        <a:off x="1605010" y="2014478"/>
        <a:ext cx="4795789" cy="949544"/>
      </dsp:txXfrm>
    </dsp:sp>
    <dsp:sp modelId="{5325E85F-2F27-4E4E-A141-AC2BE54DDB95}">
      <dsp:nvSpPr>
        <dsp:cNvPr id="0" name=""/>
        <dsp:cNvSpPr/>
      </dsp:nvSpPr>
      <dsp:spPr>
        <a:xfrm>
          <a:off x="0" y="3078023"/>
          <a:ext cx="1425010" cy="1425010"/>
        </a:xfrm>
        <a:prstGeom prst="rect">
          <a:avLst/>
        </a:prstGeom>
        <a:blipFill>
          <a:blip xmlns:r="http://schemas.openxmlformats.org/officeDocument/2006/relationships" r:embed="rId3" cstate="print">
            <a:extLst>
              <a:ext uri="{28A0092B-C50C-407E-A947-70E740481C1C}">
                <a14:useLocalDpi xmlns:a14="http://schemas.microsoft.com/office/drawing/2010/main" val="0"/>
              </a:ext>
            </a:extLst>
          </a:blip>
          <a:srcRect l="13962" r="9783" b="-6"/>
          <a:stretch/>
        </a:blipFill>
        <a:ln>
          <a:noFill/>
        </a:ln>
        <a:effectLst/>
      </dsp:spPr>
      <dsp:style>
        <a:lnRef idx="0">
          <a:scrgbClr r="0" g="0" b="0"/>
        </a:lnRef>
        <a:fillRef idx="3">
          <a:scrgbClr r="0" g="0" b="0"/>
        </a:fillRef>
        <a:effectRef idx="2">
          <a:scrgbClr r="0" g="0" b="0"/>
        </a:effectRef>
        <a:fontRef idx="minor">
          <a:schemeClr val="lt1"/>
        </a:fontRef>
      </dsp:style>
    </dsp:sp>
    <dsp:sp modelId="{61CD1334-A461-4A81-9356-49F36CD5410B}">
      <dsp:nvSpPr>
        <dsp:cNvPr id="0" name=""/>
        <dsp:cNvSpPr/>
      </dsp:nvSpPr>
      <dsp:spPr>
        <a:xfrm>
          <a:off x="1605010" y="3078023"/>
          <a:ext cx="4795789" cy="47546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dirty="0" err="1"/>
            <a:t>규제</a:t>
          </a:r>
          <a:r>
            <a:rPr lang="en-US" sz="1800" kern="1200" dirty="0"/>
            <a:t> </a:t>
          </a:r>
          <a:r>
            <a:rPr lang="en-US" sz="1800" kern="1200" dirty="0" err="1"/>
            <a:t>철학</a:t>
          </a:r>
          <a:r>
            <a:rPr lang="en-US" sz="1800" kern="1200" dirty="0"/>
            <a:t> </a:t>
          </a:r>
          <a:r>
            <a:rPr lang="en-US" sz="1800" kern="1200" dirty="0" err="1"/>
            <a:t>차이</a:t>
          </a:r>
          <a:endParaRPr lang="en-US" sz="1800" kern="1200" dirty="0"/>
        </a:p>
      </dsp:txBody>
      <dsp:txXfrm>
        <a:off x="1605010" y="3078023"/>
        <a:ext cx="4795789" cy="475466"/>
      </dsp:txXfrm>
    </dsp:sp>
    <dsp:sp modelId="{8C1C50C2-487A-42C3-9305-29433B456E40}">
      <dsp:nvSpPr>
        <dsp:cNvPr id="0" name=""/>
        <dsp:cNvSpPr/>
      </dsp:nvSpPr>
      <dsp:spPr>
        <a:xfrm>
          <a:off x="1605010" y="3553489"/>
          <a:ext cx="4795789" cy="9495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dirty="0" err="1"/>
            <a:t>각국의</a:t>
          </a:r>
          <a:r>
            <a:rPr lang="en-US" sz="1400" kern="1200" dirty="0"/>
            <a:t> </a:t>
          </a:r>
          <a:r>
            <a:rPr lang="en-US" sz="1400" kern="1200" dirty="0" err="1"/>
            <a:t>산업</a:t>
          </a:r>
          <a:r>
            <a:rPr lang="en-US" sz="1400" kern="1200" dirty="0"/>
            <a:t> </a:t>
          </a:r>
          <a:r>
            <a:rPr lang="en-US" sz="1400" kern="1200" dirty="0" err="1"/>
            <a:t>구조와</a:t>
          </a:r>
          <a:r>
            <a:rPr lang="en-US" sz="1400" kern="1200" dirty="0"/>
            <a:t> </a:t>
          </a:r>
          <a:r>
            <a:rPr lang="en-US" sz="1400" kern="1200" dirty="0" err="1"/>
            <a:t>정책</a:t>
          </a:r>
          <a:r>
            <a:rPr lang="en-US" sz="1400" kern="1200" dirty="0"/>
            <a:t> </a:t>
          </a:r>
          <a:r>
            <a:rPr lang="en-US" sz="1400" kern="1200" dirty="0" err="1"/>
            <a:t>목표에</a:t>
          </a:r>
          <a:r>
            <a:rPr lang="en-US" sz="1400" kern="1200" dirty="0"/>
            <a:t> </a:t>
          </a:r>
          <a:r>
            <a:rPr lang="en-US" sz="1400" kern="1200" dirty="0" err="1"/>
            <a:t>따른</a:t>
          </a:r>
          <a:r>
            <a:rPr lang="en-US" sz="1400" kern="1200" dirty="0"/>
            <a:t> </a:t>
          </a:r>
          <a:r>
            <a:rPr lang="en-US" sz="1400" kern="1200" dirty="0" err="1"/>
            <a:t>규제</a:t>
          </a:r>
          <a:r>
            <a:rPr lang="en-US" sz="1400" kern="1200" dirty="0"/>
            <a:t> </a:t>
          </a:r>
          <a:r>
            <a:rPr lang="en-US" sz="1400" kern="1200" dirty="0" err="1"/>
            <a:t>방식의</a:t>
          </a:r>
          <a:r>
            <a:rPr lang="en-US" sz="1400" kern="1200" dirty="0"/>
            <a:t> </a:t>
          </a:r>
          <a:r>
            <a:rPr lang="en-US" sz="1400" kern="1200" dirty="0" err="1"/>
            <a:t>차이를</a:t>
          </a:r>
          <a:r>
            <a:rPr lang="en-US" sz="1400" kern="1200" dirty="0"/>
            <a:t> </a:t>
          </a:r>
          <a:r>
            <a:rPr lang="en-US" sz="1400" kern="1200" dirty="0" err="1"/>
            <a:t>반영하며</a:t>
          </a:r>
          <a:r>
            <a:rPr lang="en-US" sz="1400" kern="1200" dirty="0"/>
            <a:t>, </a:t>
          </a:r>
          <a:r>
            <a:rPr lang="en-US" sz="1400" b="1" kern="1200" dirty="0" err="1">
              <a:solidFill>
                <a:srgbClr val="FFC000"/>
              </a:solidFill>
            </a:rPr>
            <a:t>우열을</a:t>
          </a:r>
          <a:r>
            <a:rPr lang="en-US" sz="1400" b="1" kern="1200" dirty="0">
              <a:solidFill>
                <a:srgbClr val="FFC000"/>
              </a:solidFill>
            </a:rPr>
            <a:t> </a:t>
          </a:r>
          <a:r>
            <a:rPr lang="ko-KR" altLang="en-US" sz="1400" b="1" kern="1200" dirty="0">
              <a:solidFill>
                <a:srgbClr val="FFC000"/>
              </a:solidFill>
            </a:rPr>
            <a:t>평가할 수 없음</a:t>
          </a:r>
          <a:r>
            <a:rPr lang="en-US" sz="1400" kern="1200" dirty="0">
              <a:solidFill>
                <a:srgbClr val="FFC000"/>
              </a:solidFill>
            </a:rPr>
            <a:t>.</a:t>
          </a:r>
        </a:p>
      </dsp:txBody>
      <dsp:txXfrm>
        <a:off x="1605010" y="3553489"/>
        <a:ext cx="4795789" cy="949544"/>
      </dsp:txXfrm>
    </dsp:sp>
  </dsp:spTree>
</dsp:drawing>
</file>

<file path=ppt/diagrams/layout1.xml><?xml version="1.0" encoding="utf-8"?>
<dgm:layoutDef xmlns:dgm="http://schemas.openxmlformats.org/drawingml/2006/diagram" xmlns:a="http://schemas.openxmlformats.org/drawingml/2006/main" uniqueId="urn:microsoft.com/office/officeart/2024/3/layout/verticalVisualTextBlock1">
  <dgm:title val="Vertical Visual Text Blocks"/>
  <dgm:desc val="Pictures with short bits of text with formatted headers. Use as an easier-to-read alternative to a bulleted list."/>
  <dgm:catLst>
    <dgm:cat type="picture" pri="1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Root">
    <dgm:varLst>
      <dgm:dir/>
      <dgm:resizeHandles val="exact"/>
    </dgm:varLst>
    <dgm:choose name="BasedOnLanguageDirection">
      <dgm:if name="LeftToRight" func="var" arg="dir" op="equ" val="norm">
        <dgm:alg type="lin">
          <dgm:param type="linDir" val="fromT"/>
          <dgm:param type="vertAlign" val="t"/>
          <dgm:param type="horzAlign" val="l"/>
        </dgm:alg>
      </dgm:if>
      <dgm:else name="RightToLeft">
        <dgm:alg type="lin">
          <dgm:param type="linDir" val="fromT"/>
          <dgm:param type="vertAlign" val="t"/>
          <dgm:param type="horzAlign" val="r"/>
        </dgm:alg>
      </dgm:else>
    </dgm:choose>
    <dgm:presOf/>
    <dgm:constrLst>
      <dgm:constr type="primFontSz" for="des" forName="Subtitle" op="equ" val="18"/>
      <dgm:constr type="primFontSz" for="des" forName="Description" refType="primFontSz" refFor="des" refForName="Subtitle" op="equ" fact="0.77"/>
      <dgm:constr type="w" for="ch" forName="Composite" refType="w"/>
      <dgm:constr type="h" for="ch" forName="Composite" refType="h"/>
      <dgm:constr type="h" for="ch" forName="sibTrans" refType="h" refFor="ch" refForName="Composite" fact="0.08"/>
      <dgm:constr type="sp" refType="w" refFor="ch" refForName="Composite" op="equ" fact="0.1"/>
    </dgm:constrLst>
    <dgm:ruleLst/>
    <dgm:forEach name="DirectChildrenOfRoot" axis="ch" ptType="node">
      <dgm:layoutNode name="Composite">
        <dgm:alg type="composite"/>
        <dgm:shape xmlns:r="http://schemas.openxmlformats.org/officeDocument/2006/relationships" r:blip="">
          <dgm:adjLst/>
        </dgm:shape>
        <dgm:presOf/>
        <dgm:constrLst>
          <dgm:constr type="w" for="ch" forName="Picture" refType="w" fact="0.335"/>
          <dgm:constr type="h" for="ch" forName="Picture" refType="w" refFor="ch" refForName="Picture" op="equ"/>
          <dgm:constr type="h" for="ch" forName="Picture" refType="h" op="lte"/>
          <dgm:constr type="l" for="ch" forName="Subtitle" refType="r" refFor="ch" refForName="Picture"/>
          <dgm:constr type="lOff" for="ch" forName="Subtitle" val="5"/>
          <dgm:constr type="h" for="ch" forName="Subtitle" refType="h" fact="0.1"/>
          <dgm:constr type="t" for="ch" forName="Description" refType="b" refFor="ch" refForName="Subtitle"/>
          <dgm:constr type="l" for="ch" forName="Description" refType="r" refFor="ch" refForName="Picture"/>
          <dgm:constr type="lOff" for="ch" forName="Description" val="5"/>
        </dgm:constrLst>
        <dgm:ruleLst/>
        <dgm:layoutNode name="Picture" styleLbl="node1">
          <dgm:alg type="sp"/>
          <dgm:shape xmlns:r="http://schemas.openxmlformats.org/officeDocument/2006/relationships" type="rect" r:blip="" blipPhldr="1">
            <dgm:adjLst/>
          </dgm:shape>
          <dgm:presOf/>
          <dgm:constrLst/>
          <dgm:ruleLst/>
        </dgm:layoutNode>
        <dgm:layoutNode name="Subtitle"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SubtitleConstraintsBasedOnLanguageDirection">
            <dgm:if name="SubtitleIsLeftToRight" func="var" arg="dir" op="equ" val="norm">
              <dgm:constrLst>
                <dgm:constr type="h" refType="w" op="lte" fact="0.4"/>
                <dgm:constr type="lMarg"/>
                <dgm:constr type="rMarg" refType="primFontSz" fact="0.1"/>
                <dgm:constr type="tMarg" refType="primFontSz" fact="0.1"/>
                <dgm:constr type="bMarg" refType="primFontSz" fact="0.1"/>
              </dgm:constrLst>
            </dgm:if>
            <dgm:else name="SubtitleIsRightToLeft">
              <dgm:constrLst>
                <dgm:constr type="h" refType="w" op="lte" fact="0.4"/>
                <dgm:constr type="rMarg"/>
                <dgm:constr type="lMarg" refType="primFontSz" fact="0.1"/>
                <dgm:constr type="tMarg" refType="primFontSz" fact="0.1"/>
                <dgm:constr type="bMarg" refType="primFontSz" fact="0.1"/>
              </dgm:constrLst>
            </dgm:else>
          </dgm:choose>
          <dgm:ruleLst>
            <dgm:rule type="h" val="INF" fact="NaN" max="NaN"/>
            <dgm:rule type="primFontSz" val="5" fact="NaN" max="NaN"/>
          </dgm:ruleLst>
        </dgm:layoutNode>
        <dgm:layoutNode name="Description"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DescriptionConstraintsBasedOnLanguageDirection">
            <dgm:if name="DescriptionIsLeftToRight" func="var" arg="dir" op="equ" val="norm">
              <dgm:constrLst>
                <dgm:constr type="lMarg"/>
                <dgm:constr type="rMarg" refType="primFontSz" fact="0.1"/>
                <dgm:constr type="tMarg" refType="primFontSz" fact="0.1"/>
                <dgm:constr type="bMarg" refType="primFontSz" fact="0.1"/>
              </dgm:constrLst>
            </dgm:if>
            <dgm:else name="DescriptionIsRightToLeft">
              <dgm:constrLst>
                <dgm:constr type="lMarg" refType="primFontSz" fact="0.1"/>
                <dgm:constr type="rMarg"/>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F46A94D-9A6F-4069-A808-4060DF0897F7}" type="datetimeFigureOut">
              <a:t>04/16/2026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9B5BDD3-2B62-4879-87D6-2B51A6B452C6}" type="slidenum">
              <a:t>‹#›</a:t>
            </a:fld>
            <a:endParaRPr lang="en-US"/>
          </a:p>
        </p:txBody>
      </p:sp>
    </p:spTree>
    <p:extLst>
      <p:ext uri="{BB962C8B-B14F-4D97-AF65-F5344CB8AC3E}">
        <p14:creationId xmlns:p14="http://schemas.microsoft.com/office/powerpoint/2010/main" val="23034490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EU</a:t>
            </a:r>
            <a:r>
              <a:rPr lang="ko-KR" altLang="en-US" dirty="0"/>
              <a:t> 위험기반 </a:t>
            </a:r>
            <a:r>
              <a:rPr lang="en-US" altLang="ko-KR" dirty="0"/>
              <a:t>AI </a:t>
            </a:r>
            <a:r>
              <a:rPr lang="ko-KR" altLang="en-US" dirty="0"/>
              <a:t>규제와</a:t>
            </a:r>
            <a:r>
              <a:rPr lang="en-US" altLang="ko-KR" dirty="0"/>
              <a:t>,</a:t>
            </a:r>
            <a:r>
              <a:rPr lang="ko-KR" altLang="en-US" dirty="0"/>
              <a:t> 한국</a:t>
            </a:r>
            <a:r>
              <a:rPr lang="en-US" dirty="0"/>
              <a:t>
</a:t>
            </a:r>
            <a:r>
              <a:rPr lang="ko-KR" altLang="en-US" dirty="0"/>
              <a:t>원칙 기반 </a:t>
            </a:r>
            <a:r>
              <a:rPr lang="en-US" altLang="ko-KR" dirty="0"/>
              <a:t>AI </a:t>
            </a:r>
            <a:r>
              <a:rPr lang="ko-KR" altLang="en-US" dirty="0"/>
              <a:t>규제 비교에 대해서 발표하도록 하겠습니다</a:t>
            </a:r>
            <a:r>
              <a:rPr lang="en-US" altLang="ko-KR" dirty="0"/>
              <a:t>.</a:t>
            </a:r>
            <a:r>
              <a:rPr lang="en-US" dirty="0"/>
              <a:t>
</a:t>
            </a:r>
          </a:p>
        </p:txBody>
      </p:sp>
      <p:sp>
        <p:nvSpPr>
          <p:cNvPr id="4" name="Slide Number Placeholder 3"/>
          <p:cNvSpPr>
            <a:spLocks noGrp="1"/>
          </p:cNvSpPr>
          <p:nvPr>
            <p:ph type="sldNum" sz="quarter" idx="5"/>
          </p:nvPr>
        </p:nvSpPr>
        <p:spPr/>
        <p:txBody>
          <a:bodyPr/>
          <a:lstStyle/>
          <a:p>
            <a:fld id="{BEA2EDFA-3FF9-4240-A72E-06516FE09BDD}" type="slidenum">
              <a:t>1</a:t>
            </a:fld>
            <a:endParaRPr lang="en-US"/>
          </a:p>
        </p:txBody>
      </p:sp>
    </p:spTree>
    <p:extLst>
      <p:ext uri="{BB962C8B-B14F-4D97-AF65-F5344CB8AC3E}">
        <p14:creationId xmlns:p14="http://schemas.microsoft.com/office/powerpoint/2010/main" val="370142131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발표</a:t>
            </a:r>
            <a:r>
              <a:rPr lang="en-US" dirty="0"/>
              <a:t> </a:t>
            </a:r>
            <a:r>
              <a:rPr lang="en-US" dirty="0" err="1"/>
              <a:t>주제</a:t>
            </a:r>
            <a:r>
              <a:rPr lang="en-US" dirty="0"/>
              <a:t> 및 </a:t>
            </a:r>
            <a:r>
              <a:rPr lang="en-US" dirty="0" err="1"/>
              <a:t>배경</a:t>
            </a:r>
            <a:r>
              <a:rPr lang="en-US" dirty="0"/>
              <a:t>, </a:t>
            </a:r>
            <a:r>
              <a:rPr lang="en-US" dirty="0" err="1"/>
              <a:t>문제</a:t>
            </a:r>
            <a:r>
              <a:rPr lang="en-US" dirty="0"/>
              <a:t> </a:t>
            </a:r>
            <a:r>
              <a:rPr lang="en-US" dirty="0" err="1"/>
              <a:t>제기</a:t>
            </a:r>
            <a:r>
              <a:rPr lang="en-US" dirty="0"/>
              <a:t>: 왜 </a:t>
            </a:r>
            <a:r>
              <a:rPr lang="en-US" dirty="0" err="1"/>
              <a:t>EU와</a:t>
            </a:r>
            <a:r>
              <a:rPr lang="en-US" dirty="0"/>
              <a:t> </a:t>
            </a:r>
            <a:r>
              <a:rPr lang="en-US" dirty="0" err="1"/>
              <a:t>한국의</a:t>
            </a:r>
            <a:r>
              <a:rPr lang="en-US" dirty="0"/>
              <a:t> AI </a:t>
            </a:r>
            <a:r>
              <a:rPr lang="en-US" dirty="0" err="1"/>
              <a:t>규제를</a:t>
            </a:r>
            <a:r>
              <a:rPr lang="en-US" dirty="0"/>
              <a:t> </a:t>
            </a:r>
            <a:r>
              <a:rPr lang="en-US" dirty="0" err="1"/>
              <a:t>비교하는가</a:t>
            </a:r>
            <a:r>
              <a:rPr lang="en-US" dirty="0"/>
              <a:t>, EU AI Act: </a:t>
            </a:r>
            <a:r>
              <a:rPr lang="en-US" dirty="0" err="1"/>
              <a:t>위험기반</a:t>
            </a:r>
            <a:r>
              <a:rPr lang="en-US" dirty="0"/>
              <a:t> </a:t>
            </a:r>
            <a:r>
              <a:rPr lang="en-US" dirty="0" err="1"/>
              <a:t>규제</a:t>
            </a:r>
            <a:r>
              <a:rPr lang="en-US" dirty="0"/>
              <a:t> </a:t>
            </a:r>
            <a:r>
              <a:rPr lang="en-US" dirty="0" err="1"/>
              <a:t>개요</a:t>
            </a:r>
            <a:r>
              <a:rPr lang="en-US" dirty="0"/>
              <a:t>, </a:t>
            </a:r>
            <a:r>
              <a:rPr lang="en-US" dirty="0" err="1"/>
              <a:t>한국</a:t>
            </a:r>
            <a:r>
              <a:rPr lang="en-US" dirty="0"/>
              <a:t> AI </a:t>
            </a:r>
            <a:r>
              <a:rPr lang="en-US" dirty="0" err="1"/>
              <a:t>기본법</a:t>
            </a:r>
            <a:r>
              <a:rPr lang="en-US" dirty="0"/>
              <a:t>: </a:t>
            </a:r>
            <a:r>
              <a:rPr lang="en-US" dirty="0" err="1"/>
              <a:t>원칙</a:t>
            </a:r>
            <a:r>
              <a:rPr lang="en-US" dirty="0"/>
              <a:t> </a:t>
            </a:r>
            <a:r>
              <a:rPr lang="en-US" dirty="0" err="1"/>
              <a:t>기반</a:t>
            </a:r>
            <a:r>
              <a:rPr lang="en-US" dirty="0"/>
              <a:t> </a:t>
            </a:r>
            <a:r>
              <a:rPr lang="en-US" dirty="0" err="1"/>
              <a:t>규제</a:t>
            </a:r>
            <a:r>
              <a:rPr lang="en-US" dirty="0"/>
              <a:t> </a:t>
            </a:r>
            <a:r>
              <a:rPr lang="en-US" dirty="0" err="1"/>
              <a:t>개요</a:t>
            </a:r>
            <a:r>
              <a:rPr lang="en-US" dirty="0"/>
              <a:t>, </a:t>
            </a:r>
            <a:r>
              <a:rPr lang="en-US" dirty="0" err="1"/>
              <a:t>규제</a:t>
            </a:r>
            <a:r>
              <a:rPr lang="en-US" dirty="0"/>
              <a:t> </a:t>
            </a:r>
            <a:r>
              <a:rPr lang="en-US" dirty="0" err="1"/>
              <a:t>방식의</a:t>
            </a:r>
            <a:r>
              <a:rPr lang="en-US" dirty="0"/>
              <a:t> </a:t>
            </a:r>
            <a:r>
              <a:rPr lang="en-US" dirty="0" err="1"/>
              <a:t>구조적</a:t>
            </a:r>
            <a:r>
              <a:rPr lang="en-US" dirty="0"/>
              <a:t> </a:t>
            </a:r>
            <a:r>
              <a:rPr lang="en-US" dirty="0" err="1"/>
              <a:t>비교</a:t>
            </a:r>
            <a:r>
              <a:rPr lang="en-US" dirty="0"/>
              <a:t>, </a:t>
            </a:r>
            <a:r>
              <a:rPr lang="en-US" dirty="0" err="1"/>
              <a:t>기술</a:t>
            </a:r>
            <a:r>
              <a:rPr lang="en-US" dirty="0"/>
              <a:t> </a:t>
            </a:r>
            <a:r>
              <a:rPr lang="en-US" dirty="0" err="1"/>
              <a:t>발전</a:t>
            </a:r>
            <a:r>
              <a:rPr lang="en-US" dirty="0"/>
              <a:t> </a:t>
            </a:r>
            <a:r>
              <a:rPr lang="en-US" dirty="0" err="1"/>
              <a:t>속도와</a:t>
            </a:r>
            <a:r>
              <a:rPr lang="en-US" dirty="0"/>
              <a:t> </a:t>
            </a:r>
            <a:r>
              <a:rPr lang="en-US" dirty="0" err="1"/>
              <a:t>규제</a:t>
            </a:r>
            <a:r>
              <a:rPr lang="en-US" dirty="0"/>
              <a:t> </a:t>
            </a:r>
            <a:r>
              <a:rPr lang="en-US" dirty="0" err="1"/>
              <a:t>효과</a:t>
            </a:r>
            <a:r>
              <a:rPr lang="en-US" dirty="0"/>
              <a:t>, </a:t>
            </a:r>
            <a:r>
              <a:rPr lang="en-US" dirty="0" err="1"/>
              <a:t>한국의</a:t>
            </a:r>
            <a:r>
              <a:rPr lang="en-US" dirty="0"/>
              <a:t> </a:t>
            </a:r>
            <a:r>
              <a:rPr lang="en-US" dirty="0" err="1"/>
              <a:t>위험기반</a:t>
            </a:r>
            <a:r>
              <a:rPr lang="en-US" dirty="0"/>
              <a:t> </a:t>
            </a:r>
            <a:r>
              <a:rPr lang="en-US" dirty="0" err="1"/>
              <a:t>규제</a:t>
            </a:r>
            <a:r>
              <a:rPr lang="en-US" dirty="0"/>
              <a:t> </a:t>
            </a:r>
            <a:r>
              <a:rPr lang="en-US" dirty="0" err="1"/>
              <a:t>도입</a:t>
            </a:r>
            <a:r>
              <a:rPr lang="en-US" dirty="0"/>
              <a:t> </a:t>
            </a:r>
            <a:r>
              <a:rPr lang="en-US" dirty="0" err="1"/>
              <a:t>가능성</a:t>
            </a:r>
            <a:r>
              <a:rPr lang="en-US" dirty="0"/>
              <a:t>, </a:t>
            </a:r>
            <a:r>
              <a:rPr lang="en-US" dirty="0" err="1"/>
              <a:t>결론</a:t>
            </a:r>
            <a:endParaRPr lang="en-US" dirty="0"/>
          </a:p>
        </p:txBody>
      </p:sp>
      <p:sp>
        <p:nvSpPr>
          <p:cNvPr id="4" name="Slide Number Placeholder 3"/>
          <p:cNvSpPr>
            <a:spLocks noGrp="1"/>
          </p:cNvSpPr>
          <p:nvPr>
            <p:ph type="sldNum" sz="quarter" idx="5"/>
          </p:nvPr>
        </p:nvSpPr>
        <p:spPr/>
        <p:txBody>
          <a:bodyPr/>
          <a:lstStyle/>
          <a:p>
            <a:fld id="{BEA2EDFA-3FF9-4240-A72E-06516FE09BDD}" type="slidenum">
              <a:t>2</a:t>
            </a:fld>
            <a:endParaRPr lang="en-US"/>
          </a:p>
        </p:txBody>
      </p:sp>
    </p:spTree>
    <p:extLst>
      <p:ext uri="{BB962C8B-B14F-4D97-AF65-F5344CB8AC3E}">
        <p14:creationId xmlns:p14="http://schemas.microsoft.com/office/powerpoint/2010/main" val="26042440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본 </a:t>
            </a:r>
            <a:r>
              <a:rPr lang="en-US" dirty="0" err="1"/>
              <a:t>슬라이드는</a:t>
            </a:r>
            <a:r>
              <a:rPr lang="en-US" dirty="0"/>
              <a:t> 본 </a:t>
            </a:r>
            <a:r>
              <a:rPr lang="en-US" dirty="0" err="1"/>
              <a:t>발표의</a:t>
            </a:r>
            <a:r>
              <a:rPr lang="en-US" dirty="0"/>
              <a:t> </a:t>
            </a:r>
            <a:r>
              <a:rPr lang="en-US" dirty="0" err="1"/>
              <a:t>주제와</a:t>
            </a:r>
            <a:r>
              <a:rPr lang="en-US" dirty="0"/>
              <a:t> </a:t>
            </a:r>
            <a:r>
              <a:rPr lang="en-US" dirty="0" err="1"/>
              <a:t>전체적인</a:t>
            </a:r>
            <a:r>
              <a:rPr lang="en-US" dirty="0"/>
              <a:t> </a:t>
            </a:r>
            <a:r>
              <a:rPr lang="en-US" dirty="0" err="1"/>
              <a:t>문제의식을</a:t>
            </a:r>
            <a:r>
              <a:rPr lang="en-US" dirty="0"/>
              <a:t> </a:t>
            </a:r>
            <a:r>
              <a:rPr lang="en-US" dirty="0" err="1"/>
              <a:t>제시하기</a:t>
            </a:r>
            <a:r>
              <a:rPr lang="en-US" dirty="0"/>
              <a:t> </a:t>
            </a:r>
            <a:r>
              <a:rPr lang="en-US" dirty="0" err="1"/>
              <a:t>위한</a:t>
            </a:r>
            <a:r>
              <a:rPr lang="en-US" dirty="0"/>
              <a:t> </a:t>
            </a:r>
            <a:r>
              <a:rPr lang="en-US" dirty="0" err="1"/>
              <a:t>도입부에</a:t>
            </a:r>
            <a:r>
              <a:rPr lang="en-US" dirty="0"/>
              <a:t> </a:t>
            </a:r>
            <a:r>
              <a:rPr lang="en-US" dirty="0" err="1"/>
              <a:t>해당한다</a:t>
            </a:r>
            <a:r>
              <a:rPr lang="en-US" dirty="0"/>
              <a:t>. 본 </a:t>
            </a:r>
            <a:r>
              <a:rPr lang="en-US" dirty="0" err="1"/>
              <a:t>발표는</a:t>
            </a:r>
            <a:r>
              <a:rPr lang="en-US" dirty="0"/>
              <a:t> EU AI </a:t>
            </a:r>
            <a:r>
              <a:rPr lang="en-US" dirty="0" err="1"/>
              <a:t>Act와</a:t>
            </a:r>
            <a:r>
              <a:rPr lang="en-US" dirty="0"/>
              <a:t> </a:t>
            </a:r>
            <a:r>
              <a:rPr lang="en-US" dirty="0" err="1"/>
              <a:t>한국의</a:t>
            </a:r>
            <a:r>
              <a:rPr lang="en-US" dirty="0"/>
              <a:t> 「</a:t>
            </a:r>
            <a:r>
              <a:rPr lang="en-US" dirty="0" err="1"/>
              <a:t>인공지능</a:t>
            </a:r>
            <a:r>
              <a:rPr lang="en-US" dirty="0"/>
              <a:t> </a:t>
            </a:r>
            <a:r>
              <a:rPr lang="en-US" dirty="0" err="1"/>
              <a:t>발전과</a:t>
            </a:r>
            <a:r>
              <a:rPr lang="en-US" dirty="0"/>
              <a:t> </a:t>
            </a:r>
            <a:r>
              <a:rPr lang="en-US" dirty="0" err="1"/>
              <a:t>신뢰</a:t>
            </a:r>
            <a:r>
              <a:rPr lang="en-US" dirty="0"/>
              <a:t> </a:t>
            </a:r>
            <a:r>
              <a:rPr lang="en-US" dirty="0" err="1"/>
              <a:t>기반</a:t>
            </a:r>
            <a:r>
              <a:rPr lang="en-US" dirty="0"/>
              <a:t> </a:t>
            </a:r>
            <a:r>
              <a:rPr lang="en-US" dirty="0" err="1"/>
              <a:t>조성</a:t>
            </a:r>
            <a:r>
              <a:rPr lang="en-US" dirty="0"/>
              <a:t> </a:t>
            </a:r>
            <a:r>
              <a:rPr lang="en-US" dirty="0" err="1"/>
              <a:t>등에</a:t>
            </a:r>
            <a:r>
              <a:rPr lang="en-US" dirty="0"/>
              <a:t> </a:t>
            </a:r>
            <a:r>
              <a:rPr lang="en-US" dirty="0" err="1"/>
              <a:t>관한</a:t>
            </a:r>
            <a:r>
              <a:rPr lang="en-US" dirty="0"/>
              <a:t> </a:t>
            </a:r>
            <a:r>
              <a:rPr lang="en-US" dirty="0" err="1"/>
              <a:t>기본법」을</a:t>
            </a:r>
            <a:r>
              <a:rPr lang="en-US" dirty="0"/>
              <a:t> </a:t>
            </a:r>
            <a:r>
              <a:rPr lang="en-US" dirty="0" err="1"/>
              <a:t>단순히</a:t>
            </a:r>
            <a:r>
              <a:rPr lang="en-US" dirty="0"/>
              <a:t> </a:t>
            </a:r>
            <a:r>
              <a:rPr lang="en-US" dirty="0" err="1"/>
              <a:t>나열식으로</a:t>
            </a:r>
            <a:r>
              <a:rPr lang="en-US" dirty="0"/>
              <a:t> </a:t>
            </a:r>
            <a:r>
              <a:rPr lang="en-US" dirty="0" err="1"/>
              <a:t>소개하는데</a:t>
            </a:r>
            <a:r>
              <a:rPr lang="en-US" dirty="0"/>
              <a:t> </a:t>
            </a:r>
            <a:r>
              <a:rPr lang="en-US" dirty="0" err="1"/>
              <a:t>목적이</a:t>
            </a:r>
            <a:r>
              <a:rPr lang="en-US" dirty="0"/>
              <a:t> </a:t>
            </a:r>
            <a:r>
              <a:rPr lang="en-US" dirty="0" err="1"/>
              <a:t>있는</a:t>
            </a:r>
            <a:r>
              <a:rPr lang="en-US" dirty="0"/>
              <a:t> </a:t>
            </a:r>
            <a:r>
              <a:rPr lang="en-US" dirty="0" err="1"/>
              <a:t>것이</a:t>
            </a:r>
            <a:r>
              <a:rPr lang="en-US" dirty="0"/>
              <a:t> </a:t>
            </a:r>
            <a:r>
              <a:rPr lang="en-US" dirty="0" err="1"/>
              <a:t>아니라</a:t>
            </a:r>
            <a:r>
              <a:rPr lang="en-US" dirty="0"/>
              <a:t>, 두 </a:t>
            </a:r>
            <a:r>
              <a:rPr lang="en-US" dirty="0" err="1"/>
              <a:t>법이</a:t>
            </a:r>
            <a:r>
              <a:rPr lang="en-US" dirty="0"/>
              <a:t> </a:t>
            </a:r>
            <a:r>
              <a:rPr lang="en-US" dirty="0" err="1"/>
              <a:t>채택하고</a:t>
            </a:r>
            <a:r>
              <a:rPr lang="en-US" dirty="0"/>
              <a:t> </a:t>
            </a:r>
            <a:r>
              <a:rPr lang="en-US" dirty="0" err="1"/>
              <a:t>있는</a:t>
            </a:r>
            <a:r>
              <a:rPr lang="en-US" dirty="0"/>
              <a:t> </a:t>
            </a:r>
            <a:r>
              <a:rPr lang="en-US" dirty="0" err="1"/>
              <a:t>규제</a:t>
            </a:r>
            <a:r>
              <a:rPr lang="en-US" dirty="0"/>
              <a:t> </a:t>
            </a:r>
            <a:r>
              <a:rPr lang="en-US" dirty="0" err="1"/>
              <a:t>접근</a:t>
            </a:r>
            <a:r>
              <a:rPr lang="en-US" dirty="0"/>
              <a:t> </a:t>
            </a:r>
            <a:r>
              <a:rPr lang="en-US" dirty="0" err="1"/>
              <a:t>방식의</a:t>
            </a:r>
            <a:r>
              <a:rPr lang="en-US" dirty="0"/>
              <a:t> </a:t>
            </a:r>
            <a:r>
              <a:rPr lang="en-US" dirty="0" err="1"/>
              <a:t>구조적</a:t>
            </a:r>
            <a:r>
              <a:rPr lang="en-US" dirty="0"/>
              <a:t> </a:t>
            </a:r>
            <a:r>
              <a:rPr lang="en-US" dirty="0" err="1"/>
              <a:t>차이를</a:t>
            </a:r>
            <a:r>
              <a:rPr lang="en-US" dirty="0"/>
              <a:t> </a:t>
            </a:r>
            <a:r>
              <a:rPr lang="en-US" dirty="0" err="1"/>
              <a:t>비교·분석하는</a:t>
            </a:r>
            <a:r>
              <a:rPr lang="en-US" dirty="0"/>
              <a:t> 데 </a:t>
            </a:r>
            <a:r>
              <a:rPr lang="en-US" dirty="0" err="1"/>
              <a:t>초점을</a:t>
            </a:r>
            <a:r>
              <a:rPr lang="en-US" dirty="0"/>
              <a:t> </a:t>
            </a:r>
            <a:r>
              <a:rPr lang="en-US" dirty="0" err="1"/>
              <a:t>둔다</a:t>
            </a:r>
            <a:r>
              <a:rPr lang="en-US" dirty="0"/>
              <a:t>. </a:t>
            </a:r>
            <a:r>
              <a:rPr lang="en-US" dirty="0" err="1"/>
              <a:t>특히</a:t>
            </a:r>
            <a:r>
              <a:rPr lang="en-US" dirty="0"/>
              <a:t> </a:t>
            </a:r>
            <a:r>
              <a:rPr lang="en-US" dirty="0" err="1"/>
              <a:t>EU가</a:t>
            </a:r>
            <a:r>
              <a:rPr lang="en-US" dirty="0"/>
              <a:t> </a:t>
            </a:r>
            <a:r>
              <a:rPr lang="en-US" dirty="0" err="1"/>
              <a:t>위험기반</a:t>
            </a:r>
            <a:r>
              <a:rPr lang="en-US" dirty="0"/>
              <a:t>(risk-based) </a:t>
            </a:r>
            <a:r>
              <a:rPr lang="en-US" dirty="0" err="1"/>
              <a:t>규제</a:t>
            </a:r>
            <a:r>
              <a:rPr lang="en-US" dirty="0"/>
              <a:t> </a:t>
            </a:r>
            <a:r>
              <a:rPr lang="en-US" dirty="0" err="1"/>
              <a:t>모델을</a:t>
            </a:r>
            <a:r>
              <a:rPr lang="en-US" dirty="0"/>
              <a:t> </a:t>
            </a:r>
            <a:r>
              <a:rPr lang="en-US" dirty="0" err="1"/>
              <a:t>채택한</a:t>
            </a:r>
            <a:r>
              <a:rPr lang="en-US" dirty="0"/>
              <a:t> </a:t>
            </a:r>
            <a:r>
              <a:rPr lang="en-US" dirty="0" err="1"/>
              <a:t>반면</a:t>
            </a:r>
            <a:r>
              <a:rPr lang="en-US" dirty="0"/>
              <a:t>, </a:t>
            </a:r>
            <a:r>
              <a:rPr lang="en-US" dirty="0" err="1"/>
              <a:t>한국은</a:t>
            </a:r>
            <a:r>
              <a:rPr lang="en-US" dirty="0"/>
              <a:t> </a:t>
            </a:r>
            <a:r>
              <a:rPr lang="en-US" dirty="0" err="1"/>
              <a:t>원칙</a:t>
            </a:r>
            <a:r>
              <a:rPr lang="en-US" dirty="0"/>
              <a:t> </a:t>
            </a:r>
            <a:r>
              <a:rPr lang="en-US" dirty="0" err="1"/>
              <a:t>기반</a:t>
            </a:r>
            <a:r>
              <a:rPr lang="en-US" dirty="0"/>
              <a:t>(principle-based) </a:t>
            </a:r>
            <a:r>
              <a:rPr lang="en-US" dirty="0" err="1"/>
              <a:t>규제</a:t>
            </a:r>
            <a:r>
              <a:rPr lang="en-US" dirty="0"/>
              <a:t> </a:t>
            </a:r>
            <a:r>
              <a:rPr lang="en-US" dirty="0" err="1"/>
              <a:t>모델을</a:t>
            </a:r>
            <a:r>
              <a:rPr lang="en-US" dirty="0"/>
              <a:t> </a:t>
            </a:r>
            <a:r>
              <a:rPr lang="en-US" dirty="0" err="1"/>
              <a:t>선택하고</a:t>
            </a:r>
            <a:r>
              <a:rPr lang="en-US" dirty="0"/>
              <a:t> </a:t>
            </a:r>
            <a:r>
              <a:rPr lang="en-US" dirty="0" err="1"/>
              <a:t>있다는</a:t>
            </a:r>
            <a:r>
              <a:rPr lang="en-US" dirty="0"/>
              <a:t> </a:t>
            </a:r>
            <a:r>
              <a:rPr lang="en-US" dirty="0" err="1"/>
              <a:t>점을</a:t>
            </a:r>
            <a:r>
              <a:rPr lang="en-US" dirty="0"/>
              <a:t> </a:t>
            </a:r>
            <a:r>
              <a:rPr lang="en-US" dirty="0" err="1"/>
              <a:t>중심</a:t>
            </a:r>
            <a:r>
              <a:rPr lang="en-US" dirty="0"/>
              <a:t> </a:t>
            </a:r>
            <a:r>
              <a:rPr lang="en-US" dirty="0" err="1"/>
              <a:t>논점으로</a:t>
            </a:r>
            <a:r>
              <a:rPr lang="en-US" dirty="0"/>
              <a:t> </a:t>
            </a:r>
            <a:r>
              <a:rPr lang="en-US" dirty="0" err="1"/>
              <a:t>설정한다</a:t>
            </a:r>
            <a:r>
              <a:rPr lang="en-US" dirty="0"/>
              <a:t>. </a:t>
            </a:r>
            <a:r>
              <a:rPr lang="en-US" dirty="0" err="1"/>
              <a:t>이러한</a:t>
            </a:r>
            <a:r>
              <a:rPr lang="en-US" dirty="0"/>
              <a:t> </a:t>
            </a:r>
            <a:r>
              <a:rPr lang="en-US" dirty="0" err="1"/>
              <a:t>차이는</a:t>
            </a:r>
            <a:r>
              <a:rPr lang="en-US" dirty="0"/>
              <a:t> </a:t>
            </a:r>
            <a:r>
              <a:rPr lang="en-US" dirty="0" err="1"/>
              <a:t>단순한</a:t>
            </a:r>
            <a:r>
              <a:rPr lang="en-US" dirty="0"/>
              <a:t> </a:t>
            </a:r>
            <a:r>
              <a:rPr lang="en-US" dirty="0" err="1"/>
              <a:t>입법</a:t>
            </a:r>
            <a:r>
              <a:rPr lang="en-US" dirty="0"/>
              <a:t> </a:t>
            </a:r>
            <a:r>
              <a:rPr lang="en-US" dirty="0" err="1"/>
              <a:t>기술의</a:t>
            </a:r>
            <a:r>
              <a:rPr lang="en-US" dirty="0"/>
              <a:t> </a:t>
            </a:r>
            <a:r>
              <a:rPr lang="en-US" dirty="0" err="1"/>
              <a:t>차이가</a:t>
            </a:r>
            <a:r>
              <a:rPr lang="en-US" dirty="0"/>
              <a:t> </a:t>
            </a:r>
            <a:r>
              <a:rPr lang="en-US" dirty="0" err="1"/>
              <a:t>아니라</a:t>
            </a:r>
            <a:r>
              <a:rPr lang="en-US" dirty="0"/>
              <a:t>, 각 </a:t>
            </a:r>
            <a:r>
              <a:rPr lang="en-US" dirty="0" err="1"/>
              <a:t>지역이</a:t>
            </a:r>
            <a:r>
              <a:rPr lang="en-US" dirty="0"/>
              <a:t> AI </a:t>
            </a:r>
            <a:r>
              <a:rPr lang="en-US" dirty="0" err="1"/>
              <a:t>기술을</a:t>
            </a:r>
            <a:r>
              <a:rPr lang="en-US" dirty="0"/>
              <a:t> </a:t>
            </a:r>
            <a:r>
              <a:rPr lang="en-US" dirty="0" err="1"/>
              <a:t>바라보는</a:t>
            </a:r>
            <a:r>
              <a:rPr lang="en-US" dirty="0"/>
              <a:t> </a:t>
            </a:r>
            <a:r>
              <a:rPr lang="en-US" dirty="0" err="1"/>
              <a:t>정책적</a:t>
            </a:r>
            <a:r>
              <a:rPr lang="en-US" dirty="0"/>
              <a:t> </a:t>
            </a:r>
            <a:r>
              <a:rPr lang="en-US" dirty="0" err="1"/>
              <a:t>관점</a:t>
            </a:r>
            <a:r>
              <a:rPr lang="en-US" dirty="0"/>
              <a:t>, 즉 </a:t>
            </a:r>
            <a:r>
              <a:rPr lang="en-US" dirty="0" err="1"/>
              <a:t>기본권</a:t>
            </a:r>
            <a:r>
              <a:rPr lang="en-US" dirty="0"/>
              <a:t> </a:t>
            </a:r>
            <a:r>
              <a:rPr lang="en-US" dirty="0" err="1"/>
              <a:t>보호와</a:t>
            </a:r>
            <a:r>
              <a:rPr lang="en-US" dirty="0"/>
              <a:t> </a:t>
            </a:r>
            <a:r>
              <a:rPr lang="en-US" dirty="0" err="1"/>
              <a:t>산업</a:t>
            </a:r>
            <a:r>
              <a:rPr lang="en-US" dirty="0"/>
              <a:t> </a:t>
            </a:r>
            <a:r>
              <a:rPr lang="en-US" dirty="0" err="1"/>
              <a:t>진흥</a:t>
            </a:r>
            <a:r>
              <a:rPr lang="en-US" dirty="0"/>
              <a:t> 중 </a:t>
            </a:r>
            <a:r>
              <a:rPr lang="en-US" dirty="0" err="1"/>
              <a:t>어느</a:t>
            </a:r>
            <a:r>
              <a:rPr lang="en-US" dirty="0"/>
              <a:t> </a:t>
            </a:r>
            <a:r>
              <a:rPr lang="en-US" dirty="0" err="1"/>
              <a:t>가치에</a:t>
            </a:r>
            <a:r>
              <a:rPr lang="en-US" dirty="0"/>
              <a:t> </a:t>
            </a:r>
            <a:r>
              <a:rPr lang="en-US" dirty="0" err="1"/>
              <a:t>상대적으로</a:t>
            </a:r>
            <a:r>
              <a:rPr lang="en-US" dirty="0"/>
              <a:t> </a:t>
            </a:r>
            <a:r>
              <a:rPr lang="en-US" dirty="0" err="1"/>
              <a:t>무게를</a:t>
            </a:r>
            <a:r>
              <a:rPr lang="en-US" dirty="0"/>
              <a:t> </a:t>
            </a:r>
            <a:r>
              <a:rPr lang="en-US" dirty="0" err="1"/>
              <a:t>두는가를</a:t>
            </a:r>
            <a:r>
              <a:rPr lang="en-US" dirty="0"/>
              <a:t> </a:t>
            </a:r>
            <a:r>
              <a:rPr lang="en-US" dirty="0" err="1"/>
              <a:t>반영한다</a:t>
            </a:r>
            <a:r>
              <a:rPr lang="en-US" dirty="0"/>
              <a:t>. </a:t>
            </a:r>
            <a:r>
              <a:rPr lang="en-US" dirty="0" err="1"/>
              <a:t>따라서</a:t>
            </a:r>
            <a:r>
              <a:rPr lang="en-US" dirty="0"/>
              <a:t> 본 </a:t>
            </a:r>
            <a:r>
              <a:rPr lang="en-US" dirty="0" err="1"/>
              <a:t>발표에서는</a:t>
            </a:r>
            <a:r>
              <a:rPr lang="en-US" dirty="0"/>
              <a:t> </a:t>
            </a:r>
            <a:r>
              <a:rPr lang="en-US" dirty="0" err="1"/>
              <a:t>규제의</a:t>
            </a:r>
            <a:r>
              <a:rPr lang="en-US" dirty="0"/>
              <a:t> </a:t>
            </a:r>
            <a:r>
              <a:rPr lang="en-US" dirty="0" err="1"/>
              <a:t>엄격함</a:t>
            </a:r>
            <a:r>
              <a:rPr lang="en-US" dirty="0"/>
              <a:t> </a:t>
            </a:r>
            <a:r>
              <a:rPr lang="en-US" dirty="0" err="1"/>
              <a:t>자체를</a:t>
            </a:r>
            <a:r>
              <a:rPr lang="en-US" dirty="0"/>
              <a:t> </a:t>
            </a:r>
            <a:r>
              <a:rPr lang="en-US" dirty="0" err="1"/>
              <a:t>평가하기보다는</a:t>
            </a:r>
            <a:r>
              <a:rPr lang="en-US" dirty="0"/>
              <a:t>, 왜 </a:t>
            </a:r>
            <a:r>
              <a:rPr lang="en-US" dirty="0" err="1"/>
              <a:t>이러한</a:t>
            </a:r>
            <a:r>
              <a:rPr lang="en-US" dirty="0"/>
              <a:t> </a:t>
            </a:r>
            <a:r>
              <a:rPr lang="en-US" dirty="0" err="1"/>
              <a:t>선택이</a:t>
            </a:r>
            <a:r>
              <a:rPr lang="en-US" dirty="0"/>
              <a:t> </a:t>
            </a:r>
            <a:r>
              <a:rPr lang="en-US" dirty="0" err="1"/>
              <a:t>이루어졌는지</a:t>
            </a:r>
            <a:r>
              <a:rPr lang="en-US" dirty="0"/>
              <a:t>, </a:t>
            </a:r>
            <a:r>
              <a:rPr lang="en-US" dirty="0" err="1"/>
              <a:t>그리고</a:t>
            </a:r>
            <a:r>
              <a:rPr lang="en-US" dirty="0"/>
              <a:t> 그 </a:t>
            </a:r>
            <a:r>
              <a:rPr lang="en-US" dirty="0" err="1"/>
              <a:t>결과로</a:t>
            </a:r>
            <a:r>
              <a:rPr lang="en-US" dirty="0"/>
              <a:t> </a:t>
            </a:r>
            <a:r>
              <a:rPr lang="en-US" dirty="0" err="1"/>
              <a:t>규제의</a:t>
            </a:r>
            <a:r>
              <a:rPr lang="en-US" dirty="0"/>
              <a:t> </a:t>
            </a:r>
            <a:r>
              <a:rPr lang="en-US" dirty="0" err="1"/>
              <a:t>명확성</a:t>
            </a:r>
            <a:r>
              <a:rPr lang="en-US" dirty="0"/>
              <a:t>, </a:t>
            </a:r>
            <a:r>
              <a:rPr lang="en-US" dirty="0" err="1"/>
              <a:t>예측가능성</a:t>
            </a:r>
            <a:r>
              <a:rPr lang="en-US" dirty="0"/>
              <a:t>, </a:t>
            </a:r>
            <a:r>
              <a:rPr lang="en-US" dirty="0" err="1"/>
              <a:t>집행력</a:t>
            </a:r>
            <a:r>
              <a:rPr lang="en-US" dirty="0"/>
              <a:t> </a:t>
            </a:r>
            <a:r>
              <a:rPr lang="en-US" dirty="0" err="1"/>
              <a:t>측면에서</a:t>
            </a:r>
            <a:r>
              <a:rPr lang="en-US" dirty="0"/>
              <a:t> </a:t>
            </a:r>
            <a:r>
              <a:rPr lang="en-US" dirty="0" err="1"/>
              <a:t>어떠한</a:t>
            </a:r>
            <a:r>
              <a:rPr lang="en-US" dirty="0"/>
              <a:t> </a:t>
            </a:r>
            <a:r>
              <a:rPr lang="en-US" dirty="0" err="1"/>
              <a:t>차이가</a:t>
            </a:r>
            <a:r>
              <a:rPr lang="en-US" dirty="0"/>
              <a:t> </a:t>
            </a:r>
            <a:r>
              <a:rPr lang="en-US" dirty="0" err="1"/>
              <a:t>발생하는지를</a:t>
            </a:r>
            <a:r>
              <a:rPr lang="en-US" dirty="0"/>
              <a:t> </a:t>
            </a:r>
            <a:r>
              <a:rPr lang="en-US" dirty="0" err="1"/>
              <a:t>설명하고자</a:t>
            </a:r>
            <a:r>
              <a:rPr lang="en-US" dirty="0"/>
              <a:t> </a:t>
            </a:r>
            <a:r>
              <a:rPr lang="en-US" dirty="0" err="1"/>
              <a:t>한다</a:t>
            </a:r>
            <a:r>
              <a:rPr lang="en-US" dirty="0"/>
              <a:t>. </a:t>
            </a:r>
            <a:r>
              <a:rPr lang="en-US" dirty="0" err="1"/>
              <a:t>이와</a:t>
            </a:r>
            <a:r>
              <a:rPr lang="en-US" dirty="0"/>
              <a:t> </a:t>
            </a:r>
            <a:r>
              <a:rPr lang="en-US" dirty="0" err="1"/>
              <a:t>같은</a:t>
            </a:r>
            <a:r>
              <a:rPr lang="en-US" dirty="0"/>
              <a:t> </a:t>
            </a:r>
            <a:r>
              <a:rPr lang="en-US" dirty="0" err="1"/>
              <a:t>접근은</a:t>
            </a:r>
            <a:r>
              <a:rPr lang="en-US" dirty="0"/>
              <a:t> EU </a:t>
            </a:r>
            <a:r>
              <a:rPr lang="en-US" dirty="0" err="1"/>
              <a:t>모델을</a:t>
            </a:r>
            <a:r>
              <a:rPr lang="en-US" dirty="0"/>
              <a:t> </a:t>
            </a:r>
            <a:r>
              <a:rPr lang="en-US" dirty="0" err="1"/>
              <a:t>무조건적으로</a:t>
            </a:r>
            <a:r>
              <a:rPr lang="en-US" dirty="0"/>
              <a:t> </a:t>
            </a:r>
            <a:r>
              <a:rPr lang="en-US" dirty="0" err="1"/>
              <a:t>모범</a:t>
            </a:r>
            <a:r>
              <a:rPr lang="en-US" dirty="0"/>
              <a:t> </a:t>
            </a:r>
            <a:r>
              <a:rPr lang="en-US" dirty="0" err="1"/>
              <a:t>사례로</a:t>
            </a:r>
            <a:r>
              <a:rPr lang="en-US" dirty="0"/>
              <a:t> </a:t>
            </a:r>
            <a:r>
              <a:rPr lang="en-US" dirty="0" err="1"/>
              <a:t>제시하거나</a:t>
            </a:r>
            <a:r>
              <a:rPr lang="en-US" dirty="0"/>
              <a:t>, </a:t>
            </a:r>
            <a:r>
              <a:rPr lang="en-US" dirty="0" err="1"/>
              <a:t>한국</a:t>
            </a:r>
            <a:r>
              <a:rPr lang="en-US" dirty="0"/>
              <a:t> </a:t>
            </a:r>
            <a:r>
              <a:rPr lang="en-US" dirty="0" err="1"/>
              <a:t>모델을</a:t>
            </a:r>
            <a:r>
              <a:rPr lang="en-US" dirty="0"/>
              <a:t> </a:t>
            </a:r>
            <a:r>
              <a:rPr lang="en-US" dirty="0" err="1"/>
              <a:t>후진적</a:t>
            </a:r>
            <a:r>
              <a:rPr lang="en-US" dirty="0"/>
              <a:t> </a:t>
            </a:r>
            <a:r>
              <a:rPr lang="en-US" dirty="0" err="1"/>
              <a:t>규제로</a:t>
            </a:r>
            <a:r>
              <a:rPr lang="en-US" dirty="0"/>
              <a:t> </a:t>
            </a:r>
            <a:r>
              <a:rPr lang="en-US" dirty="0" err="1"/>
              <a:t>평가하는</a:t>
            </a:r>
            <a:r>
              <a:rPr lang="en-US" dirty="0"/>
              <a:t> </a:t>
            </a:r>
            <a:r>
              <a:rPr lang="en-US" dirty="0" err="1"/>
              <a:t>이분법적</a:t>
            </a:r>
            <a:r>
              <a:rPr lang="en-US" dirty="0"/>
              <a:t> </a:t>
            </a:r>
            <a:r>
              <a:rPr lang="en-US" dirty="0" err="1"/>
              <a:t>논의를</a:t>
            </a:r>
            <a:r>
              <a:rPr lang="en-US" dirty="0"/>
              <a:t> </a:t>
            </a:r>
            <a:r>
              <a:rPr lang="en-US" dirty="0" err="1"/>
              <a:t>피하고</a:t>
            </a:r>
            <a:r>
              <a:rPr lang="en-US" dirty="0"/>
              <a:t>, 각 </a:t>
            </a:r>
            <a:r>
              <a:rPr lang="en-US" dirty="0" err="1"/>
              <a:t>제도의</a:t>
            </a:r>
            <a:r>
              <a:rPr lang="en-US" dirty="0"/>
              <a:t> </a:t>
            </a:r>
            <a:r>
              <a:rPr lang="en-US" dirty="0" err="1"/>
              <a:t>정책적</a:t>
            </a:r>
            <a:r>
              <a:rPr lang="en-US" dirty="0"/>
              <a:t> </a:t>
            </a:r>
            <a:r>
              <a:rPr lang="en-US" dirty="0" err="1"/>
              <a:t>합리성을</a:t>
            </a:r>
            <a:r>
              <a:rPr lang="en-US" dirty="0"/>
              <a:t> </a:t>
            </a:r>
            <a:r>
              <a:rPr lang="en-US" dirty="0" err="1"/>
              <a:t>균형</a:t>
            </a:r>
            <a:r>
              <a:rPr lang="en-US" dirty="0"/>
              <a:t> </a:t>
            </a:r>
            <a:r>
              <a:rPr lang="en-US" dirty="0" err="1"/>
              <a:t>있게</a:t>
            </a:r>
            <a:r>
              <a:rPr lang="en-US" dirty="0"/>
              <a:t> </a:t>
            </a:r>
            <a:r>
              <a:rPr lang="en-US" dirty="0" err="1"/>
              <a:t>이해하는</a:t>
            </a:r>
            <a:r>
              <a:rPr lang="en-US" dirty="0"/>
              <a:t> 데 </a:t>
            </a:r>
            <a:r>
              <a:rPr lang="en-US" dirty="0" err="1"/>
              <a:t>기여한다</a:t>
            </a:r>
            <a:r>
              <a:rPr lang="en-US" dirty="0"/>
              <a:t>. </a:t>
            </a:r>
            <a:r>
              <a:rPr lang="en-US" dirty="0" err="1"/>
              <a:t>발표의</a:t>
            </a:r>
            <a:r>
              <a:rPr lang="en-US" dirty="0"/>
              <a:t> </a:t>
            </a:r>
            <a:r>
              <a:rPr lang="en-US" dirty="0" err="1"/>
              <a:t>전체</a:t>
            </a:r>
            <a:r>
              <a:rPr lang="en-US" dirty="0"/>
              <a:t> </a:t>
            </a:r>
            <a:r>
              <a:rPr lang="en-US" dirty="0" err="1"/>
              <a:t>흐름은</a:t>
            </a:r>
            <a:r>
              <a:rPr lang="en-US" dirty="0"/>
              <a:t> </a:t>
            </a:r>
            <a:r>
              <a:rPr lang="en-US" dirty="0" err="1"/>
              <a:t>문제</a:t>
            </a:r>
            <a:r>
              <a:rPr lang="en-US" dirty="0"/>
              <a:t> </a:t>
            </a:r>
            <a:r>
              <a:rPr lang="en-US" dirty="0" err="1"/>
              <a:t>제기</a:t>
            </a:r>
            <a:r>
              <a:rPr lang="en-US" dirty="0"/>
              <a:t>, EU </a:t>
            </a:r>
            <a:r>
              <a:rPr lang="en-US" dirty="0" err="1"/>
              <a:t>규제</a:t>
            </a:r>
            <a:r>
              <a:rPr lang="en-US" dirty="0"/>
              <a:t> </a:t>
            </a:r>
            <a:r>
              <a:rPr lang="en-US" dirty="0" err="1"/>
              <a:t>구조</a:t>
            </a:r>
            <a:r>
              <a:rPr lang="en-US" dirty="0"/>
              <a:t> </a:t>
            </a:r>
            <a:r>
              <a:rPr lang="en-US" dirty="0" err="1"/>
              <a:t>설명</a:t>
            </a:r>
            <a:r>
              <a:rPr lang="en-US" dirty="0"/>
              <a:t>, </a:t>
            </a:r>
            <a:r>
              <a:rPr lang="en-US" dirty="0" err="1"/>
              <a:t>한국</a:t>
            </a:r>
            <a:r>
              <a:rPr lang="en-US" dirty="0"/>
              <a:t> </a:t>
            </a:r>
            <a:r>
              <a:rPr lang="en-US" dirty="0" err="1"/>
              <a:t>규제</a:t>
            </a:r>
            <a:r>
              <a:rPr lang="en-US" dirty="0"/>
              <a:t> </a:t>
            </a:r>
            <a:r>
              <a:rPr lang="en-US" dirty="0" err="1"/>
              <a:t>구조</a:t>
            </a:r>
            <a:r>
              <a:rPr lang="en-US" dirty="0"/>
              <a:t> </a:t>
            </a:r>
            <a:r>
              <a:rPr lang="en-US" dirty="0" err="1"/>
              <a:t>설명</a:t>
            </a:r>
            <a:r>
              <a:rPr lang="en-US" dirty="0"/>
              <a:t>, </a:t>
            </a:r>
            <a:r>
              <a:rPr lang="en-US" dirty="0" err="1"/>
              <a:t>양자</a:t>
            </a:r>
            <a:r>
              <a:rPr lang="en-US" dirty="0"/>
              <a:t> </a:t>
            </a:r>
            <a:r>
              <a:rPr lang="en-US" dirty="0" err="1"/>
              <a:t>비교</a:t>
            </a:r>
            <a:r>
              <a:rPr lang="en-US" dirty="0"/>
              <a:t>, </a:t>
            </a:r>
            <a:r>
              <a:rPr lang="en-US" dirty="0" err="1"/>
              <a:t>정책적</a:t>
            </a:r>
            <a:r>
              <a:rPr lang="en-US" dirty="0"/>
              <a:t> </a:t>
            </a:r>
            <a:r>
              <a:rPr lang="en-US" dirty="0" err="1"/>
              <a:t>시사점</a:t>
            </a:r>
            <a:r>
              <a:rPr lang="en-US" dirty="0"/>
              <a:t> </a:t>
            </a:r>
            <a:r>
              <a:rPr lang="en-US" dirty="0" err="1"/>
              <a:t>도출의</a:t>
            </a:r>
            <a:r>
              <a:rPr lang="en-US" dirty="0"/>
              <a:t> </a:t>
            </a:r>
            <a:r>
              <a:rPr lang="en-US" dirty="0" err="1"/>
              <a:t>순서로</a:t>
            </a:r>
            <a:r>
              <a:rPr lang="en-US" dirty="0"/>
              <a:t> </a:t>
            </a:r>
            <a:r>
              <a:rPr lang="en-US" dirty="0" err="1"/>
              <a:t>구성되며</a:t>
            </a:r>
            <a:r>
              <a:rPr lang="en-US" dirty="0"/>
              <a:t>, </a:t>
            </a:r>
            <a:r>
              <a:rPr lang="en-US" dirty="0" err="1"/>
              <a:t>이를</a:t>
            </a:r>
            <a:r>
              <a:rPr lang="en-US" dirty="0"/>
              <a:t> </a:t>
            </a:r>
            <a:r>
              <a:rPr lang="en-US" dirty="0" err="1"/>
              <a:t>통해</a:t>
            </a:r>
            <a:r>
              <a:rPr lang="en-US" dirty="0"/>
              <a:t> </a:t>
            </a:r>
            <a:r>
              <a:rPr lang="en-US" dirty="0" err="1"/>
              <a:t>청중이</a:t>
            </a:r>
            <a:r>
              <a:rPr lang="en-US" dirty="0"/>
              <a:t> 두 </a:t>
            </a:r>
            <a:r>
              <a:rPr lang="en-US" dirty="0" err="1"/>
              <a:t>규제</a:t>
            </a:r>
            <a:r>
              <a:rPr lang="en-US" dirty="0"/>
              <a:t> </a:t>
            </a:r>
            <a:r>
              <a:rPr lang="en-US" dirty="0" err="1"/>
              <a:t>체계를</a:t>
            </a:r>
            <a:r>
              <a:rPr lang="en-US" dirty="0"/>
              <a:t> </a:t>
            </a:r>
            <a:r>
              <a:rPr lang="en-US" dirty="0" err="1"/>
              <a:t>체계적으로</a:t>
            </a:r>
            <a:r>
              <a:rPr lang="en-US" dirty="0"/>
              <a:t> </a:t>
            </a:r>
            <a:r>
              <a:rPr lang="en-US" dirty="0" err="1"/>
              <a:t>비교·이해할</a:t>
            </a:r>
            <a:r>
              <a:rPr lang="en-US" dirty="0"/>
              <a:t> 수 </a:t>
            </a:r>
            <a:r>
              <a:rPr lang="en-US" dirty="0" err="1"/>
              <a:t>있도록</a:t>
            </a:r>
            <a:r>
              <a:rPr lang="en-US" dirty="0"/>
              <a:t> </a:t>
            </a:r>
            <a:r>
              <a:rPr lang="en-US" dirty="0" err="1"/>
              <a:t>설계되었다</a:t>
            </a:r>
            <a:r>
              <a:rPr lang="en-US" dirty="0"/>
              <a:t>. </a:t>
            </a:r>
            <a:r>
              <a:rPr lang="ko-KR" altLang="en-US" dirty="0"/>
              <a:t>또한</a:t>
            </a:r>
            <a:r>
              <a:rPr lang="en-US" altLang="ko-KR" dirty="0"/>
              <a:t>, </a:t>
            </a:r>
            <a:r>
              <a:rPr lang="ko-KR" altLang="en-US" dirty="0"/>
              <a:t>두 규제를 비교하는 과정에서 발생할 수 있는 문제들에 대해서도 진행과정을 통하여 각각의 질문에 대한 해답을 구해보고자 한다</a:t>
            </a:r>
            <a:r>
              <a:rPr lang="en-US" altLang="ko-KR" dirty="0"/>
              <a:t>.</a:t>
            </a:r>
            <a:endParaRPr lang="en-US" dirty="0"/>
          </a:p>
        </p:txBody>
      </p:sp>
      <p:sp>
        <p:nvSpPr>
          <p:cNvPr id="4" name="Slide Number Placeholder 3"/>
          <p:cNvSpPr>
            <a:spLocks noGrp="1"/>
          </p:cNvSpPr>
          <p:nvPr>
            <p:ph type="sldNum" sz="quarter" idx="5"/>
          </p:nvPr>
        </p:nvSpPr>
        <p:spPr/>
        <p:txBody>
          <a:bodyPr/>
          <a:lstStyle/>
          <a:p>
            <a:fld id="{BEA2EDFA-3FF9-4240-A72E-06516FE09BDD}" type="slidenum">
              <a:t>3</a:t>
            </a:fld>
            <a:endParaRPr lang="en-US"/>
          </a:p>
        </p:txBody>
      </p:sp>
    </p:spTree>
    <p:extLst>
      <p:ext uri="{BB962C8B-B14F-4D97-AF65-F5344CB8AC3E}">
        <p14:creationId xmlns:p14="http://schemas.microsoft.com/office/powerpoint/2010/main" val="41083539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이 슬라이드는 왜 EU AI Act와 한국 AI 기본법을 비교할 필요가 있는지를 설명하는 문제 제기 단계이다. EU와 한국은 모두 인공지능 기술이 사회 전반에 미치는 영향이 확대되고 있다는 점에 공감하며, AI의 안전성과 신뢰성을 확보해야 한다는 공통된 목표를 가지고 있다. 그러나 이러한 공통 목표에도 불구하고, 실제 법제 설계 방식에서는 상당한 차이가 나타난다. EU는 AI가 개인의 기본권과 안전에 미칠 수 있는 위험을 중심으로 규제 체계를 구축한 반면, 한국은 산업 경쟁력과 기술 혁신을 저해하지 않는 방향에서 최소한의 규범적 틀을 마련하는 데 초점을 두었다. 이러한 차이는 규제가 실제로 작동하는 방식에 영향을 미치며, 기업 입장에서는 규제 준수의 난이도와 예측가능성에 차이를 발생시킨다. 또한 감독기관의 입장에서도 어떤 AI를 우선적으로 관리·감독해야 하는지에 대한 판단 기준이 달라질 수 있다. 따라서 두 규제 모델을 비교하는 것은 단순한 국가 간 법제 비교를 넘어, AI 시대에 적합한 규제 철학이 무엇인지에 대한 논의를 가능하게 한다. 본 슬라이드는 이후의 분석을 이해하기 위한 문제의식을 명확히 제시함으로써, 청중이 이후 슬라이드에서 제시되는 구조적 비교를 자연스럽게 따라갈 수 있도록 하는 역할을 한다.</a:t>
            </a:r>
          </a:p>
        </p:txBody>
      </p:sp>
      <p:sp>
        <p:nvSpPr>
          <p:cNvPr id="4" name="Slide Number Placeholder 3"/>
          <p:cNvSpPr>
            <a:spLocks noGrp="1"/>
          </p:cNvSpPr>
          <p:nvPr>
            <p:ph type="sldNum" sz="quarter" idx="5"/>
          </p:nvPr>
        </p:nvSpPr>
        <p:spPr/>
        <p:txBody>
          <a:bodyPr/>
          <a:lstStyle/>
          <a:p>
            <a:fld id="{BEA2EDFA-3FF9-4240-A72E-06516FE09BDD}" type="slidenum">
              <a:t>4</a:t>
            </a:fld>
            <a:endParaRPr lang="en-US"/>
          </a:p>
        </p:txBody>
      </p:sp>
    </p:spTree>
    <p:extLst>
      <p:ext uri="{BB962C8B-B14F-4D97-AF65-F5344CB8AC3E}">
        <p14:creationId xmlns:p14="http://schemas.microsoft.com/office/powerpoint/2010/main" val="176899593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본 슬라이드는 EU AI Act가 채택하고 있는 위험기반 규제 구조의 핵심 내용을 설명한다. EU AI Act는 AI 시스템을 그 사회적 위험 수준에 따라 네 가지 범주로 구분한다. 가장 위험한 수준에 해당하는 ‘허용 불가 위험(Unacceptable Risk)’ AI는 원칙적으로 사용이 금지되며, ‘고위험(High-risk)’ AI는 엄격한 사전 규제와 관리 의무의 대상이 된다. 반면, 제한적 위험(Limited Risk) 및 최소 위험(Minimal Risk) AI는 투명성 의무 또는 사실상 비규제 영역에 속한다. 이 중 핵심은 고위험 AI에 대한 규제이며, EU는 부속서(Annex III)를 통해 고위험 AI의 활용 분야를 사전에 명시함으로써 규제 대상의 범위를 명확히 한다. 이러한 구조는 규제의 예측가능성을 높이고, 기업이 사전에 컴플라이언스 전략을 수립할 수 있도록 돕는다. 또한 감독기관 역시 자원을 고위험 영역에 집중할 수 있어 집행 효율성을 확보할 수 있다. 다만 이러한 위험기반 구조는 기술 변화 속도를 충분히 반영하지 못할 경우 경직성을 초래할 수 있다는 한계도 함께 가진다. 이 슬라이드는 EU 규제 모델의 기본 구조와 의도를 이해시키는 데 목적이 있다.</a:t>
            </a:r>
          </a:p>
        </p:txBody>
      </p:sp>
      <p:sp>
        <p:nvSpPr>
          <p:cNvPr id="4" name="Slide Number Placeholder 3"/>
          <p:cNvSpPr>
            <a:spLocks noGrp="1"/>
          </p:cNvSpPr>
          <p:nvPr>
            <p:ph type="sldNum" sz="quarter" idx="5"/>
          </p:nvPr>
        </p:nvSpPr>
        <p:spPr/>
        <p:txBody>
          <a:bodyPr/>
          <a:lstStyle/>
          <a:p>
            <a:fld id="{BEA2EDFA-3FF9-4240-A72E-06516FE09BDD}" type="slidenum">
              <a:t>5</a:t>
            </a:fld>
            <a:endParaRPr lang="en-US"/>
          </a:p>
        </p:txBody>
      </p:sp>
    </p:spTree>
    <p:extLst>
      <p:ext uri="{BB962C8B-B14F-4D97-AF65-F5344CB8AC3E}">
        <p14:creationId xmlns:p14="http://schemas.microsoft.com/office/powerpoint/2010/main" val="31212737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본 슬라이드는 한국 AI 기본법이 채택한 원칙 기반 규제 구조를 설명한다. 한국의 AI 기본법은 EU와 달리 AI 시스템을 위험 수준별로 사전적으로 세분화하여 규정하지 않는다. 대신 투명성, 책임성, 신뢰성 확보와 같은 포괄적 원칙을 중심으로 규제의 방향을 제시하고, 구체적인 적용은 가이드라인과 행정적 해석에 맡기는 구조를 취한다. 법률상 ‘고위험 AI’ 개념 대신 ‘고영향 AI’라는 개념이 도입되어 있으나, 이는 EU처럼 고정된 목록에 의해 판단되기보다는 활용 맥락과 사회적 영향에 따라 탄력적으로 판단되는 개념에 가깝다. 이러한 접근은 기술 발전 속도가 빠른 AI 분야의 특성을 고려하여 법의 경직성을 완화하고, 산업 혁신을 촉진하려는 정책적 의도를 반영한다. 동시에 기업에게는 비교적 낮은 규제 부담을 제공함으로써 국내 AI 산업 생태계의 성장을 도모한다. 그러나 규제 기준이 추상적이라는 점에서, 규제 예측가능성과 법적 명확성 측면에서는 한계를 가질 수 있다. 본 슬라이드는 이러한 한국 규제 모델의 특징과 의도를 이해시키는 역할을 한다.</a:t>
            </a:r>
          </a:p>
        </p:txBody>
      </p:sp>
      <p:sp>
        <p:nvSpPr>
          <p:cNvPr id="4" name="Slide Number Placeholder 3"/>
          <p:cNvSpPr>
            <a:spLocks noGrp="1"/>
          </p:cNvSpPr>
          <p:nvPr>
            <p:ph type="sldNum" sz="quarter" idx="5"/>
          </p:nvPr>
        </p:nvSpPr>
        <p:spPr/>
        <p:txBody>
          <a:bodyPr/>
          <a:lstStyle/>
          <a:p>
            <a:fld id="{BEA2EDFA-3FF9-4240-A72E-06516FE09BDD}" type="slidenum">
              <a:t>6</a:t>
            </a:fld>
            <a:endParaRPr lang="en-US"/>
          </a:p>
        </p:txBody>
      </p:sp>
    </p:spTree>
    <p:extLst>
      <p:ext uri="{BB962C8B-B14F-4D97-AF65-F5344CB8AC3E}">
        <p14:creationId xmlns:p14="http://schemas.microsoft.com/office/powerpoint/2010/main" val="15082160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이 슬라이드는 EU와 한국의 규제 방식을 구조적으로 비교하는 핵심 슬라이드이다. EU 규제 모델은 기본권 보호를 최우선 가치로 설정하고, 사전 규제를 통해 위험을 예방하는 구조를 가진다. 이에 비해 한국은 산업 진흥과 기술 혁신을 중시하며, 사후 대응 중심의 규제 방식을 택하고 있다. EU는 위험을 명확하게 분류하고 그에 따른 의무를 법률로 규정함으로써 집행력을 확보하는 반면, 한국은 원칙과 가이드라인을 통해 유연성을 확보한다. 이러한 차이는 어느 한쪽이 우월하다고 단정할 수 있는 문제가 아니라, 각 국가가 처한 산업 구조와 정책 목표에 따른 선택의 결과로 이해해야 한다. 본 슬라이드는 두 모델의 대비를 통해 규제 철학의 차이를 직관적으로 이해할 수 있도록 설계되었다.</a:t>
            </a:r>
          </a:p>
        </p:txBody>
      </p:sp>
      <p:sp>
        <p:nvSpPr>
          <p:cNvPr id="4" name="Slide Number Placeholder 3"/>
          <p:cNvSpPr>
            <a:spLocks noGrp="1"/>
          </p:cNvSpPr>
          <p:nvPr>
            <p:ph type="sldNum" sz="quarter" idx="5"/>
          </p:nvPr>
        </p:nvSpPr>
        <p:spPr/>
        <p:txBody>
          <a:bodyPr/>
          <a:lstStyle/>
          <a:p>
            <a:fld id="{BEA2EDFA-3FF9-4240-A72E-06516FE09BDD}" type="slidenum">
              <a:t>7</a:t>
            </a:fld>
            <a:endParaRPr lang="en-US"/>
          </a:p>
        </p:txBody>
      </p:sp>
    </p:spTree>
    <p:extLst>
      <p:ext uri="{BB962C8B-B14F-4D97-AF65-F5344CB8AC3E}">
        <p14:creationId xmlns:p14="http://schemas.microsoft.com/office/powerpoint/2010/main" val="17781786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본 슬라이드는 규제가 기술 발전에 미치는 영향을 비교 분석한다. EU 모델은 사전 규제를 통해 안정성과 법적 명확성을 확보할 수 있으나, 기업 입장에서는 초기 개발 단계에서 규제 부담이 증가할 수 있다. 반면 한국 모델은 비교적 자유로운 환경에서 기술을 빠르게 실험하고 시장에 적용할 수 있다는 장점이 있다. 그러나 이러한 사후 대응 중심 구조는 AI가 사회 전반에 확산된 이후 위험이 누적될 가능성을 내포한다. 따라서 본 슬라이드는 단기적인 혁신 속도와 중·장기적인 사회적 안정성 간의 트레이드오프를 강조한다. 이는 규제의 목적이 기술 억제가 아니라 지속 가능한 발전임을 이해하는 데 중요한 관점을 제공한다.</a:t>
            </a:r>
          </a:p>
        </p:txBody>
      </p:sp>
      <p:sp>
        <p:nvSpPr>
          <p:cNvPr id="4" name="Slide Number Placeholder 3"/>
          <p:cNvSpPr>
            <a:spLocks noGrp="1"/>
          </p:cNvSpPr>
          <p:nvPr>
            <p:ph type="sldNum" sz="quarter" idx="5"/>
          </p:nvPr>
        </p:nvSpPr>
        <p:spPr/>
        <p:txBody>
          <a:bodyPr/>
          <a:lstStyle/>
          <a:p>
            <a:fld id="{BEA2EDFA-3FF9-4240-A72E-06516FE09BDD}" type="slidenum">
              <a:t>8</a:t>
            </a:fld>
            <a:endParaRPr lang="en-US"/>
          </a:p>
        </p:txBody>
      </p:sp>
    </p:spTree>
    <p:extLst>
      <p:ext uri="{BB962C8B-B14F-4D97-AF65-F5344CB8AC3E}">
        <p14:creationId xmlns:p14="http://schemas.microsoft.com/office/powerpoint/2010/main" val="25541709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이 슬라이드는 한국이 향후 위험기반 규제를 도입할 경우 예상되는 변화와 과제를 다룬다. 긍정적인 측면으로는 규제의 예측가능성이 높아지고, EU 등 국제 규제 기준과의 정합성이 강화될 수 있다. 이는 국내 기업의 해외 진출 시 규제 적응 비용을 낮추는 효과를 가질 수 있다. 반면, 위험기반 규제는 기업, 특히 중소기업과 스타트업에게 상당한 행정적·재정적 부담을 초래할 수 있으며, 이를 관리하기 위한 감독·인증 인프라 구축이 필요하다. 따라서 전면적인 도입보다는 사회적 영향이 큰 영역을 중심으로 한 선별적 도입이 현실적인 대안으로 제시된다.</a:t>
            </a:r>
          </a:p>
        </p:txBody>
      </p:sp>
      <p:sp>
        <p:nvSpPr>
          <p:cNvPr id="4" name="Slide Number Placeholder 3"/>
          <p:cNvSpPr>
            <a:spLocks noGrp="1"/>
          </p:cNvSpPr>
          <p:nvPr>
            <p:ph type="sldNum" sz="quarter" idx="5"/>
          </p:nvPr>
        </p:nvSpPr>
        <p:spPr/>
        <p:txBody>
          <a:bodyPr/>
          <a:lstStyle/>
          <a:p>
            <a:fld id="{BEA2EDFA-3FF9-4240-A72E-06516FE09BDD}" type="slidenum">
              <a:t>9</a:t>
            </a:fld>
            <a:endParaRPr lang="en-US"/>
          </a:p>
        </p:txBody>
      </p:sp>
    </p:spTree>
    <p:extLst>
      <p:ext uri="{BB962C8B-B14F-4D97-AF65-F5344CB8AC3E}">
        <p14:creationId xmlns:p14="http://schemas.microsoft.com/office/powerpoint/2010/main" val="3124936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결론적으로</a:t>
            </a:r>
            <a:r>
              <a:rPr lang="en-US" dirty="0"/>
              <a:t> EU AI </a:t>
            </a:r>
            <a:r>
              <a:rPr lang="en-US" dirty="0" err="1"/>
              <a:t>Act와</a:t>
            </a:r>
            <a:r>
              <a:rPr lang="en-US" dirty="0"/>
              <a:t> </a:t>
            </a:r>
            <a:r>
              <a:rPr lang="en-US" dirty="0" err="1"/>
              <a:t>한국</a:t>
            </a:r>
            <a:r>
              <a:rPr lang="en-US" dirty="0"/>
              <a:t> AI </a:t>
            </a:r>
            <a:r>
              <a:rPr lang="en-US" dirty="0" err="1"/>
              <a:t>기본법은</a:t>
            </a:r>
            <a:r>
              <a:rPr lang="en-US" dirty="0"/>
              <a:t> </a:t>
            </a:r>
            <a:r>
              <a:rPr lang="en-US" dirty="0" err="1"/>
              <a:t>동일한</a:t>
            </a:r>
            <a:r>
              <a:rPr lang="en-US" dirty="0"/>
              <a:t> </a:t>
            </a:r>
            <a:r>
              <a:rPr lang="en-US" dirty="0" err="1"/>
              <a:t>목표를</a:t>
            </a:r>
            <a:r>
              <a:rPr lang="en-US" dirty="0"/>
              <a:t> </a:t>
            </a:r>
            <a:r>
              <a:rPr lang="en-US" dirty="0" err="1"/>
              <a:t>공유하면서도</a:t>
            </a:r>
            <a:r>
              <a:rPr lang="en-US" dirty="0"/>
              <a:t> </a:t>
            </a:r>
            <a:r>
              <a:rPr lang="en-US" dirty="0" err="1"/>
              <a:t>서로</a:t>
            </a:r>
            <a:r>
              <a:rPr lang="en-US" dirty="0"/>
              <a:t> </a:t>
            </a:r>
            <a:r>
              <a:rPr lang="en-US" dirty="0" err="1"/>
              <a:t>다른</a:t>
            </a:r>
            <a:r>
              <a:rPr lang="en-US" dirty="0"/>
              <a:t> </a:t>
            </a:r>
            <a:r>
              <a:rPr lang="en-US" dirty="0" err="1"/>
              <a:t>규제</a:t>
            </a:r>
            <a:r>
              <a:rPr lang="en-US" dirty="0"/>
              <a:t> </a:t>
            </a:r>
            <a:r>
              <a:rPr lang="en-US" dirty="0" err="1"/>
              <a:t>철학을</a:t>
            </a:r>
            <a:r>
              <a:rPr lang="en-US" dirty="0"/>
              <a:t> </a:t>
            </a:r>
            <a:r>
              <a:rPr lang="en-US" dirty="0" err="1"/>
              <a:t>기반으로</a:t>
            </a:r>
            <a:r>
              <a:rPr lang="en-US" dirty="0"/>
              <a:t> </a:t>
            </a:r>
            <a:r>
              <a:rPr lang="en-US" dirty="0" err="1"/>
              <a:t>설계되었다</a:t>
            </a:r>
            <a:r>
              <a:rPr lang="en-US" dirty="0"/>
              <a:t>. </a:t>
            </a:r>
            <a:r>
              <a:rPr lang="en-US" dirty="0" err="1"/>
              <a:t>EU는</a:t>
            </a:r>
            <a:r>
              <a:rPr lang="en-US" dirty="0"/>
              <a:t> </a:t>
            </a:r>
            <a:r>
              <a:rPr lang="en-US" dirty="0" err="1"/>
              <a:t>명확성과</a:t>
            </a:r>
            <a:r>
              <a:rPr lang="en-US" dirty="0"/>
              <a:t> </a:t>
            </a:r>
            <a:r>
              <a:rPr lang="en-US" dirty="0" err="1"/>
              <a:t>집행력을</a:t>
            </a:r>
            <a:r>
              <a:rPr lang="en-US" dirty="0"/>
              <a:t> </a:t>
            </a:r>
            <a:r>
              <a:rPr lang="en-US" dirty="0" err="1"/>
              <a:t>중시하는</a:t>
            </a:r>
            <a:r>
              <a:rPr lang="en-US" dirty="0"/>
              <a:t> </a:t>
            </a:r>
            <a:r>
              <a:rPr lang="en-US" dirty="0" err="1"/>
              <a:t>권리</a:t>
            </a:r>
            <a:r>
              <a:rPr lang="en-US" dirty="0"/>
              <a:t> </a:t>
            </a:r>
            <a:r>
              <a:rPr lang="en-US" dirty="0" err="1"/>
              <a:t>보호형</a:t>
            </a:r>
            <a:r>
              <a:rPr lang="en-US" dirty="0"/>
              <a:t> </a:t>
            </a:r>
            <a:r>
              <a:rPr lang="en-US" dirty="0" err="1"/>
              <a:t>규제</a:t>
            </a:r>
            <a:r>
              <a:rPr lang="en-US" dirty="0"/>
              <a:t> </a:t>
            </a:r>
            <a:r>
              <a:rPr lang="en-US" dirty="0" err="1"/>
              <a:t>모델을</a:t>
            </a:r>
            <a:r>
              <a:rPr lang="en-US" dirty="0"/>
              <a:t> </a:t>
            </a:r>
            <a:r>
              <a:rPr lang="en-US" dirty="0" err="1"/>
              <a:t>채택하였고</a:t>
            </a:r>
            <a:r>
              <a:rPr lang="en-US" dirty="0"/>
              <a:t>, </a:t>
            </a:r>
            <a:r>
              <a:rPr lang="en-US" dirty="0" err="1"/>
              <a:t>한국은</a:t>
            </a:r>
            <a:r>
              <a:rPr lang="en-US" dirty="0"/>
              <a:t> </a:t>
            </a:r>
            <a:r>
              <a:rPr lang="en-US" dirty="0" err="1"/>
              <a:t>유연성과</a:t>
            </a:r>
            <a:r>
              <a:rPr lang="en-US" dirty="0"/>
              <a:t> </a:t>
            </a:r>
            <a:r>
              <a:rPr lang="en-US" dirty="0" err="1"/>
              <a:t>혁신을</a:t>
            </a:r>
            <a:r>
              <a:rPr lang="en-US" dirty="0"/>
              <a:t> </a:t>
            </a:r>
            <a:r>
              <a:rPr lang="en-US" dirty="0" err="1"/>
              <a:t>중시하는</a:t>
            </a:r>
            <a:r>
              <a:rPr lang="en-US" dirty="0"/>
              <a:t> </a:t>
            </a:r>
            <a:r>
              <a:rPr lang="en-US" dirty="0" err="1"/>
              <a:t>산업</a:t>
            </a:r>
            <a:r>
              <a:rPr lang="en-US" dirty="0"/>
              <a:t> </a:t>
            </a:r>
            <a:r>
              <a:rPr lang="en-US" dirty="0" err="1"/>
              <a:t>육성형</a:t>
            </a:r>
            <a:r>
              <a:rPr lang="en-US" dirty="0"/>
              <a:t> </a:t>
            </a:r>
            <a:r>
              <a:rPr lang="en-US" dirty="0" err="1"/>
              <a:t>규제</a:t>
            </a:r>
            <a:r>
              <a:rPr lang="en-US" dirty="0"/>
              <a:t> </a:t>
            </a:r>
            <a:r>
              <a:rPr lang="en-US" dirty="0" err="1"/>
              <a:t>모델을</a:t>
            </a:r>
            <a:r>
              <a:rPr lang="en-US" dirty="0"/>
              <a:t> </a:t>
            </a:r>
            <a:r>
              <a:rPr lang="en-US" dirty="0" err="1"/>
              <a:t>선택하였다</a:t>
            </a:r>
            <a:r>
              <a:rPr lang="en-US" dirty="0"/>
              <a:t>. </a:t>
            </a:r>
            <a:r>
              <a:rPr lang="en-US" dirty="0" err="1"/>
              <a:t>한국은</a:t>
            </a:r>
            <a:r>
              <a:rPr lang="en-US" dirty="0"/>
              <a:t> </a:t>
            </a:r>
            <a:r>
              <a:rPr lang="en-US" dirty="0" err="1"/>
              <a:t>단기적으로는</a:t>
            </a:r>
            <a:r>
              <a:rPr lang="en-US" dirty="0"/>
              <a:t> </a:t>
            </a:r>
            <a:r>
              <a:rPr lang="en-US" dirty="0" err="1"/>
              <a:t>원칙</a:t>
            </a:r>
            <a:r>
              <a:rPr lang="en-US" dirty="0"/>
              <a:t> </a:t>
            </a:r>
            <a:r>
              <a:rPr lang="en-US" dirty="0" err="1"/>
              <a:t>기반</a:t>
            </a:r>
            <a:r>
              <a:rPr lang="en-US" dirty="0"/>
              <a:t> </a:t>
            </a:r>
            <a:r>
              <a:rPr lang="en-US" dirty="0" err="1"/>
              <a:t>규제를</a:t>
            </a:r>
            <a:r>
              <a:rPr lang="en-US" dirty="0"/>
              <a:t> </a:t>
            </a:r>
            <a:r>
              <a:rPr lang="en-US" dirty="0" err="1"/>
              <a:t>유지하되</a:t>
            </a:r>
            <a:r>
              <a:rPr lang="en-US" dirty="0"/>
              <a:t>, </a:t>
            </a:r>
            <a:r>
              <a:rPr lang="en-US" dirty="0" err="1"/>
              <a:t>중·장기적으로는</a:t>
            </a:r>
            <a:r>
              <a:rPr lang="en-US" dirty="0"/>
              <a:t> </a:t>
            </a:r>
            <a:r>
              <a:rPr lang="en-US" dirty="0" err="1"/>
              <a:t>사회적</a:t>
            </a:r>
            <a:r>
              <a:rPr lang="en-US" dirty="0"/>
              <a:t> </a:t>
            </a:r>
            <a:r>
              <a:rPr lang="en-US" dirty="0" err="1"/>
              <a:t>영향이</a:t>
            </a:r>
            <a:r>
              <a:rPr lang="en-US" dirty="0"/>
              <a:t> 큰 </a:t>
            </a:r>
            <a:r>
              <a:rPr lang="en-US" dirty="0" err="1"/>
              <a:t>영역을</a:t>
            </a:r>
            <a:r>
              <a:rPr lang="en-US" dirty="0"/>
              <a:t> </a:t>
            </a:r>
            <a:r>
              <a:rPr lang="en-US" dirty="0" err="1"/>
              <a:t>중심으로</a:t>
            </a:r>
            <a:r>
              <a:rPr lang="en-US" dirty="0"/>
              <a:t> </a:t>
            </a:r>
            <a:r>
              <a:rPr lang="en-US" dirty="0" err="1"/>
              <a:t>위험기반</a:t>
            </a:r>
            <a:r>
              <a:rPr lang="en-US" dirty="0"/>
              <a:t> </a:t>
            </a:r>
            <a:r>
              <a:rPr lang="en-US" dirty="0" err="1"/>
              <a:t>규제를</a:t>
            </a:r>
            <a:r>
              <a:rPr lang="en-US" dirty="0"/>
              <a:t> </a:t>
            </a:r>
            <a:r>
              <a:rPr lang="en-US" dirty="0" err="1"/>
              <a:t>부분적으로</a:t>
            </a:r>
            <a:r>
              <a:rPr lang="en-US" dirty="0"/>
              <a:t> </a:t>
            </a:r>
            <a:r>
              <a:rPr lang="en-US" dirty="0" err="1"/>
              <a:t>수용함으로써</a:t>
            </a:r>
            <a:r>
              <a:rPr lang="en-US" dirty="0"/>
              <a:t> </a:t>
            </a:r>
            <a:r>
              <a:rPr lang="en-US" dirty="0" err="1"/>
              <a:t>국제적</a:t>
            </a:r>
            <a:r>
              <a:rPr lang="en-US" dirty="0"/>
              <a:t> </a:t>
            </a:r>
            <a:r>
              <a:rPr lang="en-US" dirty="0" err="1"/>
              <a:t>규제</a:t>
            </a:r>
            <a:r>
              <a:rPr lang="en-US" dirty="0"/>
              <a:t> </a:t>
            </a:r>
            <a:r>
              <a:rPr lang="en-US" dirty="0" err="1"/>
              <a:t>환경과의</a:t>
            </a:r>
            <a:r>
              <a:rPr lang="en-US" dirty="0"/>
              <a:t> </a:t>
            </a:r>
            <a:r>
              <a:rPr lang="en-US" dirty="0" err="1"/>
              <a:t>정합성을</a:t>
            </a:r>
            <a:r>
              <a:rPr lang="en-US" dirty="0"/>
              <a:t> </a:t>
            </a:r>
            <a:r>
              <a:rPr lang="en-US" dirty="0" err="1"/>
              <a:t>확보할</a:t>
            </a:r>
            <a:r>
              <a:rPr lang="en-US" dirty="0"/>
              <a:t> </a:t>
            </a:r>
            <a:r>
              <a:rPr lang="en-US" dirty="0" err="1"/>
              <a:t>필요가</a:t>
            </a:r>
            <a:r>
              <a:rPr lang="en-US" dirty="0"/>
              <a:t> </a:t>
            </a:r>
            <a:r>
              <a:rPr lang="en-US" dirty="0" err="1"/>
              <a:t>있다</a:t>
            </a:r>
            <a:r>
              <a:rPr lang="en-US" dirty="0"/>
              <a:t>. 본 </a:t>
            </a:r>
            <a:r>
              <a:rPr lang="en-US" dirty="0" err="1"/>
              <a:t>발표는</a:t>
            </a:r>
            <a:r>
              <a:rPr lang="en-US" dirty="0"/>
              <a:t> </a:t>
            </a:r>
            <a:r>
              <a:rPr lang="en-US" dirty="0" err="1"/>
              <a:t>이러한</a:t>
            </a:r>
            <a:r>
              <a:rPr lang="en-US" dirty="0"/>
              <a:t> </a:t>
            </a:r>
            <a:r>
              <a:rPr lang="en-US" dirty="0" err="1"/>
              <a:t>비교를</a:t>
            </a:r>
            <a:r>
              <a:rPr lang="en-US" dirty="0"/>
              <a:t> </a:t>
            </a:r>
            <a:r>
              <a:rPr lang="en-US" dirty="0" err="1"/>
              <a:t>통해</a:t>
            </a:r>
            <a:r>
              <a:rPr lang="en-US" dirty="0"/>
              <a:t> AI </a:t>
            </a:r>
            <a:r>
              <a:rPr lang="en-US" dirty="0" err="1"/>
              <a:t>규제에</a:t>
            </a:r>
            <a:r>
              <a:rPr lang="en-US" dirty="0"/>
              <a:t> </a:t>
            </a:r>
            <a:r>
              <a:rPr lang="en-US" dirty="0" err="1"/>
              <a:t>있어</a:t>
            </a:r>
            <a:r>
              <a:rPr lang="en-US" dirty="0"/>
              <a:t> </a:t>
            </a:r>
            <a:r>
              <a:rPr lang="en-US" dirty="0" err="1"/>
              <a:t>단일한</a:t>
            </a:r>
            <a:r>
              <a:rPr lang="en-US" dirty="0"/>
              <a:t> </a:t>
            </a:r>
            <a:r>
              <a:rPr lang="en-US" dirty="0" err="1"/>
              <a:t>정답이</a:t>
            </a:r>
            <a:r>
              <a:rPr lang="en-US" dirty="0"/>
              <a:t> </a:t>
            </a:r>
            <a:r>
              <a:rPr lang="en-US" dirty="0" err="1"/>
              <a:t>존재하지</a:t>
            </a:r>
            <a:r>
              <a:rPr lang="en-US" dirty="0"/>
              <a:t> </a:t>
            </a:r>
            <a:r>
              <a:rPr lang="en-US" dirty="0" err="1"/>
              <a:t>않으며</a:t>
            </a:r>
            <a:r>
              <a:rPr lang="en-US" dirty="0"/>
              <a:t>, 각 </a:t>
            </a:r>
            <a:r>
              <a:rPr lang="en-US" dirty="0" err="1"/>
              <a:t>국가의</a:t>
            </a:r>
            <a:r>
              <a:rPr lang="en-US" dirty="0"/>
              <a:t> </a:t>
            </a:r>
            <a:r>
              <a:rPr lang="en-US" dirty="0" err="1"/>
              <a:t>정책</a:t>
            </a:r>
            <a:r>
              <a:rPr lang="en-US" dirty="0"/>
              <a:t> </a:t>
            </a:r>
            <a:r>
              <a:rPr lang="en-US" dirty="0" err="1"/>
              <a:t>맥락에</a:t>
            </a:r>
            <a:r>
              <a:rPr lang="en-US" dirty="0"/>
              <a:t> </a:t>
            </a:r>
            <a:r>
              <a:rPr lang="en-US" dirty="0" err="1"/>
              <a:t>따른</a:t>
            </a:r>
            <a:r>
              <a:rPr lang="en-US" dirty="0"/>
              <a:t> </a:t>
            </a:r>
            <a:r>
              <a:rPr lang="en-US" dirty="0" err="1"/>
              <a:t>선택이</a:t>
            </a:r>
            <a:r>
              <a:rPr lang="en-US" dirty="0"/>
              <a:t> </a:t>
            </a:r>
            <a:r>
              <a:rPr lang="en-US" dirty="0" err="1"/>
              <a:t>중요하다는</a:t>
            </a:r>
            <a:r>
              <a:rPr lang="en-US" dirty="0"/>
              <a:t> </a:t>
            </a:r>
            <a:r>
              <a:rPr lang="en-US" dirty="0" err="1"/>
              <a:t>점을</a:t>
            </a:r>
            <a:r>
              <a:rPr lang="en-US" dirty="0"/>
              <a:t> </a:t>
            </a:r>
            <a:r>
              <a:rPr lang="en-US" dirty="0" err="1"/>
              <a:t>강조한다</a:t>
            </a:r>
            <a:r>
              <a:rPr lang="en-US" dirty="0"/>
              <a:t>.</a:t>
            </a:r>
          </a:p>
          <a:p>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ko-KR" altLang="en-US" b="0" i="0" dirty="0">
                <a:effectLst/>
                <a:latin typeface="Segoe UI" panose="020B0502040204020203" pitchFamily="34" charset="0"/>
              </a:rPr>
              <a:t>“이 네 가지 질문은 오늘 비교한 규제 구조의 차이에서 자연스럽게 도출된 쟁점이며</a:t>
            </a:r>
            <a:r>
              <a:rPr lang="en-US" altLang="ko-KR" b="0" i="0" dirty="0">
                <a:effectLst/>
                <a:latin typeface="Segoe UI" panose="020B0502040204020203" pitchFamily="34" charset="0"/>
              </a:rPr>
              <a:t>, </a:t>
            </a:r>
            <a:r>
              <a:rPr lang="ko-KR" altLang="en-US" b="0" i="0" dirty="0">
                <a:effectLst/>
                <a:latin typeface="Segoe UI" panose="020B0502040204020203" pitchFamily="34" charset="0"/>
              </a:rPr>
              <a:t>그래서 개별적으로 답하지 않고 전체 분석의 결론으로 제시했습니다</a:t>
            </a:r>
            <a:r>
              <a:rPr lang="en-US" altLang="ko-KR" b="0" i="0" dirty="0">
                <a:effectLst/>
                <a:latin typeface="Segoe UI" panose="020B0502040204020203" pitchFamily="34" charset="0"/>
              </a:rPr>
              <a:t>.”</a:t>
            </a:r>
          </a:p>
          <a:p>
            <a:endParaRPr lang="en-US" dirty="0"/>
          </a:p>
        </p:txBody>
      </p:sp>
      <p:sp>
        <p:nvSpPr>
          <p:cNvPr id="4" name="Slide Number Placeholder 3"/>
          <p:cNvSpPr>
            <a:spLocks noGrp="1"/>
          </p:cNvSpPr>
          <p:nvPr>
            <p:ph type="sldNum" sz="quarter" idx="5"/>
          </p:nvPr>
        </p:nvSpPr>
        <p:spPr/>
        <p:txBody>
          <a:bodyPr/>
          <a:lstStyle/>
          <a:p>
            <a:fld id="{BEA2EDFA-3FF9-4240-A72E-06516FE09BDD}" type="slidenum">
              <a:t>10</a:t>
            </a:fld>
            <a:endParaRPr lang="en-US"/>
          </a:p>
        </p:txBody>
      </p:sp>
    </p:spTree>
    <p:extLst>
      <p:ext uri="{BB962C8B-B14F-4D97-AF65-F5344CB8AC3E}">
        <p14:creationId xmlns:p14="http://schemas.microsoft.com/office/powerpoint/2010/main" val="380332724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그림이 있는 제목 4">
    <p:spTree>
      <p:nvGrpSpPr>
        <p:cNvPr id="1" name=""/>
        <p:cNvGrpSpPr/>
        <p:nvPr/>
      </p:nvGrpSpPr>
      <p:grpSpPr>
        <a:xfrm>
          <a:off x="0" y="0"/>
          <a:ext cx="0" cy="0"/>
          <a:chOff x="0" y="0"/>
          <a:chExt cx="0" cy="0"/>
        </a:xfrm>
      </p:grpSpPr>
      <p:sp>
        <p:nvSpPr>
          <p:cNvPr id="14" name="직사각형 13">
            <a:extLst>
              <a:ext uri="{FF2B5EF4-FFF2-40B4-BE49-F238E27FC236}">
                <a16:creationId xmlns:a16="http://schemas.microsoft.com/office/drawing/2014/main" id="{769146C6-F597-C006-1822-297853281771}"/>
              </a:ext>
            </a:extLst>
          </p:cNvPr>
          <p:cNvSpPr/>
          <p:nvPr/>
        </p:nvSpPr>
        <p:spPr>
          <a:xfrm rot="16200000" flipH="1">
            <a:off x="1300007" y="3732960"/>
            <a:ext cx="1825034" cy="4425045"/>
          </a:xfrm>
          <a:prstGeom prst="rect">
            <a:avLst/>
          </a:prstGeom>
          <a:gradFill flip="none" rotWithShape="1">
            <a:gsLst>
              <a:gs pos="56000">
                <a:schemeClr val="bg1">
                  <a:alpha val="0"/>
                </a:schemeClr>
              </a:gs>
              <a:gs pos="100000">
                <a:schemeClr val="accent6">
                  <a:alpha val="70000"/>
                </a:schemeClr>
              </a:gs>
            </a:gsLst>
            <a:lin ang="20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12" name="직사각형 11">
            <a:extLst>
              <a:ext uri="{FF2B5EF4-FFF2-40B4-BE49-F238E27FC236}">
                <a16:creationId xmlns:a16="http://schemas.microsoft.com/office/drawing/2014/main" id="{AB08893D-F42F-F8AC-E751-618878BDB5EE}"/>
              </a:ext>
            </a:extLst>
          </p:cNvPr>
          <p:cNvSpPr/>
          <p:nvPr/>
        </p:nvSpPr>
        <p:spPr>
          <a:xfrm rot="10800000">
            <a:off x="0" y="-4"/>
            <a:ext cx="4572000" cy="1825033"/>
          </a:xfrm>
          <a:prstGeom prst="rect">
            <a:avLst/>
          </a:prstGeom>
          <a:gradFill>
            <a:gsLst>
              <a:gs pos="61000">
                <a:schemeClr val="bg2">
                  <a:alpha val="0"/>
                </a:schemeClr>
              </a:gs>
              <a:gs pos="100000">
                <a:schemeClr val="accent1">
                  <a:lumMod val="75000"/>
                  <a:alpha val="8500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p>
        </p:txBody>
      </p:sp>
      <p:sp>
        <p:nvSpPr>
          <p:cNvPr id="8" name="제목 7">
            <a:extLst>
              <a:ext uri="{FF2B5EF4-FFF2-40B4-BE49-F238E27FC236}">
                <a16:creationId xmlns:a16="http://schemas.microsoft.com/office/drawing/2014/main" id="{7268A13E-E2FC-935E-9D1B-2CA406D562F9}"/>
              </a:ext>
            </a:extLst>
          </p:cNvPr>
          <p:cNvSpPr>
            <a:spLocks noGrp="1"/>
          </p:cNvSpPr>
          <p:nvPr>
            <p:ph type="title" hasCustomPrompt="1"/>
          </p:nvPr>
        </p:nvSpPr>
        <p:spPr>
          <a:xfrm>
            <a:off x="268722" y="906109"/>
            <a:ext cx="3620078" cy="3445173"/>
          </a:xfrm>
        </p:spPr>
        <p:txBody>
          <a:bodyPr rtlCol="0" anchor="t">
            <a:normAutofit/>
          </a:bodyPr>
          <a:lstStyle>
            <a:lvl1pPr>
              <a:defRPr sz="3600">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10" name="부제목 2">
            <a:extLst>
              <a:ext uri="{FF2B5EF4-FFF2-40B4-BE49-F238E27FC236}">
                <a16:creationId xmlns:a16="http://schemas.microsoft.com/office/drawing/2014/main" id="{51C95713-168A-6692-3C97-A85B41C1AAE4}"/>
              </a:ext>
            </a:extLst>
          </p:cNvPr>
          <p:cNvSpPr>
            <a:spLocks noGrp="1"/>
          </p:cNvSpPr>
          <p:nvPr>
            <p:ph type="subTitle" idx="1" hasCustomPrompt="1"/>
          </p:nvPr>
        </p:nvSpPr>
        <p:spPr>
          <a:xfrm>
            <a:off x="268722" y="5473037"/>
            <a:ext cx="3521018" cy="880873"/>
          </a:xfrm>
          <a:noFill/>
        </p:spPr>
        <p:txBody>
          <a:bodyPr vert="horz" lIns="91440" tIns="45720" rIns="91440" bIns="45720" rtlCol="0" anchor="b">
            <a:normAutofit/>
          </a:bodyPr>
          <a:lstStyle>
            <a:lvl1pPr marL="0" indent="0">
              <a:buNone/>
              <a:defRPr lang="en-US" sz="1600" dirty="0">
                <a:latin typeface="Malgun Gothic" panose="020B0503020000020004" pitchFamily="34" charset="-127"/>
                <a:ea typeface="Malgun Gothic" panose="020B0503020000020004" pitchFamily="34" charset="-127"/>
              </a:defRPr>
            </a:lvl1pPr>
          </a:lstStyle>
          <a:p>
            <a:pPr lvl="0" rtl="0"/>
            <a:r>
              <a:rPr lang="ko"/>
              <a:t>클릭하여 마스터 부제목 스타일 편집</a:t>
            </a:r>
          </a:p>
        </p:txBody>
      </p:sp>
      <p:sp>
        <p:nvSpPr>
          <p:cNvPr id="5" name="바닥글 개체 틀 4">
            <a:extLst>
              <a:ext uri="{FF2B5EF4-FFF2-40B4-BE49-F238E27FC236}">
                <a16:creationId xmlns:a16="http://schemas.microsoft.com/office/drawing/2014/main" id="{6B30B7E9-D8D3-BC56-A758-6C86B58C0AC5}"/>
              </a:ext>
            </a:extLst>
          </p:cNvPr>
          <p:cNvSpPr>
            <a:spLocks noGrp="1"/>
          </p:cNvSpPr>
          <p:nvPr>
            <p:ph type="ftr" sz="quarter" idx="15"/>
          </p:nvPr>
        </p:nvSpPr>
        <p:spPr>
          <a:xfrm>
            <a:off x="268722" y="210114"/>
            <a:ext cx="2360128" cy="365760"/>
          </a:xfrm>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4" name="날짜 개체 틀 3">
            <a:extLst>
              <a:ext uri="{FF2B5EF4-FFF2-40B4-BE49-F238E27FC236}">
                <a16:creationId xmlns:a16="http://schemas.microsoft.com/office/drawing/2014/main" id="{3D4FF974-138E-88CF-9001-1A07C67D1DFD}"/>
              </a:ext>
            </a:extLst>
          </p:cNvPr>
          <p:cNvSpPr>
            <a:spLocks noGrp="1"/>
          </p:cNvSpPr>
          <p:nvPr>
            <p:ph type="dt" sz="half" idx="14"/>
          </p:nvPr>
        </p:nvSpPr>
        <p:spPr>
          <a:xfrm>
            <a:off x="2645216" y="210114"/>
            <a:ext cx="1005840" cy="365760"/>
          </a:xfrm>
        </p:spPr>
        <p:txBody>
          <a:bodyPr rtlCol="0"/>
          <a:lstStyle/>
          <a:p>
            <a:pPr rtl="0"/>
            <a:r>
              <a:rPr lang="en-US"/>
              <a:t>2025/11/24</a:t>
            </a:r>
          </a:p>
        </p:txBody>
      </p:sp>
      <p:sp>
        <p:nvSpPr>
          <p:cNvPr id="6" name="슬라이드 번호 개체 틀 5">
            <a:extLst>
              <a:ext uri="{FF2B5EF4-FFF2-40B4-BE49-F238E27FC236}">
                <a16:creationId xmlns:a16="http://schemas.microsoft.com/office/drawing/2014/main" id="{E1DA7CD4-7B92-1CD1-A9F0-94B053972CA3}"/>
              </a:ext>
            </a:extLst>
          </p:cNvPr>
          <p:cNvSpPr>
            <a:spLocks noGrp="1"/>
          </p:cNvSpPr>
          <p:nvPr>
            <p:ph type="sldNum" sz="quarter" idx="16"/>
          </p:nvPr>
        </p:nvSpPr>
        <p:spPr>
          <a:xfrm>
            <a:off x="3760180" y="210114"/>
            <a:ext cx="495299" cy="365760"/>
          </a:xfrm>
        </p:spPr>
        <p:txBody>
          <a:bodyPr rtlCol="0"/>
          <a:lstStyle/>
          <a:p>
            <a:pPr rtl="0"/>
            <a:fld id="{5E0677F5-4A8A-4BF1-96BE-3BAE8FBAFE2E}" type="slidenum">
              <a:rPr lang="en-US" smtClean="0"/>
              <a:t>‹#›</a:t>
            </a:fld>
            <a:endParaRPr lang="en-US"/>
          </a:p>
        </p:txBody>
      </p:sp>
      <p:sp>
        <p:nvSpPr>
          <p:cNvPr id="9" name="그림 개체 틀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4572000" y="0"/>
            <a:ext cx="7620000" cy="6858000"/>
          </a:xfrm>
          <a:blipFill>
            <a:blip r:embed="rId2">
              <a:alphaModFix amt="70000"/>
            </a:blip>
            <a:stretch>
              <a:fillRect/>
            </a:stretch>
          </a:blipFill>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   </a:t>
            </a:r>
          </a:p>
        </p:txBody>
      </p:sp>
    </p:spTree>
    <p:extLst>
      <p:ext uri="{BB962C8B-B14F-4D97-AF65-F5344CB8AC3E}">
        <p14:creationId xmlns:p14="http://schemas.microsoft.com/office/powerpoint/2010/main" val="1900647905"/>
      </p:ext>
    </p:extLst>
  </p:cSld>
  <p:clrMapOvr>
    <a:masterClrMapping/>
  </p:clrMapOvr>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구역 머리글">
    <p:spTree>
      <p:nvGrpSpPr>
        <p:cNvPr id="1" name=""/>
        <p:cNvGrpSpPr/>
        <p:nvPr/>
      </p:nvGrpSpPr>
      <p:grpSpPr>
        <a:xfrm>
          <a:off x="0" y="0"/>
          <a:ext cx="0" cy="0"/>
          <a:chOff x="0" y="0"/>
          <a:chExt cx="0" cy="0"/>
        </a:xfrm>
      </p:grpSpPr>
      <p:sp>
        <p:nvSpPr>
          <p:cNvPr id="5" name="직사각형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rgbClr val="FFFFFF"/>
              </a:solidFill>
            </a:endParaRPr>
          </a:p>
        </p:txBody>
      </p:sp>
      <p:sp>
        <p:nvSpPr>
          <p:cNvPr id="7" name="직사각형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6" name="직사각형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en-US">
              <a:solidFill>
                <a:schemeClr val="tx1"/>
              </a:solidFill>
            </a:endParaRPr>
          </a:p>
        </p:txBody>
      </p:sp>
      <p:sp>
        <p:nvSpPr>
          <p:cNvPr id="2" name="제목 1">
            <a:extLst>
              <a:ext uri="{FF2B5EF4-FFF2-40B4-BE49-F238E27FC236}">
                <a16:creationId xmlns:a16="http://schemas.microsoft.com/office/drawing/2014/main" id="{8892EA34-13CC-54C1-DE3D-4F1D5D55C9A7}"/>
              </a:ext>
            </a:extLst>
          </p:cNvPr>
          <p:cNvSpPr>
            <a:spLocks noGrp="1"/>
          </p:cNvSpPr>
          <p:nvPr>
            <p:ph type="title" hasCustomPrompt="1"/>
          </p:nvPr>
        </p:nvSpPr>
        <p:spPr>
          <a:xfrm>
            <a:off x="3018499" y="952500"/>
            <a:ext cx="8887299" cy="5636798"/>
          </a:xfrm>
        </p:spPr>
        <p:txBody>
          <a:bodyPr rtlCol="0" anchor="b">
            <a:normAutofit/>
          </a:bodyPr>
          <a:lstStyle>
            <a:lvl1pPr algn="r">
              <a:defRPr sz="7200">
                <a:solidFill>
                  <a:schemeClr val="tx1"/>
                </a:solidFill>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3" name="날짜 개체 틀 2">
            <a:extLst>
              <a:ext uri="{FF2B5EF4-FFF2-40B4-BE49-F238E27FC236}">
                <a16:creationId xmlns:a16="http://schemas.microsoft.com/office/drawing/2014/main" id="{3FCA76BF-5E58-9143-643F-6B06864B8735}"/>
              </a:ext>
            </a:extLst>
          </p:cNvPr>
          <p:cNvSpPr>
            <a:spLocks noGrp="1"/>
          </p:cNvSpPr>
          <p:nvPr>
            <p:ph type="dt" sz="half" idx="10"/>
          </p:nvPr>
        </p:nvSpPr>
        <p:spPr/>
        <p:txBody>
          <a:bodyPr rtlCol="0"/>
          <a:lstStyle/>
          <a:p>
            <a:pPr rtl="0"/>
            <a:r>
              <a:rPr lang="en-US"/>
              <a:t>2025/11/24</a:t>
            </a:r>
          </a:p>
        </p:txBody>
      </p:sp>
      <p:sp>
        <p:nvSpPr>
          <p:cNvPr id="4" name="바닥글 개체 틀 3">
            <a:extLst>
              <a:ext uri="{FF2B5EF4-FFF2-40B4-BE49-F238E27FC236}">
                <a16:creationId xmlns:a16="http://schemas.microsoft.com/office/drawing/2014/main" id="{006C9F8B-DAAC-4FD9-5257-842E1B079B6D}"/>
              </a:ext>
            </a:extLst>
          </p:cNvPr>
          <p:cNvSpPr>
            <a:spLocks noGrp="1"/>
          </p:cNvSpPr>
          <p:nvPr>
            <p:ph type="ftr" sz="quarter" idx="11"/>
          </p:nvPr>
        </p:nvSpPr>
        <p:spPr/>
        <p:txBody>
          <a:bodyPr rtlCol="0">
            <a:normAutofit/>
          </a:bodyPr>
          <a:lstStyle>
            <a:lvl1pPr>
              <a:defRPr>
                <a:latin typeface="Malgun Gothic" panose="020B0503020000020004" pitchFamily="34" charset="-127"/>
                <a:ea typeface="Malgun Gothic" panose="020B0503020000020004" pitchFamily="34" charset="-127"/>
              </a:defRPr>
            </a:lvl1pPr>
          </a:lstStyle>
          <a:p>
            <a:r>
              <a:rPr lang="ko"/>
              <a:t>샘플 바닥글 텍스트</a:t>
            </a:r>
          </a:p>
        </p:txBody>
      </p:sp>
      <p:sp>
        <p:nvSpPr>
          <p:cNvPr id="8" name="슬라이드 번호 개체 틀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rtlCol="0"/>
          <a:lstStyle/>
          <a:p>
            <a:pPr rtl="0"/>
            <a:fld id="{5E0677F5-4A8A-4BF1-96BE-3BAE8FBAFE2E}" type="slidenum">
              <a:rPr lang="en-US" smtClean="0"/>
              <a:pPr rtl="0"/>
              <a:t>‹#›</a:t>
            </a:fld>
            <a:endParaRPr lang="en-US"/>
          </a:p>
        </p:txBody>
      </p:sp>
    </p:spTree>
    <p:extLst>
      <p:ext uri="{BB962C8B-B14F-4D97-AF65-F5344CB8AC3E}">
        <p14:creationId xmlns:p14="http://schemas.microsoft.com/office/powerpoint/2010/main" val="25649870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그림이 있는 콘텐츠 15">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FAF3BB49-A328-F121-7F27-DEB7C3CC2B0F}"/>
              </a:ext>
            </a:extLst>
          </p:cNvPr>
          <p:cNvSpPr>
            <a:spLocks noGrp="1"/>
          </p:cNvSpPr>
          <p:nvPr>
            <p:ph type="title" hasCustomPrompt="1"/>
          </p:nvPr>
        </p:nvSpPr>
        <p:spPr>
          <a:xfrm>
            <a:off x="5319887" y="175313"/>
            <a:ext cx="6400800" cy="576000"/>
          </a:xfrm>
        </p:spPr>
        <p:txBody>
          <a:bodyPr rIns="548640" rtlCol="0" anchor="b">
            <a:normAutofit/>
          </a:bodyPr>
          <a:lstStyle>
            <a:lvl1pPr>
              <a:defRPr>
                <a:latin typeface="Malgun Gothic" panose="020B0503020000020004" pitchFamily="34" charset="-127"/>
                <a:ea typeface="Malgun Gothic" panose="020B0503020000020004" pitchFamily="34" charset="-127"/>
              </a:defRPr>
            </a:lvl1pPr>
          </a:lstStyle>
          <a:p>
            <a:pPr rtl="0"/>
            <a:r>
              <a:rPr lang="ko"/>
              <a:t>마스터 제목 스타일 편집</a:t>
            </a:r>
          </a:p>
        </p:txBody>
      </p:sp>
      <p:sp>
        <p:nvSpPr>
          <p:cNvPr id="11" name="그림 개체 틀 10">
            <a:extLst>
              <a:ext uri="{FF2B5EF4-FFF2-40B4-BE49-F238E27FC236}">
                <a16:creationId xmlns:a16="http://schemas.microsoft.com/office/drawing/2014/main" id="{F96EE962-E57A-8EDB-7169-6EB04FA7539A}"/>
              </a:ext>
            </a:extLst>
          </p:cNvPr>
          <p:cNvSpPr>
            <a:spLocks noGrp="1"/>
          </p:cNvSpPr>
          <p:nvPr>
            <p:ph type="pic" sz="quarter" idx="15" hasCustomPrompt="1"/>
          </p:nvPr>
        </p:nvSpPr>
        <p:spPr>
          <a:xfrm>
            <a:off x="2" y="0"/>
            <a:ext cx="4698090" cy="6858001"/>
          </a:xfrm>
          <a:blipFill>
            <a:blip r:embed="rId2">
              <a:alphaModFix amt="60000"/>
            </a:blip>
            <a:stretch>
              <a:fillRect/>
            </a:stretch>
          </a:blipFill>
        </p:spPr>
        <p:txBody>
          <a:bodyPr rtlCol="0">
            <a:normAutofit/>
          </a:bodyPr>
          <a:lstStyle>
            <a:lvl1pPr>
              <a:defRPr>
                <a:latin typeface="Malgun Gothic" panose="020B0503020000020004" pitchFamily="34" charset="-127"/>
                <a:ea typeface="Malgun Gothic" panose="020B0503020000020004" pitchFamily="34" charset="-127"/>
              </a:defRPr>
            </a:lvl1pPr>
          </a:lstStyle>
          <a:p>
            <a:pPr rtl="0"/>
            <a:r>
              <a:rPr lang="ko"/>
              <a:t>   </a:t>
            </a:r>
          </a:p>
        </p:txBody>
      </p:sp>
      <p:sp>
        <p:nvSpPr>
          <p:cNvPr id="6" name="슬라이드 번호 개체 틀 5">
            <a:extLst>
              <a:ext uri="{FF2B5EF4-FFF2-40B4-BE49-F238E27FC236}">
                <a16:creationId xmlns:a16="http://schemas.microsoft.com/office/drawing/2014/main" id="{7C21012C-B1FA-A889-A45D-1DA431A41443}"/>
              </a:ext>
            </a:extLst>
          </p:cNvPr>
          <p:cNvSpPr>
            <a:spLocks noGrp="1"/>
          </p:cNvSpPr>
          <p:nvPr>
            <p:ph type="sldNum" sz="quarter" idx="18"/>
          </p:nvPr>
        </p:nvSpPr>
        <p:spPr/>
        <p:txBody>
          <a:bodyPr rtlCol="0"/>
          <a:lstStyle/>
          <a:p>
            <a:pPr rtl="0"/>
            <a:fld id="{5E0677F5-4A8A-4BF1-96BE-3BAE8FBAFE2E}" type="slidenum">
              <a:rPr lang="en-US" smtClean="0"/>
              <a:t>‹#›</a:t>
            </a:fld>
            <a:endParaRPr lang="en-US"/>
          </a:p>
        </p:txBody>
      </p:sp>
      <p:sp>
        <p:nvSpPr>
          <p:cNvPr id="8" name="내용 개체 틀 7">
            <a:extLst>
              <a:ext uri="{FF2B5EF4-FFF2-40B4-BE49-F238E27FC236}">
                <a16:creationId xmlns:a16="http://schemas.microsoft.com/office/drawing/2014/main" id="{818B74D6-CD72-B859-C229-60DB988B25E3}"/>
              </a:ext>
            </a:extLst>
          </p:cNvPr>
          <p:cNvSpPr>
            <a:spLocks noGrp="1"/>
          </p:cNvSpPr>
          <p:nvPr>
            <p:ph sz="quarter" idx="14" hasCustomPrompt="1"/>
          </p:nvPr>
        </p:nvSpPr>
        <p:spPr>
          <a:xfrm>
            <a:off x="5210016" y="1219203"/>
            <a:ext cx="6400800" cy="5338478"/>
          </a:xfrm>
        </p:spPr>
        <p:txBody>
          <a:bodyPr rIns="548640" rtlCol="0">
            <a:normAutofit/>
          </a:bodyPr>
          <a:lstStyle>
            <a:lvl1pPr>
              <a:defRPr>
                <a:latin typeface="Malgun Gothic" panose="020B0503020000020004" pitchFamily="34" charset="-127"/>
                <a:ea typeface="Malgun Gothic" panose="020B0503020000020004" pitchFamily="34" charset="-127"/>
              </a:defRPr>
            </a:lvl1pPr>
            <a:lvl2pPr>
              <a:defRPr sz="1800">
                <a:latin typeface="Malgun Gothic" panose="020B0503020000020004" pitchFamily="34" charset="-127"/>
                <a:ea typeface="Malgun Gothic" panose="020B0503020000020004" pitchFamily="34" charset="-127"/>
              </a:defRPr>
            </a:lvl2pPr>
            <a:lvl3pPr>
              <a:defRPr>
                <a:latin typeface="Malgun Gothic" panose="020B0503020000020004" pitchFamily="34" charset="-127"/>
                <a:ea typeface="Malgun Gothic" panose="020B0503020000020004" pitchFamily="34" charset="-127"/>
              </a:defRPr>
            </a:lvl3pPr>
            <a:lvl4pPr>
              <a:defRPr>
                <a:latin typeface="Malgun Gothic" panose="020B0503020000020004" pitchFamily="34" charset="-127"/>
                <a:ea typeface="Malgun Gothic" panose="020B0503020000020004" pitchFamily="34" charset="-127"/>
              </a:defRPr>
            </a:lvl4pPr>
            <a:lvl5pPr>
              <a:defRPr>
                <a:latin typeface="Malgun Gothic" panose="020B0503020000020004" pitchFamily="34" charset="-127"/>
                <a:ea typeface="Malgun Gothic" panose="020B0503020000020004" pitchFamily="34" charset="-127"/>
              </a:defRPr>
            </a:lvl5pPr>
          </a:lstStyle>
          <a:p>
            <a:pPr lvl="0" rtl="0"/>
            <a:r>
              <a:rPr lang="ko" dirty="0"/>
              <a:t>마스터 텍스트 스타일을 편집하려면 클릭하세요.</a:t>
            </a:r>
          </a:p>
          <a:p>
            <a:pPr lvl="1" rtl="0"/>
            <a:r>
              <a:rPr lang="ko" dirty="0"/>
              <a:t>둘째 수준</a:t>
            </a:r>
          </a:p>
          <a:p>
            <a:pPr lvl="2" rtl="0"/>
            <a:r>
              <a:rPr lang="ko" dirty="0"/>
              <a:t>셋째 수준</a:t>
            </a:r>
          </a:p>
          <a:p>
            <a:pPr lvl="3" rtl="0"/>
            <a:r>
              <a:rPr lang="ko" dirty="0"/>
              <a:t>넷째 수준</a:t>
            </a:r>
          </a:p>
          <a:p>
            <a:pPr lvl="4" rtl="0"/>
            <a:r>
              <a:rPr lang="ko" dirty="0"/>
              <a:t>다섯째 수준</a:t>
            </a:r>
          </a:p>
        </p:txBody>
      </p:sp>
      <p:cxnSp>
        <p:nvCxnSpPr>
          <p:cNvPr id="7" name="직선 연결선(S) 6">
            <a:extLst>
              <a:ext uri="{FF2B5EF4-FFF2-40B4-BE49-F238E27FC236}">
                <a16:creationId xmlns:a16="http://schemas.microsoft.com/office/drawing/2014/main" id="{69D4FBA1-5448-1E5A-42E9-23AAC06CC512}"/>
              </a:ext>
            </a:extLst>
          </p:cNvPr>
          <p:cNvCxnSpPr>
            <a:cxnSpLocks/>
          </p:cNvCxnSpPr>
          <p:nvPr/>
        </p:nvCxnSpPr>
        <p:spPr>
          <a:xfrm flipH="1">
            <a:off x="5319887" y="751313"/>
            <a:ext cx="6477397"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047185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sp>
        <p:nvSpPr>
          <p:cNvPr id="2" name="제목 개체 틀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pPr rtl="0"/>
            <a:r>
              <a:rPr lang="ko"/>
              <a:t>마스터 제목 스타일 편집</a:t>
            </a:r>
          </a:p>
        </p:txBody>
      </p:sp>
      <p:sp>
        <p:nvSpPr>
          <p:cNvPr id="4" name="날짜 개체 틀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pPr rtl="0"/>
            <a:r>
              <a:rPr lang="en-US"/>
              <a:t>2025/11/24</a:t>
            </a:r>
          </a:p>
        </p:txBody>
      </p:sp>
      <p:sp>
        <p:nvSpPr>
          <p:cNvPr id="5" name="바닥글 개체 틀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normAutofit/>
          </a:bodyPr>
          <a:lstStyle>
            <a:lvl1pPr algn="l" rtl="0">
              <a:defRPr sz="800" cap="none" spc="0" baseline="0">
                <a:solidFill>
                  <a:schemeClr val="tx1"/>
                </a:solidFill>
                <a:latin typeface="Malgun Gothic" panose="020B0503020000020004" pitchFamily="34" charset="-127"/>
                <a:ea typeface="Malgun Gothic" panose="020B0503020000020004" pitchFamily="34" charset="-127"/>
              </a:defRPr>
            </a:lvl1pPr>
          </a:lstStyle>
          <a:p>
            <a:r>
              <a:rPr lang="ko"/>
              <a:t>샘플 바닥글 텍스트</a:t>
            </a:r>
            <a:endParaRPr lang="en-US">
              <a:ea typeface="Malgun Gothic" panose="020B0503020000020004" pitchFamily="34" charset="-127"/>
            </a:endParaRPr>
          </a:p>
        </p:txBody>
      </p:sp>
      <p:sp>
        <p:nvSpPr>
          <p:cNvPr id="6" name="슬라이드 번호 개체 틀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pPr rtl="0"/>
            <a:fld id="{5E0677F5-4A8A-4BF1-96BE-3BAE8FBAFE2E}" type="slidenum">
              <a:rPr lang="en-US" smtClean="0"/>
              <a:pPr rtl="0"/>
              <a:t>‹#›</a:t>
            </a:fld>
            <a:endParaRPr lang="en-US"/>
          </a:p>
        </p:txBody>
      </p:sp>
      <p:sp>
        <p:nvSpPr>
          <p:cNvPr id="3" name="텍스트 개체 틀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rtl="0"/>
            <a:r>
              <a:rPr lang="ko"/>
              <a:t>마스터 텍스트 스타일을 편집하려면 클릭하세요.</a:t>
            </a:r>
          </a:p>
          <a:p>
            <a:pPr lvl="1" rtl="0"/>
            <a:r>
              <a:rPr lang="ko"/>
              <a:t>둘째 수준</a:t>
            </a:r>
          </a:p>
          <a:p>
            <a:pPr lvl="2" rtl="0"/>
            <a:r>
              <a:rPr lang="ko"/>
              <a:t>셋째 수준</a:t>
            </a:r>
          </a:p>
          <a:p>
            <a:pPr lvl="3" rtl="0"/>
            <a:r>
              <a:rPr lang="ko"/>
              <a:t>넷째 수준</a:t>
            </a:r>
          </a:p>
          <a:p>
            <a:pPr lvl="4" rtl="0"/>
            <a:r>
              <a:rPr lang="ko"/>
              <a:t>다섯째 수준</a:t>
            </a:r>
          </a:p>
        </p:txBody>
      </p:sp>
      <p:cxnSp>
        <p:nvCxnSpPr>
          <p:cNvPr id="16" name="직선 연결선(S)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32380551"/>
      </p:ext>
    </p:extLst>
  </p:cSld>
  <p:clrMap bg1="dk1" tx1="lt1" bg2="dk2" tx2="lt2" accent1="accent1" accent2="accent2" accent3="accent3" accent4="accent4" accent5="accent5" accent6="accent6" hlink="hlink" folHlink="folHlink"/>
  <p:sldLayoutIdLst>
    <p:sldLayoutId id="2147483653" r:id="rId1"/>
    <p:sldLayoutId id="2147483659" r:id="rId2"/>
    <p:sldLayoutId id="2147483698" r:id="rId3"/>
  </p:sldLayoutIdLst>
  <p:hf hdr="0"/>
  <p:txStyles>
    <p:title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1" pos="168" userDrawn="1">
          <p15:clr>
            <a:srgbClr val="F26B43"/>
          </p15:clr>
        </p15:guide>
        <p15:guide id="22" orient="horz" pos="2160" userDrawn="1">
          <p15:clr>
            <a:srgbClr val="F26B43"/>
          </p15:clr>
        </p15:guide>
        <p15:guide id="23" pos="4800" userDrawn="1">
          <p15:clr>
            <a:srgbClr val="F26B43"/>
          </p15:clr>
        </p15:guide>
        <p15:guide id="24" orient="horz" pos="480" userDrawn="1">
          <p15:clr>
            <a:srgbClr val="F26B43"/>
          </p15:clr>
        </p15:guide>
        <p15:guide id="25" orient="horz" pos="864" userDrawn="1">
          <p15:clr>
            <a:srgbClr val="F26B43"/>
          </p15:clr>
        </p15:guide>
        <p15:guide id="26" pos="7392" userDrawn="1">
          <p15:clr>
            <a:srgbClr val="F26B43"/>
          </p15:clr>
        </p15:guide>
        <p15:guide id="27" orient="horz" pos="3840" userDrawn="1">
          <p15:clr>
            <a:srgbClr val="F26B43"/>
          </p15:clr>
        </p15:guide>
        <p15:guide id="28" pos="240" userDrawn="1">
          <p15:clr>
            <a:srgbClr val="F26B43"/>
          </p15:clr>
        </p15:guide>
        <p15:guide id="29" pos="744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ubtitle 3">
            <a:extLst>
              <a:ext uri="{FF2B5EF4-FFF2-40B4-BE49-F238E27FC236}">
                <a16:creationId xmlns:a16="http://schemas.microsoft.com/office/drawing/2014/main" id="{C88DE338-A778-09C7-D1A0-6EEA3FAF154B}"/>
              </a:ext>
            </a:extLst>
          </p:cNvPr>
          <p:cNvSpPr>
            <a:spLocks noGrp="1"/>
          </p:cNvSpPr>
          <p:nvPr>
            <p:ph type="subTitle" idx="1"/>
          </p:nvPr>
        </p:nvSpPr>
        <p:spPr>
          <a:xfrm>
            <a:off x="268722" y="5473037"/>
            <a:ext cx="3521018" cy="880873"/>
          </a:xfrm>
        </p:spPr>
        <p:txBody>
          <a:bodyPr anchor="b">
            <a:normAutofit/>
          </a:bodyPr>
          <a:lstStyle/>
          <a:p>
            <a:r>
              <a:rPr lang="en-US" dirty="0"/>
              <a:t>AI </a:t>
            </a:r>
            <a:r>
              <a:rPr lang="en-US" dirty="0" err="1"/>
              <a:t>정책의</a:t>
            </a:r>
            <a:r>
              <a:rPr lang="en-US" dirty="0"/>
              <a:t> </a:t>
            </a:r>
            <a:r>
              <a:rPr lang="en-US" dirty="0" err="1"/>
              <a:t>다양한</a:t>
            </a:r>
            <a:r>
              <a:rPr lang="en-US" dirty="0"/>
              <a:t> </a:t>
            </a:r>
            <a:r>
              <a:rPr lang="en-US" dirty="0" err="1"/>
              <a:t>접근</a:t>
            </a:r>
            <a:r>
              <a:rPr lang="en-US" dirty="0"/>
              <a:t> </a:t>
            </a:r>
            <a:r>
              <a:rPr lang="en-US" dirty="0" err="1"/>
              <a:t>방식</a:t>
            </a:r>
            <a:r>
              <a:rPr lang="en-US" dirty="0"/>
              <a:t> </a:t>
            </a:r>
            <a:r>
              <a:rPr lang="en-US" dirty="0" err="1"/>
              <a:t>분석</a:t>
            </a:r>
            <a:endParaRPr lang="en-US" dirty="0"/>
          </a:p>
        </p:txBody>
      </p:sp>
      <p:sp>
        <p:nvSpPr>
          <p:cNvPr id="5" name="Date Placeholder 4">
            <a:extLst>
              <a:ext uri="{FF2B5EF4-FFF2-40B4-BE49-F238E27FC236}">
                <a16:creationId xmlns:a16="http://schemas.microsoft.com/office/drawing/2014/main" id="{61E787AC-9DA1-EF97-0DB0-DA4816DFAF24}"/>
              </a:ext>
            </a:extLst>
          </p:cNvPr>
          <p:cNvSpPr>
            <a:spLocks noGrp="1"/>
          </p:cNvSpPr>
          <p:nvPr>
            <p:ph type="dt" sz="half" idx="14"/>
          </p:nvPr>
        </p:nvSpPr>
        <p:spPr>
          <a:xfrm>
            <a:off x="2645216" y="210114"/>
            <a:ext cx="1005840" cy="365760"/>
          </a:xfrm>
        </p:spPr>
        <p:txBody>
          <a:bodyPr anchor="ctr">
            <a:normAutofit/>
          </a:bodyPr>
          <a:lstStyle/>
          <a:p>
            <a:pPr rtl="0">
              <a:spcAft>
                <a:spcPts val="600"/>
              </a:spcAft>
            </a:pPr>
            <a:r>
              <a:rPr lang="en-US" dirty="0"/>
              <a:t>2026/04/16</a:t>
            </a:r>
          </a:p>
        </p:txBody>
      </p:sp>
      <p:sp>
        <p:nvSpPr>
          <p:cNvPr id="7" name="Slide Number Placeholder 6">
            <a:extLst>
              <a:ext uri="{FF2B5EF4-FFF2-40B4-BE49-F238E27FC236}">
                <a16:creationId xmlns:a16="http://schemas.microsoft.com/office/drawing/2014/main" id="{092EC38D-6BC4-F71E-B0F4-4C5727F844C9}"/>
              </a:ext>
            </a:extLst>
          </p:cNvPr>
          <p:cNvSpPr>
            <a:spLocks noGrp="1"/>
          </p:cNvSpPr>
          <p:nvPr>
            <p:ph type="sldNum" sz="quarter" idx="16"/>
          </p:nvPr>
        </p:nvSpPr>
        <p:spPr>
          <a:xfrm>
            <a:off x="3760180" y="210114"/>
            <a:ext cx="495299" cy="365760"/>
          </a:xfrm>
        </p:spPr>
        <p:txBody>
          <a:bodyPr anchor="ctr">
            <a:normAutofit/>
          </a:bodyPr>
          <a:lstStyle/>
          <a:p>
            <a:pPr rtl="0">
              <a:spcAft>
                <a:spcPts val="600"/>
              </a:spcAft>
            </a:pPr>
            <a:fld id="{5E0677F5-4A8A-4BF1-96BE-3BAE8FBAFE2E}" type="slidenum">
              <a:rPr lang="en-US" smtClean="0"/>
              <a:pPr rtl="0">
                <a:spcAft>
                  <a:spcPts val="600"/>
                </a:spcAft>
              </a:pPr>
              <a:t>1</a:t>
            </a:fld>
            <a:endParaRPr lang="en-US"/>
          </a:p>
        </p:txBody>
      </p:sp>
      <p:pic>
        <p:nvPicPr>
          <p:cNvPr id="8" name="Picture Placeholder 7" descr="뇌 모양의 회로 각도">
            <a:extLst>
              <a:ext uri="{FF2B5EF4-FFF2-40B4-BE49-F238E27FC236}">
                <a16:creationId xmlns:a16="http://schemas.microsoft.com/office/drawing/2014/main" id="{250CC175-A079-4F78-9BC0-097B86B9EEF6}"/>
              </a:ext>
            </a:extLst>
          </p:cNvPr>
          <p:cNvPicPr>
            <a:picLocks noGrp="1" noChangeAspect="1"/>
          </p:cNvPicPr>
          <p:nvPr>
            <p:ph type="pic" sz="quarter" idx="13"/>
          </p:nvPr>
        </p:nvPicPr>
        <p:blipFill>
          <a:blip r:embed="rId3"/>
          <a:srcRect l="11250" r="11250"/>
          <a:stretch/>
        </p:blipFill>
        <p:spPr>
          <a:xfrm>
            <a:off x="4555525" y="7258"/>
            <a:ext cx="7673270" cy="6840000"/>
          </a:xfrm>
          <a:blipFill>
            <a:blip r:embed="rId4">
              <a:alphaModFix amt="70000"/>
            </a:blip>
            <a:stretch>
              <a:fillRect/>
            </a:stretch>
          </a:blipFill>
        </p:spPr>
      </p:pic>
      <p:sp>
        <p:nvSpPr>
          <p:cNvPr id="9" name="Title 2">
            <a:extLst>
              <a:ext uri="{FF2B5EF4-FFF2-40B4-BE49-F238E27FC236}">
                <a16:creationId xmlns:a16="http://schemas.microsoft.com/office/drawing/2014/main" id="{25CC247D-69CF-4379-A1A1-75050FA57773}"/>
              </a:ext>
            </a:extLst>
          </p:cNvPr>
          <p:cNvSpPr txBox="1">
            <a:spLocks/>
          </p:cNvSpPr>
          <p:nvPr/>
        </p:nvSpPr>
        <p:spPr>
          <a:xfrm>
            <a:off x="268524" y="771071"/>
            <a:ext cx="11923476" cy="5041900"/>
          </a:xfrm>
          <a:prstGeom prst="rect">
            <a:avLst/>
          </a:prstGeom>
        </p:spPr>
        <p:txBody>
          <a:bodyPr vert="horz" lIns="36000" tIns="36000" rIns="36000" bIns="36000" rtlCol="0" anchor="t" anchorCtr="0">
            <a:noAutofit/>
          </a:bodyPr>
          <a:lstStyle>
            <a:lvl1pPr algn="l" defTabSz="914400" rtl="0" eaLnBrk="1" latinLnBrk="0" hangingPunct="1">
              <a:lnSpc>
                <a:spcPct val="85000"/>
              </a:lnSpc>
              <a:spcBef>
                <a:spcPct val="0"/>
              </a:spcBef>
              <a:buNone/>
              <a:defRPr sz="3600" b="0" kern="1200" spc="0" baseline="0">
                <a:solidFill>
                  <a:schemeClr val="tx1"/>
                </a:solidFill>
                <a:latin typeface="Malgun Gothic" panose="020B0503020000020004" pitchFamily="34" charset="-127"/>
                <a:ea typeface="Malgun Gothic" panose="020B0503020000020004" pitchFamily="34" charset="-127"/>
                <a:cs typeface="+mj-cs"/>
              </a:defRPr>
            </a:lvl1pPr>
          </a:lstStyle>
          <a:p>
            <a:pPr algn="r">
              <a:lnSpc>
                <a:spcPct val="100000"/>
              </a:lnSpc>
            </a:pPr>
            <a:r>
              <a:rPr lang="en-US" sz="9600" dirty="0">
                <a:solidFill>
                  <a:schemeClr val="accent5">
                    <a:lumMod val="20000"/>
                    <a:lumOff val="80000"/>
                  </a:schemeClr>
                </a:solidFill>
              </a:rPr>
              <a:t>Case Study (1): </a:t>
            </a:r>
          </a:p>
          <a:p>
            <a:pPr algn="r">
              <a:lnSpc>
                <a:spcPct val="100000"/>
              </a:lnSpc>
            </a:pPr>
            <a:r>
              <a:rPr lang="en-US" sz="9600" b="1" dirty="0">
                <a:solidFill>
                  <a:schemeClr val="accent1">
                    <a:lumMod val="75000"/>
                  </a:schemeClr>
                </a:solidFill>
              </a:rPr>
              <a:t>EU AI Act </a:t>
            </a:r>
            <a:r>
              <a:rPr lang="en-US" sz="9600" dirty="0">
                <a:solidFill>
                  <a:srgbClr val="7030A0"/>
                </a:solidFill>
              </a:rPr>
              <a:t>와</a:t>
            </a:r>
            <a:br>
              <a:rPr lang="en-US" sz="9600" dirty="0"/>
            </a:br>
            <a:r>
              <a:rPr lang="en-US" sz="9600" b="1" dirty="0" err="1">
                <a:solidFill>
                  <a:srgbClr val="FFC000"/>
                </a:solidFill>
              </a:rPr>
              <a:t>한국</a:t>
            </a:r>
            <a:r>
              <a:rPr lang="en-US" sz="9600" b="1" dirty="0">
                <a:solidFill>
                  <a:srgbClr val="FFC000"/>
                </a:solidFill>
              </a:rPr>
              <a:t> AI </a:t>
            </a:r>
            <a:r>
              <a:rPr lang="en-US" sz="9600" b="1" dirty="0" err="1">
                <a:solidFill>
                  <a:srgbClr val="FFC000"/>
                </a:solidFill>
              </a:rPr>
              <a:t>기본법</a:t>
            </a:r>
            <a:r>
              <a:rPr lang="en-US" sz="9600" dirty="0"/>
              <a:t> </a:t>
            </a:r>
            <a:r>
              <a:rPr lang="en-US" sz="9600" b="1" dirty="0" err="1">
                <a:solidFill>
                  <a:srgbClr val="7030A0"/>
                </a:solidFill>
              </a:rPr>
              <a:t>비교</a:t>
            </a:r>
            <a:endParaRPr lang="en-US" sz="28700" b="1" dirty="0">
              <a:solidFill>
                <a:srgbClr val="7030A0"/>
              </a:solidFill>
            </a:endParaRPr>
          </a:p>
        </p:txBody>
      </p:sp>
    </p:spTree>
    <p:extLst>
      <p:ext uri="{BB962C8B-B14F-4D97-AF65-F5344CB8AC3E}">
        <p14:creationId xmlns:p14="http://schemas.microsoft.com/office/powerpoint/2010/main" val="28729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250"/>
                                        <p:tgtEl>
                                          <p:spTgt spid="4"/>
                                        </p:tgtEl>
                                      </p:cBhvr>
                                    </p:animEffect>
                                    <p:anim calcmode="lin" valueType="num">
                                      <p:cBhvr>
                                        <p:cTn id="8" dur="250" fill="hold"/>
                                        <p:tgtEl>
                                          <p:spTgt spid="4"/>
                                        </p:tgtEl>
                                        <p:attrNameLst>
                                          <p:attrName>ppt_x</p:attrName>
                                        </p:attrNameLst>
                                      </p:cBhvr>
                                      <p:tavLst>
                                        <p:tav tm="0">
                                          <p:val>
                                            <p:strVal val="#ppt_x"/>
                                          </p:val>
                                        </p:tav>
                                        <p:tav tm="100000">
                                          <p:val>
                                            <p:strVal val="#ppt_x"/>
                                          </p:val>
                                        </p:tav>
                                      </p:tavLst>
                                    </p:anim>
                                    <p:anim calcmode="lin" valueType="num">
                                      <p:cBhvr>
                                        <p:cTn id="9" dur="250" fill="hold"/>
                                        <p:tgtEl>
                                          <p:spTgt spid="4"/>
                                        </p:tgtEl>
                                        <p:attrNameLst>
                                          <p:attrName>ppt_y</p:attrName>
                                        </p:attrNameLst>
                                      </p:cBhvr>
                                      <p:tavLst>
                                        <p:tav tm="0">
                                          <p:val>
                                            <p:strVal val="#ppt_y+.1"/>
                                          </p:val>
                                        </p:tav>
                                        <p:tav tm="100000">
                                          <p:val>
                                            <p:strVal val="#ppt_y"/>
                                          </p:val>
                                        </p:tav>
                                      </p:tavLst>
                                    </p:anim>
                                  </p:childTnLst>
                                </p:cTn>
                              </p:par>
                              <p:par>
                                <p:cTn id="10" presetID="10" presetClass="entr" presetSubtype="0" fill="hold" grpId="0" nodeType="withEffect">
                                  <p:stCondLst>
                                    <p:cond delay="500"/>
                                  </p:stCondLst>
                                  <p:iterate>
                                    <p:tmPct val="10000"/>
                                  </p:iterate>
                                  <p:childTnLst>
                                    <p:set>
                                      <p:cBhvr>
                                        <p:cTn id="11" dur="1" fill="hold">
                                          <p:stCondLst>
                                            <p:cond delay="0"/>
                                          </p:stCondLst>
                                        </p:cTn>
                                        <p:tgtEl>
                                          <p:spTgt spid="9"/>
                                        </p:tgtEl>
                                        <p:attrNameLst>
                                          <p:attrName>style.visibility</p:attrName>
                                        </p:attrNameLst>
                                      </p:cBhvr>
                                      <p:to>
                                        <p:strVal val="visible"/>
                                      </p:to>
                                    </p:set>
                                    <p:animEffect transition="in" filter="fade">
                                      <p:cBhvr>
                                        <p:cTn id="12" dur="7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a:extLst>
              <a:ext uri="{FF2B5EF4-FFF2-40B4-BE49-F238E27FC236}">
                <a16:creationId xmlns:a16="http://schemas.microsoft.com/office/drawing/2014/main" id="{3E77190C-499B-49D7-ACBB-2C9774E9F96A}"/>
              </a:ext>
            </a:extLst>
          </p:cNvPr>
          <p:cNvSpPr>
            <a:spLocks noGrp="1"/>
          </p:cNvSpPr>
          <p:nvPr>
            <p:ph type="sldNum" sz="quarter" idx="12"/>
          </p:nvPr>
        </p:nvSpPr>
        <p:spPr>
          <a:xfrm>
            <a:off x="11300323" y="210114"/>
            <a:ext cx="605475" cy="365760"/>
          </a:xfrm>
        </p:spPr>
        <p:txBody>
          <a:bodyPr anchor="ctr">
            <a:normAutofit/>
          </a:bodyPr>
          <a:lstStyle/>
          <a:p>
            <a:pPr rtl="0">
              <a:spcAft>
                <a:spcPts val="600"/>
              </a:spcAft>
            </a:pPr>
            <a:fld id="{5E0677F5-4A8A-4BF1-96BE-3BAE8FBAFE2E}" type="slidenum">
              <a:rPr lang="en-US" smtClean="0"/>
              <a:pPr rtl="0">
                <a:spcAft>
                  <a:spcPts val="600"/>
                </a:spcAft>
              </a:pPr>
              <a:t>2</a:t>
            </a:fld>
            <a:endParaRPr lang="en-US"/>
          </a:p>
        </p:txBody>
      </p:sp>
      <p:sp>
        <p:nvSpPr>
          <p:cNvPr id="2" name="TextBox 1">
            <a:extLst>
              <a:ext uri="{FF2B5EF4-FFF2-40B4-BE49-F238E27FC236}">
                <a16:creationId xmlns:a16="http://schemas.microsoft.com/office/drawing/2014/main" id="{BC736E69-0A89-4D98-9176-69AA0D8AE24B}"/>
              </a:ext>
            </a:extLst>
          </p:cNvPr>
          <p:cNvSpPr txBox="1"/>
          <p:nvPr/>
        </p:nvSpPr>
        <p:spPr>
          <a:xfrm>
            <a:off x="5885549" y="4118119"/>
            <a:ext cx="5776686" cy="2308324"/>
          </a:xfrm>
          <a:prstGeom prst="rect">
            <a:avLst/>
          </a:prstGeom>
          <a:noFill/>
        </p:spPr>
        <p:txBody>
          <a:bodyPr wrap="square" rtlCol="0">
            <a:spAutoFit/>
          </a:bodyPr>
          <a:lstStyle/>
          <a:p>
            <a:pPr marL="342900" indent="-342900">
              <a:buAutoNum type="arabicPeriod"/>
            </a:pPr>
            <a:r>
              <a:rPr lang="en-US" dirty="0" err="1"/>
              <a:t>발표</a:t>
            </a:r>
            <a:r>
              <a:rPr lang="en-US" dirty="0"/>
              <a:t> </a:t>
            </a:r>
            <a:r>
              <a:rPr lang="en-US" dirty="0" err="1"/>
              <a:t>주제</a:t>
            </a:r>
            <a:r>
              <a:rPr lang="en-US" dirty="0"/>
              <a:t> 및 </a:t>
            </a:r>
            <a:r>
              <a:rPr lang="en-US" dirty="0" err="1"/>
              <a:t>배경</a:t>
            </a:r>
            <a:endParaRPr lang="en-US" dirty="0"/>
          </a:p>
          <a:p>
            <a:pPr marL="342900" indent="-342900">
              <a:buAutoNum type="arabicPeriod"/>
            </a:pPr>
            <a:r>
              <a:rPr lang="en-US" dirty="0" err="1"/>
              <a:t>문제</a:t>
            </a:r>
            <a:r>
              <a:rPr lang="en-US" dirty="0"/>
              <a:t> </a:t>
            </a:r>
            <a:r>
              <a:rPr lang="en-US" dirty="0" err="1"/>
              <a:t>제기</a:t>
            </a:r>
            <a:r>
              <a:rPr lang="en-US" dirty="0"/>
              <a:t>: 왜 </a:t>
            </a:r>
            <a:r>
              <a:rPr lang="en-US" dirty="0" err="1"/>
              <a:t>EU와</a:t>
            </a:r>
            <a:r>
              <a:rPr lang="en-US" dirty="0"/>
              <a:t> </a:t>
            </a:r>
            <a:r>
              <a:rPr lang="en-US" dirty="0" err="1"/>
              <a:t>한국의</a:t>
            </a:r>
            <a:r>
              <a:rPr lang="en-US" dirty="0"/>
              <a:t> AI </a:t>
            </a:r>
            <a:r>
              <a:rPr lang="en-US" dirty="0" err="1"/>
              <a:t>규제를</a:t>
            </a:r>
            <a:r>
              <a:rPr lang="en-US" dirty="0"/>
              <a:t> </a:t>
            </a:r>
            <a:r>
              <a:rPr lang="en-US" dirty="0" err="1"/>
              <a:t>비교하는가</a:t>
            </a:r>
            <a:endParaRPr lang="en-US" dirty="0"/>
          </a:p>
          <a:p>
            <a:pPr marL="342900" indent="-342900">
              <a:buAutoNum type="arabicPeriod"/>
            </a:pPr>
            <a:r>
              <a:rPr lang="en-US" dirty="0"/>
              <a:t>EU AI Act: </a:t>
            </a:r>
            <a:r>
              <a:rPr lang="en-US" dirty="0" err="1"/>
              <a:t>위험기반</a:t>
            </a:r>
            <a:r>
              <a:rPr lang="en-US" dirty="0"/>
              <a:t> </a:t>
            </a:r>
            <a:r>
              <a:rPr lang="en-US" dirty="0" err="1"/>
              <a:t>규제</a:t>
            </a:r>
            <a:r>
              <a:rPr lang="en-US" dirty="0"/>
              <a:t> </a:t>
            </a:r>
            <a:r>
              <a:rPr lang="en-US" dirty="0" err="1"/>
              <a:t>개요</a:t>
            </a:r>
            <a:endParaRPr lang="en-US" dirty="0"/>
          </a:p>
          <a:p>
            <a:pPr marL="342900" indent="-342900">
              <a:buAutoNum type="arabicPeriod"/>
            </a:pPr>
            <a:r>
              <a:rPr lang="en-US" dirty="0" err="1"/>
              <a:t>한국</a:t>
            </a:r>
            <a:r>
              <a:rPr lang="en-US" dirty="0"/>
              <a:t> AI </a:t>
            </a:r>
            <a:r>
              <a:rPr lang="en-US" dirty="0" err="1"/>
              <a:t>기본법</a:t>
            </a:r>
            <a:r>
              <a:rPr lang="en-US" dirty="0"/>
              <a:t>: </a:t>
            </a:r>
            <a:r>
              <a:rPr lang="en-US" dirty="0" err="1"/>
              <a:t>원칙</a:t>
            </a:r>
            <a:r>
              <a:rPr lang="en-US" dirty="0"/>
              <a:t> </a:t>
            </a:r>
            <a:r>
              <a:rPr lang="en-US" dirty="0" err="1"/>
              <a:t>기반</a:t>
            </a:r>
            <a:r>
              <a:rPr lang="en-US" dirty="0"/>
              <a:t> </a:t>
            </a:r>
            <a:r>
              <a:rPr lang="en-US" dirty="0" err="1"/>
              <a:t>규제</a:t>
            </a:r>
            <a:r>
              <a:rPr lang="en-US" dirty="0"/>
              <a:t> </a:t>
            </a:r>
            <a:r>
              <a:rPr lang="en-US" dirty="0" err="1"/>
              <a:t>개요</a:t>
            </a:r>
            <a:endParaRPr lang="en-US" dirty="0"/>
          </a:p>
          <a:p>
            <a:pPr marL="342900" indent="-342900">
              <a:buAutoNum type="arabicPeriod"/>
            </a:pPr>
            <a:r>
              <a:rPr lang="en-US" dirty="0" err="1"/>
              <a:t>규제</a:t>
            </a:r>
            <a:r>
              <a:rPr lang="en-US" dirty="0"/>
              <a:t> </a:t>
            </a:r>
            <a:r>
              <a:rPr lang="en-US" dirty="0" err="1"/>
              <a:t>방식의</a:t>
            </a:r>
            <a:r>
              <a:rPr lang="en-US" dirty="0"/>
              <a:t> </a:t>
            </a:r>
            <a:r>
              <a:rPr lang="en-US" dirty="0" err="1"/>
              <a:t>구조적</a:t>
            </a:r>
            <a:r>
              <a:rPr lang="en-US" dirty="0"/>
              <a:t> </a:t>
            </a:r>
            <a:r>
              <a:rPr lang="en-US" dirty="0" err="1"/>
              <a:t>비교</a:t>
            </a:r>
            <a:endParaRPr lang="en-US" dirty="0"/>
          </a:p>
          <a:p>
            <a:pPr marL="342900" indent="-342900">
              <a:buAutoNum type="arabicPeriod"/>
            </a:pPr>
            <a:r>
              <a:rPr lang="ko-KR" altLang="en-US" dirty="0"/>
              <a:t>기</a:t>
            </a:r>
            <a:r>
              <a:rPr lang="en-US" dirty="0"/>
              <a:t>술 </a:t>
            </a:r>
            <a:r>
              <a:rPr lang="en-US" dirty="0" err="1"/>
              <a:t>발전</a:t>
            </a:r>
            <a:r>
              <a:rPr lang="en-US" dirty="0"/>
              <a:t> </a:t>
            </a:r>
            <a:r>
              <a:rPr lang="en-US" dirty="0" err="1"/>
              <a:t>속도와</a:t>
            </a:r>
            <a:r>
              <a:rPr lang="en-US" dirty="0"/>
              <a:t> </a:t>
            </a:r>
            <a:r>
              <a:rPr lang="en-US" dirty="0" err="1"/>
              <a:t>규제</a:t>
            </a:r>
            <a:r>
              <a:rPr lang="en-US" dirty="0"/>
              <a:t> </a:t>
            </a:r>
            <a:r>
              <a:rPr lang="en-US" dirty="0" err="1"/>
              <a:t>효과</a:t>
            </a:r>
            <a:endParaRPr lang="en-US" dirty="0"/>
          </a:p>
          <a:p>
            <a:pPr marL="342900" indent="-342900">
              <a:buAutoNum type="arabicPeriod"/>
            </a:pPr>
            <a:r>
              <a:rPr lang="en-US" dirty="0" err="1"/>
              <a:t>한국의</a:t>
            </a:r>
            <a:r>
              <a:rPr lang="en-US" dirty="0"/>
              <a:t> </a:t>
            </a:r>
            <a:r>
              <a:rPr lang="en-US" dirty="0" err="1"/>
              <a:t>위험기반</a:t>
            </a:r>
            <a:r>
              <a:rPr lang="en-US" dirty="0"/>
              <a:t> </a:t>
            </a:r>
            <a:r>
              <a:rPr lang="en-US" dirty="0" err="1"/>
              <a:t>규제</a:t>
            </a:r>
            <a:r>
              <a:rPr lang="en-US" dirty="0"/>
              <a:t> </a:t>
            </a:r>
            <a:r>
              <a:rPr lang="en-US" dirty="0" err="1"/>
              <a:t>도입</a:t>
            </a:r>
            <a:r>
              <a:rPr lang="en-US" dirty="0"/>
              <a:t> </a:t>
            </a:r>
            <a:r>
              <a:rPr lang="en-US" dirty="0" err="1"/>
              <a:t>가능성</a:t>
            </a:r>
            <a:endParaRPr lang="en-US" dirty="0"/>
          </a:p>
          <a:p>
            <a:pPr marL="342900" indent="-342900">
              <a:buAutoNum type="arabicPeriod"/>
            </a:pPr>
            <a:r>
              <a:rPr lang="en-US" dirty="0" err="1"/>
              <a:t>결론</a:t>
            </a:r>
            <a:endParaRPr lang="LID4096" dirty="0"/>
          </a:p>
        </p:txBody>
      </p:sp>
      <p:sp>
        <p:nvSpPr>
          <p:cNvPr id="8" name="Title 2">
            <a:extLst>
              <a:ext uri="{FF2B5EF4-FFF2-40B4-BE49-F238E27FC236}">
                <a16:creationId xmlns:a16="http://schemas.microsoft.com/office/drawing/2014/main" id="{33C79BE8-EA25-4121-9C20-9B2786D000FB}"/>
              </a:ext>
            </a:extLst>
          </p:cNvPr>
          <p:cNvSpPr txBox="1">
            <a:spLocks/>
          </p:cNvSpPr>
          <p:nvPr/>
        </p:nvSpPr>
        <p:spPr>
          <a:xfrm>
            <a:off x="464457" y="769261"/>
            <a:ext cx="11309710" cy="3011710"/>
          </a:xfrm>
          <a:prstGeom prst="rect">
            <a:avLst/>
          </a:prstGeom>
        </p:spPr>
        <p:txBody>
          <a:bodyPr vert="horz" lIns="36000" tIns="36000" rIns="36000" bIns="36000" rtlCol="0" anchor="t" anchorCtr="0">
            <a:noAutofit/>
          </a:bodyPr>
          <a:lstStyle>
            <a:lvl1pPr algn="r" defTabSz="914400" rtl="0" eaLnBrk="1" latinLnBrk="0" hangingPunct="1">
              <a:lnSpc>
                <a:spcPct val="85000"/>
              </a:lnSpc>
              <a:spcBef>
                <a:spcPct val="0"/>
              </a:spcBef>
              <a:buNone/>
              <a:defRPr sz="7200" b="0" kern="1200" spc="0" baseline="0">
                <a:solidFill>
                  <a:schemeClr val="tx1"/>
                </a:solidFill>
                <a:latin typeface="Malgun Gothic" panose="020B0503020000020004" pitchFamily="34" charset="-127"/>
                <a:ea typeface="Malgun Gothic" panose="020B0503020000020004" pitchFamily="34" charset="-127"/>
                <a:cs typeface="+mj-cs"/>
              </a:defRPr>
            </a:lvl1pPr>
          </a:lstStyle>
          <a:p>
            <a:pPr>
              <a:lnSpc>
                <a:spcPct val="150000"/>
              </a:lnSpc>
            </a:pPr>
            <a:r>
              <a:rPr lang="en-US" altLang="ko-KR" sz="6000" b="1" dirty="0"/>
              <a:t>2. </a:t>
            </a:r>
            <a:r>
              <a:rPr lang="en-US" altLang="ko-KR" sz="6000" b="1" dirty="0">
                <a:solidFill>
                  <a:srgbClr val="00B0F0"/>
                </a:solidFill>
              </a:rPr>
              <a:t>EU </a:t>
            </a:r>
            <a:r>
              <a:rPr lang="ko-KR" altLang="en-US" sz="6000" b="1" dirty="0">
                <a:solidFill>
                  <a:srgbClr val="00B0F0"/>
                </a:solidFill>
              </a:rPr>
              <a:t>위험기반 규제</a:t>
            </a:r>
            <a:r>
              <a:rPr lang="en-US" altLang="ko-KR" sz="6000" b="1" dirty="0">
                <a:solidFill>
                  <a:srgbClr val="00B0F0"/>
                </a:solidFill>
              </a:rPr>
              <a:t>(Risk-based)</a:t>
            </a:r>
            <a:r>
              <a:rPr lang="en-US" altLang="ko-KR" sz="6000" b="1" dirty="0"/>
              <a:t> vs </a:t>
            </a:r>
            <a:r>
              <a:rPr lang="ko-KR" altLang="en-US" sz="6000" b="1" dirty="0">
                <a:solidFill>
                  <a:srgbClr val="FFC000"/>
                </a:solidFill>
              </a:rPr>
              <a:t>한국의 원칙 기반 규제</a:t>
            </a:r>
            <a:r>
              <a:rPr lang="ko-KR" altLang="en-US" sz="6000" b="1" dirty="0"/>
              <a:t> 비교</a:t>
            </a:r>
            <a:endParaRPr lang="en-US" sz="23900" dirty="0"/>
          </a:p>
        </p:txBody>
      </p:sp>
    </p:spTree>
    <p:extLst>
      <p:ext uri="{BB962C8B-B14F-4D97-AF65-F5344CB8AC3E}">
        <p14:creationId xmlns:p14="http://schemas.microsoft.com/office/powerpoint/2010/main" val="4173317806"/>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8"/>
                                        </p:tgtEl>
                                        <p:attrNameLst>
                                          <p:attrName>style.visibility</p:attrName>
                                        </p:attrNameLst>
                                      </p:cBhvr>
                                      <p:to>
                                        <p:strVal val="visible"/>
                                      </p:to>
                                    </p:set>
                                    <p:animEffect transition="in" filter="fade">
                                      <p:cBhvr>
                                        <p:cTn id="7" dur="7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A156A66E-409D-8705-A2EB-B7C32E3F9BF9}"/>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3</a:t>
            </a:fld>
            <a:endParaRPr lang="en-US"/>
          </a:p>
        </p:txBody>
      </p:sp>
      <p:sp>
        <p:nvSpPr>
          <p:cNvPr id="9" name="Title 1">
            <a:extLst>
              <a:ext uri="{FF2B5EF4-FFF2-40B4-BE49-F238E27FC236}">
                <a16:creationId xmlns:a16="http://schemas.microsoft.com/office/drawing/2014/main" id="{A71390D9-7A46-416D-BE7E-29A8B596C11E}"/>
              </a:ext>
            </a:extLst>
          </p:cNvPr>
          <p:cNvSpPr txBox="1">
            <a:spLocks/>
          </p:cNvSpPr>
          <p:nvPr/>
        </p:nvSpPr>
        <p:spPr>
          <a:xfrm>
            <a:off x="5202260" y="173790"/>
            <a:ext cx="6400800" cy="576000"/>
          </a:xfrm>
          <a:prstGeom prst="rect">
            <a:avLst/>
          </a:prstGeom>
        </p:spPr>
        <p:txBody>
          <a:bodyPr vert="horz" lIns="91440" tIns="45720" rIns="548640" bIns="45720" rtlCol="0" anchor="b">
            <a:normAutofit/>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dirty="0" err="1"/>
              <a:t>발표</a:t>
            </a:r>
            <a:r>
              <a:rPr lang="en-US" dirty="0"/>
              <a:t> </a:t>
            </a:r>
            <a:r>
              <a:rPr lang="en-US" dirty="0" err="1"/>
              <a:t>주제</a:t>
            </a:r>
            <a:r>
              <a:rPr lang="en-US" dirty="0"/>
              <a:t> 및 </a:t>
            </a:r>
            <a:r>
              <a:rPr lang="en-US" dirty="0" err="1"/>
              <a:t>배경</a:t>
            </a:r>
            <a:endParaRPr lang="en-US" dirty="0"/>
          </a:p>
        </p:txBody>
      </p:sp>
      <p:pic>
        <p:nvPicPr>
          <p:cNvPr id="8" name="Content Placeholder 7" descr="플러스와 마이너스 부호가 있는 나무 시소.">
            <a:extLst>
              <a:ext uri="{FF2B5EF4-FFF2-40B4-BE49-F238E27FC236}">
                <a16:creationId xmlns:a16="http://schemas.microsoft.com/office/drawing/2014/main" id="{3BA11BCD-6ADB-4781-911C-5B5E44B4102C}"/>
              </a:ext>
            </a:extLst>
          </p:cNvPr>
          <p:cNvPicPr>
            <a:picLocks noGrp="1" noChangeAspect="1"/>
          </p:cNvPicPr>
          <p:nvPr>
            <p:ph type="pic" sz="quarter" idx="15"/>
          </p:nvPr>
        </p:nvPicPr>
        <p:blipFill rotWithShape="1">
          <a:blip r:embed="rId3"/>
          <a:srcRect l="27876" r="27876"/>
          <a:stretch/>
        </p:blipFill>
        <p:spPr/>
      </p:pic>
      <p:sp>
        <p:nvSpPr>
          <p:cNvPr id="11" name="Content Placeholder 6">
            <a:extLst>
              <a:ext uri="{FF2B5EF4-FFF2-40B4-BE49-F238E27FC236}">
                <a16:creationId xmlns:a16="http://schemas.microsoft.com/office/drawing/2014/main" id="{CD93AA9B-A426-4840-AE76-E5028EB597AE}"/>
              </a:ext>
            </a:extLst>
          </p:cNvPr>
          <p:cNvSpPr txBox="1">
            <a:spLocks/>
          </p:cNvSpPr>
          <p:nvPr>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5210016" y="1220145"/>
            <a:ext cx="6400800" cy="4502965"/>
          </a:xfrm>
          <a:prstGeom prst="rect">
            <a:avLst/>
          </a:prstGeom>
        </p:spPr>
        <p:txBody>
          <a:bodyPr vert="horz" lIns="91440" tIns="45720" rIns="548640" bIns="45720" rtlCol="0">
            <a:normAutofit lnSpcReduction="10000"/>
          </a:bodyPr>
          <a:lst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nSpc>
                <a:spcPct val="150000"/>
              </a:lnSpc>
            </a:pPr>
            <a:r>
              <a:rPr lang="ko-KR" altLang="en-US" sz="1800" b="1" dirty="0">
                <a:solidFill>
                  <a:srgbClr val="FFC000"/>
                </a:solidFill>
                <a:latin typeface="맑은 고딕" panose="020B0503020000020004" pitchFamily="50" charset="-127"/>
                <a:ea typeface="맑은 고딕" panose="020B0503020000020004" pitchFamily="50" charset="-127"/>
              </a:rPr>
              <a:t>규제 비교와 관련된 질문</a:t>
            </a:r>
            <a:endParaRPr lang="en-US" altLang="ko-KR" sz="1800" b="1" dirty="0">
              <a:solidFill>
                <a:srgbClr val="FFC000"/>
              </a:solidFill>
              <a:latin typeface="맑은 고딕" panose="020B0503020000020004" pitchFamily="50" charset="-127"/>
              <a:ea typeface="맑은 고딕" panose="020B0503020000020004" pitchFamily="50" charset="-127"/>
            </a:endParaRPr>
          </a:p>
          <a:p>
            <a:pPr>
              <a:lnSpc>
                <a:spcPct val="100000"/>
              </a:lnSpc>
            </a:pPr>
            <a:r>
              <a:rPr lang="en-US" altLang="ko-KR" sz="1200" dirty="0">
                <a:latin typeface="맑은 고딕" panose="020B0503020000020004" pitchFamily="50" charset="-127"/>
                <a:ea typeface="맑은 고딕" panose="020B0503020000020004" pitchFamily="50" charset="-127"/>
              </a:rPr>
              <a:t>1. </a:t>
            </a:r>
            <a:r>
              <a:rPr lang="ko-KR" altLang="en-US" sz="1200" dirty="0">
                <a:latin typeface="맑은 고딕" panose="020B0503020000020004" pitchFamily="50" charset="-127"/>
                <a:ea typeface="맑은 고딕" panose="020B0503020000020004" pitchFamily="50" charset="-127"/>
              </a:rPr>
              <a:t>“위험 기반” 체계가 기술 발전 속도에 더 적합한가</a:t>
            </a:r>
            <a:r>
              <a:rPr lang="en-US" altLang="ko-KR" sz="1200" dirty="0">
                <a:latin typeface="맑은 고딕" panose="020B0503020000020004" pitchFamily="50" charset="-127"/>
                <a:ea typeface="맑은 고딕" panose="020B0503020000020004" pitchFamily="50" charset="-127"/>
              </a:rPr>
              <a:t>?</a:t>
            </a:r>
            <a:br>
              <a:rPr lang="ko-KR" altLang="en-US" sz="1200" dirty="0">
                <a:latin typeface="맑은 고딕" panose="020B0503020000020004" pitchFamily="50" charset="-127"/>
                <a:ea typeface="맑은 고딕" panose="020B0503020000020004" pitchFamily="50" charset="-127"/>
              </a:rPr>
            </a:br>
            <a:r>
              <a:rPr lang="en-US" altLang="ko-KR" sz="1200" dirty="0">
                <a:latin typeface="맑은 고딕" panose="020B0503020000020004" pitchFamily="50" charset="-127"/>
                <a:ea typeface="맑은 고딕" panose="020B0503020000020004" pitchFamily="50" charset="-127"/>
              </a:rPr>
              <a:t>2. </a:t>
            </a:r>
            <a:r>
              <a:rPr lang="ko-KR" altLang="en-US" sz="1200" dirty="0">
                <a:latin typeface="맑은 고딕" panose="020B0503020000020004" pitchFamily="50" charset="-127"/>
                <a:ea typeface="맑은 고딕" panose="020B0503020000020004" pitchFamily="50" charset="-127"/>
              </a:rPr>
              <a:t>한국의 원칙 중심 규제가 </a:t>
            </a:r>
            <a:r>
              <a:rPr lang="en-US" altLang="ko-KR" sz="1200" dirty="0">
                <a:latin typeface="맑은 고딕" panose="020B0503020000020004" pitchFamily="50" charset="-127"/>
                <a:ea typeface="맑은 고딕" panose="020B0503020000020004" pitchFamily="50" charset="-127"/>
              </a:rPr>
              <a:t>EU </a:t>
            </a:r>
            <a:r>
              <a:rPr lang="ko-KR" altLang="en-US" sz="1200" dirty="0">
                <a:latin typeface="맑은 고딕" panose="020B0503020000020004" pitchFamily="50" charset="-127"/>
                <a:ea typeface="맑은 고딕" panose="020B0503020000020004" pitchFamily="50" charset="-127"/>
              </a:rPr>
              <a:t>모델 대비 명확성</a:t>
            </a:r>
            <a:r>
              <a:rPr lang="en-US" altLang="ko-KR" sz="1200" dirty="0">
                <a:latin typeface="맑은 고딕" panose="020B0503020000020004" pitchFamily="50" charset="-127"/>
                <a:ea typeface="맑은 고딕" panose="020B0503020000020004" pitchFamily="50" charset="-127"/>
              </a:rPr>
              <a:t>·</a:t>
            </a:r>
            <a:r>
              <a:rPr lang="ko-KR" altLang="en-US" sz="1200" dirty="0">
                <a:latin typeface="맑은 고딕" panose="020B0503020000020004" pitchFamily="50" charset="-127"/>
                <a:ea typeface="맑은 고딕" panose="020B0503020000020004" pitchFamily="50" charset="-127"/>
              </a:rPr>
              <a:t>예측가능성에서 가지는 한계는 무엇인가</a:t>
            </a:r>
            <a:r>
              <a:rPr lang="en-US" altLang="ko-KR" sz="1200" dirty="0">
                <a:latin typeface="맑은 고딕" panose="020B0503020000020004" pitchFamily="50" charset="-127"/>
                <a:ea typeface="맑은 고딕" panose="020B0503020000020004" pitchFamily="50" charset="-127"/>
              </a:rPr>
              <a:t>?</a:t>
            </a:r>
            <a:br>
              <a:rPr lang="ko-KR" altLang="en-US" sz="1200" dirty="0">
                <a:latin typeface="맑은 고딕" panose="020B0503020000020004" pitchFamily="50" charset="-127"/>
                <a:ea typeface="맑은 고딕" panose="020B0503020000020004" pitchFamily="50" charset="-127"/>
              </a:rPr>
            </a:br>
            <a:r>
              <a:rPr lang="en-US" altLang="ko-KR" sz="1200" dirty="0">
                <a:latin typeface="맑은 고딕" panose="020B0503020000020004" pitchFamily="50" charset="-127"/>
                <a:ea typeface="맑은 고딕" panose="020B0503020000020004" pitchFamily="50" charset="-127"/>
              </a:rPr>
              <a:t>3. </a:t>
            </a:r>
            <a:r>
              <a:rPr lang="ko-KR" altLang="en-US" sz="1200" dirty="0">
                <a:latin typeface="맑은 고딕" panose="020B0503020000020004" pitchFamily="50" charset="-127"/>
                <a:ea typeface="맑은 고딕" panose="020B0503020000020004" pitchFamily="50" charset="-127"/>
              </a:rPr>
              <a:t>한국이 위험 분류 체계를 도입할 경우 발생할 제도적</a:t>
            </a:r>
            <a:r>
              <a:rPr lang="en-US" altLang="ko-KR" sz="1200" dirty="0">
                <a:latin typeface="맑은 고딕" panose="020B0503020000020004" pitchFamily="50" charset="-127"/>
                <a:ea typeface="맑은 고딕" panose="020B0503020000020004" pitchFamily="50" charset="-127"/>
              </a:rPr>
              <a:t>·</a:t>
            </a:r>
            <a:r>
              <a:rPr lang="ko-KR" altLang="en-US" sz="1200" dirty="0">
                <a:latin typeface="맑은 고딕" panose="020B0503020000020004" pitchFamily="50" charset="-127"/>
                <a:ea typeface="맑은 고딕" panose="020B0503020000020004" pitchFamily="50" charset="-127"/>
              </a:rPr>
              <a:t>산업적 변화는</a:t>
            </a:r>
            <a:r>
              <a:rPr lang="en-US" altLang="ko-KR" sz="1200" dirty="0">
                <a:latin typeface="맑은 고딕" panose="020B0503020000020004" pitchFamily="50" charset="-127"/>
                <a:ea typeface="맑은 고딕" panose="020B0503020000020004" pitchFamily="50" charset="-127"/>
              </a:rPr>
              <a:t>?</a:t>
            </a:r>
            <a:br>
              <a:rPr lang="ko-KR" altLang="en-US" sz="1200" dirty="0">
                <a:latin typeface="맑은 고딕" panose="020B0503020000020004" pitchFamily="50" charset="-127"/>
                <a:ea typeface="맑은 고딕" panose="020B0503020000020004" pitchFamily="50" charset="-127"/>
              </a:rPr>
            </a:br>
            <a:r>
              <a:rPr lang="en-US" altLang="ko-KR" sz="1200" dirty="0">
                <a:latin typeface="맑은 고딕" panose="020B0503020000020004" pitchFamily="50" charset="-127"/>
                <a:ea typeface="맑은 고딕" panose="020B0503020000020004" pitchFamily="50" charset="-127"/>
              </a:rPr>
              <a:t>4. </a:t>
            </a:r>
            <a:r>
              <a:rPr lang="ko-KR" altLang="en-US" sz="1200" dirty="0">
                <a:latin typeface="맑은 고딕" panose="020B0503020000020004" pitchFamily="50" charset="-127"/>
                <a:ea typeface="맑은 고딕" panose="020B0503020000020004" pitchFamily="50" charset="-127"/>
              </a:rPr>
              <a:t>고위험 여부를 정량적 기준으로 정의할 수 있는가</a:t>
            </a:r>
            <a:r>
              <a:rPr lang="en-US" altLang="ko-KR" sz="1200" dirty="0">
                <a:latin typeface="맑은 고딕" panose="020B0503020000020004" pitchFamily="50" charset="-127"/>
                <a:ea typeface="맑은 고딕" panose="020B0503020000020004" pitchFamily="50" charset="-127"/>
              </a:rPr>
              <a:t>?</a:t>
            </a:r>
            <a:endParaRPr lang="LID4096" sz="1200" dirty="0">
              <a:latin typeface="맑은 고딕" panose="020B0503020000020004" pitchFamily="50" charset="-127"/>
              <a:ea typeface="맑은 고딕" panose="020B0503020000020004" pitchFamily="50" charset="-127"/>
            </a:endParaRPr>
          </a:p>
          <a:p>
            <a:pPr>
              <a:lnSpc>
                <a:spcPct val="110000"/>
              </a:lnSpc>
              <a:spcBef>
                <a:spcPts val="2500"/>
              </a:spcBef>
            </a:pPr>
            <a:r>
              <a:rPr lang="ko-KR" altLang="en-US" sz="1800" b="1" dirty="0"/>
              <a:t>발표 주제 소개</a:t>
            </a:r>
          </a:p>
          <a:p>
            <a:pPr marL="0" lvl="1">
              <a:lnSpc>
                <a:spcPct val="110000"/>
              </a:lnSpc>
            </a:pPr>
            <a:r>
              <a:rPr lang="en-US" dirty="0"/>
              <a:t>EU AI Act</a:t>
            </a:r>
            <a:r>
              <a:rPr lang="ko-KR" altLang="en-US" dirty="0"/>
              <a:t>와 한국 기본법의 </a:t>
            </a:r>
            <a:r>
              <a:rPr lang="ko-KR" altLang="en-US" b="1" dirty="0">
                <a:solidFill>
                  <a:srgbClr val="FFC000"/>
                </a:solidFill>
              </a:rPr>
              <a:t>규제 접근법</a:t>
            </a:r>
            <a:r>
              <a:rPr lang="ko-KR" altLang="en-US" dirty="0">
                <a:solidFill>
                  <a:srgbClr val="FFC000"/>
                </a:solidFill>
              </a:rPr>
              <a:t> </a:t>
            </a:r>
            <a:r>
              <a:rPr lang="ko-KR" altLang="en-US" b="1" dirty="0">
                <a:solidFill>
                  <a:srgbClr val="FFC000"/>
                </a:solidFill>
              </a:rPr>
              <a:t>차이</a:t>
            </a:r>
            <a:r>
              <a:rPr lang="ko-KR" altLang="en-US" dirty="0"/>
              <a:t>를 비교</a:t>
            </a:r>
            <a:r>
              <a:rPr lang="en-US" altLang="ko-KR" dirty="0"/>
              <a:t>·</a:t>
            </a:r>
            <a:r>
              <a:rPr lang="ko-KR" altLang="en-US" dirty="0"/>
              <a:t>분석 중점</a:t>
            </a:r>
            <a:r>
              <a:rPr lang="en-US" altLang="ko-KR" dirty="0"/>
              <a:t>.</a:t>
            </a:r>
          </a:p>
          <a:p>
            <a:pPr>
              <a:lnSpc>
                <a:spcPct val="110000"/>
              </a:lnSpc>
              <a:spcBef>
                <a:spcPts val="2500"/>
              </a:spcBef>
            </a:pPr>
            <a:r>
              <a:rPr lang="ko-KR" altLang="en-US" sz="1800" b="1" dirty="0"/>
              <a:t>규제 모델 차이</a:t>
            </a:r>
          </a:p>
          <a:p>
            <a:pPr marL="0" lvl="1">
              <a:lnSpc>
                <a:spcPct val="110000"/>
              </a:lnSpc>
            </a:pPr>
            <a:r>
              <a:rPr lang="en-US" dirty="0"/>
              <a:t>EU</a:t>
            </a:r>
            <a:r>
              <a:rPr lang="ko-KR" altLang="en-US" dirty="0"/>
              <a:t>는 </a:t>
            </a:r>
            <a:r>
              <a:rPr lang="ko-KR" altLang="en-US" b="1" dirty="0">
                <a:solidFill>
                  <a:srgbClr val="FFC000"/>
                </a:solidFill>
              </a:rPr>
              <a:t>위험기반 모델</a:t>
            </a:r>
            <a:r>
              <a:rPr lang="en-US" altLang="ko-KR" dirty="0"/>
              <a:t>, </a:t>
            </a:r>
            <a:r>
              <a:rPr lang="ko-KR" altLang="en-US" dirty="0"/>
              <a:t>한국은 </a:t>
            </a:r>
            <a:r>
              <a:rPr lang="ko-KR" altLang="en-US" b="1" dirty="0">
                <a:solidFill>
                  <a:srgbClr val="FFC000"/>
                </a:solidFill>
              </a:rPr>
              <a:t>원칙 기반 모델</a:t>
            </a:r>
            <a:r>
              <a:rPr lang="ko-KR" altLang="en-US" dirty="0"/>
              <a:t>을 채택하여 정책적 관점 차이를 반영</a:t>
            </a:r>
            <a:r>
              <a:rPr lang="en-US" altLang="ko-KR" dirty="0"/>
              <a:t>.</a:t>
            </a:r>
          </a:p>
          <a:p>
            <a:pPr>
              <a:lnSpc>
                <a:spcPct val="110000"/>
              </a:lnSpc>
              <a:spcBef>
                <a:spcPts val="2500"/>
              </a:spcBef>
            </a:pPr>
            <a:r>
              <a:rPr lang="ko-KR" altLang="en-US" sz="1800" b="1" dirty="0"/>
              <a:t>정책적 시사점</a:t>
            </a:r>
          </a:p>
          <a:p>
            <a:pPr marL="0" lvl="1">
              <a:lnSpc>
                <a:spcPct val="110000"/>
              </a:lnSpc>
            </a:pPr>
            <a:r>
              <a:rPr lang="ko-KR" altLang="en-US" dirty="0"/>
              <a:t>규제 엄격성보다 </a:t>
            </a:r>
            <a:r>
              <a:rPr lang="ko-KR" altLang="en-US" b="1" dirty="0">
                <a:solidFill>
                  <a:srgbClr val="FFC000"/>
                </a:solidFill>
              </a:rPr>
              <a:t>선택 이유와 결과</a:t>
            </a:r>
            <a:r>
              <a:rPr lang="en-US" altLang="ko-KR" dirty="0"/>
              <a:t>, </a:t>
            </a:r>
            <a:r>
              <a:rPr lang="ko-KR" altLang="en-US" b="1" dirty="0">
                <a:solidFill>
                  <a:srgbClr val="FFC000"/>
                </a:solidFill>
              </a:rPr>
              <a:t>명확성 및 집행력</a:t>
            </a:r>
            <a:r>
              <a:rPr lang="ko-KR" altLang="en-US" dirty="0"/>
              <a:t> 차이에 초점</a:t>
            </a:r>
            <a:r>
              <a:rPr lang="en-US" altLang="ko-KR" dirty="0"/>
              <a:t>.</a:t>
            </a:r>
          </a:p>
        </p:txBody>
      </p:sp>
    </p:spTree>
    <p:extLst>
      <p:ext uri="{BB962C8B-B14F-4D97-AF65-F5344CB8AC3E}">
        <p14:creationId xmlns:p14="http://schemas.microsoft.com/office/powerpoint/2010/main" val="416341251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anim calcmode="lin" valueType="num">
                                      <p:cBhvr>
                                        <p:cTn id="8" dur="250" fill="hold"/>
                                        <p:tgtEl>
                                          <p:spTgt spid="11"/>
                                        </p:tgtEl>
                                        <p:attrNameLst>
                                          <p:attrName>ppt_x</p:attrName>
                                        </p:attrNameLst>
                                      </p:cBhvr>
                                      <p:tavLst>
                                        <p:tav tm="0">
                                          <p:val>
                                            <p:strVal val="#ppt_x"/>
                                          </p:val>
                                        </p:tav>
                                        <p:tav tm="100000">
                                          <p:val>
                                            <p:strVal val="#ppt_x"/>
                                          </p:val>
                                        </p:tav>
                                      </p:tavLst>
                                    </p:anim>
                                    <p:anim calcmode="lin" valueType="num">
                                      <p:cBhvr>
                                        <p:cTn id="9"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사이버 로봇의 손에 정의의 저울이 있다. 배경에 빛줄기가 보입니다. 대기가 흐릿하다. 풀프레임 미러리스 카메라로 촬영했습니다.">
            <a:extLst>
              <a:ext uri="{FF2B5EF4-FFF2-40B4-BE49-F238E27FC236}">
                <a16:creationId xmlns:a16="http://schemas.microsoft.com/office/drawing/2014/main" id="{FE0DCB1A-7750-4241-82D8-8959CB8CD975}"/>
              </a:ext>
            </a:extLst>
          </p:cNvPr>
          <p:cNvPicPr>
            <a:picLocks noGrp="1" noChangeAspect="1"/>
          </p:cNvPicPr>
          <p:nvPr>
            <p:ph type="pic" sz="quarter" idx="15"/>
          </p:nvPr>
        </p:nvPicPr>
        <p:blipFill rotWithShape="1">
          <a:blip r:embed="rId3"/>
          <a:srcRect l="27157" r="27157"/>
          <a:stretch/>
        </p:blipFill>
        <p:spPr/>
      </p:pic>
      <p:sp>
        <p:nvSpPr>
          <p:cNvPr id="5" name="Slide Number Placeholder 4">
            <a:extLst>
              <a:ext uri="{FF2B5EF4-FFF2-40B4-BE49-F238E27FC236}">
                <a16:creationId xmlns:a16="http://schemas.microsoft.com/office/drawing/2014/main" id="{FD06D16E-B5BD-6917-1EB6-CA5A7D0FFD3B}"/>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4</a:t>
            </a:fld>
            <a:endParaRPr lang="en-US"/>
          </a:p>
        </p:txBody>
      </p:sp>
      <p:sp>
        <p:nvSpPr>
          <p:cNvPr id="9" name="Title 1">
            <a:extLst>
              <a:ext uri="{FF2B5EF4-FFF2-40B4-BE49-F238E27FC236}">
                <a16:creationId xmlns:a16="http://schemas.microsoft.com/office/drawing/2014/main" id="{1F8D4907-2EF4-4C7E-A53D-2557BE32B390}"/>
              </a:ext>
            </a:extLst>
          </p:cNvPr>
          <p:cNvSpPr txBox="1">
            <a:spLocks/>
          </p:cNvSpPr>
          <p:nvPr/>
        </p:nvSpPr>
        <p:spPr>
          <a:xfrm>
            <a:off x="5202260" y="173790"/>
            <a:ext cx="6400800" cy="576000"/>
          </a:xfrm>
          <a:prstGeom prst="rect">
            <a:avLst/>
          </a:prstGeom>
        </p:spPr>
        <p:txBody>
          <a:bodyPr vert="horz" lIns="91440" tIns="45720" rIns="548640" bIns="45720" rtlCol="0" anchor="b">
            <a:normAutofit fontScale="70000" lnSpcReduction="20000"/>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sz="4000" dirty="0" err="1"/>
              <a:t>문제</a:t>
            </a:r>
            <a:r>
              <a:rPr lang="en-US" sz="4000" dirty="0"/>
              <a:t> </a:t>
            </a:r>
            <a:r>
              <a:rPr lang="en-US" sz="4000" dirty="0" err="1"/>
              <a:t>제기</a:t>
            </a:r>
            <a:r>
              <a:rPr lang="en-US" sz="4000" dirty="0"/>
              <a:t>:</a:t>
            </a:r>
            <a:r>
              <a:rPr lang="en-US" dirty="0"/>
              <a:t> </a:t>
            </a:r>
            <a:r>
              <a:rPr lang="en-US" sz="2600" dirty="0"/>
              <a:t>왜 </a:t>
            </a:r>
            <a:r>
              <a:rPr lang="en-US" sz="2600" dirty="0" err="1"/>
              <a:t>EU와</a:t>
            </a:r>
            <a:r>
              <a:rPr lang="en-US" sz="2600" dirty="0"/>
              <a:t> </a:t>
            </a:r>
            <a:r>
              <a:rPr lang="en-US" sz="2600" dirty="0" err="1"/>
              <a:t>한국의</a:t>
            </a:r>
            <a:r>
              <a:rPr lang="en-US" sz="2600" dirty="0"/>
              <a:t> AI </a:t>
            </a:r>
            <a:r>
              <a:rPr lang="en-US" sz="2600" dirty="0" err="1"/>
              <a:t>규제를</a:t>
            </a:r>
            <a:r>
              <a:rPr lang="en-US" sz="2600" dirty="0"/>
              <a:t> </a:t>
            </a:r>
            <a:r>
              <a:rPr lang="en-US" sz="2600" dirty="0" err="1"/>
              <a:t>비교하는가</a:t>
            </a:r>
            <a:endParaRPr lang="en-US" dirty="0"/>
          </a:p>
        </p:txBody>
      </p:sp>
      <p:sp>
        <p:nvSpPr>
          <p:cNvPr id="11" name="Content Placeholder 6">
            <a:extLst>
              <a:ext uri="{FF2B5EF4-FFF2-40B4-BE49-F238E27FC236}">
                <a16:creationId xmlns:a16="http://schemas.microsoft.com/office/drawing/2014/main" id="{B085FE1A-E9CB-476F-9EC5-3EF461FE24D5}"/>
              </a:ext>
            </a:extLst>
          </p:cNvPr>
          <p:cNvSpPr txBox="1">
            <a:spLocks/>
          </p:cNvSpPr>
          <p:nvPr>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a:xfrm>
            <a:off x="5210016" y="1220145"/>
            <a:ext cx="6400800" cy="4502965"/>
          </a:xfrm>
          <a:prstGeom prst="rect">
            <a:avLst/>
          </a:prstGeom>
        </p:spPr>
        <p:txBody>
          <a:bodyPr vert="horz" lIns="91440" tIns="45720" rIns="548640" bIns="45720" rtlCol="0">
            <a:normAutofit/>
          </a:bodyPr>
          <a:lst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algun Gothic" panose="020B0503020000020004" pitchFamily="34" charset="-127"/>
                <a:ea typeface="Malgun Gothic" panose="020B0503020000020004" pitchFamily="34" charset="-127"/>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spcBef>
                <a:spcPts val="2500"/>
              </a:spcBef>
            </a:pPr>
            <a:r>
              <a:rPr lang="ko-KR" altLang="en-US" sz="1800" b="1" dirty="0"/>
              <a:t>공통된 목표</a:t>
            </a:r>
          </a:p>
          <a:p>
            <a:pPr marL="0" lvl="1"/>
            <a:r>
              <a:rPr lang="en-US" dirty="0"/>
              <a:t>EU</a:t>
            </a:r>
            <a:r>
              <a:rPr lang="ko-KR" altLang="en-US" dirty="0"/>
              <a:t>와 한국은 </a:t>
            </a:r>
            <a:r>
              <a:rPr lang="en-US" b="1" dirty="0">
                <a:solidFill>
                  <a:srgbClr val="FFC000"/>
                </a:solidFill>
              </a:rPr>
              <a:t>AI </a:t>
            </a:r>
            <a:r>
              <a:rPr lang="ko-KR" altLang="en-US" b="1" dirty="0">
                <a:solidFill>
                  <a:srgbClr val="FFC000"/>
                </a:solidFill>
              </a:rPr>
              <a:t>안전성</a:t>
            </a:r>
            <a:r>
              <a:rPr lang="ko-KR" altLang="en-US" dirty="0"/>
              <a:t>과 </a:t>
            </a:r>
            <a:r>
              <a:rPr lang="ko-KR" altLang="en-US" b="1" dirty="0">
                <a:solidFill>
                  <a:srgbClr val="FFC000"/>
                </a:solidFill>
              </a:rPr>
              <a:t>신뢰성</a:t>
            </a:r>
            <a:r>
              <a:rPr lang="ko-KR" altLang="en-US" dirty="0"/>
              <a:t>을 확보해야 한다는 공통된 목표를 보유</a:t>
            </a:r>
            <a:r>
              <a:rPr lang="en-US" altLang="ko-KR" dirty="0"/>
              <a:t>.</a:t>
            </a:r>
          </a:p>
          <a:p>
            <a:pPr>
              <a:spcBef>
                <a:spcPts val="2500"/>
              </a:spcBef>
            </a:pPr>
            <a:r>
              <a:rPr lang="ko-KR" altLang="en-US" sz="1800" b="1" dirty="0"/>
              <a:t>규제 설계 차이</a:t>
            </a:r>
          </a:p>
          <a:p>
            <a:pPr marL="0" lvl="1"/>
            <a:r>
              <a:rPr lang="en-US" dirty="0"/>
              <a:t>EU</a:t>
            </a:r>
            <a:r>
              <a:rPr lang="ko-KR" altLang="en-US" dirty="0"/>
              <a:t>는 개인 기본권과 안전 중심</a:t>
            </a:r>
            <a:r>
              <a:rPr lang="en-US" altLang="ko-KR" dirty="0"/>
              <a:t>, </a:t>
            </a:r>
            <a:r>
              <a:rPr lang="ko-KR" altLang="en-US" dirty="0"/>
              <a:t>한국은 산업 경쟁력과 혁신 저해 최소화에 초점</a:t>
            </a:r>
            <a:r>
              <a:rPr lang="en-US" altLang="ko-KR" dirty="0"/>
              <a:t>.</a:t>
            </a:r>
          </a:p>
          <a:p>
            <a:pPr>
              <a:spcBef>
                <a:spcPts val="2500"/>
              </a:spcBef>
            </a:pPr>
            <a:r>
              <a:rPr lang="ko-KR" altLang="en-US" sz="1800" b="1" dirty="0"/>
              <a:t>영향과 예측가능성</a:t>
            </a:r>
          </a:p>
          <a:p>
            <a:pPr marL="0" lvl="1"/>
            <a:r>
              <a:rPr lang="ko-KR" altLang="en-US" dirty="0"/>
              <a:t>규제 차이는 </a:t>
            </a:r>
            <a:r>
              <a:rPr lang="ko-KR" altLang="en-US" b="1" dirty="0">
                <a:solidFill>
                  <a:srgbClr val="FFC000"/>
                </a:solidFill>
              </a:rPr>
              <a:t>기업의 준수 난이도</a:t>
            </a:r>
            <a:r>
              <a:rPr lang="ko-KR" altLang="en-US" dirty="0"/>
              <a:t>와 </a:t>
            </a:r>
            <a:r>
              <a:rPr lang="ko-KR" altLang="en-US" b="1" dirty="0">
                <a:solidFill>
                  <a:srgbClr val="FFC000"/>
                </a:solidFill>
              </a:rPr>
              <a:t>예측가능성</a:t>
            </a:r>
            <a:r>
              <a:rPr lang="ko-KR" altLang="en-US" dirty="0"/>
              <a:t>에 큰 영향을 미침</a:t>
            </a:r>
            <a:r>
              <a:rPr lang="en-US" altLang="ko-KR" dirty="0"/>
              <a:t>.</a:t>
            </a:r>
          </a:p>
          <a:p>
            <a:pPr>
              <a:spcBef>
                <a:spcPts val="2500"/>
              </a:spcBef>
            </a:pPr>
            <a:r>
              <a:rPr lang="ko-KR" altLang="en-US" sz="1800" b="1" dirty="0"/>
              <a:t>규제 철학 논의</a:t>
            </a:r>
          </a:p>
          <a:p>
            <a:pPr marL="0" lvl="1"/>
            <a:r>
              <a:rPr lang="ko-KR" altLang="en-US" b="1" dirty="0"/>
              <a:t>비교 분석</a:t>
            </a:r>
            <a:r>
              <a:rPr lang="ko-KR" altLang="en-US" dirty="0"/>
              <a:t>은 </a:t>
            </a:r>
            <a:r>
              <a:rPr lang="en-US" dirty="0"/>
              <a:t>AI </a:t>
            </a:r>
            <a:r>
              <a:rPr lang="ko-KR" altLang="en-US" dirty="0"/>
              <a:t>시대에 적합한 </a:t>
            </a:r>
            <a:r>
              <a:rPr lang="ko-KR" altLang="en-US" b="1" dirty="0"/>
              <a:t>규제 철학 논의를 가능</a:t>
            </a:r>
            <a:r>
              <a:rPr lang="ko-KR" altLang="en-US" dirty="0"/>
              <a:t>하게 함</a:t>
            </a:r>
            <a:r>
              <a:rPr lang="en-US" altLang="ko-KR" dirty="0"/>
              <a:t>.</a:t>
            </a:r>
          </a:p>
        </p:txBody>
      </p:sp>
    </p:spTree>
    <p:extLst>
      <p:ext uri="{BB962C8B-B14F-4D97-AF65-F5344CB8AC3E}">
        <p14:creationId xmlns:p14="http://schemas.microsoft.com/office/powerpoint/2010/main" val="410740938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11"/>
                                        </p:tgtEl>
                                        <p:attrNameLst>
                                          <p:attrName>style.visibility</p:attrName>
                                        </p:attrNameLst>
                                      </p:cBhvr>
                                      <p:to>
                                        <p:strVal val="visible"/>
                                      </p:to>
                                    </p:set>
                                    <p:animEffect transition="in" filter="fade">
                                      <p:cBhvr>
                                        <p:cTn id="7" dur="250"/>
                                        <p:tgtEl>
                                          <p:spTgt spid="11"/>
                                        </p:tgtEl>
                                      </p:cBhvr>
                                    </p:animEffect>
                                    <p:anim calcmode="lin" valueType="num">
                                      <p:cBhvr>
                                        <p:cTn id="8" dur="250" fill="hold"/>
                                        <p:tgtEl>
                                          <p:spTgt spid="11"/>
                                        </p:tgtEl>
                                        <p:attrNameLst>
                                          <p:attrName>ppt_x</p:attrName>
                                        </p:attrNameLst>
                                      </p:cBhvr>
                                      <p:tavLst>
                                        <p:tav tm="0">
                                          <p:val>
                                            <p:strVal val="#ppt_x"/>
                                          </p:val>
                                        </p:tav>
                                        <p:tav tm="100000">
                                          <p:val>
                                            <p:strVal val="#ppt_x"/>
                                          </p:val>
                                        </p:tav>
                                      </p:tavLst>
                                    </p:anim>
                                    <p:anim calcmode="lin" valueType="num">
                                      <p:cBhvr>
                                        <p:cTn id="9" dur="25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4B1D83BF-7847-6B73-E76A-CCD84B253A12}"/>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5</a:t>
            </a:fld>
            <a:endParaRPr lang="en-US"/>
          </a:p>
        </p:txBody>
      </p:sp>
      <p:sp>
        <p:nvSpPr>
          <p:cNvPr id="7" name="Content Placeholder 6">
            <a:extLst>
              <a:ext uri="{FF2B5EF4-FFF2-40B4-BE49-F238E27FC236}">
                <a16:creationId xmlns:a16="http://schemas.microsoft.com/office/drawing/2014/main" id="{388CAD09-60DC-B932-8AC3-C3019C58F53F}"/>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ko-KR" altLang="en-US" sz="1800" b="1" dirty="0"/>
              <a:t>위험 기반 </a:t>
            </a:r>
            <a:r>
              <a:rPr lang="en-US" sz="1800" b="1" dirty="0"/>
              <a:t>AI </a:t>
            </a:r>
            <a:r>
              <a:rPr lang="ko-KR" altLang="en-US" sz="1800" b="1" dirty="0"/>
              <a:t>분류</a:t>
            </a:r>
          </a:p>
          <a:p>
            <a:pPr marL="0" lvl="1" indent="0">
              <a:buFont typeface="Arial" panose="020B0604020202020204" pitchFamily="34" charset="0"/>
              <a:buNone/>
            </a:pPr>
            <a:r>
              <a:rPr lang="en-US" sz="1400" dirty="0"/>
              <a:t>EU AI Act</a:t>
            </a:r>
            <a:r>
              <a:rPr lang="ko-KR" altLang="en-US" sz="1400" dirty="0"/>
              <a:t>는 </a:t>
            </a:r>
            <a:r>
              <a:rPr lang="en-US" sz="1400" dirty="0"/>
              <a:t>AI</a:t>
            </a:r>
            <a:r>
              <a:rPr lang="ko-KR" altLang="en-US" sz="1400" dirty="0"/>
              <a:t>를 네 가지 위험</a:t>
            </a:r>
            <a:r>
              <a:rPr lang="en-US" altLang="ko-KR" sz="1400" dirty="0"/>
              <a:t>(</a:t>
            </a:r>
            <a:r>
              <a:rPr lang="ko-KR" altLang="en-US" sz="1400" dirty="0"/>
              <a:t>허용불가</a:t>
            </a:r>
            <a:r>
              <a:rPr lang="en-US" altLang="ko-KR" sz="1400" dirty="0"/>
              <a:t>, </a:t>
            </a:r>
            <a:r>
              <a:rPr lang="ko-KR" altLang="en-US" sz="1400" dirty="0"/>
              <a:t>고위험</a:t>
            </a:r>
            <a:r>
              <a:rPr lang="en-US" altLang="ko-KR" sz="1400" dirty="0"/>
              <a:t>, </a:t>
            </a:r>
            <a:r>
              <a:rPr lang="ko-KR" altLang="en-US" sz="1400" dirty="0"/>
              <a:t>제한적 위험</a:t>
            </a:r>
            <a:r>
              <a:rPr lang="en-US" altLang="ko-KR" sz="1400" dirty="0"/>
              <a:t>, </a:t>
            </a:r>
            <a:r>
              <a:rPr lang="ko-KR" altLang="en-US" sz="1400" dirty="0"/>
              <a:t>최소 위험</a:t>
            </a:r>
            <a:r>
              <a:rPr lang="en-US" altLang="ko-KR" sz="1400" dirty="0"/>
              <a:t>)</a:t>
            </a:r>
            <a:r>
              <a:rPr lang="ko-KR" altLang="en-US" sz="1400" dirty="0"/>
              <a:t> 수준으로 분류하여 각 수준에 맞는 규제를 적용</a:t>
            </a:r>
            <a:r>
              <a:rPr lang="en-US" altLang="ko-KR" sz="1400" dirty="0"/>
              <a:t>.</a:t>
            </a:r>
          </a:p>
          <a:p>
            <a:pPr marL="0" indent="0">
              <a:spcBef>
                <a:spcPts val="2500"/>
              </a:spcBef>
              <a:buFont typeface="Arial" panose="020B0604020202020204" pitchFamily="34" charset="0"/>
              <a:buNone/>
            </a:pPr>
            <a:r>
              <a:rPr lang="ko-KR" altLang="en-US" sz="1800" b="1" dirty="0"/>
              <a:t>고위험 </a:t>
            </a:r>
            <a:r>
              <a:rPr lang="en-US" sz="1800" b="1" dirty="0"/>
              <a:t>AI </a:t>
            </a:r>
            <a:r>
              <a:rPr lang="ko-KR" altLang="en-US" sz="1800" b="1" dirty="0"/>
              <a:t>규제</a:t>
            </a:r>
          </a:p>
          <a:p>
            <a:pPr marL="0" lvl="1" indent="0">
              <a:buFont typeface="Arial" panose="020B0604020202020204" pitchFamily="34" charset="0"/>
              <a:buNone/>
            </a:pPr>
            <a:r>
              <a:rPr lang="ko-KR" altLang="en-US" sz="1400" dirty="0"/>
              <a:t>고위험 </a:t>
            </a:r>
            <a:r>
              <a:rPr lang="en-US" sz="1400" dirty="0"/>
              <a:t>AI</a:t>
            </a:r>
            <a:r>
              <a:rPr lang="ko-KR" altLang="en-US" sz="1400" dirty="0"/>
              <a:t>는 엄격한 사전 규제와 관리 의무가 적용되며</a:t>
            </a:r>
            <a:r>
              <a:rPr lang="en-US" altLang="ko-KR" sz="1400" dirty="0"/>
              <a:t>, </a:t>
            </a:r>
            <a:r>
              <a:rPr lang="ko-KR" altLang="en-US" sz="1400" dirty="0"/>
              <a:t>부속서에서 규제 대상 분야를 명시</a:t>
            </a:r>
            <a:r>
              <a:rPr lang="en-US" altLang="ko-KR" sz="1400" dirty="0"/>
              <a:t>.</a:t>
            </a:r>
          </a:p>
          <a:p>
            <a:pPr marL="0" indent="0">
              <a:spcBef>
                <a:spcPts val="2500"/>
              </a:spcBef>
              <a:buFont typeface="Arial" panose="020B0604020202020204" pitchFamily="34" charset="0"/>
              <a:buNone/>
            </a:pPr>
            <a:r>
              <a:rPr lang="ko-KR" altLang="en-US" sz="1800" b="1" dirty="0"/>
              <a:t>예측 가능성과 집행 효율</a:t>
            </a:r>
          </a:p>
          <a:p>
            <a:pPr marL="0" lvl="1" indent="0">
              <a:buFont typeface="Arial" panose="020B0604020202020204" pitchFamily="34" charset="0"/>
              <a:buNone/>
            </a:pPr>
            <a:r>
              <a:rPr lang="ko-KR" altLang="en-US" sz="1400" dirty="0"/>
              <a:t>위험 기반 구조는 기업과 감독기관 모두 규제 대응과 자원 집중의 </a:t>
            </a:r>
            <a:r>
              <a:rPr lang="ko-KR" altLang="en-US" sz="1400" b="1" dirty="0">
                <a:solidFill>
                  <a:srgbClr val="FFC000"/>
                </a:solidFill>
              </a:rPr>
              <a:t>예측 가능성</a:t>
            </a:r>
            <a:r>
              <a:rPr lang="ko-KR" altLang="en-US" sz="1400" dirty="0"/>
              <a:t>을 높임</a:t>
            </a:r>
            <a:r>
              <a:rPr lang="en-US" altLang="ko-KR" sz="1400" dirty="0"/>
              <a:t>.</a:t>
            </a:r>
          </a:p>
          <a:p>
            <a:pPr marL="0" indent="0">
              <a:spcBef>
                <a:spcPts val="2500"/>
              </a:spcBef>
              <a:buFont typeface="Arial" panose="020B0604020202020204" pitchFamily="34" charset="0"/>
              <a:buNone/>
            </a:pPr>
            <a:r>
              <a:rPr lang="ko-KR" altLang="en-US" sz="1800" b="1" dirty="0"/>
              <a:t>구조적 한계</a:t>
            </a:r>
          </a:p>
          <a:p>
            <a:pPr marL="0" lvl="1" indent="0">
              <a:buFont typeface="Arial" panose="020B0604020202020204" pitchFamily="34" charset="0"/>
              <a:buNone/>
            </a:pPr>
            <a:r>
              <a:rPr lang="ko-KR" altLang="en-US" sz="1400" dirty="0"/>
              <a:t>빠른 기술 변화에 대한 유연성 부족은 </a:t>
            </a:r>
            <a:r>
              <a:rPr lang="ko-KR" altLang="en-US" sz="1400" b="1" dirty="0">
                <a:solidFill>
                  <a:srgbClr val="FFC000"/>
                </a:solidFill>
              </a:rPr>
              <a:t>위험 기반 규제의 경직성</a:t>
            </a:r>
            <a:r>
              <a:rPr lang="ko-KR" altLang="en-US" sz="1400" dirty="0"/>
              <a:t> 문제 야기</a:t>
            </a:r>
            <a:r>
              <a:rPr lang="en-US" altLang="ko-KR" sz="1400" dirty="0"/>
              <a:t>.</a:t>
            </a:r>
          </a:p>
        </p:txBody>
      </p:sp>
      <p:sp>
        <p:nvSpPr>
          <p:cNvPr id="9" name="Title 1">
            <a:extLst>
              <a:ext uri="{FF2B5EF4-FFF2-40B4-BE49-F238E27FC236}">
                <a16:creationId xmlns:a16="http://schemas.microsoft.com/office/drawing/2014/main" id="{FB190369-4FFA-44F5-B435-8AF27530E642}"/>
              </a:ext>
            </a:extLst>
          </p:cNvPr>
          <p:cNvSpPr txBox="1">
            <a:spLocks/>
          </p:cNvSpPr>
          <p:nvPr/>
        </p:nvSpPr>
        <p:spPr>
          <a:xfrm>
            <a:off x="5202260" y="173790"/>
            <a:ext cx="6400800" cy="576000"/>
          </a:xfrm>
          <a:prstGeom prst="rect">
            <a:avLst/>
          </a:prstGeom>
        </p:spPr>
        <p:txBody>
          <a:bodyPr vert="horz" lIns="91440" tIns="45720" rIns="548640" bIns="45720" rtlCol="0" anchor="b">
            <a:normAutofit/>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dirty="0"/>
              <a:t>EU AI Act: </a:t>
            </a:r>
            <a:r>
              <a:rPr lang="en-US" dirty="0" err="1"/>
              <a:t>위험기반</a:t>
            </a:r>
            <a:r>
              <a:rPr lang="en-US" dirty="0"/>
              <a:t> </a:t>
            </a:r>
            <a:r>
              <a:rPr lang="en-US" dirty="0" err="1"/>
              <a:t>규제</a:t>
            </a:r>
            <a:r>
              <a:rPr lang="en-US" dirty="0"/>
              <a:t> </a:t>
            </a:r>
            <a:r>
              <a:rPr lang="en-US" dirty="0" err="1"/>
              <a:t>개요</a:t>
            </a:r>
            <a:endParaRPr lang="en-US" dirty="0"/>
          </a:p>
        </p:txBody>
      </p:sp>
      <p:sp>
        <p:nvSpPr>
          <p:cNvPr id="6" name="그림 개체 틀 5">
            <a:extLst>
              <a:ext uri="{FF2B5EF4-FFF2-40B4-BE49-F238E27FC236}">
                <a16:creationId xmlns:a16="http://schemas.microsoft.com/office/drawing/2014/main" id="{2D2A677F-017A-4AB3-85A9-21AACB1C82BE}"/>
              </a:ext>
            </a:extLst>
          </p:cNvPr>
          <p:cNvSpPr>
            <a:spLocks noGrp="1"/>
          </p:cNvSpPr>
          <p:nvPr>
            <p:ph type="pic" sz="quarter" idx="15"/>
          </p:nvPr>
        </p:nvSpPr>
        <p:spPr/>
      </p:sp>
    </p:spTree>
    <p:extLst>
      <p:ext uri="{BB962C8B-B14F-4D97-AF65-F5344CB8AC3E}">
        <p14:creationId xmlns:p14="http://schemas.microsoft.com/office/powerpoint/2010/main" val="25703232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사물인터넷(IoT) 개념">
            <a:extLst>
              <a:ext uri="{FF2B5EF4-FFF2-40B4-BE49-F238E27FC236}">
                <a16:creationId xmlns:a16="http://schemas.microsoft.com/office/drawing/2014/main" id="{7D6C8E13-D9A4-44AF-A5E7-30C5AE463A77}"/>
              </a:ext>
            </a:extLst>
          </p:cNvPr>
          <p:cNvPicPr>
            <a:picLocks noGrp="1" noChangeAspect="1"/>
          </p:cNvPicPr>
          <p:nvPr>
            <p:ph type="pic" sz="quarter" idx="15"/>
          </p:nvPr>
        </p:nvPicPr>
        <p:blipFill rotWithShape="1">
          <a:blip r:embed="rId3"/>
          <a:srcRect l="27157" r="27157"/>
          <a:stretch/>
        </p:blipFill>
        <p:spPr/>
      </p:pic>
      <p:sp>
        <p:nvSpPr>
          <p:cNvPr id="5" name="Slide Number Placeholder 4">
            <a:extLst>
              <a:ext uri="{FF2B5EF4-FFF2-40B4-BE49-F238E27FC236}">
                <a16:creationId xmlns:a16="http://schemas.microsoft.com/office/drawing/2014/main" id="{63187CDC-BEF6-9042-C581-5B9DD3722F05}"/>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6</a:t>
            </a:fld>
            <a:endParaRPr lang="en-US"/>
          </a:p>
        </p:txBody>
      </p:sp>
      <p:sp>
        <p:nvSpPr>
          <p:cNvPr id="7" name="Content Placeholder 6">
            <a:extLst>
              <a:ext uri="{FF2B5EF4-FFF2-40B4-BE49-F238E27FC236}">
                <a16:creationId xmlns:a16="http://schemas.microsoft.com/office/drawing/2014/main" id="{5B8E39F6-F988-1966-9068-FABBC19C9D9F}"/>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ko-KR" altLang="en-US" sz="1800" b="1" dirty="0"/>
              <a:t>원칙 기반 규제 구조</a:t>
            </a:r>
          </a:p>
          <a:p>
            <a:pPr marL="0" lvl="1" indent="0">
              <a:buFont typeface="Arial" panose="020B0604020202020204" pitchFamily="34" charset="0"/>
              <a:buNone/>
            </a:pPr>
            <a:r>
              <a:rPr lang="ko-KR" altLang="en-US" sz="1400" dirty="0"/>
              <a:t>한국 </a:t>
            </a:r>
            <a:r>
              <a:rPr lang="en-US" sz="1400" dirty="0"/>
              <a:t>AI </a:t>
            </a:r>
            <a:r>
              <a:rPr lang="ko-KR" altLang="en-US" sz="1400" dirty="0"/>
              <a:t>기본법은 위험 수준별 규제 대신 </a:t>
            </a:r>
            <a:r>
              <a:rPr lang="ko-KR" altLang="en-US" sz="1400" b="1" dirty="0"/>
              <a:t>투명성</a:t>
            </a:r>
            <a:r>
              <a:rPr lang="ko-KR" altLang="en-US" sz="1400" dirty="0"/>
              <a:t>과 </a:t>
            </a:r>
            <a:r>
              <a:rPr lang="ko-KR" altLang="en-US" sz="1400" b="1" dirty="0"/>
              <a:t>책임성</a:t>
            </a:r>
            <a:r>
              <a:rPr lang="ko-KR" altLang="en-US" sz="1400" dirty="0"/>
              <a:t>에 중점을 둔 </a:t>
            </a:r>
            <a:r>
              <a:rPr lang="ko-KR" altLang="en-US" sz="1400" b="1" dirty="0">
                <a:solidFill>
                  <a:srgbClr val="FFC000"/>
                </a:solidFill>
              </a:rPr>
              <a:t>포괄적 원칙</a:t>
            </a:r>
            <a:r>
              <a:rPr lang="ko-KR" altLang="en-US" sz="1400" dirty="0"/>
              <a:t> 준수</a:t>
            </a:r>
            <a:r>
              <a:rPr lang="en-US" altLang="ko-KR" sz="1400" dirty="0"/>
              <a:t>.</a:t>
            </a:r>
          </a:p>
          <a:p>
            <a:pPr marL="0" indent="0">
              <a:spcBef>
                <a:spcPts val="2500"/>
              </a:spcBef>
              <a:buFont typeface="Arial" panose="020B0604020202020204" pitchFamily="34" charset="0"/>
              <a:buNone/>
            </a:pPr>
            <a:r>
              <a:rPr lang="ko-KR" altLang="en-US" sz="1800" b="1" dirty="0" err="1"/>
              <a:t>고영향</a:t>
            </a:r>
            <a:r>
              <a:rPr lang="ko-KR" altLang="en-US" sz="1800" b="1" dirty="0"/>
              <a:t> </a:t>
            </a:r>
            <a:r>
              <a:rPr lang="en-US" sz="1800" b="1" dirty="0"/>
              <a:t>AI </a:t>
            </a:r>
            <a:r>
              <a:rPr lang="ko-KR" altLang="en-US" sz="1800" b="1" dirty="0"/>
              <a:t>개념</a:t>
            </a:r>
            <a:r>
              <a:rPr lang="en-US" altLang="ko-KR" sz="1800" b="1" dirty="0"/>
              <a:t>(</a:t>
            </a:r>
            <a:r>
              <a:rPr lang="ko-KR" altLang="en-US" sz="1800" b="1" dirty="0" err="1"/>
              <a:t>고영향</a:t>
            </a:r>
            <a:r>
              <a:rPr lang="ko-KR" altLang="en-US" sz="1800" b="1" dirty="0"/>
              <a:t> </a:t>
            </a:r>
            <a:r>
              <a:rPr lang="en-US" altLang="ko-KR" sz="1800" b="1" dirty="0"/>
              <a:t>AI ≠ </a:t>
            </a:r>
            <a:r>
              <a:rPr lang="ko-KR" altLang="en-US" sz="1800" b="1" dirty="0"/>
              <a:t>고위험 </a:t>
            </a:r>
            <a:r>
              <a:rPr lang="en-US" altLang="ko-KR" sz="1800" b="1" dirty="0"/>
              <a:t>AI)</a:t>
            </a:r>
            <a:endParaRPr lang="ko-KR" altLang="en-US" sz="1800" b="1" dirty="0"/>
          </a:p>
          <a:p>
            <a:pPr marL="0" lvl="1" indent="0">
              <a:buFont typeface="Arial" panose="020B0604020202020204" pitchFamily="34" charset="0"/>
              <a:buNone/>
            </a:pPr>
            <a:r>
              <a:rPr lang="ko-KR" altLang="en-US" sz="1400" dirty="0"/>
              <a:t>‘</a:t>
            </a:r>
            <a:r>
              <a:rPr lang="ko-KR" altLang="en-US" sz="1400" dirty="0" err="1"/>
              <a:t>고영향</a:t>
            </a:r>
            <a:r>
              <a:rPr lang="ko-KR" altLang="en-US" sz="1400" dirty="0"/>
              <a:t> </a:t>
            </a:r>
            <a:r>
              <a:rPr lang="en-US" sz="1400" dirty="0"/>
              <a:t>AI’</a:t>
            </a:r>
            <a:r>
              <a:rPr lang="ko-KR" altLang="en-US" sz="1400" dirty="0"/>
              <a:t>는 고정 목록 대신 사회적 영향과 활용 맥락에 따라 </a:t>
            </a:r>
            <a:r>
              <a:rPr lang="ko-KR" altLang="en-US" sz="1400" b="1" dirty="0">
                <a:solidFill>
                  <a:srgbClr val="FFC000"/>
                </a:solidFill>
              </a:rPr>
              <a:t>탄력적으로 판단</a:t>
            </a:r>
            <a:r>
              <a:rPr lang="ko-KR" altLang="en-US" sz="1400" dirty="0"/>
              <a:t>함</a:t>
            </a:r>
            <a:r>
              <a:rPr lang="en-US" altLang="ko-KR" sz="1400" dirty="0"/>
              <a:t>.</a:t>
            </a:r>
          </a:p>
          <a:p>
            <a:pPr marL="0" indent="0">
              <a:spcBef>
                <a:spcPts val="2500"/>
              </a:spcBef>
              <a:buFont typeface="Arial" panose="020B0604020202020204" pitchFamily="34" charset="0"/>
              <a:buNone/>
            </a:pPr>
            <a:r>
              <a:rPr lang="ko-KR" altLang="en-US" sz="1800" b="1" dirty="0"/>
              <a:t>법 경직성 완화 및 혁신 촉진</a:t>
            </a:r>
          </a:p>
          <a:p>
            <a:pPr marL="0" lvl="1" indent="0">
              <a:buFont typeface="Arial" panose="020B0604020202020204" pitchFamily="34" charset="0"/>
              <a:buNone/>
            </a:pPr>
            <a:r>
              <a:rPr lang="ko-KR" altLang="en-US" sz="1400" dirty="0"/>
              <a:t>빠른 기술 변화에 대응해 경직성을 줄이고 산업 혁신과 국내 </a:t>
            </a:r>
            <a:r>
              <a:rPr lang="en-US" sz="1400" dirty="0"/>
              <a:t>AI </a:t>
            </a:r>
            <a:r>
              <a:rPr lang="ko-KR" altLang="en-US" sz="1400" dirty="0"/>
              <a:t>생태계 </a:t>
            </a:r>
            <a:r>
              <a:rPr lang="ko-KR" altLang="en-US" sz="1400" b="1" dirty="0">
                <a:solidFill>
                  <a:srgbClr val="FFC000"/>
                </a:solidFill>
              </a:rPr>
              <a:t>성장을 지원</a:t>
            </a:r>
            <a:r>
              <a:rPr lang="en-US" altLang="ko-KR" sz="1400" dirty="0"/>
              <a:t>.</a:t>
            </a:r>
          </a:p>
          <a:p>
            <a:pPr marL="0" indent="0">
              <a:spcBef>
                <a:spcPts val="2500"/>
              </a:spcBef>
              <a:buFont typeface="Arial" panose="020B0604020202020204" pitchFamily="34" charset="0"/>
              <a:buNone/>
            </a:pPr>
            <a:r>
              <a:rPr lang="ko-KR" altLang="en-US" sz="1800" b="1" dirty="0"/>
              <a:t>규제의 한계와 도전</a:t>
            </a:r>
          </a:p>
          <a:p>
            <a:pPr marL="0" lvl="1" indent="0">
              <a:buFont typeface="Arial" panose="020B0604020202020204" pitchFamily="34" charset="0"/>
              <a:buNone/>
            </a:pPr>
            <a:r>
              <a:rPr lang="ko-KR" altLang="en-US" sz="1400" dirty="0"/>
              <a:t>추상적 규제로 인해 예측 가능성과 법적 명확성에서 </a:t>
            </a:r>
            <a:r>
              <a:rPr lang="ko-KR" altLang="en-US" sz="1400" b="1" dirty="0">
                <a:solidFill>
                  <a:srgbClr val="FFC000"/>
                </a:solidFill>
              </a:rPr>
              <a:t>한계가 존재</a:t>
            </a:r>
            <a:r>
              <a:rPr lang="ko-KR" altLang="en-US" sz="1400" dirty="0"/>
              <a:t>할 수 있음</a:t>
            </a:r>
            <a:r>
              <a:rPr lang="en-US" altLang="ko-KR" sz="1400" dirty="0"/>
              <a:t>.</a:t>
            </a:r>
          </a:p>
        </p:txBody>
      </p:sp>
      <p:sp>
        <p:nvSpPr>
          <p:cNvPr id="9" name="Title 1">
            <a:extLst>
              <a:ext uri="{FF2B5EF4-FFF2-40B4-BE49-F238E27FC236}">
                <a16:creationId xmlns:a16="http://schemas.microsoft.com/office/drawing/2014/main" id="{FC5A984A-1F2B-4000-8B89-40EE5D9D28D1}"/>
              </a:ext>
            </a:extLst>
          </p:cNvPr>
          <p:cNvSpPr txBox="1">
            <a:spLocks/>
          </p:cNvSpPr>
          <p:nvPr/>
        </p:nvSpPr>
        <p:spPr>
          <a:xfrm>
            <a:off x="5202260" y="173790"/>
            <a:ext cx="6400800" cy="576000"/>
          </a:xfrm>
          <a:prstGeom prst="rect">
            <a:avLst/>
          </a:prstGeom>
        </p:spPr>
        <p:txBody>
          <a:bodyPr vert="horz" lIns="91440" tIns="45720" rIns="548640" bIns="45720" rtlCol="0" anchor="b">
            <a:normAutofit fontScale="92500"/>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dirty="0" err="1"/>
              <a:t>한국</a:t>
            </a:r>
            <a:r>
              <a:rPr lang="en-US" dirty="0"/>
              <a:t> AI </a:t>
            </a:r>
            <a:r>
              <a:rPr lang="en-US" dirty="0" err="1"/>
              <a:t>기본법</a:t>
            </a:r>
            <a:r>
              <a:rPr lang="en-US" dirty="0"/>
              <a:t>: </a:t>
            </a:r>
            <a:r>
              <a:rPr lang="en-US" dirty="0" err="1"/>
              <a:t>원칙</a:t>
            </a:r>
            <a:r>
              <a:rPr lang="en-US" dirty="0"/>
              <a:t> </a:t>
            </a:r>
            <a:r>
              <a:rPr lang="en-US" dirty="0" err="1"/>
              <a:t>기반</a:t>
            </a:r>
            <a:r>
              <a:rPr lang="en-US" dirty="0"/>
              <a:t> </a:t>
            </a:r>
            <a:r>
              <a:rPr lang="en-US" dirty="0" err="1"/>
              <a:t>규제</a:t>
            </a:r>
            <a:r>
              <a:rPr lang="en-US" dirty="0"/>
              <a:t> </a:t>
            </a:r>
            <a:r>
              <a:rPr lang="en-US" dirty="0" err="1"/>
              <a:t>개요</a:t>
            </a:r>
            <a:endParaRPr lang="en-US" dirty="0"/>
          </a:p>
        </p:txBody>
      </p:sp>
    </p:spTree>
    <p:extLst>
      <p:ext uri="{BB962C8B-B14F-4D97-AF65-F5344CB8AC3E}">
        <p14:creationId xmlns:p14="http://schemas.microsoft.com/office/powerpoint/2010/main" val="62401038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3088DC2-03CD-905F-721D-4ADFF9228E58}"/>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7</a:t>
            </a:fld>
            <a:endParaRPr lang="en-US"/>
          </a:p>
        </p:txBody>
      </p:sp>
      <p:graphicFrame>
        <p:nvGraphicFramePr>
          <p:cNvPr id="7" name="Content Placeholder 6">
            <a:extLst>
              <a:ext uri="{FF2B5EF4-FFF2-40B4-BE49-F238E27FC236}">
                <a16:creationId xmlns:a16="http://schemas.microsoft.com/office/drawing/2014/main" id="{A846EBF5-D3D8-48E7-B226-0D7E5F596F0E}"/>
              </a:ext>
            </a:extLst>
          </p:cNvPr>
          <p:cNvGraphicFramePr>
            <a:graphicFrameLocks noGrp="1"/>
          </p:cNvGraphicFramePr>
          <p:nvPr>
            <p:ph sz="quarter" idx="14"/>
            <p:extLst>
              <p:ext uri="{D42A27DB-BD31-4B8C-83A1-F6EECF244321}">
                <p14:modId xmlns:p14="http://schemas.microsoft.com/office/powerpoint/2010/main" val="3879310718"/>
              </p:ext>
              <p:ext uri="{E7BDC344-281C-4309-B0C6-D0EE65EED2A8}">
                <p202:designPr xmlns="" xmlns:p202="http://schemas.microsoft.com/office/powerpoint/2020/02/main">
                  <p202:designTagLst>
                    <p202:designTag name="ARCH:1:CLS" val="InformationBlock"/>
                    <p202:designTag name="ARCH:1:VSVAR" val="VisualTitledTextBox"/>
                  </p202:designTagLst>
                </p202:designPr>
              </p:ext>
            </p:extLst>
          </p:nvPr>
        </p:nvGraphicFramePr>
        <p:xfrm>
          <a:off x="5210175" y="1139828"/>
          <a:ext cx="6400800" cy="45037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9" name="Title 1">
            <a:extLst>
              <a:ext uri="{FF2B5EF4-FFF2-40B4-BE49-F238E27FC236}">
                <a16:creationId xmlns:a16="http://schemas.microsoft.com/office/drawing/2014/main" id="{4FA06D3A-5E57-4096-B358-04645D17C2B4}"/>
              </a:ext>
            </a:extLst>
          </p:cNvPr>
          <p:cNvSpPr txBox="1">
            <a:spLocks/>
          </p:cNvSpPr>
          <p:nvPr/>
        </p:nvSpPr>
        <p:spPr>
          <a:xfrm>
            <a:off x="5202260" y="173790"/>
            <a:ext cx="6400800" cy="576000"/>
          </a:xfrm>
          <a:prstGeom prst="rect">
            <a:avLst/>
          </a:prstGeom>
        </p:spPr>
        <p:txBody>
          <a:bodyPr vert="horz" lIns="91440" tIns="45720" rIns="548640" bIns="45720" rtlCol="0" anchor="b">
            <a:normAutofit/>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dirty="0" err="1"/>
              <a:t>규제</a:t>
            </a:r>
            <a:r>
              <a:rPr lang="en-US" dirty="0"/>
              <a:t> </a:t>
            </a:r>
            <a:r>
              <a:rPr lang="en-US" dirty="0" err="1"/>
              <a:t>방식의</a:t>
            </a:r>
            <a:r>
              <a:rPr lang="en-US" dirty="0"/>
              <a:t> </a:t>
            </a:r>
            <a:r>
              <a:rPr lang="en-US" dirty="0" err="1"/>
              <a:t>구조적</a:t>
            </a:r>
            <a:r>
              <a:rPr lang="en-US" dirty="0"/>
              <a:t> </a:t>
            </a:r>
            <a:r>
              <a:rPr lang="en-US" dirty="0" err="1"/>
              <a:t>비교</a:t>
            </a:r>
            <a:endParaRPr lang="en-US" dirty="0"/>
          </a:p>
        </p:txBody>
      </p:sp>
      <p:sp>
        <p:nvSpPr>
          <p:cNvPr id="15" name="그림 개체 틀 14">
            <a:extLst>
              <a:ext uri="{FF2B5EF4-FFF2-40B4-BE49-F238E27FC236}">
                <a16:creationId xmlns:a16="http://schemas.microsoft.com/office/drawing/2014/main" id="{260FBBD2-3874-46A1-88FC-AD268E61A43B}"/>
              </a:ext>
            </a:extLst>
          </p:cNvPr>
          <p:cNvSpPr>
            <a:spLocks noGrp="1"/>
          </p:cNvSpPr>
          <p:nvPr>
            <p:ph type="pic" sz="quarter" idx="15"/>
          </p:nvPr>
        </p:nvSpPr>
        <p:spPr/>
      </p:sp>
    </p:spTree>
    <p:extLst>
      <p:ext uri="{BB962C8B-B14F-4D97-AF65-F5344CB8AC3E}">
        <p14:creationId xmlns:p14="http://schemas.microsoft.com/office/powerpoint/2010/main" val="237130084"/>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자율주행차">
            <a:extLst>
              <a:ext uri="{FF2B5EF4-FFF2-40B4-BE49-F238E27FC236}">
                <a16:creationId xmlns:a16="http://schemas.microsoft.com/office/drawing/2014/main" id="{AE303D85-D9C5-4133-AFD7-4E0DFB665875}"/>
              </a:ext>
            </a:extLst>
          </p:cNvPr>
          <p:cNvPicPr>
            <a:picLocks noGrp="1" noChangeAspect="1"/>
          </p:cNvPicPr>
          <p:nvPr>
            <p:ph type="pic" sz="quarter" idx="15"/>
          </p:nvPr>
        </p:nvPicPr>
        <p:blipFill rotWithShape="1">
          <a:blip r:embed="rId3"/>
          <a:srcRect l="30752" r="30752"/>
          <a:stretch/>
        </p:blipFill>
        <p:spPr/>
      </p:pic>
      <p:sp>
        <p:nvSpPr>
          <p:cNvPr id="5" name="Slide Number Placeholder 4">
            <a:extLst>
              <a:ext uri="{FF2B5EF4-FFF2-40B4-BE49-F238E27FC236}">
                <a16:creationId xmlns:a16="http://schemas.microsoft.com/office/drawing/2014/main" id="{993838FA-908C-C356-838E-ECF566EF424D}"/>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8</a:t>
            </a:fld>
            <a:endParaRPr lang="en-US"/>
          </a:p>
        </p:txBody>
      </p:sp>
      <p:sp>
        <p:nvSpPr>
          <p:cNvPr id="7" name="Content Placeholder 6">
            <a:extLst>
              <a:ext uri="{FF2B5EF4-FFF2-40B4-BE49-F238E27FC236}">
                <a16:creationId xmlns:a16="http://schemas.microsoft.com/office/drawing/2014/main" id="{6C87B911-2623-0F09-AF8D-1A4498170E40}"/>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en-US" sz="1800" b="1" dirty="0"/>
              <a:t>EU </a:t>
            </a:r>
            <a:r>
              <a:rPr lang="ko-KR" altLang="en-US" sz="1800" b="1" dirty="0"/>
              <a:t>사전 규제 모델</a:t>
            </a:r>
          </a:p>
          <a:p>
            <a:pPr marL="0" lvl="1" indent="0">
              <a:lnSpc>
                <a:spcPct val="110000"/>
              </a:lnSpc>
              <a:buFont typeface="Arial" panose="020B0604020202020204" pitchFamily="34" charset="0"/>
              <a:buNone/>
            </a:pPr>
            <a:r>
              <a:rPr lang="en-US" sz="1400" dirty="0"/>
              <a:t>EU</a:t>
            </a:r>
            <a:r>
              <a:rPr lang="ko-KR" altLang="en-US" sz="1400" dirty="0"/>
              <a:t>는 사전 규제로 안정성과 법적 명확성을 확보하지만</a:t>
            </a:r>
            <a:r>
              <a:rPr lang="en-US" altLang="ko-KR" sz="1400" dirty="0"/>
              <a:t>, </a:t>
            </a:r>
            <a:r>
              <a:rPr lang="ko-KR" altLang="en-US" sz="1400" b="1" dirty="0">
                <a:solidFill>
                  <a:srgbClr val="FFC000"/>
                </a:solidFill>
              </a:rPr>
              <a:t>기업의 초기 개발 부담이 증가</a:t>
            </a:r>
            <a:r>
              <a:rPr lang="en-US" altLang="ko-KR" sz="1400" dirty="0"/>
              <a:t>.</a:t>
            </a:r>
          </a:p>
          <a:p>
            <a:pPr marL="0" indent="0">
              <a:lnSpc>
                <a:spcPct val="110000"/>
              </a:lnSpc>
              <a:spcBef>
                <a:spcPts val="2500"/>
              </a:spcBef>
              <a:buFont typeface="Arial" panose="020B0604020202020204" pitchFamily="34" charset="0"/>
              <a:buNone/>
            </a:pPr>
            <a:r>
              <a:rPr lang="ko-KR" altLang="en-US" sz="1800" b="1" dirty="0"/>
              <a:t>한국 사후 대응 모델</a:t>
            </a:r>
          </a:p>
          <a:p>
            <a:pPr marL="0" lvl="1" indent="0">
              <a:lnSpc>
                <a:spcPct val="110000"/>
              </a:lnSpc>
              <a:buFont typeface="Arial" panose="020B0604020202020204" pitchFamily="34" charset="0"/>
              <a:buNone/>
            </a:pPr>
            <a:r>
              <a:rPr lang="ko-KR" altLang="en-US" sz="1400" dirty="0"/>
              <a:t>한국의 장점은 </a:t>
            </a:r>
            <a:r>
              <a:rPr lang="ko-KR" altLang="en-US" sz="1400" b="1" dirty="0">
                <a:solidFill>
                  <a:srgbClr val="00B0F0"/>
                </a:solidFill>
              </a:rPr>
              <a:t>자유로운 환경에서 빠르게 신기술을 시험</a:t>
            </a:r>
            <a:r>
              <a:rPr lang="ko-KR" altLang="en-US" sz="1400" dirty="0"/>
              <a:t>하고 시장에 적용할 수 있음</a:t>
            </a:r>
            <a:r>
              <a:rPr lang="en-US" altLang="ko-KR" sz="1400" dirty="0"/>
              <a:t>.</a:t>
            </a:r>
          </a:p>
          <a:p>
            <a:pPr marL="0" indent="0">
              <a:lnSpc>
                <a:spcPct val="110000"/>
              </a:lnSpc>
              <a:spcBef>
                <a:spcPts val="2500"/>
              </a:spcBef>
              <a:buFont typeface="Arial" panose="020B0604020202020204" pitchFamily="34" charset="0"/>
              <a:buNone/>
            </a:pPr>
            <a:r>
              <a:rPr lang="ko-KR" altLang="en-US" sz="1800" b="1" dirty="0"/>
              <a:t>혁신과 안정성의 균형</a:t>
            </a:r>
          </a:p>
          <a:p>
            <a:pPr marL="0" lvl="1" indent="0">
              <a:lnSpc>
                <a:spcPct val="110000"/>
              </a:lnSpc>
              <a:buFont typeface="Arial" panose="020B0604020202020204" pitchFamily="34" charset="0"/>
              <a:buNone/>
            </a:pPr>
            <a:r>
              <a:rPr lang="ko-KR" altLang="en-US" sz="1400" dirty="0"/>
              <a:t>기술 발전의 단기 혁신 속도와 중장기 사회 안정성 사이의 </a:t>
            </a:r>
            <a:r>
              <a:rPr lang="ko-KR" altLang="en-US" sz="1400" b="1" dirty="0">
                <a:solidFill>
                  <a:srgbClr val="FFFF00"/>
                </a:solidFill>
              </a:rPr>
              <a:t>트레이드 오프</a:t>
            </a:r>
            <a:r>
              <a:rPr lang="en-US" altLang="ko-KR" sz="1400" b="1" dirty="0">
                <a:solidFill>
                  <a:srgbClr val="FFFF00"/>
                </a:solidFill>
              </a:rPr>
              <a:t>(Trade Off)</a:t>
            </a:r>
            <a:r>
              <a:rPr lang="ko-KR" altLang="en-US" sz="1400" b="1" dirty="0">
                <a:solidFill>
                  <a:srgbClr val="FFFF00"/>
                </a:solidFill>
              </a:rPr>
              <a:t>가 존재</a:t>
            </a:r>
            <a:r>
              <a:rPr lang="ko-KR" altLang="en-US" sz="1400" dirty="0"/>
              <a:t>함</a:t>
            </a:r>
            <a:r>
              <a:rPr lang="en-US" altLang="ko-KR" sz="1400" dirty="0"/>
              <a:t>.</a:t>
            </a:r>
          </a:p>
        </p:txBody>
      </p:sp>
      <p:sp>
        <p:nvSpPr>
          <p:cNvPr id="9" name="Title 1">
            <a:extLst>
              <a:ext uri="{FF2B5EF4-FFF2-40B4-BE49-F238E27FC236}">
                <a16:creationId xmlns:a16="http://schemas.microsoft.com/office/drawing/2014/main" id="{BE7A1AD4-D448-4A27-8CF0-29AA858E58EB}"/>
              </a:ext>
            </a:extLst>
          </p:cNvPr>
          <p:cNvSpPr txBox="1">
            <a:spLocks/>
          </p:cNvSpPr>
          <p:nvPr/>
        </p:nvSpPr>
        <p:spPr>
          <a:xfrm>
            <a:off x="5202260" y="173790"/>
            <a:ext cx="6400800" cy="576000"/>
          </a:xfrm>
          <a:prstGeom prst="rect">
            <a:avLst/>
          </a:prstGeom>
        </p:spPr>
        <p:txBody>
          <a:bodyPr vert="horz" lIns="91440" tIns="45720" rIns="548640" bIns="45720" rtlCol="0" anchor="b">
            <a:normAutofit/>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dirty="0" err="1"/>
              <a:t>기술</a:t>
            </a:r>
            <a:r>
              <a:rPr lang="en-US" dirty="0"/>
              <a:t> </a:t>
            </a:r>
            <a:r>
              <a:rPr lang="en-US" dirty="0" err="1"/>
              <a:t>발전</a:t>
            </a:r>
            <a:r>
              <a:rPr lang="en-US" dirty="0"/>
              <a:t> </a:t>
            </a:r>
            <a:r>
              <a:rPr lang="en-US" dirty="0" err="1"/>
              <a:t>속도와</a:t>
            </a:r>
            <a:r>
              <a:rPr lang="en-US" dirty="0"/>
              <a:t> </a:t>
            </a:r>
            <a:r>
              <a:rPr lang="en-US" dirty="0" err="1"/>
              <a:t>규제</a:t>
            </a:r>
            <a:r>
              <a:rPr lang="en-US" dirty="0"/>
              <a:t> </a:t>
            </a:r>
            <a:r>
              <a:rPr lang="en-US" dirty="0" err="1"/>
              <a:t>효과</a:t>
            </a:r>
            <a:endParaRPr lang="en-US" dirty="0"/>
          </a:p>
        </p:txBody>
      </p:sp>
    </p:spTree>
    <p:extLst>
      <p:ext uri="{BB962C8B-B14F-4D97-AF65-F5344CB8AC3E}">
        <p14:creationId xmlns:p14="http://schemas.microsoft.com/office/powerpoint/2010/main" val="36333885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테이블 위에 비즈니스 그래프와 종이를 클로즈업">
            <a:extLst>
              <a:ext uri="{FF2B5EF4-FFF2-40B4-BE49-F238E27FC236}">
                <a16:creationId xmlns:a16="http://schemas.microsoft.com/office/drawing/2014/main" id="{A12BA9F1-7CBD-4DAD-91F3-0CB02A22F795}"/>
              </a:ext>
            </a:extLst>
          </p:cNvPr>
          <p:cNvPicPr>
            <a:picLocks noGrp="1" noChangeAspect="1"/>
          </p:cNvPicPr>
          <p:nvPr>
            <p:ph type="pic" sz="quarter" idx="15"/>
          </p:nvPr>
        </p:nvPicPr>
        <p:blipFill rotWithShape="1">
          <a:blip r:embed="rId3"/>
          <a:srcRect l="27174" r="27174"/>
          <a:stretch/>
        </p:blipFill>
        <p:spPr/>
      </p:pic>
      <p:sp>
        <p:nvSpPr>
          <p:cNvPr id="5" name="Slide Number Placeholder 4">
            <a:extLst>
              <a:ext uri="{FF2B5EF4-FFF2-40B4-BE49-F238E27FC236}">
                <a16:creationId xmlns:a16="http://schemas.microsoft.com/office/drawing/2014/main" id="{D56D680F-F975-1FAB-C7AF-CDB2990641B5}"/>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9</a:t>
            </a:fld>
            <a:endParaRPr lang="en-US"/>
          </a:p>
        </p:txBody>
      </p:sp>
      <p:sp>
        <p:nvSpPr>
          <p:cNvPr id="7" name="Content Placeholder 6">
            <a:extLst>
              <a:ext uri="{FF2B5EF4-FFF2-40B4-BE49-F238E27FC236}">
                <a16:creationId xmlns:a16="http://schemas.microsoft.com/office/drawing/2014/main" id="{21A19B12-8240-6FCC-63DD-4349991FCBA3}"/>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spcBef>
                <a:spcPts val="2500"/>
              </a:spcBef>
              <a:buFont typeface="Arial" panose="020B0604020202020204" pitchFamily="34" charset="0"/>
              <a:buNone/>
            </a:pPr>
            <a:r>
              <a:rPr lang="ko-KR" altLang="en-US" sz="1800" b="1" dirty="0"/>
              <a:t>규제 예측가능성 향상</a:t>
            </a:r>
          </a:p>
          <a:p>
            <a:pPr marL="0" lvl="1" indent="0">
              <a:buFont typeface="Arial" panose="020B0604020202020204" pitchFamily="34" charset="0"/>
              <a:buNone/>
            </a:pPr>
            <a:r>
              <a:rPr lang="ko-KR" altLang="en-US" sz="1400" dirty="0"/>
              <a:t>위험기반 규제 도입으로 규제의 </a:t>
            </a:r>
            <a:r>
              <a:rPr lang="ko-KR" altLang="en-US" sz="1400" b="1" dirty="0">
                <a:solidFill>
                  <a:srgbClr val="FFC000"/>
                </a:solidFill>
              </a:rPr>
              <a:t>예측가능성</a:t>
            </a:r>
            <a:r>
              <a:rPr lang="ko-KR" altLang="en-US" sz="1400" dirty="0"/>
              <a:t>이 높아지고 </a:t>
            </a:r>
            <a:r>
              <a:rPr lang="ko-KR" altLang="en-US" sz="1400" b="1" dirty="0">
                <a:solidFill>
                  <a:srgbClr val="FFC000"/>
                </a:solidFill>
              </a:rPr>
              <a:t>국제 기준</a:t>
            </a:r>
            <a:r>
              <a:rPr lang="ko-KR" altLang="en-US" sz="1400" dirty="0"/>
              <a:t>과의 정합성이 강화</a:t>
            </a:r>
            <a:r>
              <a:rPr lang="en-US" altLang="ko-KR" sz="1400" dirty="0"/>
              <a:t>.</a:t>
            </a:r>
          </a:p>
          <a:p>
            <a:pPr marL="0" indent="0">
              <a:spcBef>
                <a:spcPts val="2500"/>
              </a:spcBef>
              <a:buFont typeface="Arial" panose="020B0604020202020204" pitchFamily="34" charset="0"/>
              <a:buNone/>
            </a:pPr>
            <a:r>
              <a:rPr lang="ko-KR" altLang="en-US" sz="1800" b="1" dirty="0"/>
              <a:t>국제 규제 정합성</a:t>
            </a:r>
          </a:p>
          <a:p>
            <a:pPr marL="0" lvl="1" indent="0">
              <a:buFont typeface="Arial" panose="020B0604020202020204" pitchFamily="34" charset="0"/>
              <a:buNone/>
            </a:pPr>
            <a:r>
              <a:rPr lang="en-US" sz="1400" dirty="0"/>
              <a:t>EU </a:t>
            </a:r>
            <a:r>
              <a:rPr lang="ko-KR" altLang="en-US" sz="1400" dirty="0"/>
              <a:t>등 국제 규제 기준과의 조화는 </a:t>
            </a:r>
            <a:r>
              <a:rPr lang="ko-KR" altLang="en-US" sz="1400" b="1" dirty="0">
                <a:solidFill>
                  <a:srgbClr val="FFC000"/>
                </a:solidFill>
              </a:rPr>
              <a:t>국내 기업의 해외 진출</a:t>
            </a:r>
            <a:r>
              <a:rPr lang="ko-KR" altLang="en-US" sz="1400" dirty="0"/>
              <a:t> 시 비용 절감에 기여</a:t>
            </a:r>
            <a:r>
              <a:rPr lang="en-US" altLang="ko-KR" sz="1400" dirty="0"/>
              <a:t>.</a:t>
            </a:r>
          </a:p>
          <a:p>
            <a:pPr marL="0" indent="0">
              <a:spcBef>
                <a:spcPts val="2500"/>
              </a:spcBef>
              <a:buFont typeface="Arial" panose="020B0604020202020204" pitchFamily="34" charset="0"/>
              <a:buNone/>
            </a:pPr>
            <a:r>
              <a:rPr lang="ko-KR" altLang="en-US" sz="1800" b="1" dirty="0"/>
              <a:t>중소기업 부담 증가</a:t>
            </a:r>
          </a:p>
          <a:p>
            <a:pPr marL="0" lvl="1" indent="0">
              <a:buFont typeface="Arial" panose="020B0604020202020204" pitchFamily="34" charset="0"/>
              <a:buNone/>
            </a:pPr>
            <a:r>
              <a:rPr lang="ko-KR" altLang="en-US" sz="1400" dirty="0"/>
              <a:t>위험기반 규제는 중소기업과 </a:t>
            </a:r>
            <a:r>
              <a:rPr lang="ko-KR" altLang="en-US" sz="1400" dirty="0" err="1"/>
              <a:t>스타트업에</a:t>
            </a:r>
            <a:r>
              <a:rPr lang="ko-KR" altLang="en-US" sz="1400" dirty="0"/>
              <a:t> </a:t>
            </a:r>
            <a:r>
              <a:rPr lang="ko-KR" altLang="en-US" sz="1400" b="1" dirty="0">
                <a:solidFill>
                  <a:srgbClr val="FFC000"/>
                </a:solidFill>
              </a:rPr>
              <a:t>행정적</a:t>
            </a:r>
            <a:r>
              <a:rPr lang="en-US" altLang="ko-KR" sz="1400" b="1" dirty="0">
                <a:solidFill>
                  <a:srgbClr val="FFC000"/>
                </a:solidFill>
              </a:rPr>
              <a:t>·</a:t>
            </a:r>
            <a:r>
              <a:rPr lang="ko-KR" altLang="en-US" sz="1400" b="1" dirty="0">
                <a:solidFill>
                  <a:srgbClr val="FFC000"/>
                </a:solidFill>
              </a:rPr>
              <a:t>재정적 부담</a:t>
            </a:r>
            <a:r>
              <a:rPr lang="ko-KR" altLang="en-US" sz="1400" dirty="0"/>
              <a:t>을 초래</a:t>
            </a:r>
            <a:r>
              <a:rPr lang="en-US" altLang="ko-KR" sz="1400" dirty="0"/>
              <a:t>.</a:t>
            </a:r>
          </a:p>
          <a:p>
            <a:pPr marL="0" indent="0">
              <a:spcBef>
                <a:spcPts val="2500"/>
              </a:spcBef>
              <a:buFont typeface="Arial" panose="020B0604020202020204" pitchFamily="34" charset="0"/>
              <a:buNone/>
            </a:pPr>
            <a:r>
              <a:rPr lang="ko-KR" altLang="en-US" sz="1800" b="1" dirty="0"/>
              <a:t>선별적 도입 필요</a:t>
            </a:r>
          </a:p>
          <a:p>
            <a:pPr marL="0" lvl="1" indent="0">
              <a:buFont typeface="Arial" panose="020B0604020202020204" pitchFamily="34" charset="0"/>
              <a:buNone/>
            </a:pPr>
            <a:r>
              <a:rPr lang="ko-KR" altLang="en-US" sz="1400" dirty="0"/>
              <a:t>사회적 영향이 큰 영역을 중심으로 한 </a:t>
            </a:r>
            <a:r>
              <a:rPr lang="ko-KR" altLang="en-US" sz="1400" b="1" dirty="0">
                <a:solidFill>
                  <a:srgbClr val="FFC000"/>
                </a:solidFill>
              </a:rPr>
              <a:t>선별적 도입</a:t>
            </a:r>
            <a:r>
              <a:rPr lang="ko-KR" altLang="en-US" sz="1400" dirty="0"/>
              <a:t>이 현실적인 대안으로 제시</a:t>
            </a:r>
            <a:r>
              <a:rPr lang="en-US" altLang="ko-KR" sz="1400" dirty="0"/>
              <a:t>.</a:t>
            </a:r>
          </a:p>
        </p:txBody>
      </p:sp>
      <p:sp>
        <p:nvSpPr>
          <p:cNvPr id="9" name="Title 1">
            <a:extLst>
              <a:ext uri="{FF2B5EF4-FFF2-40B4-BE49-F238E27FC236}">
                <a16:creationId xmlns:a16="http://schemas.microsoft.com/office/drawing/2014/main" id="{78EF561D-43E0-4E7E-B2EE-97D5B0C10A9B}"/>
              </a:ext>
            </a:extLst>
          </p:cNvPr>
          <p:cNvSpPr txBox="1">
            <a:spLocks/>
          </p:cNvSpPr>
          <p:nvPr/>
        </p:nvSpPr>
        <p:spPr>
          <a:xfrm>
            <a:off x="5202260" y="173790"/>
            <a:ext cx="6400800" cy="576000"/>
          </a:xfrm>
          <a:prstGeom prst="rect">
            <a:avLst/>
          </a:prstGeom>
        </p:spPr>
        <p:txBody>
          <a:bodyPr vert="horz" lIns="91440" tIns="45720" rIns="548640" bIns="45720" rtlCol="0" anchor="b">
            <a:normAutofit/>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dirty="0" err="1"/>
              <a:t>한국의</a:t>
            </a:r>
            <a:r>
              <a:rPr lang="en-US" dirty="0"/>
              <a:t> </a:t>
            </a:r>
            <a:r>
              <a:rPr lang="en-US" dirty="0" err="1"/>
              <a:t>위험기반</a:t>
            </a:r>
            <a:r>
              <a:rPr lang="en-US" dirty="0"/>
              <a:t> </a:t>
            </a:r>
            <a:r>
              <a:rPr lang="en-US" dirty="0" err="1"/>
              <a:t>규제</a:t>
            </a:r>
            <a:r>
              <a:rPr lang="en-US" dirty="0"/>
              <a:t> </a:t>
            </a:r>
            <a:r>
              <a:rPr lang="en-US" dirty="0" err="1"/>
              <a:t>도입</a:t>
            </a:r>
            <a:r>
              <a:rPr lang="en-US" dirty="0"/>
              <a:t> </a:t>
            </a:r>
            <a:r>
              <a:rPr lang="en-US" dirty="0" err="1"/>
              <a:t>가능성</a:t>
            </a:r>
            <a:endParaRPr lang="en-US" dirty="0"/>
          </a:p>
        </p:txBody>
      </p:sp>
    </p:spTree>
    <p:extLst>
      <p:ext uri="{BB962C8B-B14F-4D97-AF65-F5344CB8AC3E}">
        <p14:creationId xmlns:p14="http://schemas.microsoft.com/office/powerpoint/2010/main" val="281588041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Content Placeholder 7" descr="빨간색과 파란색 보드게임 말의 저울에 가중치하기">
            <a:extLst>
              <a:ext uri="{FF2B5EF4-FFF2-40B4-BE49-F238E27FC236}">
                <a16:creationId xmlns:a16="http://schemas.microsoft.com/office/drawing/2014/main" id="{150A5580-6E62-4415-A5A3-C9D213503EE0}"/>
              </a:ext>
            </a:extLst>
          </p:cNvPr>
          <p:cNvPicPr>
            <a:picLocks noGrp="1" noChangeAspect="1"/>
          </p:cNvPicPr>
          <p:nvPr>
            <p:ph type="pic" sz="quarter" idx="15"/>
          </p:nvPr>
        </p:nvPicPr>
        <p:blipFill rotWithShape="1">
          <a:blip r:embed="rId3"/>
          <a:srcRect l="24599" r="24599"/>
          <a:stretch/>
        </p:blipFill>
        <p:spPr/>
      </p:pic>
      <p:sp>
        <p:nvSpPr>
          <p:cNvPr id="5" name="Slide Number Placeholder 4">
            <a:extLst>
              <a:ext uri="{FF2B5EF4-FFF2-40B4-BE49-F238E27FC236}">
                <a16:creationId xmlns:a16="http://schemas.microsoft.com/office/drawing/2014/main" id="{1231802E-F79E-BE6D-96E3-9C84AA9A56F1}"/>
              </a:ext>
            </a:extLst>
          </p:cNvPr>
          <p:cNvSpPr>
            <a:spLocks noGrp="1"/>
          </p:cNvSpPr>
          <p:nvPr>
            <p:ph type="sldNum" sz="quarter" idx="18"/>
          </p:nvPr>
        </p:nvSpPr>
        <p:spPr/>
        <p:txBody>
          <a:bodyPr anchor="ctr">
            <a:normAutofit/>
          </a:bodyPr>
          <a:lstStyle/>
          <a:p>
            <a:pPr rtl="0">
              <a:spcAft>
                <a:spcPts val="600"/>
              </a:spcAft>
            </a:pPr>
            <a:fld id="{5E0677F5-4A8A-4BF1-96BE-3BAE8FBAFE2E}" type="slidenum">
              <a:rPr lang="en-US" smtClean="0"/>
              <a:pPr rtl="0">
                <a:spcAft>
                  <a:spcPts val="600"/>
                </a:spcAft>
              </a:pPr>
              <a:t>10</a:t>
            </a:fld>
            <a:endParaRPr lang="en-US"/>
          </a:p>
        </p:txBody>
      </p:sp>
      <p:sp>
        <p:nvSpPr>
          <p:cNvPr id="7" name="Content Placeholder 6">
            <a:extLst>
              <a:ext uri="{FF2B5EF4-FFF2-40B4-BE49-F238E27FC236}">
                <a16:creationId xmlns:a16="http://schemas.microsoft.com/office/drawing/2014/main" id="{BBCD9E7E-7354-001C-DEE4-B55DFE31E052}"/>
              </a:ext>
            </a:extLst>
          </p:cNvPr>
          <p:cNvSpPr>
            <a:spLocks noGrp="1"/>
          </p:cNvSpPr>
          <p:nvPr>
            <p:ph sz="quarter" idx="14"/>
            <p:extLst>
              <p:ext uri="{E7BDC344-281C-4309-B0C6-D0EE65EED2A8}">
                <p202:designPr xmlns="" xmlns:p202="http://schemas.microsoft.com/office/powerpoint/2020/02/main">
                  <p202:designTagLst>
                    <p202:designTag name="ARCH:1:CLS" val="InformationBlock"/>
                    <p202:designTag name="ARCH:1:VSVAR" val="TitledTextBox"/>
                  </p202:designTagLst>
                </p202:designPr>
              </p:ext>
            </p:extLst>
          </p:nvPr>
        </p:nvSpPr>
        <p:spPr/>
        <p:txBody>
          <a:bodyPr>
            <a:normAutofit/>
          </a:bodyPr>
          <a:lstStyle/>
          <a:p>
            <a:pPr marL="0" indent="0">
              <a:lnSpc>
                <a:spcPct val="110000"/>
              </a:lnSpc>
              <a:spcBef>
                <a:spcPts val="2500"/>
              </a:spcBef>
              <a:buFont typeface="Arial" panose="020B0604020202020204" pitchFamily="34" charset="0"/>
              <a:buNone/>
            </a:pPr>
            <a:r>
              <a:rPr lang="ko-KR" altLang="en-US" sz="1800" b="1" dirty="0"/>
              <a:t>규제 철학 차이</a:t>
            </a:r>
          </a:p>
          <a:p>
            <a:pPr marL="0" lvl="1" indent="0">
              <a:lnSpc>
                <a:spcPct val="110000"/>
              </a:lnSpc>
              <a:buFont typeface="Arial" panose="020B0604020202020204" pitchFamily="34" charset="0"/>
              <a:buNone/>
            </a:pPr>
            <a:r>
              <a:rPr lang="en-US" sz="1400" dirty="0"/>
              <a:t>EU</a:t>
            </a:r>
            <a:r>
              <a:rPr lang="ko-KR" altLang="en-US" sz="1400" dirty="0"/>
              <a:t>는 </a:t>
            </a:r>
            <a:r>
              <a:rPr lang="ko-KR" altLang="en-US" sz="1400" b="1" dirty="0">
                <a:solidFill>
                  <a:srgbClr val="FFC000"/>
                </a:solidFill>
              </a:rPr>
              <a:t>권리 보호형 규제</a:t>
            </a:r>
            <a:r>
              <a:rPr lang="ko-KR" altLang="en-US" sz="1400" dirty="0"/>
              <a:t>를</a:t>
            </a:r>
            <a:r>
              <a:rPr lang="en-US" altLang="ko-KR" sz="1400" dirty="0"/>
              <a:t>, </a:t>
            </a:r>
            <a:r>
              <a:rPr lang="ko-KR" altLang="en-US" sz="1400" dirty="0"/>
              <a:t>한국은 </a:t>
            </a:r>
            <a:r>
              <a:rPr lang="ko-KR" altLang="en-US" sz="1400" b="1" dirty="0">
                <a:solidFill>
                  <a:srgbClr val="FFC000"/>
                </a:solidFill>
              </a:rPr>
              <a:t>산업 육성형 규제</a:t>
            </a:r>
            <a:r>
              <a:rPr lang="ko-KR" altLang="en-US" sz="1400" dirty="0"/>
              <a:t> 모델을 채택하여 각각의 철학을 반영</a:t>
            </a:r>
            <a:r>
              <a:rPr lang="en-US" altLang="ko-KR" sz="1400" dirty="0"/>
              <a:t>.</a:t>
            </a:r>
          </a:p>
          <a:p>
            <a:pPr marL="0" indent="0">
              <a:lnSpc>
                <a:spcPct val="110000"/>
              </a:lnSpc>
              <a:spcBef>
                <a:spcPts val="2500"/>
              </a:spcBef>
              <a:buFont typeface="Arial" panose="020B0604020202020204" pitchFamily="34" charset="0"/>
              <a:buNone/>
            </a:pPr>
            <a:r>
              <a:rPr lang="ko-KR" altLang="en-US" sz="1800" b="1" dirty="0"/>
              <a:t>한국의 규제 방향</a:t>
            </a:r>
          </a:p>
          <a:p>
            <a:pPr marL="0" lvl="1" indent="0">
              <a:lnSpc>
                <a:spcPct val="110000"/>
              </a:lnSpc>
              <a:buFont typeface="Arial" panose="020B0604020202020204" pitchFamily="34" charset="0"/>
              <a:buNone/>
            </a:pPr>
            <a:r>
              <a:rPr lang="ko-KR" altLang="en-US" sz="1400" dirty="0"/>
              <a:t>한국은 단기 원칙 기반에서 중장기 위험기반 규제 수용으로 </a:t>
            </a:r>
            <a:r>
              <a:rPr lang="ko-KR" altLang="en-US" sz="1400" b="1" dirty="0">
                <a:solidFill>
                  <a:srgbClr val="FFC000"/>
                </a:solidFill>
              </a:rPr>
              <a:t>국제 정합성 확보</a:t>
            </a:r>
            <a:r>
              <a:rPr lang="ko-KR" altLang="en-US" sz="1400" dirty="0"/>
              <a:t>를 목표</a:t>
            </a:r>
            <a:r>
              <a:rPr lang="en-US" altLang="ko-KR" sz="1400" dirty="0"/>
              <a:t>.</a:t>
            </a:r>
          </a:p>
          <a:p>
            <a:pPr marL="0" indent="0">
              <a:lnSpc>
                <a:spcPct val="110000"/>
              </a:lnSpc>
              <a:spcBef>
                <a:spcPts val="2500"/>
              </a:spcBef>
              <a:buFont typeface="Arial" panose="020B0604020202020204" pitchFamily="34" charset="0"/>
              <a:buNone/>
            </a:pPr>
            <a:r>
              <a:rPr lang="ko-KR" altLang="en-US" sz="1800" b="1" dirty="0"/>
              <a:t>정책 맥락의 중요성</a:t>
            </a:r>
          </a:p>
          <a:p>
            <a:pPr marL="0" lvl="1" indent="0">
              <a:lnSpc>
                <a:spcPct val="110000"/>
              </a:lnSpc>
              <a:buFont typeface="Arial" panose="020B0604020202020204" pitchFamily="34" charset="0"/>
              <a:buNone/>
            </a:pPr>
            <a:r>
              <a:rPr lang="en-US" sz="1400" dirty="0"/>
              <a:t>AI </a:t>
            </a:r>
            <a:r>
              <a:rPr lang="ko-KR" altLang="en-US" sz="1400" dirty="0"/>
              <a:t>규제에 단일 정답은 없으며 각 </a:t>
            </a:r>
            <a:r>
              <a:rPr lang="ko-KR" altLang="en-US" sz="1400" b="1" dirty="0">
                <a:solidFill>
                  <a:srgbClr val="FFC000"/>
                </a:solidFill>
              </a:rPr>
              <a:t>국가 정책 맥락에 맞는 선택</a:t>
            </a:r>
            <a:r>
              <a:rPr lang="ko-KR" altLang="en-US" sz="1400" dirty="0"/>
              <a:t>이 중요함을 강조</a:t>
            </a:r>
            <a:r>
              <a:rPr lang="en-US" altLang="ko-KR" sz="1400" dirty="0"/>
              <a:t>.</a:t>
            </a:r>
          </a:p>
        </p:txBody>
      </p:sp>
      <p:sp>
        <p:nvSpPr>
          <p:cNvPr id="10" name="Title 1">
            <a:extLst>
              <a:ext uri="{FF2B5EF4-FFF2-40B4-BE49-F238E27FC236}">
                <a16:creationId xmlns:a16="http://schemas.microsoft.com/office/drawing/2014/main" id="{F957C22E-1E33-49CE-BE4F-D0493B6E582D}"/>
              </a:ext>
            </a:extLst>
          </p:cNvPr>
          <p:cNvSpPr txBox="1">
            <a:spLocks/>
          </p:cNvSpPr>
          <p:nvPr/>
        </p:nvSpPr>
        <p:spPr>
          <a:xfrm>
            <a:off x="5202260" y="173790"/>
            <a:ext cx="6400800" cy="576000"/>
          </a:xfrm>
          <a:prstGeom prst="rect">
            <a:avLst/>
          </a:prstGeom>
        </p:spPr>
        <p:txBody>
          <a:bodyPr vert="horz" lIns="91440" tIns="45720" rIns="548640" bIns="45720" rtlCol="0" anchor="b">
            <a:normAutofit/>
          </a:bodyPr>
          <a:lstStyle>
            <a:lvl1pPr algn="l" defTabSz="914400" rtl="0" eaLnBrk="1" latinLnBrk="0" hangingPunct="1">
              <a:lnSpc>
                <a:spcPct val="85000"/>
              </a:lnSpc>
              <a:spcBef>
                <a:spcPct val="0"/>
              </a:spcBef>
              <a:buNone/>
              <a:defRPr sz="2800" b="0" kern="1200" spc="0" baseline="0">
                <a:solidFill>
                  <a:schemeClr val="tx1"/>
                </a:solidFill>
                <a:latin typeface="Malgun Gothic" panose="020B0503020000020004" pitchFamily="34" charset="-127"/>
                <a:ea typeface="Malgun Gothic" panose="020B0503020000020004" pitchFamily="34" charset="-127"/>
                <a:cs typeface="+mj-cs"/>
              </a:defRPr>
            </a:lvl1pPr>
          </a:lstStyle>
          <a:p>
            <a:r>
              <a:rPr lang="en-US"/>
              <a:t>결론</a:t>
            </a:r>
            <a:endParaRPr lang="en-US" dirty="0"/>
          </a:p>
        </p:txBody>
      </p:sp>
      <p:sp>
        <p:nvSpPr>
          <p:cNvPr id="12" name="TextBox 11">
            <a:extLst>
              <a:ext uri="{FF2B5EF4-FFF2-40B4-BE49-F238E27FC236}">
                <a16:creationId xmlns:a16="http://schemas.microsoft.com/office/drawing/2014/main" id="{13AA4DB8-3059-4765-8BEF-90EB964759F0}"/>
              </a:ext>
            </a:extLst>
          </p:cNvPr>
          <p:cNvSpPr txBox="1"/>
          <p:nvPr/>
        </p:nvSpPr>
        <p:spPr>
          <a:xfrm>
            <a:off x="5210016" y="5026523"/>
            <a:ext cx="6473984" cy="830997"/>
          </a:xfrm>
          <a:prstGeom prst="rect">
            <a:avLst/>
          </a:prstGeom>
          <a:noFill/>
        </p:spPr>
        <p:txBody>
          <a:bodyPr wrap="square">
            <a:spAutoFit/>
          </a:bodyPr>
          <a:lstStyle/>
          <a:p>
            <a:r>
              <a:rPr lang="en-US" altLang="ko-KR" sz="1200" b="0" i="0" dirty="0">
                <a:solidFill>
                  <a:srgbClr val="FFC000"/>
                </a:solidFill>
                <a:effectLst/>
                <a:latin typeface="맑은 고딕" panose="020B0503020000020004" pitchFamily="50" charset="-127"/>
                <a:ea typeface="맑은 고딕" panose="020B0503020000020004" pitchFamily="50" charset="-127"/>
              </a:rPr>
              <a:t>1. </a:t>
            </a:r>
            <a:r>
              <a:rPr lang="ko-KR" altLang="en-US" sz="1200" b="0" i="0" dirty="0">
                <a:solidFill>
                  <a:srgbClr val="FFC000"/>
                </a:solidFill>
                <a:effectLst/>
                <a:latin typeface="맑은 고딕" panose="020B0503020000020004" pitchFamily="50" charset="-127"/>
                <a:ea typeface="맑은 고딕" panose="020B0503020000020004" pitchFamily="50" charset="-127"/>
              </a:rPr>
              <a:t>“위험 기반” 체계가 기술 발전 속도에 더 적합한가</a:t>
            </a:r>
            <a:r>
              <a:rPr lang="en-US" altLang="ko-KR" sz="1200" b="0" i="0" dirty="0">
                <a:solidFill>
                  <a:srgbClr val="FFC000"/>
                </a:solidFill>
                <a:effectLst/>
                <a:latin typeface="맑은 고딕" panose="020B0503020000020004" pitchFamily="50" charset="-127"/>
                <a:ea typeface="맑은 고딕" panose="020B0503020000020004" pitchFamily="50" charset="-127"/>
              </a:rPr>
              <a:t>?</a:t>
            </a:r>
            <a:br>
              <a:rPr lang="ko-KR" altLang="en-US" sz="1200" dirty="0">
                <a:solidFill>
                  <a:srgbClr val="FFC000"/>
                </a:solidFill>
                <a:latin typeface="맑은 고딕" panose="020B0503020000020004" pitchFamily="50" charset="-127"/>
                <a:ea typeface="맑은 고딕" panose="020B0503020000020004" pitchFamily="50" charset="-127"/>
              </a:rPr>
            </a:br>
            <a:r>
              <a:rPr lang="en-US" altLang="ko-KR" sz="1200" dirty="0">
                <a:solidFill>
                  <a:srgbClr val="FFC000"/>
                </a:solidFill>
                <a:latin typeface="맑은 고딕" panose="020B0503020000020004" pitchFamily="50" charset="-127"/>
                <a:ea typeface="맑은 고딕" panose="020B0503020000020004" pitchFamily="50" charset="-127"/>
              </a:rPr>
              <a:t>2. </a:t>
            </a:r>
            <a:r>
              <a:rPr lang="ko-KR" altLang="en-US" sz="1200" b="0" i="0" dirty="0">
                <a:solidFill>
                  <a:srgbClr val="FFC000"/>
                </a:solidFill>
                <a:effectLst/>
                <a:latin typeface="맑은 고딕" panose="020B0503020000020004" pitchFamily="50" charset="-127"/>
                <a:ea typeface="맑은 고딕" panose="020B0503020000020004" pitchFamily="50" charset="-127"/>
              </a:rPr>
              <a:t>한국의 원칙 중심 규제가 </a:t>
            </a:r>
            <a:r>
              <a:rPr lang="en-US" altLang="ko-KR" sz="1200" b="0" i="0" dirty="0">
                <a:solidFill>
                  <a:srgbClr val="FFC000"/>
                </a:solidFill>
                <a:effectLst/>
                <a:latin typeface="맑은 고딕" panose="020B0503020000020004" pitchFamily="50" charset="-127"/>
                <a:ea typeface="맑은 고딕" panose="020B0503020000020004" pitchFamily="50" charset="-127"/>
              </a:rPr>
              <a:t>EU </a:t>
            </a:r>
            <a:r>
              <a:rPr lang="ko-KR" altLang="en-US" sz="1200" b="0" i="0" dirty="0">
                <a:solidFill>
                  <a:srgbClr val="FFC000"/>
                </a:solidFill>
                <a:effectLst/>
                <a:latin typeface="맑은 고딕" panose="020B0503020000020004" pitchFamily="50" charset="-127"/>
                <a:ea typeface="맑은 고딕" panose="020B0503020000020004" pitchFamily="50" charset="-127"/>
              </a:rPr>
              <a:t>모델 대비 명확성</a:t>
            </a:r>
            <a:r>
              <a:rPr lang="en-US" altLang="ko-KR" sz="1200" b="0" i="0" dirty="0">
                <a:solidFill>
                  <a:srgbClr val="FFC000"/>
                </a:solidFill>
                <a:effectLst/>
                <a:latin typeface="맑은 고딕" panose="020B0503020000020004" pitchFamily="50" charset="-127"/>
                <a:ea typeface="맑은 고딕" panose="020B0503020000020004" pitchFamily="50" charset="-127"/>
              </a:rPr>
              <a:t>·</a:t>
            </a:r>
            <a:r>
              <a:rPr lang="ko-KR" altLang="en-US" sz="1200" b="0" i="0" dirty="0">
                <a:solidFill>
                  <a:srgbClr val="FFC000"/>
                </a:solidFill>
                <a:effectLst/>
                <a:latin typeface="맑은 고딕" panose="020B0503020000020004" pitchFamily="50" charset="-127"/>
                <a:ea typeface="맑은 고딕" panose="020B0503020000020004" pitchFamily="50" charset="-127"/>
              </a:rPr>
              <a:t>예측가능성에서 가지는 한계는 무엇인가</a:t>
            </a:r>
            <a:r>
              <a:rPr lang="en-US" altLang="ko-KR" sz="1200" b="0" i="0" dirty="0">
                <a:solidFill>
                  <a:srgbClr val="FFC000"/>
                </a:solidFill>
                <a:effectLst/>
                <a:latin typeface="맑은 고딕" panose="020B0503020000020004" pitchFamily="50" charset="-127"/>
                <a:ea typeface="맑은 고딕" panose="020B0503020000020004" pitchFamily="50" charset="-127"/>
              </a:rPr>
              <a:t>?</a:t>
            </a:r>
            <a:br>
              <a:rPr lang="ko-KR" altLang="en-US" sz="1200" dirty="0">
                <a:solidFill>
                  <a:srgbClr val="FFC000"/>
                </a:solidFill>
                <a:latin typeface="맑은 고딕" panose="020B0503020000020004" pitchFamily="50" charset="-127"/>
                <a:ea typeface="맑은 고딕" panose="020B0503020000020004" pitchFamily="50" charset="-127"/>
              </a:rPr>
            </a:br>
            <a:r>
              <a:rPr lang="en-US" altLang="ko-KR" sz="1200" dirty="0">
                <a:solidFill>
                  <a:srgbClr val="FFC000"/>
                </a:solidFill>
                <a:latin typeface="맑은 고딕" panose="020B0503020000020004" pitchFamily="50" charset="-127"/>
                <a:ea typeface="맑은 고딕" panose="020B0503020000020004" pitchFamily="50" charset="-127"/>
              </a:rPr>
              <a:t>3. </a:t>
            </a:r>
            <a:r>
              <a:rPr lang="ko-KR" altLang="en-US" sz="1200" b="0" i="0" dirty="0">
                <a:solidFill>
                  <a:srgbClr val="FFC000"/>
                </a:solidFill>
                <a:effectLst/>
                <a:latin typeface="맑은 고딕" panose="020B0503020000020004" pitchFamily="50" charset="-127"/>
                <a:ea typeface="맑은 고딕" panose="020B0503020000020004" pitchFamily="50" charset="-127"/>
              </a:rPr>
              <a:t>한국이 위험 분류 체계를 도입할 경우 발생할 제도적</a:t>
            </a:r>
            <a:r>
              <a:rPr lang="en-US" altLang="ko-KR" sz="1200" b="0" i="0" dirty="0">
                <a:solidFill>
                  <a:srgbClr val="FFC000"/>
                </a:solidFill>
                <a:effectLst/>
                <a:latin typeface="맑은 고딕" panose="020B0503020000020004" pitchFamily="50" charset="-127"/>
                <a:ea typeface="맑은 고딕" panose="020B0503020000020004" pitchFamily="50" charset="-127"/>
              </a:rPr>
              <a:t>·</a:t>
            </a:r>
            <a:r>
              <a:rPr lang="ko-KR" altLang="en-US" sz="1200" b="0" i="0" dirty="0">
                <a:solidFill>
                  <a:srgbClr val="FFC000"/>
                </a:solidFill>
                <a:effectLst/>
                <a:latin typeface="맑은 고딕" panose="020B0503020000020004" pitchFamily="50" charset="-127"/>
                <a:ea typeface="맑은 고딕" panose="020B0503020000020004" pitchFamily="50" charset="-127"/>
              </a:rPr>
              <a:t>산업적 변화는</a:t>
            </a:r>
            <a:r>
              <a:rPr lang="en-US" altLang="ko-KR" sz="1200" b="0" i="0" dirty="0">
                <a:solidFill>
                  <a:srgbClr val="FFC000"/>
                </a:solidFill>
                <a:effectLst/>
                <a:latin typeface="맑은 고딕" panose="020B0503020000020004" pitchFamily="50" charset="-127"/>
                <a:ea typeface="맑은 고딕" panose="020B0503020000020004" pitchFamily="50" charset="-127"/>
              </a:rPr>
              <a:t>?</a:t>
            </a:r>
            <a:br>
              <a:rPr lang="ko-KR" altLang="en-US" sz="1200" dirty="0">
                <a:solidFill>
                  <a:srgbClr val="FFC000"/>
                </a:solidFill>
                <a:latin typeface="맑은 고딕" panose="020B0503020000020004" pitchFamily="50" charset="-127"/>
                <a:ea typeface="맑은 고딕" panose="020B0503020000020004" pitchFamily="50" charset="-127"/>
              </a:rPr>
            </a:br>
            <a:r>
              <a:rPr lang="en-US" altLang="ko-KR" sz="1200" dirty="0">
                <a:solidFill>
                  <a:srgbClr val="FFC000"/>
                </a:solidFill>
                <a:latin typeface="맑은 고딕" panose="020B0503020000020004" pitchFamily="50" charset="-127"/>
                <a:ea typeface="맑은 고딕" panose="020B0503020000020004" pitchFamily="50" charset="-127"/>
              </a:rPr>
              <a:t>4. </a:t>
            </a:r>
            <a:r>
              <a:rPr lang="ko-KR" altLang="en-US" sz="1200" b="0" i="0" dirty="0">
                <a:solidFill>
                  <a:srgbClr val="FFC000"/>
                </a:solidFill>
                <a:effectLst/>
                <a:latin typeface="맑은 고딕" panose="020B0503020000020004" pitchFamily="50" charset="-127"/>
                <a:ea typeface="맑은 고딕" panose="020B0503020000020004" pitchFamily="50" charset="-127"/>
              </a:rPr>
              <a:t>고위험 여부를 정량적 기준으로 정의할 수 있는가</a:t>
            </a:r>
            <a:r>
              <a:rPr lang="en-US" altLang="ko-KR" sz="1200" b="0" i="0" dirty="0">
                <a:solidFill>
                  <a:srgbClr val="FFC000"/>
                </a:solidFill>
                <a:effectLst/>
                <a:latin typeface="맑은 고딕" panose="020B0503020000020004" pitchFamily="50" charset="-127"/>
                <a:ea typeface="맑은 고딕" panose="020B0503020000020004" pitchFamily="50" charset="-127"/>
              </a:rPr>
              <a:t>?</a:t>
            </a:r>
            <a:endParaRPr lang="LID4096" sz="1200" dirty="0">
              <a:solidFill>
                <a:srgbClr val="FFC000"/>
              </a:solidFill>
              <a:latin typeface="맑은 고딕" panose="020B0503020000020004" pitchFamily="50" charset="-127"/>
              <a:ea typeface="맑은 고딕" panose="020B0503020000020004" pitchFamily="50" charset="-127"/>
            </a:endParaRPr>
          </a:p>
        </p:txBody>
      </p:sp>
    </p:spTree>
    <p:extLst>
      <p:ext uri="{BB962C8B-B14F-4D97-AF65-F5344CB8AC3E}">
        <p14:creationId xmlns:p14="http://schemas.microsoft.com/office/powerpoint/2010/main" val="11766826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withEffect">
                                  <p:stCondLst>
                                    <p:cond delay="250"/>
                                  </p:stCondLst>
                                  <p:iterate>
                                    <p:tmPct val="10000"/>
                                  </p:iterate>
                                  <p:childTnLst>
                                    <p:set>
                                      <p:cBhvr>
                                        <p:cTn id="6" dur="1" fill="hold">
                                          <p:stCondLst>
                                            <p:cond delay="0"/>
                                          </p:stCondLst>
                                        </p:cTn>
                                        <p:tgtEl>
                                          <p:spTgt spid="7"/>
                                        </p:tgtEl>
                                        <p:attrNameLst>
                                          <p:attrName>style.visibility</p:attrName>
                                        </p:attrNameLst>
                                      </p:cBhvr>
                                      <p:to>
                                        <p:strVal val="visible"/>
                                      </p:to>
                                    </p:set>
                                    <p:animEffect transition="in" filter="fade">
                                      <p:cBhvr>
                                        <p:cTn id="7" dur="250"/>
                                        <p:tgtEl>
                                          <p:spTgt spid="7"/>
                                        </p:tgtEl>
                                      </p:cBhvr>
                                    </p:animEffect>
                                    <p:anim calcmode="lin" valueType="num">
                                      <p:cBhvr>
                                        <p:cTn id="8" dur="250" fill="hold"/>
                                        <p:tgtEl>
                                          <p:spTgt spid="7"/>
                                        </p:tgtEl>
                                        <p:attrNameLst>
                                          <p:attrName>ppt_x</p:attrName>
                                        </p:attrNameLst>
                                      </p:cBhvr>
                                      <p:tavLst>
                                        <p:tav tm="0">
                                          <p:val>
                                            <p:strVal val="#ppt_x"/>
                                          </p:val>
                                        </p:tav>
                                        <p:tav tm="100000">
                                          <p:val>
                                            <p:strVal val="#ppt_x"/>
                                          </p:val>
                                        </p:tav>
                                      </p:tavLst>
                                    </p:anim>
                                    <p:anim calcmode="lin" valueType="num">
                                      <p:cBhvr>
                                        <p:cTn id="9" dur="25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어두운 그라데이션">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_wac_EF_v6" id="{47884C33-930F-4983-8A90-805F27C1336E}" vid="{C24D1BEE-D710-440D-8162-B32A89E9C68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125</TotalTime>
  <Words>1959</Words>
  <Application>Microsoft Office PowerPoint</Application>
  <PresentationFormat>와이드스크린</PresentationFormat>
  <Paragraphs>112</Paragraphs>
  <Slides>10</Slides>
  <Notes>10</Notes>
  <HiddenSlides>0</HiddenSlides>
  <MMClips>0</MMClips>
  <ScaleCrop>false</ScaleCrop>
  <HeadingPairs>
    <vt:vector size="6" baseType="variant">
      <vt:variant>
        <vt:lpstr>사용한 글꼴</vt:lpstr>
      </vt:variant>
      <vt:variant>
        <vt:i4>6</vt:i4>
      </vt:variant>
      <vt:variant>
        <vt:lpstr>테마</vt:lpstr>
      </vt:variant>
      <vt:variant>
        <vt:i4>1</vt:i4>
      </vt:variant>
      <vt:variant>
        <vt:lpstr>슬라이드 제목</vt:lpstr>
      </vt:variant>
      <vt:variant>
        <vt:i4>10</vt:i4>
      </vt:variant>
    </vt:vector>
  </HeadingPairs>
  <TitlesOfParts>
    <vt:vector size="17" baseType="lpstr">
      <vt:lpstr>Malgun Gothic</vt:lpstr>
      <vt:lpstr>Malgun Gothic</vt:lpstr>
      <vt:lpstr>Arial</vt:lpstr>
      <vt:lpstr>Arial Nova Light</vt:lpstr>
      <vt:lpstr>Calibri</vt:lpstr>
      <vt:lpstr>Segoe UI</vt:lpstr>
      <vt:lpstr>어두운 그라데이션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EU 위험기반 AI 규제와  한국 원칙 기반 AI 규제 비교</dc:title>
  <dc:creator>tbinet@konkuk.ac.kr</dc:creator>
  <cp:lastModifiedBy>YongMyoung Kwon</cp:lastModifiedBy>
  <cp:revision>19</cp:revision>
  <dcterms:modified xsi:type="dcterms:W3CDTF">2026-04-16T05:10:03Z</dcterms:modified>
</cp:coreProperties>
</file>