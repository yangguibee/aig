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85" r:id="rId4"/>
    <p:sldId id="292" r:id="rId5"/>
    <p:sldId id="286" r:id="rId6"/>
    <p:sldId id="288" r:id="rId7"/>
    <p:sldId id="290" r:id="rId8"/>
    <p:sldId id="29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. 제목 및 목차" id="{1A0B8348-1CCC-4E18-B10C-A95C796AAF28}">
          <p14:sldIdLst>
            <p14:sldId id="256"/>
            <p14:sldId id="258"/>
          </p14:sldIdLst>
        </p14:section>
        <p14:section name="1. API 기반 서비스 모델 제공자의 정보 제공 의무" id="{7FAEE021-EB2E-4AD8-A2D1-09F70A98E0E2}">
          <p14:sldIdLst>
            <p14:sldId id="285"/>
            <p14:sldId id="292"/>
          </p14:sldIdLst>
        </p14:section>
        <p14:section name="2. 한국 플랫폼·API 시장에서의 투명성 규제" id="{13F3BDA7-625F-4B87-85E4-9C21D4739711}">
          <p14:sldIdLst>
            <p14:sldId id="286"/>
          </p14:sldIdLst>
        </p14:section>
        <p14:section name="3. API 제공자의 오용(misuse) 가능성 통제" id="{B14A91C4-BA72-48DA-AD60-C29E70D45403}">
          <p14:sldIdLst>
            <p14:sldId id="288"/>
          </p14:sldIdLst>
        </p14:section>
        <p14:section name="4. 다운스트림 투명성이 B2B AI 산업에 미치는 영향" id="{282FCED5-61CF-48B6-A196-F85532037F29}">
          <p14:sldIdLst>
            <p14:sldId id="290"/>
          </p14:sldIdLst>
        </p14:section>
        <p14:section name="5. 출처" id="{08142097-FDCB-47DD-98E5-BEF09F728AF9}">
          <p14:sldIdLst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윤지 차" initials="윤차" lastIdx="1" clrIdx="0">
    <p:extLst>
      <p:ext uri="{19B8F6BF-5375-455C-9EA6-DF929625EA0E}">
        <p15:presenceInfo xmlns:p15="http://schemas.microsoft.com/office/powerpoint/2012/main" userId="47ce16ab69f6d1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A35"/>
    <a:srgbClr val="94A4BA"/>
    <a:srgbClr val="7F93AD"/>
    <a:srgbClr val="F3F3F3"/>
    <a:srgbClr val="FDFCF9"/>
    <a:srgbClr val="E4D6AE"/>
    <a:srgbClr val="E6E6E6"/>
    <a:srgbClr val="FFFFF7"/>
    <a:srgbClr val="F5F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5" autoAdjust="0"/>
    <p:restoredTop sz="93790" autoAdjust="0"/>
  </p:normalViewPr>
  <p:slideViewPr>
    <p:cSldViewPr snapToGrid="0" showGuides="1">
      <p:cViewPr varScale="1">
        <p:scale>
          <a:sx n="106" d="100"/>
          <a:sy n="106" d="100"/>
        </p:scale>
        <p:origin x="81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B4E85-9C10-46F9-9DC9-B106EE52D459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CCFA41-7907-4AFD-9EB6-598AE6E4D0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971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FA41-7907-4AFD-9EB6-598AE6E4D02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386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FA41-7907-4AFD-9EB6-598AE6E4D02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254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FA41-7907-4AFD-9EB6-598AE6E4D02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062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E5DDA-1A88-B60E-6C9A-6D8AE6AC6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212E33-4B9E-DB7E-B596-B63F431A5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B4EF6D-8EBE-3944-4C54-5A185F716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8861A1-E01B-3DA8-1007-EB23F6D2A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FA41-7907-4AFD-9EB6-598AE6E4D02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569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38D49-C52F-88B9-E318-EC3A28F74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40FFDD-B3F3-010C-3EE0-445B21CCC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CDC32C-11FB-DDB0-DA70-B57E09921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4C4F-7ECB-42ED-A066-F25037522B4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9F1687-BE2C-66FD-E5E5-ECC2C23EF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80D21-9AD1-3C14-B3DA-A869C2D5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16CE-BD39-4171-BDCB-A945BBFD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564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C574FE-9932-0E09-974B-E20F7F33C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5DEE83-CE46-B6DD-8439-FC06CBF9B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581E22-01C9-370C-5262-4379A31AE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4C4F-7ECB-42ED-A066-F25037522B4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A1DA73-E125-F806-8C04-3D5DDC15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72D571-6F6A-3C98-1DCD-92C4620E0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16CE-BD39-4171-BDCB-A945BBFD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033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35685-9F2A-F2EA-2714-9AD14A2E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C8A63D-1802-FBD6-6E4E-EB90A96F8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2AB8C8-37A9-B773-02DF-1DADB16E4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4C4F-7ECB-42ED-A066-F25037522B4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CCD53D-49B1-B288-B818-D171C2E16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9075F8-C6D3-9417-F5E2-78DFB8C4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16CE-BD39-4171-BDCB-A945BBFD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45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75C73-E334-1E98-D5B9-109BF98B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FE8397-9331-B5BC-5218-19CEB9951C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26A567-3514-1BF6-54C0-9C71CFDB1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F20481-A1AC-6EE6-3912-F669FFBCF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4C4F-7ECB-42ED-A066-F25037522B4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556C19-9EFC-6F6E-7F01-076263B0F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B5BF37-B112-C556-94FD-9F5048B2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16CE-BD39-4171-BDCB-A945BBFD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445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C4189-7369-5B9B-19EF-590DA3477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305D11-C763-E67D-40E9-4FF94E3F7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D70867-9976-D359-C01D-32FA603C4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E5E376-56E8-F151-7E13-B4361C6A41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995DFA-1D1E-4CFA-B7C3-DA1FCEE8A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DBCD370-C7EB-609A-8290-ABC8F01D1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4C4F-7ECB-42ED-A066-F25037522B4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1FD4154-F109-6D4F-7B67-BCFB6668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26BD186-5DBF-DDA0-4607-6FC8937C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16CE-BD39-4171-BDCB-A945BBFD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5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6668E-2AF4-05B3-929D-44CA9743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37214C2-FADE-4B2C-66B4-5BE337543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4C4F-7ECB-42ED-A066-F25037522B4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E4CF6E-8B9E-2A17-FBB7-3D29433E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A00B4F-994D-E337-81B4-176D4FBA1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16CE-BD39-4171-BDCB-A945BBFD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705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DF8317-63E4-96BD-49A2-5A6E48D36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4C4F-7ECB-42ED-A066-F25037522B4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D5FF771-BB44-DF18-180A-60A032DA1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03DCDD-569C-6E52-4B1B-E376AB86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16CE-BD39-4171-BDCB-A945BBFD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70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1A72FF-14FD-A821-3BB0-C0369971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4DEC77-11CC-3F6C-667F-0E9E85181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C5A342-B410-7417-A704-1B89B0DAD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0AA32F-6C93-060E-B434-7250D3EB0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4C4F-7ECB-42ED-A066-F25037522B4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ACA682-5CD6-37EB-B89F-7D4AF1601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C690D2-2CE2-AD57-1898-CB2AB2C1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16CE-BD39-4171-BDCB-A945BBFD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897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A7F0C-5A7A-46BB-3D2A-26E8CC8C7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BC8DA6-ECB0-C531-55EE-AB7EE9CAFB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432B63-C754-24D3-44F5-F7156BEB3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E55D2F-D6E3-C769-7DD6-10DB4562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4C4F-7ECB-42ED-A066-F25037522B4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E53999-3551-A353-3DB5-35164239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6B6B11-EB10-F39A-5C83-E553CB420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16CE-BD39-4171-BDCB-A945BBFD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54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57FAF-E117-7EE1-534E-F6C7D3486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BAD8E8-66A0-4BCB-CB43-98C166A33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2F1F1-8E73-9728-C3EB-CA056733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4C4F-7ECB-42ED-A066-F25037522B4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5F868-0B45-14A2-A92F-684868865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A2D820-915C-0FFA-F3AC-61E516663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16CE-BD39-4171-BDCB-A945BBFD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39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C1676D-1855-D37B-FB5D-7CC7DD42D8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05B6A7-4D40-44AC-3E8D-DCA26994F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FF241E-6708-063E-7FA0-D1C6D1F8E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E4C4F-7ECB-42ED-A066-F25037522B4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BE4EAF-EEAD-3C4D-47FD-F245E5BF6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761CC3-868E-2DA4-E918-216749148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16CE-BD39-4171-BDCB-A945BBFD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301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C167934-1E2F-AF5B-103C-54F7123DC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E4CD6C-B5C1-46F4-34E0-B2AD0131E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3BF38E-7688-6AB5-2CDB-3305EBBF2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E4C4F-7ECB-42ED-A066-F25037522B4E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395D34-F848-83A5-8075-D71AC9E83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5FF594-73E9-6FAA-B38F-BAEE14D44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5916CE-BD39-4171-BDCB-A945BBFD93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007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elp-me.kr/blog/article/korea-ai-act-2026-compliance-guide/" TargetMode="External"/><Relationship Id="rId13" Type="http://schemas.openxmlformats.org/officeDocument/2006/relationships/hyperlink" Target="https://www2.itif.org/2025-korea-ai-act-ko.pdf" TargetMode="External"/><Relationship Id="rId3" Type="http://schemas.openxmlformats.org/officeDocument/2006/relationships/hyperlink" Target="https://artificialintelligenceact.eu/annex/12/" TargetMode="External"/><Relationship Id="rId7" Type="http://schemas.openxmlformats.org/officeDocument/2006/relationships/hyperlink" Target="https://www.shinkim.com/kor/media/newsletter/3114" TargetMode="External"/><Relationship Id="rId12" Type="http://schemas.openxmlformats.org/officeDocument/2006/relationships/hyperlink" Target="https://www.pwcconsulting.co.kr/ko/insight/pwcconsulting_ai_law.pdf" TargetMode="External"/><Relationship Id="rId2" Type="http://schemas.openxmlformats.org/officeDocument/2006/relationships/hyperlink" Target="https://artificialintelligenceact.eu/article/53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eekaboolabs.ai/blog/ai-basic-law-guide" TargetMode="External"/><Relationship Id="rId11" Type="http://schemas.openxmlformats.org/officeDocument/2006/relationships/hyperlink" Target="https://digital-strategy.ec.europa.eu/en/policies/guidelines-gpai-providers" TargetMode="External"/><Relationship Id="rId5" Type="http://schemas.openxmlformats.org/officeDocument/2006/relationships/hyperlink" Target="https://www.euaiact.com/key-issue/5" TargetMode="External"/><Relationship Id="rId10" Type="http://schemas.openxmlformats.org/officeDocument/2006/relationships/hyperlink" Target="https://code-of-practice.ai/?section=summary" TargetMode="External"/><Relationship Id="rId4" Type="http://schemas.openxmlformats.org/officeDocument/2006/relationships/hyperlink" Target="https://artificialintelligenceact.eu/high-level-summary/" TargetMode="External"/><Relationship Id="rId9" Type="http://schemas.openxmlformats.org/officeDocument/2006/relationships/hyperlink" Target="https://www.lexology.com/library/detail.aspx?g=790de95e-d2c2-4504-ab14-4d399c8f69c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856B91-8012-2BA6-2041-733D9CD4037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DFC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91A5D5-DB9D-7370-512B-3643579A1DB1}"/>
              </a:ext>
            </a:extLst>
          </p:cNvPr>
          <p:cNvSpPr/>
          <p:nvPr/>
        </p:nvSpPr>
        <p:spPr>
          <a:xfrm>
            <a:off x="0" y="-1"/>
            <a:ext cx="12192000" cy="486696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B7C59-3049-2AEC-5FCA-828DE1DB5FED}"/>
              </a:ext>
            </a:extLst>
          </p:cNvPr>
          <p:cNvSpPr txBox="1"/>
          <p:nvPr/>
        </p:nvSpPr>
        <p:spPr>
          <a:xfrm>
            <a:off x="2975594" y="1195676"/>
            <a:ext cx="6240811" cy="24756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EU AI Act</a:t>
            </a:r>
            <a:r>
              <a:rPr lang="ko-KR" altLang="en-US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와 국내 </a:t>
            </a:r>
            <a:r>
              <a:rPr lang="en-US" altLang="ko-KR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</a:t>
            </a:r>
            <a:r>
              <a:rPr lang="ko-KR" altLang="en-US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법 비교</a:t>
            </a:r>
          </a:p>
          <a:p>
            <a:pPr algn="ctr">
              <a:lnSpc>
                <a:spcPct val="150000"/>
              </a:lnSpc>
            </a:pPr>
            <a:r>
              <a:rPr lang="ko-KR" altLang="en-US" sz="3600" b="1" dirty="0" err="1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다운스트림</a:t>
            </a:r>
            <a:r>
              <a:rPr lang="ko-KR" altLang="en-US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투명성</a:t>
            </a:r>
            <a:r>
              <a:rPr lang="en-US" altLang="ko-KR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부속서 </a:t>
            </a:r>
            <a:r>
              <a:rPr lang="en-US" altLang="ko-KR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XII)</a:t>
            </a:r>
          </a:p>
          <a:p>
            <a:pPr algn="ctr">
              <a:lnSpc>
                <a:spcPct val="150000"/>
              </a:lnSpc>
            </a:pPr>
            <a:r>
              <a:rPr lang="en-US" altLang="ko-KR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vs </a:t>
            </a:r>
            <a:r>
              <a:rPr lang="ko-KR" altLang="en-US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한국 </a:t>
            </a:r>
            <a:r>
              <a:rPr lang="en-US" altLang="ko-KR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API </a:t>
            </a:r>
            <a:r>
              <a:rPr lang="ko-KR" altLang="en-US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산업 구조</a:t>
            </a:r>
            <a:endParaRPr lang="ko-KR" altLang="en-US" sz="3600" dirty="0">
              <a:solidFill>
                <a:srgbClr val="FDFCF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D8E326-43A4-48BE-6284-7DC0FFDC7264}"/>
              </a:ext>
            </a:extLst>
          </p:cNvPr>
          <p:cNvSpPr txBox="1"/>
          <p:nvPr/>
        </p:nvSpPr>
        <p:spPr>
          <a:xfrm>
            <a:off x="225677" y="5593603"/>
            <a:ext cx="708848" cy="10191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소속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발표자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날짜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F2F613-9E82-3E3F-7D27-B06E5397C198}"/>
              </a:ext>
            </a:extLst>
          </p:cNvPr>
          <p:cNvSpPr txBox="1"/>
          <p:nvPr/>
        </p:nvSpPr>
        <p:spPr>
          <a:xfrm>
            <a:off x="907199" y="5593603"/>
            <a:ext cx="3962944" cy="10191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정보통신대학원 융합정보기술학과 인공지능전공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차윤지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2026.04.16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813F1B-13D9-0784-11FA-BA8C7584A82E}"/>
              </a:ext>
            </a:extLst>
          </p:cNvPr>
          <p:cNvSpPr txBox="1"/>
          <p:nvPr/>
        </p:nvSpPr>
        <p:spPr>
          <a:xfrm>
            <a:off x="11448288" y="6567170"/>
            <a:ext cx="842324" cy="27699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endParaRPr lang="en-US" altLang="ko-KR" sz="6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6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* 2022 IEEE </a:t>
            </a:r>
            <a:r>
              <a:rPr lang="ko-KR" altLang="en-US" sz="6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게재</a:t>
            </a:r>
            <a:endParaRPr lang="en-US" altLang="ko-KR" sz="6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2450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2F954-B339-52C8-C765-D28C71347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8BD59C-4C61-A117-0D73-92CDA8AFAC16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DFC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40F2C1-48C1-F78A-0FAC-2C541D1D338E}"/>
              </a:ext>
            </a:extLst>
          </p:cNvPr>
          <p:cNvSpPr/>
          <p:nvPr/>
        </p:nvSpPr>
        <p:spPr>
          <a:xfrm>
            <a:off x="0" y="-1"/>
            <a:ext cx="12192000" cy="11503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6E685B-C730-5472-B1FD-C82359026355}"/>
              </a:ext>
            </a:extLst>
          </p:cNvPr>
          <p:cNvSpPr txBox="1"/>
          <p:nvPr/>
        </p:nvSpPr>
        <p:spPr>
          <a:xfrm>
            <a:off x="237178" y="252020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목차</a:t>
            </a:r>
            <a:endParaRPr lang="ko-KR" altLang="en-US" sz="3600" dirty="0">
              <a:solidFill>
                <a:srgbClr val="FDFCF9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EF6185A-2B41-5613-DA8F-7735143172BB}"/>
              </a:ext>
            </a:extLst>
          </p:cNvPr>
          <p:cNvGrpSpPr/>
          <p:nvPr/>
        </p:nvGrpSpPr>
        <p:grpSpPr>
          <a:xfrm>
            <a:off x="336761" y="1619094"/>
            <a:ext cx="7450049" cy="3335195"/>
            <a:chOff x="1399561" y="1445841"/>
            <a:chExt cx="7450049" cy="333519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DB85C20-A0FB-D7DB-FCCC-2403DEDFC2FC}"/>
                </a:ext>
              </a:extLst>
            </p:cNvPr>
            <p:cNvSpPr txBox="1"/>
            <p:nvPr/>
          </p:nvSpPr>
          <p:spPr>
            <a:xfrm>
              <a:off x="2161561" y="1575063"/>
              <a:ext cx="64075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tx2">
                      <a:lumMod val="50000"/>
                    </a:schemeClr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API </a:t>
              </a:r>
              <a:r>
                <a:rPr lang="ko-KR" altLang="en-US" sz="2400" b="1" dirty="0">
                  <a:solidFill>
                    <a:schemeClr val="tx2">
                      <a:lumMod val="50000"/>
                    </a:schemeClr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기반 서비스 모델 제공자의 정보 제공 의무</a:t>
              </a:r>
              <a:endParaRPr lang="ko-KR" altLang="en-US" sz="24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402E0642-ECB7-2B6E-6E8A-525C8AFD8E69}"/>
                </a:ext>
              </a:extLst>
            </p:cNvPr>
            <p:cNvSpPr/>
            <p:nvPr/>
          </p:nvSpPr>
          <p:spPr>
            <a:xfrm>
              <a:off x="1399561" y="1445841"/>
              <a:ext cx="686414" cy="686414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rgbClr val="FDFCF9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1</a:t>
              </a:r>
              <a:endParaRPr lang="ko-KR" altLang="en-US" sz="2000" b="1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A5A2EF-F924-61B6-2666-E2C42B5A9732}"/>
                </a:ext>
              </a:extLst>
            </p:cNvPr>
            <p:cNvSpPr txBox="1"/>
            <p:nvPr/>
          </p:nvSpPr>
          <p:spPr>
            <a:xfrm>
              <a:off x="2161561" y="2457990"/>
              <a:ext cx="56220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chemeClr val="tx2">
                      <a:lumMod val="50000"/>
                    </a:schemeClr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한국 플랫폼</a:t>
              </a:r>
              <a:r>
                <a:rPr lang="en-US" altLang="ko-KR" sz="2400" b="1" dirty="0">
                  <a:solidFill>
                    <a:schemeClr val="tx2">
                      <a:lumMod val="50000"/>
                    </a:schemeClr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·API </a:t>
              </a:r>
              <a:r>
                <a:rPr lang="ko-KR" altLang="en-US" sz="2400" b="1" dirty="0">
                  <a:solidFill>
                    <a:schemeClr val="tx2">
                      <a:lumMod val="50000"/>
                    </a:schemeClr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시장에서의 투명성 규제</a:t>
              </a:r>
              <a:endParaRPr lang="ko-KR" altLang="en-US" sz="24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7554AF3-D18A-90EB-6BBF-362544CE6CAF}"/>
                </a:ext>
              </a:extLst>
            </p:cNvPr>
            <p:cNvSpPr/>
            <p:nvPr/>
          </p:nvSpPr>
          <p:spPr>
            <a:xfrm>
              <a:off x="1399561" y="2328768"/>
              <a:ext cx="686414" cy="686414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rgbClr val="FDFCF9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2</a:t>
              </a:r>
              <a:endParaRPr lang="ko-KR" altLang="en-US" sz="2000" b="1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D314AF5-2767-57AC-E779-DB122A732167}"/>
                </a:ext>
              </a:extLst>
            </p:cNvPr>
            <p:cNvSpPr txBox="1"/>
            <p:nvPr/>
          </p:nvSpPr>
          <p:spPr>
            <a:xfrm>
              <a:off x="2161561" y="3340917"/>
              <a:ext cx="55691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tx2">
                      <a:lumMod val="50000"/>
                    </a:schemeClr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API </a:t>
              </a:r>
              <a:r>
                <a:rPr lang="ko-KR" altLang="en-US" sz="2400" b="1" dirty="0">
                  <a:solidFill>
                    <a:schemeClr val="tx2">
                      <a:lumMod val="50000"/>
                    </a:schemeClr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제공자의 오용</a:t>
              </a:r>
              <a:r>
                <a:rPr lang="en-US" altLang="ko-KR" sz="2400" b="1" dirty="0">
                  <a:solidFill>
                    <a:schemeClr val="tx2">
                      <a:lumMod val="50000"/>
                    </a:schemeClr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(misuse) </a:t>
              </a:r>
              <a:r>
                <a:rPr lang="ko-KR" altLang="en-US" sz="2400" b="1" dirty="0">
                  <a:solidFill>
                    <a:schemeClr val="tx2">
                      <a:lumMod val="50000"/>
                    </a:schemeClr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가능성 통제</a:t>
              </a:r>
              <a:endParaRPr lang="ko-KR" altLang="en-US" sz="24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4F5FE46B-03C6-63D0-3EBF-E9B0A31A04CC}"/>
                </a:ext>
              </a:extLst>
            </p:cNvPr>
            <p:cNvSpPr/>
            <p:nvPr/>
          </p:nvSpPr>
          <p:spPr>
            <a:xfrm>
              <a:off x="1399561" y="3211695"/>
              <a:ext cx="686414" cy="686414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rgbClr val="FDFCF9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3</a:t>
              </a:r>
              <a:endParaRPr lang="ko-KR" altLang="en-US" sz="2000" b="1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7276C3A-B518-2FE6-EE68-AF0DC387CE0D}"/>
                </a:ext>
              </a:extLst>
            </p:cNvPr>
            <p:cNvSpPr txBox="1"/>
            <p:nvPr/>
          </p:nvSpPr>
          <p:spPr>
            <a:xfrm>
              <a:off x="2161561" y="4223844"/>
              <a:ext cx="66880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 err="1">
                  <a:solidFill>
                    <a:schemeClr val="tx2">
                      <a:lumMod val="50000"/>
                    </a:schemeClr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다운스트림</a:t>
              </a:r>
              <a:r>
                <a:rPr lang="ko-KR" altLang="en-US" sz="2400" b="1" dirty="0">
                  <a:solidFill>
                    <a:schemeClr val="tx2">
                      <a:lumMod val="50000"/>
                    </a:schemeClr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 투명성이 </a:t>
              </a:r>
              <a:r>
                <a:rPr lang="en-US" altLang="ko-KR" sz="2400" b="1" dirty="0">
                  <a:solidFill>
                    <a:schemeClr val="tx2">
                      <a:lumMod val="50000"/>
                    </a:schemeClr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B2B AI </a:t>
              </a:r>
              <a:r>
                <a:rPr lang="ko-KR" altLang="en-US" sz="2400" b="1" dirty="0">
                  <a:solidFill>
                    <a:schemeClr val="tx2">
                      <a:lumMod val="50000"/>
                    </a:schemeClr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산업에 미치는 영향</a:t>
              </a:r>
              <a:endParaRPr lang="ko-KR" altLang="en-US" sz="24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63E0358-7882-F8DB-5195-089470A73AAC}"/>
                </a:ext>
              </a:extLst>
            </p:cNvPr>
            <p:cNvSpPr/>
            <p:nvPr/>
          </p:nvSpPr>
          <p:spPr>
            <a:xfrm>
              <a:off x="1399561" y="4094622"/>
              <a:ext cx="686414" cy="686414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rgbClr val="FDFCF9"/>
                  </a:solidFill>
                  <a:latin typeface="함초롬돋움" panose="020B0604000101010101" pitchFamily="50" charset="-127"/>
                  <a:ea typeface="함초롬돋움" panose="020B0604000101010101" pitchFamily="50" charset="-127"/>
                  <a:cs typeface="함초롬돋움" panose="020B0604000101010101" pitchFamily="50" charset="-127"/>
                </a:rPr>
                <a:t>4</a:t>
              </a:r>
              <a:endParaRPr lang="ko-KR" altLang="en-US" sz="2000" b="1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7457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BDA98-539C-9564-574B-506A9684A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8699B99-F102-3322-2AA1-4E7FF72A1E6D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DFC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CE3FCC-7B94-484F-80EF-961C2E8886A4}"/>
              </a:ext>
            </a:extLst>
          </p:cNvPr>
          <p:cNvSpPr/>
          <p:nvPr/>
        </p:nvSpPr>
        <p:spPr>
          <a:xfrm>
            <a:off x="0" y="-1"/>
            <a:ext cx="12192000" cy="11503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B55BA-CCAF-CB85-7AD3-7CC56CBA48CA}"/>
              </a:ext>
            </a:extLst>
          </p:cNvPr>
          <p:cNvSpPr txBox="1"/>
          <p:nvPr/>
        </p:nvSpPr>
        <p:spPr>
          <a:xfrm>
            <a:off x="237178" y="252020"/>
            <a:ext cx="10020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API </a:t>
            </a:r>
            <a:r>
              <a:rPr lang="ko-KR" altLang="en-US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기반 서비스 모델 제공자의 정보 제공 의무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5EE34A-D012-2519-F581-76FE9ACCB436}"/>
              </a:ext>
            </a:extLst>
          </p:cNvPr>
          <p:cNvSpPr txBox="1"/>
          <p:nvPr/>
        </p:nvSpPr>
        <p:spPr>
          <a:xfrm>
            <a:off x="237178" y="1402395"/>
            <a:ext cx="11192822" cy="3488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EU AI Act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부속서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XII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제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53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조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GPAI :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범용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AI(General Purpose AI)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정보 제공 의무 대상은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다운스트림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제공자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(downstream provider)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모델 제공자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(GPAI provider)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는 단순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API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제공을 넘어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다운스트림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사업자가 규제를 준수할 수 있을 정도의 정보 제공 의무가 있음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b="1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b="1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 </a:t>
            </a:r>
            <a:r>
              <a:rPr lang="ko-KR" altLang="en-US" sz="11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구체적인 요구 범위</a:t>
            </a:r>
            <a:endParaRPr lang="en-US" altLang="ko-KR" sz="11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모델의 일반 설명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	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출시일 및 배포 방식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모델의 능력과 한계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	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하드웨어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소프트웨어와의 상호작용 방식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의도된 작업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(intended tasks)	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훈련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테스트 프로세스 및 평가 결과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타 시스템과의 통합 방법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	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훈련 데이터에 대한 요약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6EC006A-0313-F1FB-1B12-F78CFF15DEB2}"/>
              </a:ext>
            </a:extLst>
          </p:cNvPr>
          <p:cNvSpPr/>
          <p:nvPr/>
        </p:nvSpPr>
        <p:spPr>
          <a:xfrm>
            <a:off x="1721709" y="1874232"/>
            <a:ext cx="8748582" cy="75127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222A35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“</a:t>
            </a:r>
            <a:r>
              <a:rPr lang="en-US" altLang="ko-KR" sz="1100" dirty="0">
                <a:solidFill>
                  <a:srgbClr val="222A35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GPAI </a:t>
            </a:r>
            <a:r>
              <a:rPr lang="ko-KR" altLang="en-US" sz="1100" dirty="0">
                <a:solidFill>
                  <a:srgbClr val="222A35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모델 제공자는 해당 모델을 자신의 </a:t>
            </a:r>
            <a:r>
              <a:rPr lang="en-US" altLang="ko-KR" sz="1100" dirty="0">
                <a:solidFill>
                  <a:srgbClr val="222A35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100" dirty="0">
                <a:solidFill>
                  <a:srgbClr val="222A35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시스템에 통합하려는 </a:t>
            </a:r>
            <a:r>
              <a:rPr lang="ko-KR" altLang="en-US" sz="1100" dirty="0" err="1">
                <a:solidFill>
                  <a:srgbClr val="222A35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다운스트림</a:t>
            </a:r>
            <a:r>
              <a:rPr lang="ko-KR" altLang="en-US" sz="1100" dirty="0">
                <a:solidFill>
                  <a:srgbClr val="222A35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사업자에게 기술 문서를 제공해야 한다</a:t>
            </a:r>
            <a:r>
              <a:rPr lang="en-US" altLang="ko-KR" sz="1100" dirty="0">
                <a:solidFill>
                  <a:srgbClr val="222A35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  <a:p>
            <a:pPr algn="ctr"/>
            <a:r>
              <a:rPr lang="ko-KR" altLang="en-US" sz="1100" dirty="0">
                <a:solidFill>
                  <a:srgbClr val="222A35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오픈소스 라이선스로 공개된 모델은 시스템적 위험이 없는 한 이 의무에서 제외된다</a:t>
            </a:r>
            <a:r>
              <a:rPr lang="en-US" altLang="ko-KR" sz="1100" dirty="0">
                <a:solidFill>
                  <a:srgbClr val="222A35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.”</a:t>
            </a:r>
            <a:endParaRPr lang="ko-KR" altLang="en-US" sz="1100" dirty="0">
              <a:solidFill>
                <a:srgbClr val="222A35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5521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34338-1A9E-E1DB-FE71-CFB719796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A9BC426-D3DC-DA20-336A-E69194FC51DF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DFC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598E0F-A621-FD9C-8F00-C891623DCC50}"/>
              </a:ext>
            </a:extLst>
          </p:cNvPr>
          <p:cNvSpPr/>
          <p:nvPr/>
        </p:nvSpPr>
        <p:spPr>
          <a:xfrm>
            <a:off x="0" y="-1"/>
            <a:ext cx="12192000" cy="11503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6B2B5F-42D2-8AC1-134F-705134C7806C}"/>
              </a:ext>
            </a:extLst>
          </p:cNvPr>
          <p:cNvSpPr txBox="1"/>
          <p:nvPr/>
        </p:nvSpPr>
        <p:spPr>
          <a:xfrm>
            <a:off x="237178" y="252020"/>
            <a:ext cx="10020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API </a:t>
            </a:r>
            <a:r>
              <a:rPr lang="ko-KR" altLang="en-US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기반 서비스 모델 제공자의 정보 제공 의무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6C841E-2785-2A80-AE31-00CCB907B878}"/>
              </a:ext>
            </a:extLst>
          </p:cNvPr>
          <p:cNvSpPr txBox="1"/>
          <p:nvPr/>
        </p:nvSpPr>
        <p:spPr>
          <a:xfrm>
            <a:off x="237178" y="1402395"/>
            <a:ext cx="11192822" cy="975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한국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기본법과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비교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AI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를 개발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제공하는 사업자와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를 활용한 제품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서비스를 제공하는 사업자 모두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'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인공지능사업자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'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로 규정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EU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는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B2B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계층 간 기술 문서 전달 의무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부속서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XII)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와 최종 사용자 고지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제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50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조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를 분리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한국법은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다운스트림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B2B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정보 제공 의무를 별도로 규정하지 않음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E2A8D9C-68D0-FC4C-264C-B8D81178006F}"/>
              </a:ext>
            </a:extLst>
          </p:cNvPr>
          <p:cNvGrpSpPr/>
          <p:nvPr/>
        </p:nvGrpSpPr>
        <p:grpSpPr>
          <a:xfrm>
            <a:off x="1312040" y="2629491"/>
            <a:ext cx="9567920" cy="3611532"/>
            <a:chOff x="-326881" y="2629491"/>
            <a:chExt cx="9567920" cy="361153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4C5C606-63F8-33FD-7C3B-1C8524438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44078" y="3697863"/>
              <a:ext cx="4696961" cy="1474789"/>
            </a:xfrm>
            <a:prstGeom prst="rect">
              <a:avLst/>
            </a:prstGeom>
            <a:ln>
              <a:solidFill>
                <a:srgbClr val="222A35"/>
              </a:solidFill>
            </a:ln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86CEBFD4-E2CE-2B85-5F7E-5913392CF7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326881" y="2629491"/>
              <a:ext cx="4208561" cy="3611532"/>
            </a:xfrm>
            <a:prstGeom prst="rect">
              <a:avLst/>
            </a:prstGeom>
            <a:ln>
              <a:solidFill>
                <a:srgbClr val="222A35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186293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E24E3-731E-F709-254D-CFE97DDD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5265592-6F66-4B22-5DF0-DAEAC4E69798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DFC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684B70-ACCF-7034-A461-7636D458C754}"/>
              </a:ext>
            </a:extLst>
          </p:cNvPr>
          <p:cNvSpPr/>
          <p:nvPr/>
        </p:nvSpPr>
        <p:spPr>
          <a:xfrm>
            <a:off x="0" y="-1"/>
            <a:ext cx="12192000" cy="11503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7054BC-5B5E-D546-4B88-6572DBDE9D3A}"/>
              </a:ext>
            </a:extLst>
          </p:cNvPr>
          <p:cNvSpPr txBox="1"/>
          <p:nvPr/>
        </p:nvSpPr>
        <p:spPr>
          <a:xfrm>
            <a:off x="237178" y="252020"/>
            <a:ext cx="8848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2. </a:t>
            </a:r>
            <a:r>
              <a:rPr lang="ko-KR" altLang="en-US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한국 플랫폼</a:t>
            </a:r>
            <a:r>
              <a:rPr lang="en-US" altLang="ko-KR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·API </a:t>
            </a:r>
            <a:r>
              <a:rPr lang="ko-KR" altLang="en-US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시장에서의 투명성 규제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37B221-8559-53C2-4A6B-C62BF335F650}"/>
              </a:ext>
            </a:extLst>
          </p:cNvPr>
          <p:cNvSpPr txBox="1"/>
          <p:nvPr/>
        </p:nvSpPr>
        <p:spPr>
          <a:xfrm>
            <a:off x="237178" y="1402395"/>
            <a:ext cx="11192822" cy="223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한국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기본법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EU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 투명성 규제 프레임과 유사하게 도입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고영향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나 생성형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사업자에게 사전 고지 및 표시 의무를 부여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직접 모델을 개발하지 않고 타사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API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를 가져와 서비스를 운영하는 기업 또한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'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인공지능이용사업자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'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로서 법적 의무를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짐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 </a:t>
            </a:r>
            <a:r>
              <a:rPr lang="ko-KR" altLang="en-US" sz="11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구조적 한계</a:t>
            </a:r>
            <a:endParaRPr lang="en-US" altLang="ko-KR" sz="11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한국 시장은 해외 거대 모델의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API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의존도가 높음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사업자가 원천 모델의 기술적 세부 정보를 얻지 못할 경우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국내법상의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'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투명성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'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의무 이행이 어려움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API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공급자와 서비스 구현자 모두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'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인공지능사업자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'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로 포함되어 계층적 구분이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EU AI Act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대비 불분명</a:t>
            </a:r>
          </a:p>
        </p:txBody>
      </p:sp>
    </p:spTree>
    <p:extLst>
      <p:ext uri="{BB962C8B-B14F-4D97-AF65-F5344CB8AC3E}">
        <p14:creationId xmlns:p14="http://schemas.microsoft.com/office/powerpoint/2010/main" val="3319084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35DBF-D1A7-9D32-D510-41B771D5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0852417-5E6E-1391-CC3D-973E4041B5A4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DFC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B4CA7B-E37F-76A0-F7BE-1CE70FAF8A05}"/>
              </a:ext>
            </a:extLst>
          </p:cNvPr>
          <p:cNvSpPr/>
          <p:nvPr/>
        </p:nvSpPr>
        <p:spPr>
          <a:xfrm>
            <a:off x="0" y="-1"/>
            <a:ext cx="12192000" cy="11503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60CAD-5E78-4680-86B9-4F0BE6766F77}"/>
              </a:ext>
            </a:extLst>
          </p:cNvPr>
          <p:cNvSpPr txBox="1"/>
          <p:nvPr/>
        </p:nvSpPr>
        <p:spPr>
          <a:xfrm>
            <a:off x="237178" y="252020"/>
            <a:ext cx="8771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3. </a:t>
            </a:r>
            <a:r>
              <a:rPr lang="en-US" altLang="ko-KR" sz="3600" b="1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API </a:t>
            </a:r>
            <a:r>
              <a:rPr lang="ko-KR" altLang="en-US" sz="3600" b="1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제공자의 오용</a:t>
            </a:r>
            <a:r>
              <a:rPr lang="en-US" altLang="ko-KR" sz="3600" b="1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(misuse) </a:t>
            </a:r>
            <a:r>
              <a:rPr lang="ko-KR" altLang="en-US" sz="3600" b="1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가능성 통제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9935F1-C615-2EBB-0346-7933597F03B9}"/>
              </a:ext>
            </a:extLst>
          </p:cNvPr>
          <p:cNvSpPr txBox="1"/>
          <p:nvPr/>
        </p:nvSpPr>
        <p:spPr>
          <a:xfrm>
            <a:off x="237178" y="1402395"/>
            <a:ext cx="11192822" cy="259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EU AI Act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EU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는 오용 통제를 단일 의무로 규정하지 않고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가치사슬 전반의 책임 분산 구조를 가짐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GPAI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모델 제공자는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가치사슬에서 특별한 역할과 책임을 가짐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다운스트림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제공자는 해당 모델의 역량을 잘 이해하고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Act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상 의무를 이행해야 함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고위험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시스템에 사용될 경우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GPAI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모델 제공자는 고위험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시스템 제공자가 법적 의무를 준수할 수 있도록 협력해야 함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 </a:t>
            </a:r>
            <a:r>
              <a:rPr lang="ko-KR" altLang="en-US" sz="11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현실적 한계</a:t>
            </a:r>
            <a:endParaRPr lang="en-US" altLang="ko-KR" sz="11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다운스트림이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실제로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API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를 오용하는 것을 사전에 기술적으로 차단할 의무는 명시되어 있지 않음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EU AI Act,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한국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기본법 모두 오용을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API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제공자의 직접 의무로 명확히 부과하지는 않음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실질적 오용 책임은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다운스트림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사용자에게 귀속되는 구조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오용의 사전 통제는 구조적으로 어려움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B3A8404-14B2-19E9-51AA-16E4BA372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824" y="2770562"/>
            <a:ext cx="4105468" cy="3744888"/>
          </a:xfrm>
          <a:prstGeom prst="rect">
            <a:avLst/>
          </a:prstGeom>
          <a:ln>
            <a:solidFill>
              <a:srgbClr val="222A35"/>
            </a:solidFill>
          </a:ln>
        </p:spPr>
      </p:pic>
    </p:spTree>
    <p:extLst>
      <p:ext uri="{BB962C8B-B14F-4D97-AF65-F5344CB8AC3E}">
        <p14:creationId xmlns:p14="http://schemas.microsoft.com/office/powerpoint/2010/main" val="3064968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ABB85-DA76-438F-1ADE-8F543C908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74CA546-0A64-BF56-A222-FD9BF22E0261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DFC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3D866B-256C-A0F0-B2B2-2F985E57D85F}"/>
              </a:ext>
            </a:extLst>
          </p:cNvPr>
          <p:cNvSpPr/>
          <p:nvPr/>
        </p:nvSpPr>
        <p:spPr>
          <a:xfrm>
            <a:off x="0" y="-1"/>
            <a:ext cx="12192000" cy="11503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B5EA1E-54F6-4E7E-8D07-3023246C53EC}"/>
              </a:ext>
            </a:extLst>
          </p:cNvPr>
          <p:cNvSpPr txBox="1"/>
          <p:nvPr/>
        </p:nvSpPr>
        <p:spPr>
          <a:xfrm>
            <a:off x="237178" y="252020"/>
            <a:ext cx="10434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4. </a:t>
            </a:r>
            <a:r>
              <a:rPr lang="ko-KR" altLang="en-US" sz="3600" b="1" dirty="0" err="1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다운스트림</a:t>
            </a:r>
            <a:r>
              <a:rPr lang="ko-KR" altLang="en-US" sz="3600" b="1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투명성이 </a:t>
            </a:r>
            <a:r>
              <a:rPr lang="en-US" altLang="ko-KR" sz="3600" b="1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B2B AI </a:t>
            </a:r>
            <a:r>
              <a:rPr lang="ko-KR" altLang="en-US" sz="3600" b="1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산업에 미치는 영향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CEAC5-1B83-0547-F19C-28BC313E1357}"/>
              </a:ext>
            </a:extLst>
          </p:cNvPr>
          <p:cNvSpPr txBox="1"/>
          <p:nvPr/>
        </p:nvSpPr>
        <p:spPr>
          <a:xfrm>
            <a:off x="237178" y="1402395"/>
            <a:ext cx="11192822" cy="115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EU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체계에서의 영향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GPAI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모델 의무는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2025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8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일부터 적용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2026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8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일부터는 집행 권한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과징금 포함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 발동됨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B2B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측면에서의 실질적 영향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계약 구조 변화</a:t>
            </a:r>
          </a:p>
          <a:p>
            <a:pPr>
              <a:lnSpc>
                <a:spcPts val="1425"/>
              </a:lnSpc>
            </a:pP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모델 제공자의 부속서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XII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문서의 계약상 의무 제공으로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API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이용 계약서에 기술 문서 제공 조항이 표준화될 것</a:t>
            </a:r>
          </a:p>
          <a:p>
            <a:pPr>
              <a:lnSpc>
                <a:spcPts val="1425"/>
              </a:lnSpc>
            </a:pP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모델 정보가 투명해짐에 따라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사고 발생 시 책임 소재를 가리기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쉬워짐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825C95-98E1-4CB6-F0BE-2A5C4396DBAE}"/>
              </a:ext>
            </a:extLst>
          </p:cNvPr>
          <p:cNvSpPr txBox="1"/>
          <p:nvPr/>
        </p:nvSpPr>
        <p:spPr>
          <a:xfrm>
            <a:off x="237178" y="2975586"/>
            <a:ext cx="11192822" cy="795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한국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기본법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위반 시 과태료는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천만 원 이하이며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시행 초기 최소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이상의 계도 기간을 운영할 계획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지나치게 광범위한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정의와 경직된 의무 구조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한국이 글로벌 경쟁력을 확보하기 어려움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183942-F1E8-93DA-D78F-C7FD4B5CF434}"/>
              </a:ext>
            </a:extLst>
          </p:cNvPr>
          <p:cNvGrpSpPr/>
          <p:nvPr/>
        </p:nvGrpSpPr>
        <p:grpSpPr>
          <a:xfrm>
            <a:off x="1322965" y="3920153"/>
            <a:ext cx="9030697" cy="2513814"/>
            <a:chOff x="614789" y="3749200"/>
            <a:chExt cx="9999022" cy="278336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508629C-6905-147F-E02D-A8391BE7B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4789" y="4065750"/>
              <a:ext cx="5218800" cy="2150260"/>
            </a:xfrm>
            <a:prstGeom prst="rect">
              <a:avLst/>
            </a:prstGeom>
            <a:ln>
              <a:solidFill>
                <a:srgbClr val="222A35"/>
              </a:solidFill>
            </a:ln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31ADC70-BEDC-05B0-C3F9-D0EA98B3B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95433" y="3749200"/>
              <a:ext cx="3918378" cy="2783360"/>
            </a:xfrm>
            <a:prstGeom prst="rect">
              <a:avLst/>
            </a:prstGeom>
            <a:ln>
              <a:solidFill>
                <a:srgbClr val="222A35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966122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AF1CE-11EB-C2E3-ED09-F3C229E7A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60FA0A-7AF6-B03F-F630-325610E14E84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DFC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E28EE2-6E03-2D20-E7FF-447A8A071589}"/>
              </a:ext>
            </a:extLst>
          </p:cNvPr>
          <p:cNvSpPr/>
          <p:nvPr/>
        </p:nvSpPr>
        <p:spPr>
          <a:xfrm>
            <a:off x="0" y="-1"/>
            <a:ext cx="12192000" cy="11503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F958CF-F827-12EF-0FBB-A6A8F22B6E10}"/>
              </a:ext>
            </a:extLst>
          </p:cNvPr>
          <p:cNvSpPr txBox="1"/>
          <p:nvPr/>
        </p:nvSpPr>
        <p:spPr>
          <a:xfrm>
            <a:off x="237177" y="1402395"/>
            <a:ext cx="8182545" cy="438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Article 53: Obligations for Providers of General-Purpose AI Models 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hlinkClick r:id="rId2"/>
              </a:rPr>
              <a:t>https://artificialintelligenceact.eu/article/53/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부속서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XII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전문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EU Artificial Intelligence Act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hlinkClick r:id="rId3"/>
              </a:rPr>
              <a:t>https://artificialintelligenceact.eu/annex/12/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High-level summary of the AI Act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hlinkClick r:id="rId4"/>
              </a:rPr>
              <a:t>https://artificialintelligenceact.eu/high-level-summary/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EU AI Act Transparency Obligations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hlinkClick r:id="rId5"/>
              </a:rPr>
              <a:t>https://www.euaiact.com/key-issue/5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Peekaboolabs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기본법 완전 정리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hlinkClick r:id="rId6"/>
              </a:rPr>
              <a:t>https://peekaboolabs.ai/blog/ai-basic-law-guide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Shin&amp;Kim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기본법 시행과 그 시사점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hlinkClick r:id="rId7"/>
              </a:rPr>
              <a:t>https://www.shinkim.com/kor/media/newsletter/3114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헬프미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법률사무소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기본법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우리 회사도 적용될까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?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hlinkClick r:id="rId8"/>
              </a:rPr>
              <a:t>https://www.help-me.kr/blog/article/korea-ai-act-2026-compliance-guide/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인공지능기본법 시행령 입법예고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hlinkClick r:id="rId9"/>
              </a:rPr>
              <a:t>https://www.lexology.com/library/detail.aspx?g=790de95e-d2c2-4504-ab14-4d399c8f69c9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Code of Practice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hlinkClick r:id="rId10"/>
              </a:rPr>
              <a:t>https://code-of-practice.ai/?section=summary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Guidelines for providers of general-purpose AI models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hlinkClick r:id="rId11"/>
              </a:rPr>
              <a:t>https://digital-strategy.ec.europa.eu/en/policies/guidelines-gpai-providers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기본법 시행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기업은 무엇을 준비해야 하는가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?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hlinkClick r:id="rId12"/>
              </a:rPr>
              <a:t>https://www.pwcconsulting.co.kr/ko/insight/pwcconsulting_ai_law.pdf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통합적 접근의 명암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한국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기본법의 전략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진흥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규제 구조와 규제 리스크</a:t>
            </a:r>
          </a:p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hlinkClick r:id="rId13"/>
              </a:rPr>
              <a:t>https://www2.itif.org/2025-korea-ai-act-ko.pdf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7409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4475</TotalTime>
  <Words>873</Words>
  <Application>Microsoft Office PowerPoint</Application>
  <PresentationFormat>와이드스크린</PresentationFormat>
  <Paragraphs>115</Paragraphs>
  <Slides>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윤지 차</dc:creator>
  <cp:lastModifiedBy>윤지 차</cp:lastModifiedBy>
  <cp:revision>514</cp:revision>
  <dcterms:created xsi:type="dcterms:W3CDTF">2024-11-21T08:45:28Z</dcterms:created>
  <dcterms:modified xsi:type="dcterms:W3CDTF">2026-04-14T18:26:30Z</dcterms:modified>
</cp:coreProperties>
</file>