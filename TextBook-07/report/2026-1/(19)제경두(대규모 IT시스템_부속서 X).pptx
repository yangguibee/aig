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8"/>
  </p:notesMasterIdLst>
  <p:handoutMasterIdLst>
    <p:handoutMasterId r:id="rId9"/>
  </p:handoutMasterIdLst>
  <p:sldIdLst>
    <p:sldId id="256" r:id="rId5"/>
    <p:sldId id="277" r:id="rId6"/>
    <p:sldId id="262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만든 이" initials="오전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56" y="4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4DC2F0-1494-4012-98C6-0C32B96C5883}" type="datetime1">
              <a:rPr lang="ko-KR" altLang="en-US" smtClean="0">
                <a:latin typeface="+mj-ea"/>
                <a:ea typeface="+mj-ea"/>
              </a:rPr>
              <a:t>2026-04-16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6B577933-6CF4-4A80-8F7D-D574BAC42BBA}" type="datetime1">
              <a:rPr lang="ko-KR" altLang="en-US" smtClean="0"/>
              <a:pPr/>
              <a:t>2026-04-16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B9A9E5-4F7F-4A7D-9DE1-89923232926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7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571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91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시간 표시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래픽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제목을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6" name="텍스트 개체 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7" name="텍스트 개체 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직선 연결선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래픽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/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소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날짜 개체 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바닥글 개체 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3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장 비교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내용 2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임라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8" name="텍스트 개체 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7" name="텍스트 개체 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날짜 개체 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바닥글 개체 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개체 틀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4명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8명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5" name="그림 개체 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6" name="그림 개체 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7" name="그림 개체 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8" name="그림 개체 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2" name="텍스트 개체 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1" name="텍스트 개체 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내용 개체 틀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내용 개체 틀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마무리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7626" y="4434840"/>
            <a:ext cx="6750185" cy="1122202"/>
          </a:xfrm>
        </p:spPr>
        <p:txBody>
          <a:bodyPr rtlCol="0"/>
          <a:lstStyle/>
          <a:p>
            <a:pPr rtl="0"/>
            <a:r>
              <a:rPr lang="ko-KR" altLang="en-US" dirty="0"/>
              <a:t>대규모 </a:t>
            </a:r>
            <a:r>
              <a:rPr lang="en-US" altLang="ko-KR" dirty="0"/>
              <a:t>IT </a:t>
            </a:r>
            <a:r>
              <a:rPr lang="ko-KR" altLang="en-US" dirty="0"/>
              <a:t>시스템</a:t>
            </a:r>
            <a:r>
              <a:rPr lang="en-US" altLang="ko-KR" dirty="0"/>
              <a:t>(</a:t>
            </a:r>
            <a:r>
              <a:rPr lang="ko-KR" altLang="en-US" dirty="0"/>
              <a:t>부속서 </a:t>
            </a:r>
            <a:r>
              <a:rPr lang="en-US" altLang="ko-KR" dirty="0"/>
              <a:t>X) </a:t>
            </a:r>
            <a:br>
              <a:rPr lang="en-US" altLang="ko-KR" dirty="0"/>
            </a:br>
            <a:r>
              <a:rPr lang="ko-KR" altLang="en-US" sz="2000" b="0" i="0" dirty="0">
                <a:solidFill>
                  <a:srgbClr val="1F1F1F"/>
                </a:solidFill>
                <a:effectLst/>
                <a:latin typeface="Google Sans Flex"/>
              </a:rPr>
              <a:t>한국은 공공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Google Sans Flex"/>
              </a:rPr>
              <a:t>AI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Google Sans Flex"/>
              </a:rPr>
              <a:t>의 투명성을 어떻게 확보해야 하는가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Google Sans Flex"/>
              </a:rPr>
              <a:t>?</a:t>
            </a:r>
            <a:r>
              <a:rPr lang="ko-KR" altLang="en-US" dirty="0"/>
              <a:t>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7626" y="5960803"/>
            <a:ext cx="4941770" cy="396660"/>
          </a:xfrm>
        </p:spPr>
        <p:txBody>
          <a:bodyPr rtlCol="0"/>
          <a:lstStyle/>
          <a:p>
            <a:pPr rtl="0"/>
            <a:r>
              <a:rPr lang="ko-KR" altLang="en-US" dirty="0" err="1"/>
              <a:t>제경두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2</a:t>
            </a:fld>
            <a:endParaRPr lang="ko-KR" altLang="en-ZA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40FCD2C5-097C-54E7-7273-50D555FC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359" y="471921"/>
            <a:ext cx="6694220" cy="2519363"/>
          </a:xfrm>
        </p:spPr>
        <p:txBody>
          <a:bodyPr/>
          <a:lstStyle/>
          <a:p>
            <a:r>
              <a:rPr lang="ko-KR" altLang="en-US" dirty="0"/>
              <a:t>부속서 </a:t>
            </a:r>
            <a:r>
              <a:rPr lang="en-US" altLang="ko-KR" dirty="0"/>
              <a:t>X </a:t>
            </a:r>
            <a:r>
              <a:rPr lang="ko-KR" altLang="en-US" dirty="0"/>
              <a:t>요약표</a:t>
            </a:r>
          </a:p>
        </p:txBody>
      </p:sp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007BD57E-274D-B917-5846-3B8093A99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134331"/>
              </p:ext>
            </p:extLst>
          </p:nvPr>
        </p:nvGraphicFramePr>
        <p:xfrm>
          <a:off x="775359" y="1500106"/>
          <a:ext cx="959394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981">
                  <a:extLst>
                    <a:ext uri="{9D8B030D-6E8A-4147-A177-3AD203B41FA5}">
                      <a16:colId xmlns:a16="http://schemas.microsoft.com/office/drawing/2014/main" val="3159254063"/>
                    </a:ext>
                  </a:extLst>
                </a:gridCol>
                <a:gridCol w="3197981">
                  <a:extLst>
                    <a:ext uri="{9D8B030D-6E8A-4147-A177-3AD203B41FA5}">
                      <a16:colId xmlns:a16="http://schemas.microsoft.com/office/drawing/2014/main" val="1686183238"/>
                    </a:ext>
                  </a:extLst>
                </a:gridCol>
                <a:gridCol w="3197981">
                  <a:extLst>
                    <a:ext uri="{9D8B030D-6E8A-4147-A177-3AD203B41FA5}">
                      <a16:colId xmlns:a16="http://schemas.microsoft.com/office/drawing/2014/main" val="3697874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부속서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X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한국 공공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적용 방안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가이드라인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20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사전 고지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시스템 사용 사실을 사용자에게 알림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이용약관 및 서비스 화면에 </a:t>
                      </a:r>
                      <a:r>
                        <a:rPr lang="en-US" altLang="ko-KR" sz="1200"/>
                        <a:t>AI </a:t>
                      </a:r>
                      <a:r>
                        <a:rPr lang="ko-KR" altLang="en-US" sz="1200"/>
                        <a:t>기반 운용 명시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08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200" b="1"/>
                        <a:t>결과 표시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AI</a:t>
                      </a:r>
                      <a:r>
                        <a:rPr lang="ko-KR" altLang="en-US" sz="1200" dirty="0"/>
                        <a:t>가 생성한 결과물임을 식별 가능케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워터마크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메타데이터 삽입 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딥페이크 필수</a:t>
                      </a:r>
                      <a:r>
                        <a:rPr lang="en-US" altLang="ko-KR" sz="12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798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설명 가능성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의사결정 로직의 투명한 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알고리즘 영향평가 및 설명요구권 보장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7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책임 소재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시스템 오작동 시 책임 주체 명확화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'</a:t>
                      </a:r>
                      <a:r>
                        <a:rPr lang="ko-KR" altLang="en-US" sz="1200" dirty="0"/>
                        <a:t>인공지능 사업자</a:t>
                      </a:r>
                      <a:r>
                        <a:rPr lang="en-US" altLang="ko-KR" sz="1200" dirty="0"/>
                        <a:t>'</a:t>
                      </a:r>
                      <a:r>
                        <a:rPr lang="ko-KR" altLang="en-US" sz="1200" dirty="0"/>
                        <a:t>에게 이행 의무 부과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89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참고자료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1" y="2563123"/>
            <a:ext cx="3899560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ko-KR" altLang="en-US" dirty="0"/>
              <a:t>과학기술정보통신부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95085" y="2211277"/>
            <a:ext cx="4031030" cy="1057308"/>
          </a:xfrm>
        </p:spPr>
        <p:txBody>
          <a:bodyPr rtlCol="0"/>
          <a:lstStyle/>
          <a:p>
            <a:pPr rtl="0"/>
            <a:endParaRPr lang="en-US" altLang="ko-KR" dirty="0"/>
          </a:p>
          <a:p>
            <a:pPr rtl="0"/>
            <a:r>
              <a:rPr lang="ko-KR" altLang="en-US" dirty="0"/>
              <a:t>인공지능 투명성 확보 가이드라인 </a:t>
            </a:r>
            <a:r>
              <a:rPr lang="en-US" altLang="ko-KR" dirty="0"/>
              <a:t>(2026.01)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ko-KR" altLang="en-US" dirty="0"/>
              <a:t>국가법령정보센터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3</a:t>
            </a:fld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F9FEB5-1AC5-DC42-503A-85E59F99DA74}"/>
              </a:ext>
            </a:extLst>
          </p:cNvPr>
          <p:cNvCxnSpPr>
            <a:cxnSpLocks/>
          </p:cNvCxnSpPr>
          <p:nvPr/>
        </p:nvCxnSpPr>
        <p:spPr>
          <a:xfrm flipH="1">
            <a:off x="6511316" y="2636322"/>
            <a:ext cx="161314" cy="96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8A4D11AD-BBEA-C68F-989B-0032CD79D3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4156" y="4322181"/>
            <a:ext cx="4031945" cy="365125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인공지능 기본법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 </a:t>
            </a:r>
            <a:r>
              <a:rPr lang="ko-KR" altLang="en-US" dirty="0"/>
              <a:t>및 디지털 권리장전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theme/theme1.xml><?xml version="1.0" encoding="utf-8"?>
<a:theme xmlns:a="http://schemas.openxmlformats.org/drawingml/2006/main" name="모노라인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9_TF56180624_Win32" id="{6015578C-7D5D-4D9F-B4C9-62F8FE79A225}" vid="{1D77FD14-6D0D-4F01-A4B4-6681689BE31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영업을 위한 간단한 미니멀리스트 제안 발표</Template>
  <TotalTime>72</TotalTime>
  <Words>115</Words>
  <Application>Microsoft Office PowerPoint</Application>
  <PresentationFormat>와이드스크린</PresentationFormat>
  <Paragraphs>29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Google Sans Flex</vt:lpstr>
      <vt:lpstr>돋움</vt:lpstr>
      <vt:lpstr>맑은 고딕</vt:lpstr>
      <vt:lpstr>Arial</vt:lpstr>
      <vt:lpstr>모노라인</vt:lpstr>
      <vt:lpstr>대규모 IT 시스템(부속서 X)  한국은 공공 AI의 투명성을 어떻게 확보해야 하는가? </vt:lpstr>
      <vt:lpstr>PowerPoint 프레젠테이션</vt:lpstr>
      <vt:lpstr>참고자료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대규모 IT 시스템(부속서 X)  한국은 공공 AI의 투명성을 어떻게 확보해야 하는가? </dc:title>
  <dc:creator>j</dc:creator>
  <cp:lastModifiedBy>j</cp:lastModifiedBy>
  <cp:revision>1</cp:revision>
  <dcterms:created xsi:type="dcterms:W3CDTF">2026-04-16T04:40:22Z</dcterms:created>
  <dcterms:modified xsi:type="dcterms:W3CDTF">2026-04-16T05:52:33Z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